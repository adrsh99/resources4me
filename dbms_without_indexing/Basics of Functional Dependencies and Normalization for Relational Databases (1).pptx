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slides/slide113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99.xml" ContentType="application/vnd.openxmlformats-officedocument.presentationml.slide+xml"/>
  <Override PartName="/ppt/slides/slide118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14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3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s/slide80.xml" ContentType="application/vnd.openxmlformats-officedocument.presentationml.slide+xml"/>
  <Override PartName="/ppt/slides/slide91.xml" ContentType="application/vnd.openxmlformats-officedocument.presentationml.slide+xml"/>
  <Override PartName="/ppt/slides/slide110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s/slide119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slides/slide117.xml" ContentType="application/vnd.openxmlformats-officedocument.presentationml.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slides/slide115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s/slide111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Override PartName="/ppt/slideLayouts/slideLayout15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s/slide116.xml" ContentType="application/vnd.openxmlformats-officedocument.presentationml.slide+xml"/>
  <Override PartName="/ppt/slideLayouts/slideLayout9.xml" ContentType="application/vnd.openxmlformats-officedocument.presentationml.slideLayout+xml"/>
  <Override PartName="/ppt/slideMasters/slideMaster2.xml" ContentType="application/vnd.openxmlformats-officedocument.presentationml.slideMaster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105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slides/slide1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s/slide82.xml" ContentType="application/vnd.openxmlformats-officedocument.presentationml.slide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6" r:id="rId2"/>
  </p:sldMasterIdLst>
  <p:notesMasterIdLst>
    <p:notesMasterId r:id="rId122"/>
  </p:notesMasterIdLst>
  <p:sldIdLst>
    <p:sldId id="256" r:id="rId3"/>
    <p:sldId id="258" r:id="rId4"/>
    <p:sldId id="259" r:id="rId5"/>
    <p:sldId id="350" r:id="rId6"/>
    <p:sldId id="671" r:id="rId7"/>
    <p:sldId id="670" r:id="rId8"/>
    <p:sldId id="672" r:id="rId9"/>
    <p:sldId id="673" r:id="rId10"/>
    <p:sldId id="674" r:id="rId11"/>
    <p:sldId id="675" r:id="rId12"/>
    <p:sldId id="676" r:id="rId13"/>
    <p:sldId id="677" r:id="rId14"/>
    <p:sldId id="678" r:id="rId15"/>
    <p:sldId id="679" r:id="rId16"/>
    <p:sldId id="680" r:id="rId17"/>
    <p:sldId id="681" r:id="rId18"/>
    <p:sldId id="682" r:id="rId19"/>
    <p:sldId id="692" r:id="rId20"/>
    <p:sldId id="683" r:id="rId21"/>
    <p:sldId id="693" r:id="rId22"/>
    <p:sldId id="694" r:id="rId23"/>
    <p:sldId id="695" r:id="rId24"/>
    <p:sldId id="702" r:id="rId25"/>
    <p:sldId id="703" r:id="rId26"/>
    <p:sldId id="696" r:id="rId27"/>
    <p:sldId id="697" r:id="rId28"/>
    <p:sldId id="698" r:id="rId29"/>
    <p:sldId id="699" r:id="rId30"/>
    <p:sldId id="684" r:id="rId31"/>
    <p:sldId id="685" r:id="rId32"/>
    <p:sldId id="719" r:id="rId33"/>
    <p:sldId id="720" r:id="rId34"/>
    <p:sldId id="721" r:id="rId35"/>
    <p:sldId id="686" r:id="rId36"/>
    <p:sldId id="687" r:id="rId37"/>
    <p:sldId id="688" r:id="rId38"/>
    <p:sldId id="689" r:id="rId39"/>
    <p:sldId id="701" r:id="rId40"/>
    <p:sldId id="704" r:id="rId41"/>
    <p:sldId id="722" r:id="rId42"/>
    <p:sldId id="710" r:id="rId43"/>
    <p:sldId id="711" r:id="rId44"/>
    <p:sldId id="712" r:id="rId45"/>
    <p:sldId id="714" r:id="rId46"/>
    <p:sldId id="715" r:id="rId47"/>
    <p:sldId id="716" r:id="rId48"/>
    <p:sldId id="717" r:id="rId49"/>
    <p:sldId id="718" r:id="rId50"/>
    <p:sldId id="300" r:id="rId51"/>
    <p:sldId id="706" r:id="rId52"/>
    <p:sldId id="707" r:id="rId53"/>
    <p:sldId id="708" r:id="rId54"/>
    <p:sldId id="709" r:id="rId55"/>
    <p:sldId id="723" r:id="rId56"/>
    <p:sldId id="724" r:id="rId57"/>
    <p:sldId id="725" r:id="rId58"/>
    <p:sldId id="726" r:id="rId59"/>
    <p:sldId id="768" r:id="rId60"/>
    <p:sldId id="705" r:id="rId61"/>
    <p:sldId id="727" r:id="rId62"/>
    <p:sldId id="730" r:id="rId63"/>
    <p:sldId id="295" r:id="rId64"/>
    <p:sldId id="273" r:id="rId65"/>
    <p:sldId id="731" r:id="rId66"/>
    <p:sldId id="296" r:id="rId67"/>
    <p:sldId id="274" r:id="rId68"/>
    <p:sldId id="728" r:id="rId69"/>
    <p:sldId id="729" r:id="rId70"/>
    <p:sldId id="732" r:id="rId71"/>
    <p:sldId id="733" r:id="rId72"/>
    <p:sldId id="734" r:id="rId73"/>
    <p:sldId id="735" r:id="rId74"/>
    <p:sldId id="736" r:id="rId75"/>
    <p:sldId id="737" r:id="rId76"/>
    <p:sldId id="738" r:id="rId77"/>
    <p:sldId id="739" r:id="rId78"/>
    <p:sldId id="742" r:id="rId79"/>
    <p:sldId id="740" r:id="rId80"/>
    <p:sldId id="741" r:id="rId81"/>
    <p:sldId id="743" r:id="rId82"/>
    <p:sldId id="749" r:id="rId83"/>
    <p:sldId id="750" r:id="rId84"/>
    <p:sldId id="751" r:id="rId85"/>
    <p:sldId id="744" r:id="rId86"/>
    <p:sldId id="745" r:id="rId87"/>
    <p:sldId id="746" r:id="rId88"/>
    <p:sldId id="747" r:id="rId89"/>
    <p:sldId id="754" r:id="rId90"/>
    <p:sldId id="755" r:id="rId91"/>
    <p:sldId id="756" r:id="rId92"/>
    <p:sldId id="757" r:id="rId93"/>
    <p:sldId id="758" r:id="rId94"/>
    <p:sldId id="759" r:id="rId95"/>
    <p:sldId id="760" r:id="rId96"/>
    <p:sldId id="761" r:id="rId97"/>
    <p:sldId id="763" r:id="rId98"/>
    <p:sldId id="762" r:id="rId99"/>
    <p:sldId id="765" r:id="rId100"/>
    <p:sldId id="769" r:id="rId101"/>
    <p:sldId id="771" r:id="rId102"/>
    <p:sldId id="774" r:id="rId103"/>
    <p:sldId id="772" r:id="rId104"/>
    <p:sldId id="752" r:id="rId105"/>
    <p:sldId id="766" r:id="rId106"/>
    <p:sldId id="775" r:id="rId107"/>
    <p:sldId id="767" r:id="rId108"/>
    <p:sldId id="764" r:id="rId109"/>
    <p:sldId id="753" r:id="rId110"/>
    <p:sldId id="770" r:id="rId111"/>
    <p:sldId id="776" r:id="rId112"/>
    <p:sldId id="777" r:id="rId113"/>
    <p:sldId id="778" r:id="rId114"/>
    <p:sldId id="779" r:id="rId115"/>
    <p:sldId id="780" r:id="rId116"/>
    <p:sldId id="781" r:id="rId117"/>
    <p:sldId id="782" r:id="rId118"/>
    <p:sldId id="783" r:id="rId119"/>
    <p:sldId id="784" r:id="rId120"/>
    <p:sldId id="650" r:id="rId121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42A4F"/>
    <a:srgbClr val="33CCFF"/>
    <a:srgbClr val="508058"/>
    <a:srgbClr val="B40EB8"/>
    <a:srgbClr val="00CC66"/>
    <a:srgbClr val="0000FF"/>
    <a:srgbClr val="599F4F"/>
    <a:srgbClr val="A1321F"/>
    <a:srgbClr val="394B2F"/>
    <a:srgbClr val="2635A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732" autoAdjust="0"/>
    <p:restoredTop sz="89068" autoAdjust="0"/>
  </p:normalViewPr>
  <p:slideViewPr>
    <p:cSldViewPr>
      <p:cViewPr varScale="1">
        <p:scale>
          <a:sx n="65" d="100"/>
          <a:sy n="65" d="100"/>
        </p:scale>
        <p:origin x="-780" y="-96"/>
      </p:cViewPr>
      <p:guideLst>
        <p:guide orient="horz" pos="2880"/>
        <p:guide pos="2160"/>
      </p:guideLst>
    </p:cSldViewPr>
  </p:slideViewPr>
  <p:outlineViewPr>
    <p:cViewPr>
      <p:scale>
        <a:sx n="33" d="100"/>
        <a:sy n="33" d="100"/>
      </p:scale>
      <p:origin x="0" y="1980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6" Type="http://schemas.openxmlformats.org/officeDocument/2006/relationships/slide" Target="slides/slide14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26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16" Type="http://schemas.openxmlformats.org/officeDocument/2006/relationships/slide" Target="slides/slide114.xml"/><Relationship Id="rId124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11" Type="http://schemas.openxmlformats.org/officeDocument/2006/relationships/slide" Target="slides/slide10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theme" Target="theme/theme1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33B10A-5D66-458D-8C98-68151EE42BFB}" type="datetimeFigureOut">
              <a:rPr lang="en-IN" smtClean="0"/>
              <a:pPr/>
              <a:t>28-03-2025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600408-620C-4812-8D6D-59EA05EC6BE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231905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00408-620C-4812-8D6D-59EA05EC6BE9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4270172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00408-620C-4812-8D6D-59EA05EC6BE9}" type="slidenum">
              <a:rPr lang="en-IN" smtClean="0"/>
              <a:pPr/>
              <a:t>70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226994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600408-620C-4812-8D6D-59EA05EC6BE9}" type="slidenum">
              <a:rPr lang="en-IN" smtClean="0"/>
              <a:pPr/>
              <a:t>98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8007944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600408-620C-4812-8D6D-59EA05EC6BE9}" type="slidenum">
              <a:rPr lang="en-IN" smtClean="0"/>
              <a:pPr/>
              <a:t>102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0462C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3764" y="1525236"/>
            <a:ext cx="4529455" cy="4210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1">
                <a:solidFill>
                  <a:schemeClr val="tx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7561580" y="1300797"/>
            <a:ext cx="2955925" cy="43922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C55A11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DC8E8AA-74B7-187E-C188-9F0820134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9B480F9-5AC4-39E9-9C54-355AD34A0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FF33A2A-F4F2-0CBC-1E32-C66885272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11D512-924C-4AA8-B6AF-8D19EC59A44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387001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E3CF1BF-11FA-8400-2765-2B3E3CA21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DB29DA3-4119-377B-38A5-39B498FBC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E712EB3-5060-59FF-B71E-C4D32E877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FF5E860-8733-4191-A1CE-6BF1E795D23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261257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E798C115-F837-B51D-9AD6-48AFF1A9D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911A2330-83EE-CF4E-F6D2-376C614CC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0918EA9-9782-6124-6054-0F0785523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411137F-3512-4BE3-8B64-5F36C84E8C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158885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2A068D1F-D9C8-034B-0277-3E7E4FDA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8A6F289B-97D5-1E2F-0B11-176B32401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C213427E-C47A-E096-D904-A3A5E3519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DB6D32-6508-46FA-93B9-F313276E5FB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2445060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xmlns="" id="{6FF3C28F-9B0D-62DE-891E-671B7197A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xmlns="" id="{CC44CF38-A748-55A6-F47A-AD131F97E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xmlns="" id="{3EEFFF01-FEBB-0617-2C3A-F78AD9A56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612626D-BB5E-4470-8481-918F18BE45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933750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xmlns="" id="{48FE7B3B-F046-626B-E9D4-51D9AA0EE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xmlns="" id="{0FDD0124-8D81-0F36-C0FB-40A66F4C0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xmlns="" id="{FE81CEE1-2A80-731E-4437-DEADDE22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70F9C2-A234-44F0-A7C2-1B54CA3631B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2543056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xmlns="" id="{2AE7CE95-9E31-4B8E-E219-018A4E89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xmlns="" id="{C6A6CA69-4E31-345F-BD7D-73151C6B0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xmlns="" id="{9474C897-FC02-DAE0-1922-BEA9605A9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F3FE40-3C28-4D48-A685-AE1528BA1A0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3552689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A0E6F544-3512-7917-A434-918963DCE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D314674E-F44C-9FF6-6851-E912DF6D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E84AADD2-AC3D-677F-34F0-C3C695AA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B3C1B1-D0F2-438A-AEF6-96F47B8510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2445461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xmlns="" id="{9576AACE-80F8-475C-D53B-B2B5DA4B3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xmlns="" id="{D5ECB312-17E4-2792-F3A5-3331BCC99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xmlns="" id="{D22776CD-5263-FB6A-59C2-041312C4E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001320-0E8A-4426-A1E5-C6619771422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61853306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7A763AB-0005-3A43-8050-6EF1416D2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B452C15-A057-923A-C21F-B240B3122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E59A125-39C1-E9B5-49C5-E87272941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7E7994-2AE2-483A-B270-C4919EA08D5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2165217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8C2E8B9-B283-CB66-A5F3-7C1986111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FCF431C-0574-4C75-3F87-9F6A140D2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E9B2B07-D1C7-89B1-B985-5F2998066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0D6414-1FB1-4850-A7CB-0B51B136051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1009416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201035" y="2730245"/>
            <a:ext cx="5789929" cy="1124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0390" y="1504759"/>
            <a:ext cx="9446260" cy="1771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 u="heavy">
                <a:solidFill>
                  <a:srgbClr val="0462C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3/28/2025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xmlns="" id="{1BEA079D-1179-9102-A91A-4D4BE61E3D8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xmlns="" id="{5FB45A78-0D67-912F-51BA-775765D039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A5C22E68-C8AB-5A1A-6B02-F8F539068E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6FDB735-26D7-9C55-B249-51CDD23F6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52505CD-763E-7243-65C6-1742A76C1A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898989"/>
                </a:solidFill>
              </a:defRPr>
            </a:lvl1pPr>
          </a:lstStyle>
          <a:p>
            <a:fld id="{C08933C1-824C-43A0-BBF5-E560B6C188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xmlns="" val="4193408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2pPr>
      <a:lvl3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3pPr>
      <a:lvl4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4pPr>
      <a:lvl5pPr algn="l" defTabSz="6858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171450" indent="-171450" algn="l" defTabSz="685800" rtl="0" eaLnBrk="0" fontAlgn="base" hangingPunct="0">
        <a:lnSpc>
          <a:spcPct val="9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0" fontAlgn="base" hangingPunct="0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javatpoint.com/dbms-second-normal-form" TargetMode="External"/><Relationship Id="rId2" Type="http://schemas.openxmlformats.org/officeDocument/2006/relationships/hyperlink" Target="https://www.javatpoint.com/dbms-first-normal-form" TargetMode="Externa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javatpoint.com/dbms-fifth-normal-form" TargetMode="External"/><Relationship Id="rId5" Type="http://schemas.openxmlformats.org/officeDocument/2006/relationships/hyperlink" Target="https://www.javatpoint.com/dbms-forth-normal-form" TargetMode="External"/><Relationship Id="rId4" Type="http://schemas.openxmlformats.org/officeDocument/2006/relationships/hyperlink" Target="https://www.javatpoint.com/dbms-third-normal-form" TargetMode="Externa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3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968780" y="6143644"/>
            <a:ext cx="5223220" cy="320601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540" algn="ctr">
              <a:lnSpc>
                <a:spcPts val="2540"/>
              </a:lnSpc>
            </a:pPr>
            <a:r>
              <a:rPr sz="2400" b="1" spc="150" dirty="0">
                <a:latin typeface="Cambria"/>
                <a:cs typeface="Cambria"/>
              </a:rPr>
              <a:t>Dr.</a:t>
            </a:r>
            <a:r>
              <a:rPr sz="2400" b="1" spc="204" dirty="0">
                <a:latin typeface="Cambria"/>
                <a:cs typeface="Cambria"/>
              </a:rPr>
              <a:t> </a:t>
            </a:r>
            <a:r>
              <a:rPr lang="en-US" sz="2400" b="1" spc="195" dirty="0">
                <a:latin typeface="Cambria"/>
                <a:cs typeface="Cambria"/>
              </a:rPr>
              <a:t>Jayashree T R</a:t>
            </a:r>
            <a:endParaRPr sz="2400" dirty="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57825" y="1247775"/>
            <a:ext cx="1229967" cy="123375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42887" y="262000"/>
            <a:ext cx="11410950" cy="914400"/>
          </a:xfrm>
          <a:prstGeom prst="rect">
            <a:avLst/>
          </a:prstGeom>
          <a:solidFill>
            <a:srgbClr val="C5DFB4"/>
          </a:solidFill>
          <a:ln w="12700">
            <a:solidFill>
              <a:srgbClr val="2E528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080260" marR="718185" indent="-1353820">
              <a:lnSpc>
                <a:spcPts val="3379"/>
              </a:lnSpc>
              <a:spcBef>
                <a:spcPts val="125"/>
              </a:spcBef>
              <a:tabLst>
                <a:tab pos="2393315" algn="l"/>
                <a:tab pos="4145279" algn="l"/>
                <a:tab pos="4413250" algn="l"/>
                <a:tab pos="6877050" algn="l"/>
                <a:tab pos="7222490" algn="l"/>
                <a:tab pos="8914765" algn="l"/>
              </a:tabLst>
            </a:pPr>
            <a:r>
              <a:rPr sz="2750" spc="150" dirty="0">
                <a:solidFill>
                  <a:srgbClr val="000000"/>
                </a:solidFill>
              </a:rPr>
              <a:t>N</a:t>
            </a:r>
            <a:r>
              <a:rPr sz="2750" spc="100" dirty="0">
                <a:solidFill>
                  <a:srgbClr val="000000"/>
                </a:solidFill>
              </a:rPr>
              <a:t>a</a:t>
            </a:r>
            <a:r>
              <a:rPr sz="2750" spc="220" dirty="0">
                <a:solidFill>
                  <a:srgbClr val="000000"/>
                </a:solidFill>
              </a:rPr>
              <a:t>t</a:t>
            </a:r>
            <a:r>
              <a:rPr sz="2750" spc="150" dirty="0">
                <a:solidFill>
                  <a:srgbClr val="000000"/>
                </a:solidFill>
              </a:rPr>
              <a:t>i</a:t>
            </a:r>
            <a:r>
              <a:rPr sz="2750" spc="180" dirty="0">
                <a:solidFill>
                  <a:srgbClr val="000000"/>
                </a:solidFill>
              </a:rPr>
              <a:t>o</a:t>
            </a:r>
            <a:r>
              <a:rPr sz="2750" spc="185" dirty="0">
                <a:solidFill>
                  <a:srgbClr val="000000"/>
                </a:solidFill>
              </a:rPr>
              <a:t>n</a:t>
            </a:r>
            <a:r>
              <a:rPr sz="2750" spc="100" dirty="0">
                <a:solidFill>
                  <a:srgbClr val="000000"/>
                </a:solidFill>
              </a:rPr>
              <a:t>a</a:t>
            </a:r>
            <a:r>
              <a:rPr sz="2750" spc="95" dirty="0">
                <a:solidFill>
                  <a:srgbClr val="000000"/>
                </a:solidFill>
              </a:rPr>
              <a:t>l</a:t>
            </a:r>
            <a:r>
              <a:rPr sz="2750" dirty="0">
                <a:solidFill>
                  <a:srgbClr val="000000"/>
                </a:solidFill>
              </a:rPr>
              <a:t>	</a:t>
            </a:r>
            <a:r>
              <a:rPr sz="2750" spc="160" dirty="0">
                <a:solidFill>
                  <a:srgbClr val="000000"/>
                </a:solidFill>
              </a:rPr>
              <a:t>I</a:t>
            </a:r>
            <a:r>
              <a:rPr sz="2750" spc="210" dirty="0">
                <a:solidFill>
                  <a:srgbClr val="000000"/>
                </a:solidFill>
              </a:rPr>
              <a:t>n</a:t>
            </a:r>
            <a:r>
              <a:rPr sz="2750" spc="160" dirty="0">
                <a:solidFill>
                  <a:srgbClr val="000000"/>
                </a:solidFill>
              </a:rPr>
              <a:t>s</a:t>
            </a:r>
            <a:r>
              <a:rPr sz="2750" spc="220" dirty="0">
                <a:solidFill>
                  <a:srgbClr val="000000"/>
                </a:solidFill>
              </a:rPr>
              <a:t>t</a:t>
            </a:r>
            <a:r>
              <a:rPr sz="2750" spc="150" dirty="0">
                <a:solidFill>
                  <a:srgbClr val="000000"/>
                </a:solidFill>
              </a:rPr>
              <a:t>i</a:t>
            </a:r>
            <a:r>
              <a:rPr sz="2750" spc="175" dirty="0">
                <a:solidFill>
                  <a:srgbClr val="000000"/>
                </a:solidFill>
              </a:rPr>
              <a:t>t</a:t>
            </a:r>
            <a:r>
              <a:rPr sz="2750" spc="250" dirty="0">
                <a:solidFill>
                  <a:srgbClr val="000000"/>
                </a:solidFill>
              </a:rPr>
              <a:t>u</a:t>
            </a:r>
            <a:r>
              <a:rPr sz="2750" spc="210" dirty="0">
                <a:solidFill>
                  <a:srgbClr val="000000"/>
                </a:solidFill>
              </a:rPr>
              <a:t>te</a:t>
            </a:r>
            <a:r>
              <a:rPr sz="2750" dirty="0">
                <a:solidFill>
                  <a:srgbClr val="000000"/>
                </a:solidFill>
              </a:rPr>
              <a:t>	</a:t>
            </a:r>
            <a:r>
              <a:rPr sz="2750" spc="195" dirty="0">
                <a:solidFill>
                  <a:srgbClr val="000000"/>
                </a:solidFill>
              </a:rPr>
              <a:t>o</a:t>
            </a:r>
            <a:r>
              <a:rPr sz="2750" spc="114" dirty="0">
                <a:solidFill>
                  <a:srgbClr val="000000"/>
                </a:solidFill>
              </a:rPr>
              <a:t>f</a:t>
            </a:r>
            <a:r>
              <a:rPr sz="2750" dirty="0">
                <a:solidFill>
                  <a:srgbClr val="000000"/>
                </a:solidFill>
              </a:rPr>
              <a:t> </a:t>
            </a:r>
            <a:r>
              <a:rPr sz="2750" spc="-245" dirty="0">
                <a:solidFill>
                  <a:srgbClr val="000000"/>
                </a:solidFill>
              </a:rPr>
              <a:t> </a:t>
            </a:r>
            <a:r>
              <a:rPr sz="2750" spc="180" dirty="0">
                <a:solidFill>
                  <a:srgbClr val="000000"/>
                </a:solidFill>
              </a:rPr>
              <a:t>T</a:t>
            </a:r>
            <a:r>
              <a:rPr sz="2750" spc="120" dirty="0">
                <a:solidFill>
                  <a:srgbClr val="000000"/>
                </a:solidFill>
              </a:rPr>
              <a:t>e</a:t>
            </a:r>
            <a:r>
              <a:rPr sz="2750" spc="280" dirty="0">
                <a:solidFill>
                  <a:srgbClr val="000000"/>
                </a:solidFill>
              </a:rPr>
              <a:t>c</a:t>
            </a:r>
            <a:r>
              <a:rPr sz="2750" spc="229" dirty="0">
                <a:solidFill>
                  <a:srgbClr val="000000"/>
                </a:solidFill>
              </a:rPr>
              <a:t>h</a:t>
            </a:r>
            <a:r>
              <a:rPr sz="2750" spc="210" dirty="0">
                <a:solidFill>
                  <a:srgbClr val="000000"/>
                </a:solidFill>
              </a:rPr>
              <a:t>n</a:t>
            </a:r>
            <a:r>
              <a:rPr sz="2750" spc="160" dirty="0">
                <a:solidFill>
                  <a:srgbClr val="000000"/>
                </a:solidFill>
              </a:rPr>
              <a:t>o</a:t>
            </a:r>
            <a:r>
              <a:rPr sz="2750" spc="110" dirty="0">
                <a:solidFill>
                  <a:srgbClr val="000000"/>
                </a:solidFill>
              </a:rPr>
              <a:t>l</a:t>
            </a:r>
            <a:r>
              <a:rPr sz="2750" spc="170" dirty="0">
                <a:solidFill>
                  <a:srgbClr val="000000"/>
                </a:solidFill>
              </a:rPr>
              <a:t>o</a:t>
            </a:r>
            <a:r>
              <a:rPr sz="2750" spc="120" dirty="0">
                <a:solidFill>
                  <a:srgbClr val="000000"/>
                </a:solidFill>
              </a:rPr>
              <a:t>g</a:t>
            </a:r>
            <a:r>
              <a:rPr sz="2750" spc="260" dirty="0">
                <a:solidFill>
                  <a:srgbClr val="000000"/>
                </a:solidFill>
              </a:rPr>
              <a:t>y</a:t>
            </a:r>
            <a:r>
              <a:rPr sz="2750" dirty="0">
                <a:solidFill>
                  <a:srgbClr val="000000"/>
                </a:solidFill>
              </a:rPr>
              <a:t>	</a:t>
            </a:r>
            <a:r>
              <a:rPr sz="2750" spc="365" dirty="0">
                <a:solidFill>
                  <a:srgbClr val="000000"/>
                </a:solidFill>
              </a:rPr>
              <a:t>K</a:t>
            </a:r>
            <a:r>
              <a:rPr sz="2750" spc="100" dirty="0">
                <a:solidFill>
                  <a:srgbClr val="000000"/>
                </a:solidFill>
              </a:rPr>
              <a:t>ar</a:t>
            </a:r>
            <a:r>
              <a:rPr sz="2750" spc="114" dirty="0">
                <a:solidFill>
                  <a:srgbClr val="000000"/>
                </a:solidFill>
              </a:rPr>
              <a:t>n</a:t>
            </a:r>
            <a:r>
              <a:rPr sz="2750" spc="100" dirty="0">
                <a:solidFill>
                  <a:srgbClr val="000000"/>
                </a:solidFill>
              </a:rPr>
              <a:t>a</a:t>
            </a:r>
            <a:r>
              <a:rPr sz="2750" spc="165" dirty="0">
                <a:solidFill>
                  <a:srgbClr val="000000"/>
                </a:solidFill>
              </a:rPr>
              <a:t>t</a:t>
            </a:r>
            <a:r>
              <a:rPr sz="2750" spc="200" dirty="0">
                <a:solidFill>
                  <a:srgbClr val="000000"/>
                </a:solidFill>
              </a:rPr>
              <a:t>a</a:t>
            </a:r>
            <a:r>
              <a:rPr sz="2750" spc="165" dirty="0">
                <a:solidFill>
                  <a:srgbClr val="000000"/>
                </a:solidFill>
              </a:rPr>
              <a:t>k</a:t>
            </a:r>
            <a:r>
              <a:rPr sz="2750" spc="140" dirty="0">
                <a:solidFill>
                  <a:srgbClr val="000000"/>
                </a:solidFill>
              </a:rPr>
              <a:t>a</a:t>
            </a:r>
            <a:r>
              <a:rPr sz="2750" dirty="0">
                <a:solidFill>
                  <a:srgbClr val="000000"/>
                </a:solidFill>
              </a:rPr>
              <a:t>	</a:t>
            </a:r>
            <a:r>
              <a:rPr sz="2750" spc="385" dirty="0">
                <a:solidFill>
                  <a:srgbClr val="000000"/>
                </a:solidFill>
              </a:rPr>
              <a:t>S</a:t>
            </a:r>
            <a:r>
              <a:rPr sz="2750" spc="155" dirty="0">
                <a:solidFill>
                  <a:srgbClr val="000000"/>
                </a:solidFill>
              </a:rPr>
              <a:t>u</a:t>
            </a:r>
            <a:r>
              <a:rPr sz="2750" spc="65" dirty="0">
                <a:solidFill>
                  <a:srgbClr val="000000"/>
                </a:solidFill>
              </a:rPr>
              <a:t>r</a:t>
            </a:r>
            <a:r>
              <a:rPr sz="2750" spc="40" dirty="0">
                <a:solidFill>
                  <a:srgbClr val="000000"/>
                </a:solidFill>
              </a:rPr>
              <a:t>a</a:t>
            </a:r>
            <a:r>
              <a:rPr sz="2750" spc="195" dirty="0">
                <a:solidFill>
                  <a:srgbClr val="000000"/>
                </a:solidFill>
              </a:rPr>
              <a:t>t</a:t>
            </a:r>
            <a:r>
              <a:rPr sz="2750" spc="310" dirty="0">
                <a:solidFill>
                  <a:srgbClr val="000000"/>
                </a:solidFill>
              </a:rPr>
              <a:t>h</a:t>
            </a:r>
            <a:r>
              <a:rPr sz="2750" spc="170" dirty="0">
                <a:solidFill>
                  <a:srgbClr val="000000"/>
                </a:solidFill>
              </a:rPr>
              <a:t>k</a:t>
            </a:r>
            <a:r>
              <a:rPr sz="2750" spc="100" dirty="0">
                <a:solidFill>
                  <a:srgbClr val="000000"/>
                </a:solidFill>
              </a:rPr>
              <a:t>a</a:t>
            </a:r>
            <a:r>
              <a:rPr sz="2750" spc="75" dirty="0">
                <a:solidFill>
                  <a:srgbClr val="000000"/>
                </a:solidFill>
              </a:rPr>
              <a:t>l  </a:t>
            </a:r>
            <a:r>
              <a:rPr sz="2750" spc="180" dirty="0">
                <a:solidFill>
                  <a:srgbClr val="000000"/>
                </a:solidFill>
              </a:rPr>
              <a:t>Department	</a:t>
            </a:r>
            <a:r>
              <a:rPr sz="2750" spc="155" dirty="0">
                <a:solidFill>
                  <a:srgbClr val="000000"/>
                </a:solidFill>
              </a:rPr>
              <a:t>of</a:t>
            </a:r>
            <a:r>
              <a:rPr sz="2750" spc="409" dirty="0">
                <a:solidFill>
                  <a:srgbClr val="000000"/>
                </a:solidFill>
              </a:rPr>
              <a:t> </a:t>
            </a:r>
            <a:r>
              <a:rPr sz="2750" spc="170" dirty="0">
                <a:solidFill>
                  <a:srgbClr val="000000"/>
                </a:solidFill>
              </a:rPr>
              <a:t>Information	</a:t>
            </a:r>
            <a:r>
              <a:rPr sz="2750" spc="185" dirty="0">
                <a:solidFill>
                  <a:srgbClr val="000000"/>
                </a:solidFill>
              </a:rPr>
              <a:t>Technology</a:t>
            </a:r>
            <a:endParaRPr sz="2750"/>
          </a:p>
        </p:txBody>
      </p:sp>
      <p:sp>
        <p:nvSpPr>
          <p:cNvPr id="6" name="object 2"/>
          <p:cNvSpPr txBox="1">
            <a:spLocks/>
          </p:cNvSpPr>
          <p:nvPr/>
        </p:nvSpPr>
        <p:spPr>
          <a:xfrm>
            <a:off x="1666844" y="2714620"/>
            <a:ext cx="9452283" cy="272189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ctr" defTabSz="91440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308225" algn="l"/>
                <a:tab pos="4889500" algn="l"/>
              </a:tabLst>
              <a:defRPr/>
            </a:pPr>
            <a:r>
              <a:rPr kumimoji="0" lang="en-IN" sz="4800" b="1" i="0" u="none" strike="noStrike" kern="0" cap="none" spc="26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I</a:t>
            </a:r>
            <a:r>
              <a:rPr kumimoji="0" lang="en-IN" sz="4800" b="1" i="0" u="none" strike="noStrike" kern="0" cap="none" spc="29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T</a:t>
            </a:r>
            <a:r>
              <a:rPr kumimoji="0" lang="en-IN" sz="4800" b="1" i="0" u="none" strike="noStrike" kern="0" cap="none" spc="525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 </a:t>
            </a:r>
            <a:r>
              <a:rPr kumimoji="0" lang="en-IN" sz="4800" b="1" i="0" u="none" strike="noStrike" kern="0" cap="none" spc="31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252</a:t>
            </a:r>
            <a:r>
              <a:rPr kumimoji="0" lang="en-IN" sz="4800" b="1" i="0" u="none" strike="noStrike" kern="0" cap="none" spc="0" normalizeH="0" baseline="0" noProof="0" dirty="0">
                <a:ln>
                  <a:noFill/>
                </a:ln>
                <a:solidFill>
                  <a:srgbClr val="006FC0"/>
                </a:solidFill>
                <a:effectLst/>
                <a:uLnTx/>
                <a:uFillTx/>
                <a:latin typeface="Cambria"/>
                <a:ea typeface="+mj-ea"/>
                <a:cs typeface="Cambria"/>
              </a:rPr>
              <a:t>	</a:t>
            </a:r>
            <a:r>
              <a:rPr kumimoji="0" lang="en-IN" sz="48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Times-Bold"/>
                <a:ea typeface="+mj-ea"/>
                <a:cs typeface="Cambria"/>
              </a:rPr>
              <a:t>DATABASE SYSTEMS</a:t>
            </a:r>
          </a:p>
          <a:p>
            <a:pPr algn="ctr"/>
            <a:endParaRPr lang="en-IN" sz="32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IN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Basics of Functional Dependencies and Normalization for Relational Databases</a:t>
            </a:r>
            <a:endParaRPr kumimoji="0" lang="en-IN" sz="320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eorgia" pitchFamily="18" charset="0"/>
              <a:ea typeface="+mj-ea"/>
              <a:cs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6712" y="214290"/>
            <a:ext cx="3038475" cy="518159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200" b="0" spc="204" dirty="0">
                <a:latin typeface="Georgia"/>
                <a:cs typeface="Georgia"/>
              </a:rPr>
              <a:t>Course</a:t>
            </a:r>
            <a:r>
              <a:rPr sz="3200" b="0" spc="110" dirty="0">
                <a:latin typeface="Georgia"/>
                <a:cs typeface="Georgia"/>
              </a:rPr>
              <a:t> </a:t>
            </a:r>
            <a:r>
              <a:rPr sz="3200" b="0" spc="145" dirty="0">
                <a:latin typeface="Georgia"/>
                <a:cs typeface="Georgia"/>
              </a:rPr>
              <a:t>Outline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23836" y="785794"/>
            <a:ext cx="10930498" cy="5892639"/>
          </a:xfrm>
          <a:prstGeom prst="rect">
            <a:avLst/>
          </a:prstGeom>
        </p:spPr>
        <p:txBody>
          <a:bodyPr vert="horz" wrap="square" lIns="0" tIns="1079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sz="2000" b="1" spc="140" dirty="0">
                <a:latin typeface="Cambria"/>
                <a:cs typeface="Cambria"/>
              </a:rPr>
              <a:t>Course</a:t>
            </a:r>
            <a:r>
              <a:rPr sz="2000" b="1" spc="85" dirty="0">
                <a:latin typeface="Cambria"/>
                <a:cs typeface="Cambria"/>
              </a:rPr>
              <a:t> </a:t>
            </a:r>
            <a:r>
              <a:rPr sz="2000" b="1" spc="110" dirty="0">
                <a:latin typeface="Cambria"/>
                <a:cs typeface="Cambria"/>
              </a:rPr>
              <a:t>Plan:</a:t>
            </a:r>
            <a:r>
              <a:rPr sz="2000" b="1" spc="200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Theory:</a:t>
            </a:r>
            <a:endParaRPr sz="2000" dirty="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2000" b="1" spc="100" dirty="0">
                <a:latin typeface="Cambria"/>
                <a:cs typeface="Cambria"/>
              </a:rPr>
              <a:t>Part</a:t>
            </a:r>
            <a:r>
              <a:rPr sz="2000" b="1" spc="204" dirty="0">
                <a:latin typeface="Cambria"/>
                <a:cs typeface="Cambria"/>
              </a:rPr>
              <a:t> </a:t>
            </a:r>
            <a:r>
              <a:rPr sz="2000" b="1" spc="125" dirty="0">
                <a:latin typeface="Cambria"/>
                <a:cs typeface="Cambria"/>
              </a:rPr>
              <a:t>A:</a:t>
            </a:r>
            <a:r>
              <a:rPr sz="2000" b="1" spc="229" dirty="0">
                <a:latin typeface="Cambria"/>
                <a:cs typeface="Cambria"/>
              </a:rPr>
              <a:t> </a:t>
            </a:r>
            <a:r>
              <a:rPr sz="2000" b="1" spc="80" dirty="0">
                <a:latin typeface="Cambria"/>
                <a:cs typeface="Cambria"/>
              </a:rPr>
              <a:t>Parallel</a:t>
            </a:r>
            <a:r>
              <a:rPr sz="2000" b="1" spc="75" dirty="0">
                <a:latin typeface="Cambria"/>
                <a:cs typeface="Cambria"/>
              </a:rPr>
              <a:t> </a:t>
            </a:r>
            <a:r>
              <a:rPr sz="2000" b="1" spc="155" dirty="0">
                <a:latin typeface="Cambria"/>
                <a:cs typeface="Cambria"/>
              </a:rPr>
              <a:t>Computer</a:t>
            </a:r>
            <a:r>
              <a:rPr sz="2000" b="1" spc="130" dirty="0">
                <a:latin typeface="Cambria"/>
                <a:cs typeface="Cambria"/>
              </a:rPr>
              <a:t> Architectures</a:t>
            </a:r>
            <a:endParaRPr sz="2000" dirty="0">
              <a:latin typeface="Cambria"/>
              <a:cs typeface="Cambria"/>
            </a:endParaRPr>
          </a:p>
          <a:p>
            <a:pPr marL="241300" marR="5080" indent="-228600" algn="just">
              <a:lnSpc>
                <a:spcPct val="150000"/>
              </a:lnSpc>
              <a:spcBef>
                <a:spcPts val="1070"/>
              </a:spcBef>
              <a:tabLst>
                <a:tab pos="1642745" algn="l"/>
                <a:tab pos="8228965" algn="l"/>
              </a:tabLst>
            </a:pPr>
            <a:r>
              <a:rPr sz="2000" spc="85" dirty="0">
                <a:latin typeface="Georgia"/>
                <a:cs typeface="Georgia"/>
              </a:rPr>
              <a:t>Week</a:t>
            </a:r>
            <a:r>
              <a:rPr sz="2000" spc="120" dirty="0">
                <a:latin typeface="Georgia"/>
                <a:cs typeface="Georgia"/>
              </a:rPr>
              <a:t> </a:t>
            </a:r>
            <a:r>
              <a:rPr sz="2000" spc="165" dirty="0">
                <a:latin typeface="Georgia"/>
                <a:cs typeface="Georgia"/>
              </a:rPr>
              <a:t>1:	</a:t>
            </a:r>
            <a:r>
              <a:rPr sz="2000" spc="155" dirty="0">
                <a:highlight>
                  <a:srgbClr val="00FFFF"/>
                </a:highlight>
                <a:latin typeface="Times-Bold"/>
                <a:cs typeface="Cambria"/>
              </a:rPr>
              <a:t>Introduction</a:t>
            </a:r>
            <a:r>
              <a:rPr sz="2000" spc="140" dirty="0">
                <a:highlight>
                  <a:srgbClr val="00FFFF"/>
                </a:highlight>
                <a:latin typeface="Times-Bold"/>
                <a:cs typeface="Cambria"/>
              </a:rPr>
              <a:t> </a:t>
            </a:r>
            <a:r>
              <a:rPr sz="2000" spc="150" dirty="0">
                <a:highlight>
                  <a:srgbClr val="00FFFF"/>
                </a:highlight>
                <a:latin typeface="Times-Bold"/>
                <a:cs typeface="Cambria"/>
              </a:rPr>
              <a:t>to</a:t>
            </a:r>
            <a:r>
              <a:rPr sz="2000" spc="229" dirty="0">
                <a:highlight>
                  <a:srgbClr val="00FFFF"/>
                </a:highlight>
                <a:latin typeface="Times-Bold"/>
                <a:cs typeface="Cambria"/>
              </a:rPr>
              <a:t> </a:t>
            </a:r>
            <a:r>
              <a:rPr lang="en-IN" sz="2000" dirty="0">
                <a:highlight>
                  <a:srgbClr val="00FFFF"/>
                </a:highlight>
                <a:latin typeface="Times-Bold"/>
              </a:rPr>
              <a:t>to the course, highlighting the </a:t>
            </a:r>
            <a:r>
              <a:rPr lang="en-US" sz="2000" dirty="0">
                <a:highlight>
                  <a:srgbClr val="00FFFF"/>
                </a:highlight>
                <a:latin typeface="Times-Bold"/>
              </a:rPr>
              <a:t>data and databases, and related basic concepts. Advantages and need for a database system.</a:t>
            </a:r>
            <a:endParaRPr sz="2000" dirty="0">
              <a:highlight>
                <a:srgbClr val="00FFFF"/>
              </a:highlight>
              <a:latin typeface="Times-Bold"/>
              <a:cs typeface="Georgia"/>
            </a:endParaRPr>
          </a:p>
          <a:p>
            <a:pPr marL="12700" algn="just">
              <a:lnSpc>
                <a:spcPct val="150000"/>
              </a:lnSpc>
              <a:spcBef>
                <a:spcPts val="750"/>
              </a:spcBef>
            </a:pPr>
            <a:r>
              <a:rPr sz="2000" spc="85" dirty="0">
                <a:latin typeface="Georgia"/>
                <a:cs typeface="Georgia"/>
              </a:rPr>
              <a:t>Week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lang="en-IN" sz="2000" spc="125" dirty="0">
                <a:latin typeface="Georgia"/>
                <a:cs typeface="Georgia"/>
              </a:rPr>
              <a:t>2</a:t>
            </a:r>
            <a:r>
              <a:rPr sz="2000" spc="125" dirty="0">
                <a:latin typeface="Georgia"/>
                <a:cs typeface="Georgia"/>
              </a:rPr>
              <a:t>:</a:t>
            </a:r>
            <a:r>
              <a:rPr sz="2000" spc="75" dirty="0">
                <a:latin typeface="Georgia"/>
                <a:cs typeface="Georgia"/>
              </a:rPr>
              <a:t> </a:t>
            </a:r>
            <a:r>
              <a:rPr lang="en-US" sz="2000" dirty="0">
                <a:highlight>
                  <a:srgbClr val="00FF00"/>
                </a:highlight>
                <a:latin typeface="Times-Bold"/>
              </a:rPr>
              <a:t>Attributes, tuples, relational schema, conceptual model, introduction to SQL-DML, DDL, creating relations/ tables, access and manipulate data. </a:t>
            </a:r>
          </a:p>
          <a:p>
            <a:pPr marL="12700" algn="just">
              <a:lnSpc>
                <a:spcPct val="150000"/>
              </a:lnSpc>
              <a:spcBef>
                <a:spcPts val="750"/>
              </a:spcBef>
            </a:pPr>
            <a:r>
              <a:rPr sz="2000" spc="85" dirty="0">
                <a:latin typeface="Georgia"/>
                <a:cs typeface="Georgia"/>
              </a:rPr>
              <a:t>Week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lang="en-IN" sz="2000" spc="140" dirty="0">
                <a:latin typeface="Georgia"/>
                <a:cs typeface="Georgia"/>
              </a:rPr>
              <a:t>3,4</a:t>
            </a:r>
            <a:r>
              <a:rPr sz="2000" spc="140" dirty="0">
                <a:latin typeface="Georgia"/>
                <a:cs typeface="Georgia"/>
              </a:rPr>
              <a:t>:</a:t>
            </a:r>
            <a:r>
              <a:rPr sz="2000" spc="75" dirty="0">
                <a:latin typeface="Georgia"/>
                <a:cs typeface="Georgia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Times-Bold"/>
              </a:rPr>
              <a:t>Data model, relational model, and SQL, relational data model and relational database constraints, SQL data definition and data types, specifying constraints, basic retrieval queries,</a:t>
            </a:r>
            <a:r>
              <a:rPr lang="en-US" sz="2000" dirty="0">
                <a:latin typeface="Times-Bold"/>
              </a:rPr>
              <a:t> </a:t>
            </a:r>
            <a:r>
              <a:rPr lang="en-US" sz="2000" dirty="0">
                <a:highlight>
                  <a:srgbClr val="FFFF00"/>
                </a:highlight>
                <a:latin typeface="Times-Bold"/>
              </a:rPr>
              <a:t>complex quires, triggers, views, schema modification. </a:t>
            </a:r>
          </a:p>
          <a:p>
            <a:pPr marL="12700" algn="just">
              <a:lnSpc>
                <a:spcPct val="150000"/>
              </a:lnSpc>
              <a:spcBef>
                <a:spcPts val="750"/>
              </a:spcBef>
            </a:pPr>
            <a:r>
              <a:rPr sz="2000" spc="85" dirty="0">
                <a:latin typeface="Georgia"/>
                <a:cs typeface="Georgia"/>
              </a:rPr>
              <a:t>Week </a:t>
            </a:r>
            <a:r>
              <a:rPr lang="en-IN" sz="2000" spc="60" dirty="0">
                <a:latin typeface="Georgia"/>
                <a:cs typeface="Georgia"/>
              </a:rPr>
              <a:t>5-6</a:t>
            </a:r>
            <a:r>
              <a:rPr sz="2000" spc="229" dirty="0">
                <a:latin typeface="Georgia"/>
                <a:cs typeface="Georgia"/>
              </a:rPr>
              <a:t>: </a:t>
            </a:r>
            <a:r>
              <a:rPr lang="en-US" sz="2000" dirty="0">
                <a:highlight>
                  <a:srgbClr val="FF00FF"/>
                </a:highlight>
                <a:latin typeface="Times-Bold"/>
              </a:rPr>
              <a:t>ER model development, entity types/sets, attribute, relationship types/sets, simple employee database conceptual design using ER concepts, ER to relational mapping algorithm, EER model. </a:t>
            </a:r>
            <a:endParaRPr sz="2000" dirty="0">
              <a:highlight>
                <a:srgbClr val="FF00FF"/>
              </a:highlight>
              <a:latin typeface="Times-Bold"/>
              <a:cs typeface="Cambri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15650" y="714374"/>
            <a:ext cx="1276350" cy="2533650"/>
          </a:xfrm>
          <a:custGeom>
            <a:avLst/>
            <a:gdLst/>
            <a:ahLst/>
            <a:cxnLst/>
            <a:rect l="l" t="t" r="r" b="b"/>
            <a:pathLst>
              <a:path w="1276350" h="2533650">
                <a:moveTo>
                  <a:pt x="1276350" y="0"/>
                </a:moveTo>
                <a:lnTo>
                  <a:pt x="0" y="1266825"/>
                </a:lnTo>
                <a:lnTo>
                  <a:pt x="233273" y="1498371"/>
                </a:lnTo>
                <a:lnTo>
                  <a:pt x="3302" y="1728343"/>
                </a:lnTo>
                <a:lnTo>
                  <a:pt x="459613" y="2184654"/>
                </a:lnTo>
                <a:lnTo>
                  <a:pt x="691324" y="1953006"/>
                </a:lnTo>
                <a:lnTo>
                  <a:pt x="1276350" y="2533650"/>
                </a:lnTo>
                <a:lnTo>
                  <a:pt x="127635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4600575"/>
            <a:ext cx="1014094" cy="2019300"/>
          </a:xfrm>
          <a:custGeom>
            <a:avLst/>
            <a:gdLst/>
            <a:ahLst/>
            <a:cxnLst/>
            <a:rect l="l" t="t" r="r" b="b"/>
            <a:pathLst>
              <a:path w="1014094" h="2019300">
                <a:moveTo>
                  <a:pt x="1014056" y="1370926"/>
                </a:moveTo>
                <a:lnTo>
                  <a:pt x="831215" y="1188085"/>
                </a:lnTo>
                <a:lnTo>
                  <a:pt x="1009650" y="1009650"/>
                </a:lnTo>
                <a:lnTo>
                  <a:pt x="0" y="0"/>
                </a:lnTo>
                <a:lnTo>
                  <a:pt x="0" y="2019300"/>
                </a:lnTo>
                <a:lnTo>
                  <a:pt x="487857" y="1531442"/>
                </a:lnTo>
                <a:lnTo>
                  <a:pt x="670699" y="1714271"/>
                </a:lnTo>
                <a:lnTo>
                  <a:pt x="1014056" y="1370926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997" y="258127"/>
            <a:ext cx="3038475" cy="5175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200" b="0" spc="204" dirty="0">
                <a:latin typeface="Georgia"/>
                <a:cs typeface="Georgia"/>
              </a:rPr>
              <a:t>Course</a:t>
            </a:r>
            <a:r>
              <a:rPr sz="3200" b="0" spc="110" dirty="0">
                <a:latin typeface="Georgia"/>
                <a:cs typeface="Georgia"/>
              </a:rPr>
              <a:t> </a:t>
            </a:r>
            <a:r>
              <a:rPr sz="3200" b="0" spc="145" dirty="0">
                <a:latin typeface="Georgia"/>
                <a:cs typeface="Georgia"/>
              </a:rPr>
              <a:t>Outline</a:t>
            </a:r>
            <a:endParaRPr sz="3200">
              <a:latin typeface="Georgia"/>
              <a:cs typeface="Georgi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390" y="1620837"/>
            <a:ext cx="27305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000" spc="-5" dirty="0">
                <a:latin typeface="Georgia"/>
                <a:cs typeface="Georgia"/>
              </a:rPr>
              <a:t>W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21308" y="1650238"/>
            <a:ext cx="1390650" cy="304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ts val="2295"/>
              </a:lnSpc>
            </a:pPr>
            <a:r>
              <a:rPr sz="2000" spc="120">
                <a:latin typeface="Georgia"/>
                <a:cs typeface="Georgia"/>
              </a:rPr>
              <a:t>eek</a:t>
            </a:r>
            <a:r>
              <a:rPr sz="2000" spc="25">
                <a:latin typeface="Georgia"/>
                <a:cs typeface="Georgia"/>
              </a:rPr>
              <a:t> </a:t>
            </a:r>
            <a:r>
              <a:rPr lang="en-IN" sz="2000" spc="195" dirty="0">
                <a:latin typeface="Georgia"/>
                <a:cs typeface="Georgia"/>
              </a:rPr>
              <a:t>7,8</a:t>
            </a:r>
            <a:r>
              <a:rPr sz="2000" spc="-40">
                <a:latin typeface="Georgia"/>
                <a:cs typeface="Georgia"/>
              </a:rPr>
              <a:t> </a:t>
            </a:r>
            <a:r>
              <a:rPr sz="2000" spc="20" dirty="0">
                <a:latin typeface="Georgia"/>
                <a:cs typeface="Georgia"/>
              </a:rPr>
              <a:t>:</a:t>
            </a:r>
            <a:endParaRPr sz="2000">
              <a:latin typeface="Georgia"/>
              <a:cs typeface="Georg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5274" y="2285992"/>
            <a:ext cx="11144328" cy="4447371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algn="just"/>
            <a:r>
              <a:rPr sz="2000" spc="85" dirty="0">
                <a:latin typeface="Georgia"/>
                <a:cs typeface="Georgia"/>
              </a:rPr>
              <a:t>Week</a:t>
            </a:r>
            <a:r>
              <a:rPr sz="2000" spc="55" dirty="0">
                <a:latin typeface="Georgia"/>
                <a:cs typeface="Georgia"/>
              </a:rPr>
              <a:t> </a:t>
            </a:r>
            <a:r>
              <a:rPr lang="en-IN" sz="2000" spc="125" dirty="0">
                <a:latin typeface="Georgia"/>
                <a:cs typeface="Georgia"/>
              </a:rPr>
              <a:t>9</a:t>
            </a:r>
            <a:r>
              <a:rPr sz="2000" spc="125" dirty="0">
                <a:latin typeface="Georgia"/>
                <a:cs typeface="Georgia"/>
              </a:rPr>
              <a:t>:</a:t>
            </a:r>
            <a:r>
              <a:rPr sz="2000" spc="75" dirty="0">
                <a:latin typeface="Georgia"/>
                <a:cs typeface="Georgia"/>
              </a:rPr>
              <a:t> </a:t>
            </a:r>
            <a:r>
              <a:rPr lang="en-US" sz="2000" dirty="0">
                <a:latin typeface="Times-Bold"/>
              </a:rPr>
              <a:t>Procedural query languages: relational algebra and SQL-SELECT, PROJECT, RENAME, binary and JOIN operations with examples.  </a:t>
            </a:r>
            <a:endParaRPr lang="en-IN" sz="2000" dirty="0">
              <a:latin typeface="Times-Bold"/>
            </a:endParaRPr>
          </a:p>
          <a:p>
            <a:pPr algn="just"/>
            <a:r>
              <a:rPr lang="en-US" sz="2000" dirty="0">
                <a:latin typeface="Times-Bold"/>
              </a:rPr>
              <a:t>Non-Procedural query languages: relational calculus, and SQL-</a:t>
            </a:r>
            <a:r>
              <a:rPr lang="en-US" sz="2000" dirty="0" err="1">
                <a:latin typeface="Times-Bold"/>
              </a:rPr>
              <a:t>tuple</a:t>
            </a:r>
            <a:r>
              <a:rPr lang="en-US" sz="2000" dirty="0">
                <a:latin typeface="Times-Bold"/>
              </a:rPr>
              <a:t> relational calculus, existential a universal quantifier with examples. </a:t>
            </a:r>
            <a:endParaRPr sz="2000" dirty="0">
              <a:latin typeface="Times-Bold"/>
              <a:cs typeface="Georgia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2490470" algn="l"/>
              </a:tabLst>
            </a:pPr>
            <a:r>
              <a:rPr sz="2000" spc="85" dirty="0">
                <a:latin typeface="Georgia"/>
                <a:cs typeface="Georgia"/>
              </a:rPr>
              <a:t>Week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lang="en-IN" sz="2000" spc="170" dirty="0">
                <a:latin typeface="Georgia"/>
                <a:cs typeface="Georgia"/>
              </a:rPr>
              <a:t>10</a:t>
            </a:r>
            <a:r>
              <a:rPr sz="2000" spc="170" dirty="0">
                <a:latin typeface="Georgia"/>
                <a:cs typeface="Georgia"/>
              </a:rPr>
              <a:t>,</a:t>
            </a:r>
            <a:r>
              <a:rPr lang="en-IN" sz="2000" spc="170" dirty="0">
                <a:latin typeface="Georgia"/>
                <a:cs typeface="Georgia"/>
              </a:rPr>
              <a:t>11</a:t>
            </a:r>
            <a:r>
              <a:rPr sz="2000" spc="65" dirty="0">
                <a:latin typeface="Georgia"/>
                <a:cs typeface="Georgia"/>
              </a:rPr>
              <a:t> </a:t>
            </a:r>
            <a:r>
              <a:rPr sz="2000" spc="20" dirty="0">
                <a:latin typeface="Georgia"/>
                <a:cs typeface="Georgia"/>
              </a:rPr>
              <a:t>:</a:t>
            </a:r>
            <a:r>
              <a:rPr sz="2000" spc="150" dirty="0">
                <a:latin typeface="Georgia"/>
                <a:cs typeface="Georgia"/>
              </a:rPr>
              <a:t> </a:t>
            </a:r>
            <a:r>
              <a:rPr lang="en-US" sz="2000" dirty="0">
                <a:latin typeface="Times-Bold"/>
              </a:rPr>
              <a:t>Transaction management, schedule and </a:t>
            </a:r>
            <a:r>
              <a:rPr lang="en-IE" sz="2000" dirty="0">
                <a:latin typeface="Times-Bold"/>
              </a:rPr>
              <a:t>serializability</a:t>
            </a:r>
            <a:r>
              <a:rPr lang="en-US" sz="2000" dirty="0">
                <a:latin typeface="Times-Bold"/>
              </a:rPr>
              <a:t>, concurrency control,2-phase lock, recovery mechanism: undo/redo values. </a:t>
            </a:r>
            <a:endParaRPr sz="2000" dirty="0">
              <a:latin typeface="Times-Bold"/>
              <a:cs typeface="Georgia"/>
            </a:endParaRPr>
          </a:p>
          <a:p>
            <a:pPr marL="241300" marR="5080" indent="-229235" algn="just">
              <a:lnSpc>
                <a:spcPts val="2180"/>
              </a:lnSpc>
              <a:spcBef>
                <a:spcPts val="1010"/>
              </a:spcBef>
            </a:pPr>
            <a:r>
              <a:rPr sz="2000" spc="85" dirty="0">
                <a:latin typeface="Georgia"/>
                <a:cs typeface="Georgia"/>
              </a:rPr>
              <a:t>Week</a:t>
            </a:r>
            <a:r>
              <a:rPr sz="2000" spc="60" dirty="0">
                <a:latin typeface="Georgia"/>
                <a:cs typeface="Georgia"/>
              </a:rPr>
              <a:t> </a:t>
            </a:r>
            <a:r>
              <a:rPr sz="2000" spc="220" dirty="0">
                <a:latin typeface="Georgia"/>
                <a:cs typeface="Georgia"/>
              </a:rPr>
              <a:t>1</a:t>
            </a:r>
            <a:r>
              <a:rPr lang="en-IN" sz="2000" spc="220" dirty="0">
                <a:latin typeface="Georgia"/>
                <a:cs typeface="Georgia"/>
              </a:rPr>
              <a:t>2</a:t>
            </a:r>
            <a:r>
              <a:rPr sz="2000" spc="220" dirty="0">
                <a:latin typeface="Georgia"/>
                <a:cs typeface="Georgia"/>
              </a:rPr>
              <a:t>,1</a:t>
            </a:r>
            <a:r>
              <a:rPr lang="en-IN" sz="2000" spc="220" dirty="0">
                <a:latin typeface="Georgia"/>
                <a:cs typeface="Georgia"/>
              </a:rPr>
              <a:t>3: </a:t>
            </a:r>
            <a:r>
              <a:rPr lang="en-US" sz="2000" dirty="0">
                <a:latin typeface="Times-Bold"/>
              </a:rPr>
              <a:t>Disk storage- basic file structures, ordered/unordered. binary search, hashing, indexing, importance of indexes, primary and secondary indexing methods, clustered, B tree, B++ trees.</a:t>
            </a:r>
          </a:p>
          <a:p>
            <a:pPr marL="241300" marR="5080" indent="-229235" algn="just">
              <a:lnSpc>
                <a:spcPts val="2180"/>
              </a:lnSpc>
              <a:spcBef>
                <a:spcPts val="1010"/>
              </a:spcBef>
            </a:pPr>
            <a:r>
              <a:rPr lang="en-IN" sz="2000" spc="85" dirty="0">
                <a:latin typeface="Georgia"/>
                <a:cs typeface="Georgia"/>
              </a:rPr>
              <a:t>Week</a:t>
            </a:r>
            <a:r>
              <a:rPr lang="en-IN" sz="2000" spc="60" dirty="0">
                <a:latin typeface="Georgia"/>
                <a:cs typeface="Georgia"/>
              </a:rPr>
              <a:t> </a:t>
            </a:r>
            <a:r>
              <a:rPr lang="en-IN" sz="2000" spc="220" dirty="0">
                <a:latin typeface="Georgia"/>
                <a:cs typeface="Georgia"/>
              </a:rPr>
              <a:t>14: </a:t>
            </a:r>
            <a:r>
              <a:rPr lang="en-IN" sz="2000" dirty="0">
                <a:latin typeface="Times-Bold"/>
              </a:rPr>
              <a:t>Current trends in database system, introduction to data warehousing, data mining. </a:t>
            </a:r>
            <a:endParaRPr sz="2000" dirty="0">
              <a:latin typeface="Times-Bold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2000" spc="130" dirty="0">
                <a:latin typeface="Cambria"/>
                <a:cs typeface="Cambria"/>
              </a:rPr>
              <a:t>Practical:</a:t>
            </a:r>
            <a:r>
              <a:rPr lang="en-IN" sz="2000" spc="130" dirty="0">
                <a:latin typeface="Cambria"/>
                <a:cs typeface="Cambria"/>
              </a:rPr>
              <a:t> </a:t>
            </a:r>
            <a:r>
              <a:rPr lang="en-IN" sz="2000" spc="130" dirty="0" err="1">
                <a:latin typeface="Cambria"/>
                <a:cs typeface="Cambria"/>
              </a:rPr>
              <a:t>MySQL</a:t>
            </a:r>
            <a:r>
              <a:rPr lang="en-IN" sz="2000" spc="130" dirty="0">
                <a:latin typeface="Cambria"/>
                <a:cs typeface="Cambria"/>
              </a:rPr>
              <a:t> commands </a:t>
            </a:r>
          </a:p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lang="en-IN" sz="2000" spc="130" dirty="0">
                <a:latin typeface="Cambria"/>
                <a:cs typeface="Cambria"/>
              </a:rPr>
              <a:t>Project: Team of 2 or 3 members</a:t>
            </a:r>
            <a:endParaRPr sz="2000" dirty="0">
              <a:latin typeface="Cambria"/>
              <a:cs typeface="Cambria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0915650" y="714374"/>
            <a:ext cx="1276350" cy="2533650"/>
          </a:xfrm>
          <a:custGeom>
            <a:avLst/>
            <a:gdLst/>
            <a:ahLst/>
            <a:cxnLst/>
            <a:rect l="l" t="t" r="r" b="b"/>
            <a:pathLst>
              <a:path w="1276350" h="2533650">
                <a:moveTo>
                  <a:pt x="1276350" y="0"/>
                </a:moveTo>
                <a:lnTo>
                  <a:pt x="0" y="1266825"/>
                </a:lnTo>
                <a:lnTo>
                  <a:pt x="233273" y="1498371"/>
                </a:lnTo>
                <a:lnTo>
                  <a:pt x="3302" y="1728343"/>
                </a:lnTo>
                <a:lnTo>
                  <a:pt x="459613" y="2184654"/>
                </a:lnTo>
                <a:lnTo>
                  <a:pt x="691324" y="1953006"/>
                </a:lnTo>
                <a:lnTo>
                  <a:pt x="1276350" y="2533650"/>
                </a:lnTo>
                <a:lnTo>
                  <a:pt x="1276350" y="0"/>
                </a:lnTo>
                <a:close/>
              </a:path>
            </a:pathLst>
          </a:custGeom>
          <a:solidFill>
            <a:srgbClr val="FFC000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0" y="4600575"/>
            <a:ext cx="1014094" cy="2019300"/>
          </a:xfrm>
          <a:custGeom>
            <a:avLst/>
            <a:gdLst/>
            <a:ahLst/>
            <a:cxnLst/>
            <a:rect l="l" t="t" r="r" b="b"/>
            <a:pathLst>
              <a:path w="1014094" h="2019300">
                <a:moveTo>
                  <a:pt x="1014056" y="1370926"/>
                </a:moveTo>
                <a:lnTo>
                  <a:pt x="831215" y="1188085"/>
                </a:lnTo>
                <a:lnTo>
                  <a:pt x="1009650" y="1009650"/>
                </a:lnTo>
                <a:lnTo>
                  <a:pt x="0" y="0"/>
                </a:lnTo>
                <a:lnTo>
                  <a:pt x="0" y="2019300"/>
                </a:lnTo>
                <a:lnTo>
                  <a:pt x="487857" y="1531442"/>
                </a:lnTo>
                <a:lnTo>
                  <a:pt x="670699" y="1714271"/>
                </a:lnTo>
                <a:lnTo>
                  <a:pt x="1014056" y="1370926"/>
                </a:lnTo>
                <a:close/>
              </a:path>
            </a:pathLst>
          </a:custGeom>
          <a:solidFill>
            <a:srgbClr val="4471C4">
              <a:alpha val="30195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024034" y="1214422"/>
            <a:ext cx="892975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spc="155" dirty="0">
                <a:solidFill>
                  <a:schemeClr val="accent4">
                    <a:lumMod val="75000"/>
                  </a:schemeClr>
                </a:solidFill>
                <a:highlight>
                  <a:srgbClr val="C0C0C0"/>
                </a:highlight>
                <a:latin typeface="Times-Bold"/>
                <a:cs typeface="Cambria"/>
              </a:rPr>
              <a:t>Functional dependency definition, need of normalization, anomalies and redundant information in tuples, normalization steps (INF, 2NF, 3NF), BCNF, introduction to the higher normal forms. </a:t>
            </a:r>
            <a:endParaRPr lang="en-IN" sz="2000" spc="155" dirty="0">
              <a:solidFill>
                <a:schemeClr val="accent4">
                  <a:lumMod val="75000"/>
                </a:schemeClr>
              </a:solidFill>
              <a:highlight>
                <a:srgbClr val="C0C0C0"/>
              </a:highlight>
              <a:latin typeface="Times-Bold"/>
              <a:cs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89721B8-DB14-DEA0-2C4D-501352F4D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46" y="188640"/>
            <a:ext cx="11715832" cy="861774"/>
          </a:xfrm>
        </p:spPr>
        <p:txBody>
          <a:bodyPr/>
          <a:lstStyle/>
          <a:p>
            <a:pPr algn="just"/>
            <a:r>
              <a:rPr lang="en-US" sz="2800" dirty="0">
                <a:latin typeface="Georgia" panose="02040502050405020303" pitchFamily="18" charset="0"/>
              </a:rPr>
              <a:t>1. Informal Design Guidelines for</a:t>
            </a:r>
            <a:br>
              <a:rPr lang="en-US" sz="2800" dirty="0">
                <a:latin typeface="Georgia" panose="02040502050405020303" pitchFamily="18" charset="0"/>
              </a:rPr>
            </a:br>
            <a:r>
              <a:rPr lang="en-US" sz="2800" dirty="0">
                <a:latin typeface="Georgia" panose="02040502050405020303" pitchFamily="18" charset="0"/>
              </a:rPr>
              <a:t>Relational Databases </a:t>
            </a:r>
            <a:endParaRPr lang="en-IN" sz="28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E9F3ED3-4731-EDC0-22BA-84F15AE130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646" y="1330858"/>
            <a:ext cx="11730297" cy="5309146"/>
          </a:xfrm>
        </p:spPr>
        <p:txBody>
          <a:bodyPr/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u="none" dirty="0">
                <a:solidFill>
                  <a:srgbClr val="002060"/>
                </a:solidFill>
                <a:latin typeface="Georgia" pitchFamily="18" charset="0"/>
              </a:rPr>
              <a:t> 	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Relational database design ultimately produces a set of relations. The implicit goals of the design activity are </a:t>
            </a:r>
            <a:r>
              <a:rPr lang="en-IN" sz="2400" b="1" u="none" dirty="0">
                <a:solidFill>
                  <a:srgbClr val="0070C0"/>
                </a:solidFill>
                <a:latin typeface="Georgia" pitchFamily="18" charset="0"/>
              </a:rPr>
              <a:t>information preservation 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and </a:t>
            </a:r>
            <a:r>
              <a:rPr lang="en-IN" sz="2400" b="1" u="none" dirty="0">
                <a:solidFill>
                  <a:srgbClr val="0070C0"/>
                </a:solidFill>
                <a:latin typeface="Georgia" pitchFamily="18" charset="0"/>
              </a:rPr>
              <a:t>minimum redundancy.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 	</a:t>
            </a:r>
            <a:r>
              <a:rPr lang="en-IN" sz="2400" u="none" dirty="0">
                <a:latin typeface="Georgia" pitchFamily="18" charset="0"/>
              </a:rPr>
              <a:t>Information preservation in terms of </a:t>
            </a:r>
            <a:r>
              <a:rPr lang="en-IN" sz="2200" u="none" dirty="0">
                <a:solidFill>
                  <a:schemeClr val="tx1"/>
                </a:solidFill>
                <a:latin typeface="Georgia" pitchFamily="18" charset="0"/>
              </a:rPr>
              <a:t>maintaining all concepts, including attribute types, entity types, and relationship types as well as </a:t>
            </a:r>
            <a:r>
              <a:rPr lang="en-IN" sz="2200" b="1" u="none" dirty="0">
                <a:solidFill>
                  <a:schemeClr val="accent2">
                    <a:lumMod val="75000"/>
                  </a:schemeClr>
                </a:solidFill>
                <a:latin typeface="Georgia" pitchFamily="18" charset="0"/>
              </a:rPr>
              <a:t>generalization/specialization relationships</a:t>
            </a:r>
            <a:r>
              <a:rPr lang="en-IN" sz="2200" u="none" dirty="0">
                <a:solidFill>
                  <a:schemeClr val="tx1"/>
                </a:solidFill>
                <a:latin typeface="Georgia" pitchFamily="18" charset="0"/>
              </a:rPr>
              <a:t>, which are described using a model such as the EER model.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	</a:t>
            </a:r>
            <a:r>
              <a:rPr lang="en-IN" sz="2400" u="none" dirty="0">
                <a:latin typeface="Georgia" pitchFamily="18" charset="0"/>
              </a:rPr>
              <a:t>Minimizing redundancy implies </a:t>
            </a:r>
            <a:r>
              <a:rPr lang="en-IN" sz="2200" u="none" dirty="0">
                <a:solidFill>
                  <a:schemeClr val="tx1"/>
                </a:solidFill>
                <a:latin typeface="Georgia" pitchFamily="18" charset="0"/>
              </a:rPr>
              <a:t>minimizing redundant storage of the same information and reducing the need for multiple updates to maintain consistency across multiple copies of the same information in response to real-world events that require making an update.</a:t>
            </a:r>
          </a:p>
        </p:txBody>
      </p:sp>
    </p:spTree>
    <p:extLst>
      <p:ext uri="{BB962C8B-B14F-4D97-AF65-F5344CB8AC3E}">
        <p14:creationId xmlns:p14="http://schemas.microsoft.com/office/powerpoint/2010/main" xmlns="" val="2864588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8282" y="1428737"/>
            <a:ext cx="8572560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389721B8-DB14-DEA0-2C4D-501352F4D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46" y="188640"/>
            <a:ext cx="11715832" cy="861774"/>
          </a:xfrm>
        </p:spPr>
        <p:txBody>
          <a:bodyPr/>
          <a:lstStyle/>
          <a:p>
            <a:pPr algn="just"/>
            <a:r>
              <a:rPr lang="en-US" sz="2800" dirty="0">
                <a:latin typeface="Georgia" panose="02040502050405020303" pitchFamily="18" charset="0"/>
              </a:rPr>
              <a:t>1. Informal Design Guidelines for</a:t>
            </a:r>
            <a:br>
              <a:rPr lang="en-US" sz="2800" dirty="0">
                <a:latin typeface="Georgia" panose="02040502050405020303" pitchFamily="18" charset="0"/>
              </a:rPr>
            </a:br>
            <a:r>
              <a:rPr lang="en-US" sz="2800" dirty="0">
                <a:latin typeface="Georgia" panose="02040502050405020303" pitchFamily="18" charset="0"/>
              </a:rPr>
              <a:t>Relational Databases </a:t>
            </a:r>
            <a:endParaRPr lang="en-IN" sz="28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60" y="1504759"/>
            <a:ext cx="11644394" cy="3877985"/>
          </a:xfrm>
        </p:spPr>
        <p:txBody>
          <a:bodyPr/>
          <a:lstStyle/>
          <a:p>
            <a:pPr algn="just"/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Four informal guidelines 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that may be used as measures to determine the </a:t>
            </a:r>
            <a:r>
              <a:rPr lang="en-IN" sz="2400" b="1" u="none" dirty="0">
                <a:solidFill>
                  <a:srgbClr val="B40EB8"/>
                </a:solidFill>
                <a:latin typeface="Georgia" pitchFamily="18" charset="0"/>
              </a:rPr>
              <a:t>quality of relation schema design:</a:t>
            </a:r>
          </a:p>
          <a:p>
            <a:pPr algn="just"/>
            <a:endParaRPr lang="en-IN" sz="2400" u="none" dirty="0">
              <a:solidFill>
                <a:schemeClr val="tx1"/>
              </a:solidFill>
              <a:latin typeface="Georgia" pitchFamily="18" charset="0"/>
            </a:endParaRP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Georgia" pitchFamily="18" charset="0"/>
              </a:rPr>
              <a:t>	Making sure that the semantics of the attributes is clear in the schema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Georgia" pitchFamily="18" charset="0"/>
              </a:rPr>
              <a:t> 	Reducing the redundant information in </a:t>
            </a:r>
            <a:r>
              <a:rPr lang="en-IN" sz="2400" dirty="0" err="1">
                <a:solidFill>
                  <a:schemeClr val="tx1"/>
                </a:solidFill>
                <a:latin typeface="Georgia" pitchFamily="18" charset="0"/>
              </a:rPr>
              <a:t>tuples</a:t>
            </a:r>
            <a:endParaRPr lang="en-IN" sz="2400" dirty="0">
              <a:solidFill>
                <a:schemeClr val="tx1"/>
              </a:solidFill>
              <a:latin typeface="Georgia" pitchFamily="18" charset="0"/>
            </a:endParaRP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Georgia" pitchFamily="18" charset="0"/>
              </a:rPr>
              <a:t> 	Reducing the NULL values in </a:t>
            </a:r>
            <a:r>
              <a:rPr lang="en-IN" sz="2400" dirty="0" err="1">
                <a:solidFill>
                  <a:schemeClr val="tx1"/>
                </a:solidFill>
                <a:latin typeface="Georgia" pitchFamily="18" charset="0"/>
              </a:rPr>
              <a:t>tuples</a:t>
            </a:r>
            <a:endParaRPr lang="en-IN" sz="2400" dirty="0">
              <a:solidFill>
                <a:schemeClr val="tx1"/>
              </a:solidFill>
              <a:latin typeface="Georgia" pitchFamily="18" charset="0"/>
            </a:endParaRP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solidFill>
                  <a:schemeClr val="tx1"/>
                </a:solidFill>
                <a:latin typeface="Georgia" pitchFamily="18" charset="0"/>
              </a:rPr>
              <a:t> 	Disallowing the possibility of generating </a:t>
            </a:r>
            <a:r>
              <a:rPr lang="en-IN" sz="2400" b="1" i="1" dirty="0">
                <a:solidFill>
                  <a:srgbClr val="00B0F0"/>
                </a:solidFill>
                <a:latin typeface="Georgia" pitchFamily="18" charset="0"/>
              </a:rPr>
              <a:t>spurious </a:t>
            </a:r>
            <a:r>
              <a:rPr lang="en-IN" sz="2400" b="1" i="1" dirty="0" err="1">
                <a:solidFill>
                  <a:srgbClr val="00B0F0"/>
                </a:solidFill>
                <a:latin typeface="Georgia" pitchFamily="18" charset="0"/>
              </a:rPr>
              <a:t>tuples</a:t>
            </a:r>
            <a:endParaRPr lang="en-IN" sz="2400" b="1" i="1" dirty="0">
              <a:solidFill>
                <a:srgbClr val="00B0F0"/>
              </a:solidFill>
              <a:latin typeface="Georgia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IN" sz="2400" dirty="0">
                <a:solidFill>
                  <a:schemeClr val="tx1"/>
                </a:solidFill>
                <a:latin typeface="Georgia" pitchFamily="18" charset="0"/>
              </a:rPr>
              <a:t>These measures are not always independent of one another, as we will see.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	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389721B8-DB14-DEA0-2C4D-501352F4D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46" y="188640"/>
            <a:ext cx="11715832" cy="861774"/>
          </a:xfrm>
        </p:spPr>
        <p:txBody>
          <a:bodyPr/>
          <a:lstStyle/>
          <a:p>
            <a:pPr algn="just"/>
            <a:r>
              <a:rPr lang="en-US" sz="2800" dirty="0">
                <a:latin typeface="Georgia" panose="02040502050405020303" pitchFamily="18" charset="0"/>
              </a:rPr>
              <a:t>1. Informal Design Guidelines for</a:t>
            </a:r>
            <a:br>
              <a:rPr lang="en-US" sz="2800" dirty="0">
                <a:latin typeface="Georgia" panose="02040502050405020303" pitchFamily="18" charset="0"/>
              </a:rPr>
            </a:br>
            <a:r>
              <a:rPr lang="en-US" sz="2800" dirty="0">
                <a:latin typeface="Georgia" panose="02040502050405020303" pitchFamily="18" charset="0"/>
              </a:rPr>
              <a:t>Relational Databases </a:t>
            </a:r>
            <a:endParaRPr lang="en-IN" sz="28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6778" y="0"/>
            <a:ext cx="985844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810248" cy="6500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24562" y="285728"/>
            <a:ext cx="5857917" cy="6357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8216" y="500042"/>
            <a:ext cx="8543959" cy="550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8282" y="714356"/>
            <a:ext cx="8177243" cy="5715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1092" y="785795"/>
            <a:ext cx="9001188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3968" y="571480"/>
            <a:ext cx="8786874" cy="5857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5406" y="285728"/>
            <a:ext cx="8929750" cy="6357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6844" y="785795"/>
            <a:ext cx="8786874" cy="535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1092" y="500042"/>
            <a:ext cx="8420133" cy="5786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7368" y="476672"/>
            <a:ext cx="8643997" cy="6072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035B8EA1-5600-C7EF-4FED-054FE3173DE3}"/>
              </a:ext>
            </a:extLst>
          </p:cNvPr>
          <p:cNvSpPr txBox="1"/>
          <p:nvPr/>
        </p:nvSpPr>
        <p:spPr>
          <a:xfrm>
            <a:off x="9051365" y="2708920"/>
            <a:ext cx="30212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Georgia" panose="02040502050405020303" pitchFamily="18" charset="0"/>
              </a:rPr>
              <a:t>Lossless join           NATURAL JOIN/ JOIN in MySQL</a:t>
            </a:r>
            <a:endParaRPr lang="en-IN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xmlns="" id="{BDAF9B07-205F-D90C-78FC-92EDC35FF6C4}"/>
              </a:ext>
            </a:extLst>
          </p:cNvPr>
          <p:cNvCxnSpPr/>
          <p:nvPr/>
        </p:nvCxnSpPr>
        <p:spPr>
          <a:xfrm>
            <a:off x="10488488" y="2924944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1344" y="620688"/>
            <a:ext cx="7862917" cy="542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225417F-636E-426C-D199-22C9E475017D}"/>
              </a:ext>
            </a:extLst>
          </p:cNvPr>
          <p:cNvSpPr txBox="1"/>
          <p:nvPr/>
        </p:nvSpPr>
        <p:spPr>
          <a:xfrm>
            <a:off x="7824192" y="1628800"/>
            <a:ext cx="417646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b="1" dirty="0">
                <a:solidFill>
                  <a:srgbClr val="B40EB8"/>
                </a:solidFill>
                <a:latin typeface="Georgia" panose="02040502050405020303" pitchFamily="18" charset="0"/>
              </a:rPr>
              <a:t> spurious tuples </a:t>
            </a:r>
            <a:r>
              <a:rPr lang="en-US" dirty="0">
                <a:solidFill>
                  <a:srgbClr val="B40EB8"/>
                </a:solidFill>
                <a:latin typeface="Georgia" panose="02040502050405020303" pitchFamily="18" charset="0"/>
              </a:rPr>
              <a:t>are extraneous or incorrect </a:t>
            </a:r>
            <a:r>
              <a:rPr lang="en-US" dirty="0" err="1">
                <a:solidFill>
                  <a:srgbClr val="B40EB8"/>
                </a:solidFill>
                <a:latin typeface="Georgia" panose="02040502050405020303" pitchFamily="18" charset="0"/>
              </a:rPr>
              <a:t>tuples</a:t>
            </a:r>
            <a:r>
              <a:rPr lang="en-US" dirty="0">
                <a:solidFill>
                  <a:srgbClr val="B40EB8"/>
                </a:solidFill>
                <a:latin typeface="Georgia" panose="02040502050405020303" pitchFamily="18" charset="0"/>
              </a:rPr>
              <a:t> produced during a join operation, often due to </a:t>
            </a:r>
            <a:r>
              <a:rPr lang="en-US" b="1" dirty="0">
                <a:solidFill>
                  <a:srgbClr val="002060"/>
                </a:solidFill>
                <a:latin typeface="Georgia" panose="02040502050405020303" pitchFamily="18" charset="0"/>
              </a:rPr>
              <a:t>improper join </a:t>
            </a:r>
            <a:r>
              <a:rPr lang="en-US" dirty="0">
                <a:solidFill>
                  <a:srgbClr val="B40EB8"/>
                </a:solidFill>
                <a:latin typeface="Georgia" panose="02040502050405020303" pitchFamily="18" charset="0"/>
              </a:rPr>
              <a:t>conditions or </a:t>
            </a:r>
            <a:r>
              <a:rPr lang="en-US" b="1" dirty="0">
                <a:solidFill>
                  <a:srgbClr val="0000FF"/>
                </a:solidFill>
                <a:latin typeface="Georgia" panose="02040502050405020303" pitchFamily="18" charset="0"/>
              </a:rPr>
              <a:t>incorrect table decomposition</a:t>
            </a:r>
            <a:r>
              <a:rPr lang="en-US" b="1" dirty="0">
                <a:solidFill>
                  <a:srgbClr val="B40EB8"/>
                </a:solidFill>
                <a:latin typeface="Georgia" panose="02040502050405020303" pitchFamily="18" charset="0"/>
              </a:rPr>
              <a:t> </a:t>
            </a:r>
            <a:r>
              <a:rPr lang="en-US" dirty="0">
                <a:solidFill>
                  <a:srgbClr val="B40EB8"/>
                </a:solidFill>
                <a:latin typeface="Georgia" panose="02040502050405020303" pitchFamily="18" charset="0"/>
              </a:rPr>
              <a:t>or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fail to preserve the integrity</a:t>
            </a:r>
            <a:r>
              <a:rPr lang="en-US" dirty="0">
                <a:solidFill>
                  <a:srgbClr val="B40EB8"/>
                </a:solidFill>
                <a:latin typeface="Georgia" panose="02040502050405020303" pitchFamily="18" charset="0"/>
              </a:rPr>
              <a:t> between the tables (i.e. foreign key constraint)  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US" dirty="0">
                <a:solidFill>
                  <a:srgbClr val="B40EB8"/>
                </a:solidFill>
                <a:latin typeface="Georgia" panose="02040502050405020303" pitchFamily="18" charset="0"/>
              </a:rPr>
              <a:t> With proper database design and careful handling of joins we can avoid spurious tuples. </a:t>
            </a:r>
            <a:endParaRPr lang="en-IN" dirty="0">
              <a:solidFill>
                <a:srgbClr val="B40EB8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/>
          </p:cNvSpPr>
          <p:nvPr>
            <p:ph type="title"/>
          </p:nvPr>
        </p:nvSpPr>
        <p:spPr>
          <a:xfrm>
            <a:off x="166688" y="285750"/>
            <a:ext cx="5789612" cy="430887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atin typeface="Georgia" pitchFamily="18" charset="0"/>
                <a:cs typeface="Times New Roman" pitchFamily="18" charset="0"/>
              </a:rPr>
              <a:t>Functional Dependencies</a:t>
            </a:r>
            <a:r>
              <a:rPr lang="en-US" altLang="en-US" sz="2800" dirty="0">
                <a:latin typeface="Georgia" pitchFamily="18" charset="0"/>
              </a:rPr>
              <a:t> </a:t>
            </a:r>
          </a:p>
        </p:txBody>
      </p:sp>
      <p:sp>
        <p:nvSpPr>
          <p:cNvPr id="6" name="Rectangle 3"/>
          <p:cNvSpPr txBox="1">
            <a:spLocks/>
          </p:cNvSpPr>
          <p:nvPr/>
        </p:nvSpPr>
        <p:spPr>
          <a:xfrm>
            <a:off x="0" y="1142984"/>
            <a:ext cx="7024694" cy="5000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kumimoji="0" lang="en-US" altLang="en-US" sz="2400" b="1" i="0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Functional dependencies (FDs) </a:t>
            </a:r>
            <a:r>
              <a:rPr kumimoji="0" lang="en-US" altLang="en-US" sz="24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are used to specify </a:t>
            </a:r>
            <a:r>
              <a:rPr kumimoji="0" lang="en-US" altLang="en-US" sz="2400" b="0" i="1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formal measures</a:t>
            </a:r>
            <a:r>
              <a:rPr kumimoji="0" lang="en-US" altLang="en-US" sz="24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 of the "goodness" of relational designs.</a:t>
            </a:r>
            <a:r>
              <a:rPr kumimoji="0" lang="en-US" altLang="en-US" sz="24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Calibri"/>
              </a:rPr>
              <a:t> 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kumimoji="0" lang="en-US" altLang="en-US" sz="2400" b="1" i="0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FDs</a:t>
            </a:r>
            <a:r>
              <a:rPr kumimoji="0" lang="en-US" altLang="en-US" sz="24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 and keys are used to define </a:t>
            </a:r>
            <a:r>
              <a:rPr kumimoji="0" lang="en-US" altLang="en-US" sz="2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normal forms</a:t>
            </a:r>
            <a:r>
              <a:rPr kumimoji="0" lang="en-US" altLang="en-US" sz="24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 for relations.</a:t>
            </a:r>
            <a:r>
              <a:rPr kumimoji="0" lang="en-US" altLang="en-US" sz="24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Calibri"/>
              </a:rPr>
              <a:t> 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kumimoji="0" lang="en-US" altLang="en-US" sz="2400" b="1" i="0" strike="noStrike" kern="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FDs</a:t>
            </a:r>
            <a:r>
              <a:rPr kumimoji="0" lang="en-US" altLang="en-US" sz="24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 are </a:t>
            </a:r>
            <a:r>
              <a:rPr kumimoji="0" lang="en-US" altLang="en-US" sz="2400" b="1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constraints</a:t>
            </a:r>
            <a:r>
              <a:rPr kumimoji="0" lang="en-US" altLang="en-US" sz="24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 that are derived from the </a:t>
            </a:r>
            <a:r>
              <a:rPr kumimoji="0" lang="en-US" altLang="en-US" sz="2400" b="0" i="1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meaning</a:t>
            </a:r>
            <a:r>
              <a:rPr kumimoji="0" lang="en-US" altLang="en-US" sz="24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  and </a:t>
            </a:r>
            <a:r>
              <a:rPr kumimoji="0" lang="en-US" altLang="en-US" sz="2400" b="0" i="1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interrelationships</a:t>
            </a:r>
            <a:r>
              <a:rPr kumimoji="0" lang="en-US" altLang="en-US" sz="24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Times New Roman" pitchFamily="18" charset="0"/>
              </a:rPr>
              <a:t>  of the data attributes</a:t>
            </a:r>
            <a:r>
              <a:rPr kumimoji="0" lang="en-US" altLang="en-US" sz="2400" b="0" i="0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itchFamily="18" charset="0"/>
                <a:cs typeface="Calibri"/>
              </a:rPr>
              <a:t> .</a:t>
            </a:r>
            <a:endParaRPr kumimoji="0" lang="en-US" altLang="en-US" sz="2400" b="0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Georgia" pitchFamily="18" charset="0"/>
              <a:cs typeface="Times New Roman" pitchFamily="18" charset="0"/>
            </a:endParaRPr>
          </a:p>
          <a:p>
            <a:pPr marL="0" marR="0" lvl="0" indent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kumimoji="0" lang="en-US" altLang="en-US" sz="2400" b="0" i="0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Georgia" pitchFamily="18" charset="0"/>
              <a:cs typeface="Calibri"/>
            </a:endParaRPr>
          </a:p>
        </p:txBody>
      </p:sp>
      <p:pic>
        <p:nvPicPr>
          <p:cNvPr id="8196" name="Picture 4" descr="Functional Dependency in DBMS (Types and Examples)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34216" y="2214554"/>
            <a:ext cx="4692348" cy="37147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5406" y="571480"/>
            <a:ext cx="8929749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6F8D20B-1680-3684-5996-DD643C7F3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376" y="1340768"/>
            <a:ext cx="9446260" cy="3744416"/>
          </a:xfrm>
        </p:spPr>
        <p:txBody>
          <a:bodyPr/>
          <a:lstStyle/>
          <a:p>
            <a:r>
              <a:rPr lang="en-US" sz="2400" u="none" dirty="0">
                <a:latin typeface="Georgia" panose="02040502050405020303" pitchFamily="18" charset="0"/>
              </a:rPr>
              <a:t>Mathematical Analogy: </a:t>
            </a:r>
          </a:p>
          <a:p>
            <a:endParaRPr lang="en-US" sz="2400" u="none" dirty="0">
              <a:latin typeface="Georgia" panose="02040502050405020303" pitchFamily="18" charset="0"/>
            </a:endParaRPr>
          </a:p>
          <a:p>
            <a:pPr algn="ctr"/>
            <a:r>
              <a:rPr lang="en-US" sz="2400" u="none" dirty="0">
                <a:latin typeface="Georgia" panose="02040502050405020303" pitchFamily="18" charset="0"/>
              </a:rPr>
              <a:t>          f (a)                   b</a:t>
            </a:r>
          </a:p>
          <a:p>
            <a:pPr algn="ctr"/>
            <a:endParaRPr lang="en-US" sz="2400" u="none" dirty="0">
              <a:latin typeface="Georgia" panose="02040502050405020303" pitchFamily="18" charset="0"/>
            </a:endParaRPr>
          </a:p>
          <a:p>
            <a:pPr algn="ctr"/>
            <a:r>
              <a:rPr lang="en-US" sz="2400" u="none" dirty="0">
                <a:latin typeface="Georgia" panose="02040502050405020303" pitchFamily="18" charset="0"/>
              </a:rPr>
              <a:t>e.gs:.     square (4) 	            16</a:t>
            </a:r>
          </a:p>
          <a:p>
            <a:pPr algn="ctr"/>
            <a:r>
              <a:rPr lang="en-US" sz="2400" u="none" dirty="0">
                <a:latin typeface="Georgia" panose="02040502050405020303" pitchFamily="18" charset="0"/>
              </a:rPr>
              <a:t> square root(25)                 5</a:t>
            </a:r>
          </a:p>
          <a:p>
            <a:pPr algn="ctr"/>
            <a:endParaRPr lang="en-US" sz="2400" u="none" dirty="0">
              <a:latin typeface="Georgia" panose="02040502050405020303" pitchFamily="18" charset="0"/>
            </a:endParaRPr>
          </a:p>
          <a:p>
            <a:pPr algn="ctr"/>
            <a:endParaRPr lang="en-US" sz="2400" u="none" dirty="0">
              <a:latin typeface="Georgia" panose="02040502050405020303" pitchFamily="18" charset="0"/>
            </a:endParaRPr>
          </a:p>
          <a:p>
            <a:pPr algn="just"/>
            <a:r>
              <a:rPr lang="en-US" sz="2400" u="none" dirty="0">
                <a:latin typeface="Georgia" panose="02040502050405020303" pitchFamily="18" charset="0"/>
              </a:rPr>
              <a:t>			 a 		</a:t>
            </a:r>
            <a:r>
              <a:rPr lang="en-US" sz="2400" u="none" dirty="0">
                <a:solidFill>
                  <a:srgbClr val="00B050"/>
                </a:solidFill>
                <a:latin typeface="Georgia" panose="02040502050405020303" pitchFamily="18" charset="0"/>
              </a:rPr>
              <a:t>function</a:t>
            </a:r>
            <a:r>
              <a:rPr lang="en-US" sz="2400" u="none" dirty="0">
                <a:latin typeface="Georgia" panose="02040502050405020303" pitchFamily="18" charset="0"/>
              </a:rPr>
              <a:t>		b</a:t>
            </a:r>
            <a:endParaRPr lang="en-IN" sz="2400" u="none" dirty="0"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9B3E9EF7-797E-A7AB-D149-0213EA0A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8" y="285750"/>
            <a:ext cx="5789612" cy="430887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atin typeface="Georgia" pitchFamily="18" charset="0"/>
                <a:cs typeface="Times New Roman" pitchFamily="18" charset="0"/>
              </a:rPr>
              <a:t>Functional Dependencies (FD)</a:t>
            </a:r>
            <a:r>
              <a:rPr lang="en-US" altLang="en-US" sz="2800" dirty="0">
                <a:latin typeface="Georgia" pitchFamily="18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3257FE2-1971-142F-BF28-0554764F84FD}"/>
              </a:ext>
            </a:extLst>
          </p:cNvPr>
          <p:cNvSpPr txBox="1"/>
          <p:nvPr/>
        </p:nvSpPr>
        <p:spPr>
          <a:xfrm>
            <a:off x="3575720" y="4005064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input</a:t>
            </a:r>
            <a:endParaRPr lang="en-IN" dirty="0">
              <a:latin typeface="Georgia" panose="02040502050405020303" pitchFamily="18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A824A598-EBCB-481A-E3F2-6E836A5FFFC9}"/>
              </a:ext>
            </a:extLst>
          </p:cNvPr>
          <p:cNvGrpSpPr/>
          <p:nvPr/>
        </p:nvGrpSpPr>
        <p:grpSpPr>
          <a:xfrm>
            <a:off x="3575720" y="2264097"/>
            <a:ext cx="4032448" cy="2400650"/>
            <a:chOff x="3575720" y="2264097"/>
            <a:chExt cx="4032448" cy="2400650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xmlns="" id="{9B0A50C7-BD4B-51E7-0B89-63481B1FE3FD}"/>
                </a:ext>
              </a:extLst>
            </p:cNvPr>
            <p:cNvCxnSpPr/>
            <p:nvPr/>
          </p:nvCxnSpPr>
          <p:spPr>
            <a:xfrm>
              <a:off x="5202506" y="2264097"/>
              <a:ext cx="10801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xmlns="" id="{1A85439A-8FC9-C70A-8FF7-1BBA22D8C006}"/>
                </a:ext>
              </a:extLst>
            </p:cNvPr>
            <p:cNvCxnSpPr/>
            <p:nvPr/>
          </p:nvCxnSpPr>
          <p:spPr>
            <a:xfrm>
              <a:off x="5742566" y="3068960"/>
              <a:ext cx="10801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xmlns="" id="{FB959732-A8F4-078C-C645-62793823851E}"/>
                </a:ext>
              </a:extLst>
            </p:cNvPr>
            <p:cNvCxnSpPr/>
            <p:nvPr/>
          </p:nvCxnSpPr>
          <p:spPr>
            <a:xfrm>
              <a:off x="5722841" y="3356992"/>
              <a:ext cx="10801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xmlns="" id="{0D0B3805-A901-CE50-8383-140CE7709AD7}"/>
                </a:ext>
              </a:extLst>
            </p:cNvPr>
            <p:cNvCxnSpPr/>
            <p:nvPr/>
          </p:nvCxnSpPr>
          <p:spPr>
            <a:xfrm>
              <a:off x="3575720" y="4437112"/>
              <a:ext cx="10801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xmlns="" id="{70DC781A-E46E-F7D0-8605-7CE783AAB914}"/>
                </a:ext>
              </a:extLst>
            </p:cNvPr>
            <p:cNvSpPr/>
            <p:nvPr/>
          </p:nvSpPr>
          <p:spPr>
            <a:xfrm>
              <a:off x="4799856" y="4233868"/>
              <a:ext cx="1482770" cy="430879"/>
            </a:xfrm>
            <a:prstGeom prst="round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xmlns="" id="{3CC2DCA5-2497-5013-6D72-7283F2D58A76}"/>
                </a:ext>
              </a:extLst>
            </p:cNvPr>
            <p:cNvCxnSpPr/>
            <p:nvPr/>
          </p:nvCxnSpPr>
          <p:spPr>
            <a:xfrm>
              <a:off x="6528048" y="4437112"/>
              <a:ext cx="10801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B6B8067E-B12F-50D1-308D-D59284D4A511}"/>
              </a:ext>
            </a:extLst>
          </p:cNvPr>
          <p:cNvSpPr txBox="1"/>
          <p:nvPr/>
        </p:nvSpPr>
        <p:spPr>
          <a:xfrm>
            <a:off x="6456040" y="4049202"/>
            <a:ext cx="1080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Georgia" panose="02040502050405020303" pitchFamily="18" charset="0"/>
              </a:rPr>
              <a:t>output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27538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922B9712-31D0-1F5D-C180-688DD50B6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8" y="285750"/>
            <a:ext cx="5789612" cy="430887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atin typeface="Georgia" pitchFamily="18" charset="0"/>
                <a:cs typeface="Times New Roman" pitchFamily="18" charset="0"/>
              </a:rPr>
              <a:t>Functional Dependencies (FD)</a:t>
            </a:r>
            <a:r>
              <a:rPr lang="en-US" altLang="en-US" sz="2800" dirty="0">
                <a:latin typeface="Georgia" pitchFamily="18" charset="0"/>
              </a:rPr>
              <a:t>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xmlns="" id="{7A3AFFE4-5CD1-2213-096B-B39AF933A0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95092889"/>
              </p:ext>
            </p:extLst>
          </p:nvPr>
        </p:nvGraphicFramePr>
        <p:xfrm>
          <a:off x="479376" y="1416937"/>
          <a:ext cx="3672408" cy="222504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xmlns="" val="3059289949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xmlns="" val="10935698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eorgia" panose="02040502050405020303" pitchFamily="18" charset="0"/>
                        </a:rPr>
                        <a:t>No.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eorgia" panose="02040502050405020303" pitchFamily="18" charset="0"/>
                        </a:rPr>
                        <a:t>Name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19705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eorgia" panose="02040502050405020303" pitchFamily="18" charset="0"/>
                        </a:rPr>
                        <a:t>1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eorgia" panose="02040502050405020303" pitchFamily="18" charset="0"/>
                        </a:rPr>
                        <a:t>Jane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253722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eorgia" panose="02040502050405020303" pitchFamily="18" charset="0"/>
                        </a:rPr>
                        <a:t>2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eorgia" panose="02040502050405020303" pitchFamily="18" charset="0"/>
                        </a:rPr>
                        <a:t>Clara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6117322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3</a:t>
                      </a:r>
                      <a:endParaRPr lang="en-IN" b="1" dirty="0">
                        <a:solidFill>
                          <a:srgbClr val="FF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solidFill>
                            <a:srgbClr val="FF0000"/>
                          </a:solidFill>
                          <a:latin typeface="Georgia" panose="02040502050405020303" pitchFamily="18" charset="0"/>
                        </a:rPr>
                        <a:t>Cinderella</a:t>
                      </a:r>
                      <a:endParaRPr lang="en-IN" b="1" dirty="0">
                        <a:solidFill>
                          <a:srgbClr val="FF0000"/>
                        </a:solidFill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074759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eorgia" panose="02040502050405020303" pitchFamily="18" charset="0"/>
                        </a:rPr>
                        <a:t>4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latin typeface="Georgia" panose="02040502050405020303" pitchFamily="18" charset="0"/>
                        </a:rPr>
                        <a:t>Haidei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6727297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eorgia" panose="02040502050405020303" pitchFamily="18" charset="0"/>
                        </a:rPr>
                        <a:t>5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Georgia" panose="02040502050405020303" pitchFamily="18" charset="0"/>
                        </a:rPr>
                        <a:t>Masha</a:t>
                      </a:r>
                      <a:endParaRPr lang="en-IN" dirty="0">
                        <a:latin typeface="Georgia" panose="02040502050405020303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231422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B6EEB362-980C-C437-1702-6829D7F90BB6}"/>
              </a:ext>
            </a:extLst>
          </p:cNvPr>
          <p:cNvSpPr txBox="1"/>
          <p:nvPr/>
        </p:nvSpPr>
        <p:spPr>
          <a:xfrm>
            <a:off x="983432" y="943676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  <a:latin typeface="Georgia" panose="02040502050405020303" pitchFamily="18" charset="0"/>
              </a:rPr>
              <a:t>Table (Relation) R</a:t>
            </a:r>
            <a:endParaRPr lang="en-IN" dirty="0">
              <a:solidFill>
                <a:srgbClr val="0070C0"/>
              </a:solidFill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5BCAF761-3D59-853F-58D6-AA5072E76751}"/>
              </a:ext>
            </a:extLst>
          </p:cNvPr>
          <p:cNvSpPr txBox="1"/>
          <p:nvPr/>
        </p:nvSpPr>
        <p:spPr>
          <a:xfrm>
            <a:off x="4439816" y="825821"/>
            <a:ext cx="756084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In DBMS,</a:t>
            </a:r>
          </a:p>
          <a:p>
            <a:pPr algn="just"/>
            <a:r>
              <a:rPr lang="en-US" sz="2400" dirty="0">
                <a:latin typeface="Georgia" panose="02040502050405020303" pitchFamily="18" charset="0"/>
              </a:rPr>
              <a:t>          </a:t>
            </a:r>
            <a:r>
              <a:rPr lang="en-US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A</a:t>
            </a:r>
            <a:r>
              <a:rPr lang="en-US" sz="2400" dirty="0">
                <a:latin typeface="Georgia" panose="02040502050405020303" pitchFamily="18" charset="0"/>
              </a:rPr>
              <a:t>                 </a:t>
            </a:r>
            <a:r>
              <a:rPr lang="en-US" sz="2400" b="1" dirty="0">
                <a:solidFill>
                  <a:srgbClr val="7030A0"/>
                </a:solidFill>
                <a:latin typeface="Georgia" panose="02040502050405020303" pitchFamily="18" charset="0"/>
              </a:rPr>
              <a:t>B</a:t>
            </a:r>
            <a:r>
              <a:rPr lang="en-US" sz="2400" dirty="0">
                <a:latin typeface="Georgia" panose="02040502050405020303" pitchFamily="18" charset="0"/>
              </a:rPr>
              <a:t> implies that if we know the value of </a:t>
            </a:r>
            <a:r>
              <a:rPr lang="en-US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A</a:t>
            </a:r>
            <a:r>
              <a:rPr lang="en-US" sz="2400" dirty="0">
                <a:latin typeface="Georgia" panose="02040502050405020303" pitchFamily="18" charset="0"/>
              </a:rPr>
              <a:t>, we can </a:t>
            </a:r>
            <a:r>
              <a:rPr lang="en-US" sz="2400" b="1" dirty="0">
                <a:latin typeface="Georgia" panose="02040502050405020303" pitchFamily="18" charset="0"/>
              </a:rPr>
              <a:t>determine</a:t>
            </a:r>
            <a:r>
              <a:rPr lang="en-US" sz="2400" dirty="0">
                <a:latin typeface="Georgia" panose="02040502050405020303" pitchFamily="18" charset="0"/>
              </a:rPr>
              <a:t> the value of </a:t>
            </a:r>
            <a:r>
              <a:rPr lang="en-US" sz="2400" b="1" dirty="0">
                <a:solidFill>
                  <a:srgbClr val="7030A0"/>
                </a:solidFill>
                <a:latin typeface="Georgia" panose="02040502050405020303" pitchFamily="18" charset="0"/>
              </a:rPr>
              <a:t>B </a:t>
            </a:r>
            <a:r>
              <a:rPr lang="en-US" sz="2400" dirty="0">
                <a:latin typeface="Georgia" panose="02040502050405020303" pitchFamily="18" charset="0"/>
              </a:rPr>
              <a:t>from the table R, where </a:t>
            </a:r>
            <a:r>
              <a:rPr lang="en-US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A</a:t>
            </a:r>
            <a:r>
              <a:rPr lang="en-US" sz="2400" dirty="0">
                <a:latin typeface="Georgia" panose="02040502050405020303" pitchFamily="18" charset="0"/>
              </a:rPr>
              <a:t> and </a:t>
            </a:r>
            <a:r>
              <a:rPr lang="en-US" sz="2400" b="1" dirty="0">
                <a:solidFill>
                  <a:srgbClr val="7030A0"/>
                </a:solidFill>
                <a:latin typeface="Georgia" panose="02040502050405020303" pitchFamily="18" charset="0"/>
              </a:rPr>
              <a:t>B</a:t>
            </a:r>
            <a:r>
              <a:rPr lang="en-US" sz="2400" dirty="0">
                <a:latin typeface="Georgia" panose="02040502050405020303" pitchFamily="18" charset="0"/>
              </a:rPr>
              <a:t> are the attributes of the relation. </a:t>
            </a:r>
          </a:p>
          <a:p>
            <a:pPr algn="just"/>
            <a:endParaRPr lang="en-US" sz="2400" dirty="0">
              <a:latin typeface="Georgia" panose="02040502050405020303" pitchFamily="18" charset="0"/>
            </a:endParaRPr>
          </a:p>
          <a:p>
            <a:pPr algn="just"/>
            <a:r>
              <a:rPr lang="en-US" sz="2400" dirty="0">
                <a:latin typeface="Georgia" panose="02040502050405020303" pitchFamily="18" charset="0"/>
              </a:rPr>
              <a:t>In such cases, we say that 	</a:t>
            </a:r>
            <a:r>
              <a:rPr lang="en-US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A</a:t>
            </a:r>
            <a:r>
              <a:rPr lang="en-US" sz="2400" dirty="0">
                <a:latin typeface="Georgia" panose="02040502050405020303" pitchFamily="18" charset="0"/>
              </a:rPr>
              <a:t> determines </a:t>
            </a:r>
            <a:r>
              <a:rPr lang="en-US" sz="2400" b="1" dirty="0">
                <a:solidFill>
                  <a:srgbClr val="7030A0"/>
                </a:solidFill>
                <a:latin typeface="Georgia" panose="02040502050405020303" pitchFamily="18" charset="0"/>
              </a:rPr>
              <a:t>B</a:t>
            </a:r>
          </a:p>
          <a:p>
            <a:pPr algn="just"/>
            <a:r>
              <a:rPr lang="en-US" sz="2400" dirty="0">
                <a:latin typeface="Georgia" panose="02040502050405020303" pitchFamily="18" charset="0"/>
              </a:rPr>
              <a:t>				or</a:t>
            </a:r>
          </a:p>
          <a:p>
            <a:pPr algn="just"/>
            <a:r>
              <a:rPr lang="en-US" sz="2400" dirty="0">
                <a:latin typeface="Georgia" panose="02040502050405020303" pitchFamily="18" charset="0"/>
              </a:rPr>
              <a:t>				</a:t>
            </a:r>
            <a:r>
              <a:rPr lang="en-US" sz="2400" b="1" dirty="0">
                <a:solidFill>
                  <a:srgbClr val="7030A0"/>
                </a:solidFill>
                <a:latin typeface="Georgia" panose="02040502050405020303" pitchFamily="18" charset="0"/>
              </a:rPr>
              <a:t>B</a:t>
            </a:r>
            <a:r>
              <a:rPr lang="en-US" sz="2400" dirty="0">
                <a:latin typeface="Georgia" panose="02040502050405020303" pitchFamily="18" charset="0"/>
              </a:rPr>
              <a:t> is determined by </a:t>
            </a:r>
            <a:r>
              <a:rPr lang="en-US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A</a:t>
            </a:r>
          </a:p>
          <a:p>
            <a:pPr algn="just"/>
            <a:r>
              <a:rPr lang="en-US" sz="2400" dirty="0">
                <a:latin typeface="Georgia" panose="02040502050405020303" pitchFamily="18" charset="0"/>
              </a:rPr>
              <a:t> </a:t>
            </a:r>
          </a:p>
          <a:p>
            <a:pPr algn="just"/>
            <a:r>
              <a:rPr lang="en-US" sz="2400" dirty="0">
                <a:latin typeface="Georgia" panose="02040502050405020303" pitchFamily="18" charset="0"/>
              </a:rPr>
              <a:t>So, 	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A </a:t>
            </a:r>
            <a:r>
              <a:rPr lang="en-US" sz="2400" dirty="0">
                <a:latin typeface="Georgia" panose="02040502050405020303" pitchFamily="18" charset="0"/>
              </a:rPr>
              <a:t>	       </a:t>
            </a:r>
            <a:r>
              <a:rPr lang="en-US" sz="2400" b="1" dirty="0">
                <a:solidFill>
                  <a:srgbClr val="7030A0"/>
                </a:solidFill>
                <a:latin typeface="Georgia" panose="02040502050405020303" pitchFamily="18" charset="0"/>
              </a:rPr>
              <a:t>B </a:t>
            </a:r>
            <a:r>
              <a:rPr lang="en-US" sz="2400" dirty="0">
                <a:solidFill>
                  <a:srgbClr val="7030A0"/>
                </a:solidFill>
                <a:latin typeface="Georgia" panose="02040502050405020303" pitchFamily="18" charset="0"/>
              </a:rPr>
              <a:t>is a </a:t>
            </a:r>
            <a:r>
              <a:rPr lang="en-US" sz="2400" dirty="0">
                <a:solidFill>
                  <a:srgbClr val="C00000"/>
                </a:solidFill>
                <a:latin typeface="Georgia" panose="02040502050405020303" pitchFamily="18" charset="0"/>
              </a:rPr>
              <a:t>functional dependency (FD)</a:t>
            </a:r>
            <a:r>
              <a:rPr lang="en-US" sz="2400" dirty="0">
                <a:solidFill>
                  <a:srgbClr val="7030A0"/>
                </a:solidFill>
                <a:latin typeface="Georgia" panose="02040502050405020303" pitchFamily="18" charset="0"/>
              </a:rPr>
              <a:t>. </a:t>
            </a:r>
          </a:p>
          <a:p>
            <a:pPr algn="just"/>
            <a:endParaRPr lang="en-IN" sz="2400" dirty="0">
              <a:latin typeface="Georgia" panose="02040502050405020303" pitchFamily="18" charset="0"/>
            </a:endParaRPr>
          </a:p>
          <a:p>
            <a:pPr algn="just"/>
            <a:r>
              <a:rPr lang="en-IN" sz="2400" dirty="0">
                <a:latin typeface="Georgia" panose="02040502050405020303" pitchFamily="18" charset="0"/>
              </a:rPr>
              <a:t>In FD, the attribute which is used to determine other attribute is called </a:t>
            </a:r>
            <a:r>
              <a:rPr lang="en-IN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Determinant</a:t>
            </a:r>
            <a:r>
              <a:rPr lang="en-IN" sz="2400" dirty="0">
                <a:latin typeface="Georgia" panose="02040502050405020303" pitchFamily="18" charset="0"/>
              </a:rPr>
              <a:t> and the attribute that is determined using the </a:t>
            </a:r>
            <a:r>
              <a:rPr lang="en-IN" sz="2400" b="1" dirty="0">
                <a:solidFill>
                  <a:srgbClr val="0070C0"/>
                </a:solidFill>
                <a:latin typeface="Georgia" panose="02040502050405020303" pitchFamily="18" charset="0"/>
              </a:rPr>
              <a:t>Determinant</a:t>
            </a:r>
            <a:r>
              <a:rPr lang="en-IN" sz="2400" dirty="0">
                <a:latin typeface="Georgia" panose="02040502050405020303" pitchFamily="18" charset="0"/>
              </a:rPr>
              <a:t> is known as </a:t>
            </a:r>
            <a:r>
              <a:rPr lang="en-IN" sz="2400" b="1" dirty="0">
                <a:solidFill>
                  <a:srgbClr val="7030A0"/>
                </a:solidFill>
                <a:latin typeface="Georgia" panose="02040502050405020303" pitchFamily="18" charset="0"/>
              </a:rPr>
              <a:t>Dependant.  </a:t>
            </a:r>
            <a:endParaRPr lang="en-US" sz="2400" b="1" dirty="0">
              <a:solidFill>
                <a:srgbClr val="7030A0"/>
              </a:solidFill>
              <a:latin typeface="Georgia" panose="02040502050405020303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xmlns="" id="{166516B3-7D0F-97D3-EAD5-E4EEC121578E}"/>
              </a:ext>
            </a:extLst>
          </p:cNvPr>
          <p:cNvGrpSpPr/>
          <p:nvPr/>
        </p:nvGrpSpPr>
        <p:grpSpPr>
          <a:xfrm>
            <a:off x="5647386" y="1417303"/>
            <a:ext cx="1240702" cy="2947801"/>
            <a:chOff x="5647386" y="1417303"/>
            <a:chExt cx="1240702" cy="2947801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xmlns="" id="{13862412-F910-23CE-AF36-809EFFE8B885}"/>
                </a:ext>
              </a:extLst>
            </p:cNvPr>
            <p:cNvCxnSpPr>
              <a:cxnSpLocks/>
            </p:cNvCxnSpPr>
            <p:nvPr/>
          </p:nvCxnSpPr>
          <p:spPr>
            <a:xfrm>
              <a:off x="5647386" y="1417303"/>
              <a:ext cx="10801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xmlns="" id="{80932725-3A29-AC00-FC8C-8735F6269C12}"/>
                </a:ext>
              </a:extLst>
            </p:cNvPr>
            <p:cNvCxnSpPr>
              <a:cxnSpLocks/>
            </p:cNvCxnSpPr>
            <p:nvPr/>
          </p:nvCxnSpPr>
          <p:spPr>
            <a:xfrm>
              <a:off x="5807968" y="4365104"/>
              <a:ext cx="108012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1376327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2518FDB-0B00-F577-AB3E-E671BC388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686" y="1124744"/>
            <a:ext cx="11053228" cy="4801314"/>
          </a:xfrm>
        </p:spPr>
        <p:txBody>
          <a:bodyPr/>
          <a:lstStyle/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What is </a:t>
            </a:r>
            <a:r>
              <a:rPr lang="en-US" sz="2400" u="none" dirty="0">
                <a:solidFill>
                  <a:schemeClr val="tx1"/>
                </a:solidFill>
                <a:highlight>
                  <a:srgbClr val="00FF00"/>
                </a:highlight>
                <a:latin typeface="Georgia" panose="02040502050405020303" pitchFamily="18" charset="0"/>
              </a:rPr>
              <a:t>FD?</a:t>
            </a:r>
          </a:p>
          <a:p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A </a:t>
            </a:r>
            <a:r>
              <a:rPr lang="en-US" sz="2400" u="none" dirty="0">
                <a:solidFill>
                  <a:schemeClr val="tx1"/>
                </a:solidFill>
                <a:highlight>
                  <a:srgbClr val="00FF00"/>
                </a:highlight>
                <a:latin typeface="Georgia" panose="02040502050405020303" pitchFamily="18" charset="0"/>
              </a:rPr>
              <a:t>FD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 is a constraint that specifies the relationship of one attribute to another attribute in a relation.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u="non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It’s important to note that functional dependencies only apply to the </a:t>
            </a:r>
            <a:r>
              <a:rPr lang="en-US" sz="2400" b="1" i="0" u="non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individual tuples</a:t>
            </a:r>
            <a:r>
              <a:rPr lang="en-US" sz="2400" b="0" i="0" u="non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in the table, and not to the table as a whole.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 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just"/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Why </a:t>
            </a:r>
            <a:r>
              <a:rPr lang="en-US" sz="2400" u="none" dirty="0">
                <a:solidFill>
                  <a:schemeClr val="tx1"/>
                </a:solidFill>
                <a:highlight>
                  <a:srgbClr val="00FF00"/>
                </a:highlight>
                <a:latin typeface="Georgia" panose="02040502050405020303" pitchFamily="18" charset="0"/>
              </a:rPr>
              <a:t>FD?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u="non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They are used to establish relationships between attributes in a database.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u="non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They are used to ensure that the database is in a </a:t>
            </a:r>
            <a:r>
              <a:rPr lang="en-US" sz="2400" b="1" i="1" u="non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state of normalization</a:t>
            </a:r>
            <a:r>
              <a:rPr lang="en-US" sz="2400" b="0" i="0" u="non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, which helps to identify and </a:t>
            </a:r>
            <a:r>
              <a:rPr lang="en-US" sz="2400" b="0" i="0" u="none" dirty="0">
                <a:solidFill>
                  <a:srgbClr val="000000"/>
                </a:solidFill>
                <a:effectLst/>
                <a:highlight>
                  <a:srgbClr val="FF00FF"/>
                </a:highlight>
                <a:latin typeface="Georgia" panose="02040502050405020303" pitchFamily="18" charset="0"/>
              </a:rPr>
              <a:t>minimize data redundancy</a:t>
            </a:r>
            <a:r>
              <a:rPr lang="en-US" sz="2400" b="0" i="0" u="non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 and </a:t>
            </a:r>
            <a:r>
              <a:rPr lang="en-US" sz="2400" b="0" i="0" u="none" dirty="0">
                <a:solidFill>
                  <a:srgbClr val="000000"/>
                </a:solidFill>
                <a:effectLst/>
                <a:highlight>
                  <a:srgbClr val="008080"/>
                </a:highlight>
                <a:latin typeface="Georgia" panose="02040502050405020303" pitchFamily="18" charset="0"/>
              </a:rPr>
              <a:t>improve data integrity</a:t>
            </a:r>
            <a:r>
              <a:rPr lang="en-US" sz="2400" u="none" dirty="0">
                <a:solidFill>
                  <a:srgbClr val="000000"/>
                </a:solidFill>
                <a:highlight>
                  <a:srgbClr val="008080"/>
                </a:highlight>
                <a:latin typeface="Georgia" panose="02040502050405020303" pitchFamily="18" charset="0"/>
              </a:rPr>
              <a:t> </a:t>
            </a:r>
            <a:r>
              <a:rPr lang="en-US" sz="2400" u="none" dirty="0">
                <a:solidFill>
                  <a:srgbClr val="000000"/>
                </a:solidFill>
                <a:latin typeface="Georgia" panose="02040502050405020303" pitchFamily="18" charset="0"/>
              </a:rPr>
              <a:t>by identifying and eliminating data inconsistencies in a database.</a:t>
            </a:r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just"/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5567FE56-E5B0-1EB6-5C1A-18F52D8C4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8" y="285750"/>
            <a:ext cx="5789612" cy="430887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atin typeface="Georgia" pitchFamily="18" charset="0"/>
                <a:cs typeface="Times New Roman" pitchFamily="18" charset="0"/>
              </a:rPr>
              <a:t>Functional Dependencies (FD)</a:t>
            </a:r>
            <a:r>
              <a:rPr lang="en-US" altLang="en-US" sz="2800" dirty="0">
                <a:latin typeface="Georgia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3805963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343EC24-D6C5-F70D-F478-F3F3C4406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352" y="1124744"/>
            <a:ext cx="11737304" cy="1107996"/>
          </a:xfrm>
        </p:spPr>
        <p:txBody>
          <a:bodyPr/>
          <a:lstStyle/>
          <a:p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How to denote FD?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u="non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 functional dependency is denoted by an arrow    </a:t>
            </a:r>
            <a:r>
              <a:rPr lang="en-US" sz="2400" b="1" i="0" u="none" dirty="0">
                <a:solidFill>
                  <a:srgbClr val="7030A0"/>
                </a:solidFill>
                <a:effectLst/>
                <a:latin typeface="Georgia" panose="02040502050405020303" pitchFamily="18" charset="0"/>
              </a:rPr>
              <a:t>“→”. 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0" i="0" u="non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The functional dependency of </a:t>
            </a:r>
            <a:r>
              <a:rPr lang="en-US" sz="2400" b="1" i="0" u="non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</a:t>
            </a:r>
            <a:r>
              <a:rPr lang="en-US" sz="2400" b="0" i="0" u="non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 on </a:t>
            </a:r>
            <a:r>
              <a:rPr lang="en-US" sz="2400" b="1" i="0" u="non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B</a:t>
            </a:r>
            <a:r>
              <a:rPr lang="en-US" sz="2400" b="0" i="0" u="non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 is represented by </a:t>
            </a:r>
            <a:r>
              <a:rPr lang="en-US" sz="2400" b="1" i="0" u="non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 → B.</a:t>
            </a:r>
            <a:endParaRPr lang="en-IN" sz="2400" b="1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96D35799-97B3-BEF8-2165-174284FCD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8" y="285750"/>
            <a:ext cx="5789612" cy="430887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atin typeface="Georgia" pitchFamily="18" charset="0"/>
                <a:cs typeface="Times New Roman" pitchFamily="18" charset="0"/>
              </a:rPr>
              <a:t>Functional Dependencies (FD)</a:t>
            </a:r>
            <a:r>
              <a:rPr lang="en-US" altLang="en-US" sz="2800" dirty="0">
                <a:latin typeface="Georgia" pitchFamily="18" charset="0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8B71EAF-2A60-24E5-EAD7-E5A024E2D246}"/>
              </a:ext>
            </a:extLst>
          </p:cNvPr>
          <p:cNvSpPr txBox="1"/>
          <p:nvPr/>
        </p:nvSpPr>
        <p:spPr>
          <a:xfrm>
            <a:off x="407368" y="2348880"/>
            <a:ext cx="1152128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Georgia" panose="02040502050405020303" pitchFamily="18" charset="0"/>
              </a:rPr>
              <a:t>Consider a relation with </a:t>
            </a:r>
            <a:r>
              <a:rPr lang="en-US" sz="2400" b="1" dirty="0">
                <a:latin typeface="Georgia" panose="02040502050405020303" pitchFamily="18" charset="0"/>
              </a:rPr>
              <a:t>four attributes A, B, C and D,</a:t>
            </a:r>
          </a:p>
          <a:p>
            <a:endParaRPr lang="en-US" sz="2400" dirty="0">
              <a:latin typeface="Georgia" panose="02040502050405020303" pitchFamily="18" charset="0"/>
            </a:endParaRPr>
          </a:p>
          <a:p>
            <a:r>
              <a:rPr lang="en-US" sz="2400" b="1" dirty="0">
                <a:latin typeface="Georgia" panose="02040502050405020303" pitchFamily="18" charset="0"/>
              </a:rPr>
              <a:t>R (ABCD)</a:t>
            </a:r>
          </a:p>
          <a:p>
            <a:endParaRPr lang="en-US" sz="2400" dirty="0">
              <a:latin typeface="Georgia" panose="02040502050405020303" pitchFamily="18" charset="0"/>
            </a:endParaRPr>
          </a:p>
          <a:p>
            <a:r>
              <a:rPr lang="en-US" sz="2400" dirty="0">
                <a:latin typeface="Georgia" panose="02040502050405020303" pitchFamily="18" charset="0"/>
              </a:rPr>
              <a:t>A → BCD</a:t>
            </a:r>
          </a:p>
          <a:p>
            <a:r>
              <a:rPr lang="en-US" sz="2400" dirty="0">
                <a:latin typeface="Georgia" panose="02040502050405020303" pitchFamily="18" charset="0"/>
              </a:rPr>
              <a:t>B → CD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  <a:latin typeface="Georgia" panose="02040502050405020303" pitchFamily="18" charset="0"/>
              </a:rPr>
              <a:t>For the first functional dependency A → BCD, attributes B, C and D are functionally dependent on attribute 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2"/>
              </a:solidFill>
              <a:latin typeface="Georgia" panose="02040502050405020303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5"/>
                </a:solidFill>
                <a:latin typeface="Georgia" panose="02040502050405020303" pitchFamily="18" charset="0"/>
              </a:rPr>
              <a:t>Function dependency B → CD has two attributes C and D functionally depending upon attribute B.</a:t>
            </a:r>
            <a:endParaRPr lang="en-IN" sz="2400" dirty="0">
              <a:solidFill>
                <a:schemeClr val="accent5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52415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1134065-9B1E-F6B6-4ADF-2C28898DD0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376" y="1124744"/>
            <a:ext cx="11449272" cy="553998"/>
          </a:xfrm>
        </p:spPr>
        <p:txBody>
          <a:bodyPr/>
          <a:lstStyle/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Functional dependency can also be represented diagrammatically like this,</a:t>
            </a:r>
          </a:p>
          <a:p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09309097-386C-282B-00BE-C38EE7118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8" y="285750"/>
            <a:ext cx="5789612" cy="430887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atin typeface="Georgia" pitchFamily="18" charset="0"/>
                <a:cs typeface="Times New Roman" pitchFamily="18" charset="0"/>
              </a:rPr>
              <a:t>Functional Dependencies (FD)</a:t>
            </a:r>
            <a:r>
              <a:rPr lang="en-US" altLang="en-US" sz="2800" dirty="0">
                <a:latin typeface="Georgia" pitchFamily="18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F3FB26C-B6BA-A33B-6F68-D80DD1CC1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678742"/>
            <a:ext cx="7248525" cy="22669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178B3B8-EB39-D59A-185F-C600CACA50F9}"/>
              </a:ext>
            </a:extLst>
          </p:cNvPr>
          <p:cNvSpPr txBox="1"/>
          <p:nvPr/>
        </p:nvSpPr>
        <p:spPr>
          <a:xfrm>
            <a:off x="7482633" y="2065978"/>
            <a:ext cx="420074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Georgia" panose="02040502050405020303" pitchFamily="18" charset="0"/>
              </a:rPr>
              <a:t>Pointing arrows determines the depending attribute and the origin of the arrow determines the determinant set.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518313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DB18958C-295E-04C5-A0CD-38EDD595E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6688" y="1049797"/>
            <a:ext cx="9446260" cy="369332"/>
          </a:xfrm>
        </p:spPr>
        <p:txBody>
          <a:bodyPr/>
          <a:lstStyle/>
          <a:p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Valid and Invalid FD</a:t>
            </a:r>
            <a:r>
              <a:rPr lang="en-US" sz="20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s</a:t>
            </a:r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: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case (</a:t>
            </a:r>
            <a:r>
              <a:rPr lang="en-US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i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)</a:t>
            </a:r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8671A547-DC18-AE20-760E-0A36FED3C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8" y="285750"/>
            <a:ext cx="5789612" cy="430887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latin typeface="Georgia" pitchFamily="18" charset="0"/>
                <a:cs typeface="Times New Roman" pitchFamily="18" charset="0"/>
              </a:rPr>
              <a:t>Functional Dependencies (FD)</a:t>
            </a:r>
            <a:r>
              <a:rPr lang="en-US" altLang="en-US" sz="2800" dirty="0">
                <a:latin typeface="Georgia" pitchFamily="18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E73A2EA-E8BB-0195-F38B-A5171ABE7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93" y="1619507"/>
            <a:ext cx="10153128" cy="5049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208100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92DE82B-0E5D-F57A-989C-E215CEED1A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533400"/>
            <a:ext cx="11582400" cy="632460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C3C1A165-2B03-EF1F-A0F1-28BC9E046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1344" y="164068"/>
            <a:ext cx="9446260" cy="369332"/>
          </a:xfrm>
        </p:spPr>
        <p:txBody>
          <a:bodyPr/>
          <a:lstStyle/>
          <a:p>
            <a:r>
              <a:rPr lang="en-US" sz="2400" b="1" u="none" dirty="0">
                <a:solidFill>
                  <a:srgbClr val="C00000"/>
                </a:solidFill>
                <a:latin typeface="Georgia" panose="02040502050405020303" pitchFamily="18" charset="0"/>
              </a:rPr>
              <a:t>FD: </a:t>
            </a:r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Valid and Invalid FDs: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case (ii)</a:t>
            </a:r>
            <a:endParaRPr lang="en-IN" sz="2400" b="1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598603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3047B6D-E5D9-27B3-D250-CFD63F0385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42" y="405629"/>
            <a:ext cx="11753850" cy="6353175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A0CBA437-1318-566C-A29B-8557EC9BB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1344" y="164068"/>
            <a:ext cx="9446260" cy="369332"/>
          </a:xfrm>
        </p:spPr>
        <p:txBody>
          <a:bodyPr/>
          <a:lstStyle/>
          <a:p>
            <a:r>
              <a:rPr lang="en-US" sz="2400" b="1" u="none" dirty="0">
                <a:solidFill>
                  <a:srgbClr val="C00000"/>
                </a:solidFill>
                <a:latin typeface="Georgia" panose="02040502050405020303" pitchFamily="18" charset="0"/>
              </a:rPr>
              <a:t>FD: </a:t>
            </a:r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Valid and Invalid FDs: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case (iii)</a:t>
            </a:r>
            <a:endParaRPr lang="en-IN" sz="2400" b="1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068CBFF8-2D58-6510-F731-9EBD524C6AF6}"/>
              </a:ext>
            </a:extLst>
          </p:cNvPr>
          <p:cNvGrpSpPr/>
          <p:nvPr/>
        </p:nvGrpSpPr>
        <p:grpSpPr>
          <a:xfrm>
            <a:off x="6456040" y="5877272"/>
            <a:ext cx="3888432" cy="830997"/>
            <a:chOff x="6456040" y="5877272"/>
            <a:chExt cx="3888432" cy="830997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xmlns="" id="{51EB8BE9-94A0-4CEE-1157-D46DF5175BB1}"/>
                </a:ext>
              </a:extLst>
            </p:cNvPr>
            <p:cNvSpPr txBox="1"/>
            <p:nvPr/>
          </p:nvSpPr>
          <p:spPr>
            <a:xfrm>
              <a:off x="6456040" y="5877272"/>
              <a:ext cx="388843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AutoNum type="arabicPlain" startAt="2"/>
              </a:pPr>
              <a:r>
                <a:rPr lang="en-US" sz="2400" b="1" dirty="0">
                  <a:latin typeface="Georgia" panose="02040502050405020303" pitchFamily="18" charset="0"/>
                </a:rPr>
                <a:t>                  </a:t>
              </a:r>
              <a:r>
                <a:rPr lang="en-US" sz="2400" b="1" dirty="0" err="1">
                  <a:latin typeface="Georgia" panose="02040502050405020303" pitchFamily="18" charset="0"/>
                </a:rPr>
                <a:t>abc</a:t>
              </a:r>
              <a:endParaRPr lang="en-US" sz="2400" b="1" dirty="0">
                <a:latin typeface="Georgia" panose="02040502050405020303" pitchFamily="18" charset="0"/>
              </a:endParaRPr>
            </a:p>
            <a:p>
              <a:pPr marL="342900" indent="-342900">
                <a:buAutoNum type="arabicPlain" startAt="2"/>
              </a:pPr>
              <a:r>
                <a:rPr lang="en-US" sz="2400" b="1" dirty="0">
                  <a:latin typeface="Georgia" panose="02040502050405020303" pitchFamily="18" charset="0"/>
                </a:rPr>
                <a:t>                 </a:t>
              </a:r>
              <a:r>
                <a:rPr lang="en-US" sz="2400" b="1" dirty="0" err="1">
                  <a:latin typeface="Georgia" panose="02040502050405020303" pitchFamily="18" charset="0"/>
                </a:rPr>
                <a:t>pqr</a:t>
              </a:r>
              <a:endParaRPr lang="en-IN" sz="2400" b="1" dirty="0">
                <a:latin typeface="Georgia" panose="02040502050405020303" pitchFamily="18" charset="0"/>
              </a:endParaRPr>
            </a:p>
          </p:txBody>
        </p: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xmlns="" id="{2ABD5C37-4EA5-A1C6-49D6-81A5A5663D08}"/>
                </a:ext>
              </a:extLst>
            </p:cNvPr>
            <p:cNvCxnSpPr/>
            <p:nvPr/>
          </p:nvCxnSpPr>
          <p:spPr>
            <a:xfrm>
              <a:off x="7032104" y="6097077"/>
              <a:ext cx="9361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xmlns="" id="{83FF88D5-ECFA-CF4A-62BD-3635E49BE4E5}"/>
                </a:ext>
              </a:extLst>
            </p:cNvPr>
            <p:cNvCxnSpPr/>
            <p:nvPr/>
          </p:nvCxnSpPr>
          <p:spPr>
            <a:xfrm>
              <a:off x="7032104" y="6466961"/>
              <a:ext cx="9361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453C0E70-49A9-6802-5671-86B8B9FBB0F3}"/>
              </a:ext>
            </a:extLst>
          </p:cNvPr>
          <p:cNvSpPr/>
          <p:nvPr/>
        </p:nvSpPr>
        <p:spPr>
          <a:xfrm>
            <a:off x="6168008" y="5877272"/>
            <a:ext cx="3528392" cy="830997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42499907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AAB902D-6105-DE2A-0E3D-FAD67B9B4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12" y="361950"/>
            <a:ext cx="11687175" cy="6496050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xmlns="" id="{3311287C-AECB-3C14-9315-8EA78B8A90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1344" y="164068"/>
            <a:ext cx="9446260" cy="369332"/>
          </a:xfrm>
        </p:spPr>
        <p:txBody>
          <a:bodyPr/>
          <a:lstStyle/>
          <a:p>
            <a:r>
              <a:rPr lang="en-US" sz="2400" b="1" u="none" dirty="0">
                <a:solidFill>
                  <a:srgbClr val="C00000"/>
                </a:solidFill>
                <a:latin typeface="Georgia" panose="02040502050405020303" pitchFamily="18" charset="0"/>
              </a:rPr>
              <a:t>FD: </a:t>
            </a:r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Valid and Invalid FDs: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case (iv)</a:t>
            </a:r>
            <a:endParaRPr lang="en-IN" sz="2400" b="1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70518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522" y="500042"/>
            <a:ext cx="7429552" cy="550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052" name="AutoShape 4" descr="determinant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608168" y="2143115"/>
            <a:ext cx="4524364" cy="3857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5406" y="642918"/>
            <a:ext cx="8329644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DEE5D7A8-6F50-5F3D-34F1-F0D91BFE3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19" y="836712"/>
            <a:ext cx="10867003" cy="50926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70E9359-03B2-E46D-51B4-8ED64BA0555C}"/>
              </a:ext>
            </a:extLst>
          </p:cNvPr>
          <p:cNvSpPr txBox="1"/>
          <p:nvPr/>
        </p:nvSpPr>
        <p:spPr>
          <a:xfrm>
            <a:off x="191344" y="116632"/>
            <a:ext cx="63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Georgia" panose="02040502050405020303" pitchFamily="18" charset="0"/>
              </a:rPr>
              <a:t>Few more examples of FD</a:t>
            </a:r>
            <a:endParaRPr lang="en-IN" sz="2400" b="1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F297F37F-BA58-FA69-76CE-0F39F19BC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196752"/>
            <a:ext cx="9289032" cy="468052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BF69BEE-889E-1154-6D62-B25417242247}"/>
              </a:ext>
            </a:extLst>
          </p:cNvPr>
          <p:cNvSpPr txBox="1"/>
          <p:nvPr/>
        </p:nvSpPr>
        <p:spPr>
          <a:xfrm>
            <a:off x="191344" y="116632"/>
            <a:ext cx="63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Georgia" panose="02040502050405020303" pitchFamily="18" charset="0"/>
              </a:rPr>
              <a:t>Few more examples of FD</a:t>
            </a:r>
            <a:endParaRPr lang="en-IN" sz="2400" b="1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6488CEB2-6901-FD51-4211-8C92A2D6E5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84" y="1142984"/>
            <a:ext cx="10144196" cy="507209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BF69BEE-889E-1154-6D62-B25417242247}"/>
              </a:ext>
            </a:extLst>
          </p:cNvPr>
          <p:cNvSpPr txBox="1"/>
          <p:nvPr/>
        </p:nvSpPr>
        <p:spPr>
          <a:xfrm>
            <a:off x="191344" y="116632"/>
            <a:ext cx="6336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Georgia" panose="02040502050405020303" pitchFamily="18" charset="0"/>
              </a:rPr>
              <a:t>Few more examples of FD</a:t>
            </a:r>
            <a:endParaRPr lang="en-IN" sz="2400" b="1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357501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8283" y="642918"/>
            <a:ext cx="8124856" cy="55721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66844" y="500042"/>
            <a:ext cx="8315356" cy="5857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95406" y="642918"/>
            <a:ext cx="8572559" cy="58579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95472" y="714356"/>
            <a:ext cx="7739091" cy="550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594A68B5-4859-FE3D-8EB3-1B21A4F0C8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1344" y="116632"/>
            <a:ext cx="11665296" cy="6647974"/>
          </a:xfrm>
        </p:spPr>
        <p:txBody>
          <a:bodyPr/>
          <a:lstStyle/>
          <a:p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Armstrong’s Axioms/Properties of Functional Dependency in DBMS</a:t>
            </a:r>
          </a:p>
          <a:p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William Armstrong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in 1974 suggested a few rules related to functional dependency. They are called </a:t>
            </a:r>
            <a:r>
              <a:rPr lang="en-US" sz="2400" b="1" u="none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R</a:t>
            </a:r>
            <a:r>
              <a:rPr lang="en-US" sz="2400" b="1" u="none" dirty="0">
                <a:solidFill>
                  <a:srgbClr val="00B050"/>
                </a:solidFill>
                <a:latin typeface="Georgia" panose="02040502050405020303" pitchFamily="18" charset="0"/>
              </a:rPr>
              <a:t>A</a:t>
            </a:r>
            <a:r>
              <a:rPr lang="en-US" sz="2400" b="1" u="none" dirty="0">
                <a:solidFill>
                  <a:srgbClr val="B40EB8"/>
                </a:solidFill>
                <a:latin typeface="Georgia" panose="02040502050405020303" pitchFamily="18" charset="0"/>
              </a:rPr>
              <a:t>T</a:t>
            </a:r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 rules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u="none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Reflexivity: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 If A is a set of attributes and B is a subset of A, then the functional dependency A → B holds true.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For example,        </a:t>
            </a: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A = {</a:t>
            </a:r>
            <a:r>
              <a:rPr lang="en-IN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EmployeeID</a:t>
            </a: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Name, Department}</a:t>
            </a:r>
          </a:p>
          <a:p>
            <a:pPr marL="342900" indent="-342900" algn="just"/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				B = {</a:t>
            </a:r>
            <a:r>
              <a:rPr lang="en-IN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EmployeeID</a:t>
            </a: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Name} (subset of A)</a:t>
            </a:r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342900" indent="-342900" algn="just"/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Then, {</a:t>
            </a:r>
            <a:r>
              <a:rPr lang="en-IN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EmployeeID</a:t>
            </a: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Name, Department} → {</a:t>
            </a:r>
            <a:r>
              <a:rPr lang="en-IN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EmployeeID</a:t>
            </a: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Name}</a:t>
            </a:r>
          </a:p>
          <a:p>
            <a:pPr marL="342900" indent="-342900" algn="just"/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342900" indent="-342900" algn="just"/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i.e. {</a:t>
            </a:r>
            <a:r>
              <a:rPr lang="en-IN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EmployeeID</a:t>
            </a: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Name, Department} can uniquely determine the {</a:t>
            </a:r>
            <a:r>
              <a:rPr lang="en-IN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EmployeeID</a:t>
            </a: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Name}.</a:t>
            </a:r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342900" indent="-342900" algn="just"/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Also, { Employee_Id, Name } → Name      is valid FD as per reflexivity property.</a:t>
            </a:r>
          </a:p>
          <a:p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0377573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07B6FA36-816C-DCB1-55D6-7C5CF887385A}"/>
              </a:ext>
            </a:extLst>
          </p:cNvPr>
          <p:cNvSpPr txBox="1"/>
          <p:nvPr/>
        </p:nvSpPr>
        <p:spPr>
          <a:xfrm>
            <a:off x="119336" y="118373"/>
            <a:ext cx="112332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Armstrong’s Axioms/Properties of Functional Dependency in DBMS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07368" y="1536174"/>
            <a:ext cx="1078713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  <a:latin typeface="Georgia" panose="02040502050405020303" pitchFamily="18" charset="0"/>
              </a:rPr>
              <a:t>Augmentation:</a:t>
            </a:r>
            <a:r>
              <a:rPr lang="en-US" sz="2400" dirty="0">
                <a:latin typeface="Georgia" panose="02040502050405020303" pitchFamily="18" charset="0"/>
              </a:rPr>
              <a:t> If a functional dependency A → B holds true, then appending any number of the attribute to both sides of dependency doesn't affect the dependency. It remains true.</a:t>
            </a:r>
          </a:p>
          <a:p>
            <a:pPr algn="just"/>
            <a:endParaRPr lang="en-US" sz="2400" dirty="0"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For example, X → Y holds true then, ZX → ZY also holds true.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Georgia" panose="02040502050405020303" pitchFamily="18" charset="0"/>
              </a:rPr>
              <a:t>For example, if { Employee_Id, Name } → { Name } holds true then, { Employee_Id, Name, Age } → { Name, Age }</a:t>
            </a:r>
          </a:p>
        </p:txBody>
      </p:sp>
    </p:spTree>
    <p:extLst>
      <p:ext uri="{BB962C8B-B14F-4D97-AF65-F5344CB8AC3E}">
        <p14:creationId xmlns:p14="http://schemas.microsoft.com/office/powerpoint/2010/main" xmlns="" val="20683443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xmlns="" id="{F59C29F9-2943-38CB-C76D-29366CDA7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522" y="1428736"/>
            <a:ext cx="11233248" cy="3739485"/>
          </a:xfrm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u="none" dirty="0">
                <a:solidFill>
                  <a:srgbClr val="B40EB8"/>
                </a:solidFill>
                <a:latin typeface="Georgia" panose="02040502050405020303" pitchFamily="18" charset="0"/>
              </a:rPr>
              <a:t>Transitivity</a:t>
            </a:r>
            <a:r>
              <a:rPr lang="en-IN" sz="2400" b="1" u="none" dirty="0">
                <a:solidFill>
                  <a:schemeClr val="accent4">
                    <a:lumMod val="50000"/>
                  </a:schemeClr>
                </a:solidFill>
                <a:latin typeface="Georgia" panose="02040502050405020303" pitchFamily="18" charset="0"/>
              </a:rPr>
              <a:t>: </a:t>
            </a: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If two functional dependencies X → Y and Y → Z hold true, then </a:t>
            </a:r>
          </a:p>
          <a:p>
            <a:pPr algn="just">
              <a:lnSpc>
                <a:spcPct val="150000"/>
              </a:lnSpc>
            </a:pP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X → Z also holds true by the rule of Transitivity.</a:t>
            </a:r>
          </a:p>
          <a:p>
            <a:pPr algn="just">
              <a:lnSpc>
                <a:spcPct val="150000"/>
              </a:lnSpc>
            </a:pPr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For example, if { </a:t>
            </a:r>
            <a:r>
              <a:rPr lang="en-IN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Employee_Id</a:t>
            </a: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 } → { Name } holds true and </a:t>
            </a:r>
          </a:p>
          <a:p>
            <a:pPr algn="just">
              <a:lnSpc>
                <a:spcPct val="150000"/>
              </a:lnSpc>
            </a:pP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{ Name } → { Department } holds true, </a:t>
            </a:r>
          </a:p>
          <a:p>
            <a:pPr algn="just">
              <a:lnSpc>
                <a:spcPct val="150000"/>
              </a:lnSpc>
            </a:pP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then { </a:t>
            </a:r>
            <a:r>
              <a:rPr lang="en-IN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Employee_Id</a:t>
            </a: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 } → { Department } also holds true.</a:t>
            </a:r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380960" y="285728"/>
            <a:ext cx="111443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Georgia" panose="02040502050405020303" pitchFamily="18" charset="0"/>
              </a:rPr>
              <a:t>Armstrong’s Axioms/Properties of Functional Dependency in DBMS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3344E5C4-8153-AED5-4DB4-837F7CC1F7CB}"/>
              </a:ext>
            </a:extLst>
          </p:cNvPr>
          <p:cNvSpPr txBox="1">
            <a:spLocks/>
          </p:cNvSpPr>
          <p:nvPr/>
        </p:nvSpPr>
        <p:spPr>
          <a:xfrm>
            <a:off x="191344" y="188640"/>
            <a:ext cx="990731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en-US" sz="2800" kern="0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Partial Dependencies in DBMS</a:t>
            </a:r>
            <a:endParaRPr lang="en-IN" sz="2800" kern="0" dirty="0">
              <a:solidFill>
                <a:schemeClr val="accent3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E755A2C-FACB-04C6-E3DB-0FA3CA2BA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84" y="857232"/>
            <a:ext cx="10544175" cy="5772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096396" y="5857892"/>
            <a:ext cx="200026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Georgia" pitchFamily="18" charset="0"/>
              </a:rPr>
              <a:t>AB Closure 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167702" y="6072206"/>
            <a:ext cx="785818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3462637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3344E5C4-8153-AED5-4DB4-837F7CC1F7CB}"/>
              </a:ext>
            </a:extLst>
          </p:cNvPr>
          <p:cNvSpPr txBox="1">
            <a:spLocks/>
          </p:cNvSpPr>
          <p:nvPr/>
        </p:nvSpPr>
        <p:spPr>
          <a:xfrm>
            <a:off x="191344" y="188640"/>
            <a:ext cx="990731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en-US" sz="2800" kern="0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Partial Dependencies in DBMS</a:t>
            </a:r>
            <a:endParaRPr lang="en-IN" sz="2800" kern="0" dirty="0">
              <a:solidFill>
                <a:schemeClr val="accent3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084" y="1214422"/>
            <a:ext cx="8572560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7" name="Straight Arrow Connector 6"/>
          <p:cNvCxnSpPr/>
          <p:nvPr/>
        </p:nvCxnSpPr>
        <p:spPr>
          <a:xfrm rot="10800000" flipV="1">
            <a:off x="5238744" y="2357430"/>
            <a:ext cx="1000132" cy="7143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6238876" y="2357430"/>
            <a:ext cx="1214446" cy="64294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024958" y="785794"/>
            <a:ext cx="300039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B40EB8"/>
                </a:solidFill>
                <a:latin typeface="Georgia" pitchFamily="18" charset="0"/>
              </a:rPr>
              <a:t> Attributes that are part of Candidate key are called as PRIME ATTRIBUTES. </a:t>
            </a:r>
          </a:p>
          <a:p>
            <a:pPr algn="just"/>
            <a:endParaRPr lang="en-IN" sz="2000" dirty="0">
              <a:solidFill>
                <a:srgbClr val="B40EB8"/>
              </a:solidFill>
              <a:latin typeface="Georgia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en-IN" sz="2000" dirty="0">
                <a:solidFill>
                  <a:srgbClr val="B40EB8"/>
                </a:solidFill>
                <a:latin typeface="Georgia" pitchFamily="18" charset="0"/>
              </a:rPr>
              <a:t> </a:t>
            </a:r>
            <a:r>
              <a:rPr lang="en-IN" sz="2000" dirty="0">
                <a:solidFill>
                  <a:srgbClr val="0000FF"/>
                </a:solidFill>
                <a:latin typeface="Georgia" pitchFamily="18" charset="0"/>
              </a:rPr>
              <a:t>Attributes that are </a:t>
            </a:r>
            <a:r>
              <a:rPr lang="en-IN" sz="2000" b="1" dirty="0">
                <a:solidFill>
                  <a:srgbClr val="0000FF"/>
                </a:solidFill>
                <a:latin typeface="Georgia" pitchFamily="18" charset="0"/>
              </a:rPr>
              <a:t>NOT</a:t>
            </a:r>
            <a:r>
              <a:rPr lang="en-IN" sz="2000" dirty="0">
                <a:solidFill>
                  <a:srgbClr val="0000FF"/>
                </a:solidFill>
                <a:latin typeface="Georgia" pitchFamily="18" charset="0"/>
              </a:rPr>
              <a:t> part of Candidate key are called as NON PRIME ATTRIBUTES.</a:t>
            </a:r>
          </a:p>
          <a:p>
            <a:pPr algn="just"/>
            <a:endParaRPr lang="en-IN" sz="2000" dirty="0">
              <a:solidFill>
                <a:srgbClr val="B40EB8"/>
              </a:solidFill>
              <a:latin typeface="Georgia" pitchFamily="18" charset="0"/>
            </a:endParaRPr>
          </a:p>
          <a:p>
            <a:pPr algn="just"/>
            <a:endParaRPr lang="en-IN" sz="2000" dirty="0">
              <a:solidFill>
                <a:srgbClr val="B40EB8"/>
              </a:solidFill>
              <a:latin typeface="Georg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71588616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3344E5C4-8153-AED5-4DB4-837F7CC1F7CB}"/>
              </a:ext>
            </a:extLst>
          </p:cNvPr>
          <p:cNvSpPr txBox="1">
            <a:spLocks/>
          </p:cNvSpPr>
          <p:nvPr/>
        </p:nvSpPr>
        <p:spPr>
          <a:xfrm>
            <a:off x="191344" y="188640"/>
            <a:ext cx="611897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en-US" sz="2800" kern="0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Partial Dependencies in DBMS</a:t>
            </a:r>
            <a:endParaRPr lang="en-IN" sz="2800" kern="0" dirty="0">
              <a:solidFill>
                <a:schemeClr val="accent3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522" y="1000108"/>
            <a:ext cx="9286940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>
            <a:off x="9096396" y="3964417"/>
            <a:ext cx="278608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solidFill>
                  <a:srgbClr val="FF0000"/>
                </a:solidFill>
                <a:latin typeface="Georgia" pitchFamily="18" charset="0"/>
              </a:rPr>
              <a:t>A Non prime attribute </a:t>
            </a:r>
            <a:r>
              <a:rPr lang="en-IN" sz="2000" b="1" dirty="0">
                <a:solidFill>
                  <a:srgbClr val="FF0000"/>
                </a:solidFill>
                <a:latin typeface="Georgia" pitchFamily="18" charset="0"/>
              </a:rPr>
              <a:t>C</a:t>
            </a:r>
            <a:r>
              <a:rPr lang="en-IN" sz="2000" dirty="0">
                <a:solidFill>
                  <a:srgbClr val="FF0000"/>
                </a:solidFill>
                <a:latin typeface="Georgia" pitchFamily="18" charset="0"/>
              </a:rPr>
              <a:t> can be  determined using part of Candidate key i.e. </a:t>
            </a:r>
            <a:r>
              <a:rPr lang="en-IN" sz="2000" b="1" dirty="0">
                <a:solidFill>
                  <a:srgbClr val="FF0000"/>
                </a:solidFill>
                <a:latin typeface="Georgia" pitchFamily="18" charset="0"/>
              </a:rPr>
              <a:t>B</a:t>
            </a:r>
            <a:r>
              <a:rPr lang="en-IN" sz="2000" dirty="0">
                <a:solidFill>
                  <a:srgbClr val="FF0000"/>
                </a:solidFill>
                <a:latin typeface="Georgia" pitchFamily="18" charset="0"/>
              </a:rPr>
              <a:t>, this type of dependency is known as </a:t>
            </a:r>
            <a:r>
              <a:rPr lang="en-IN" sz="2000" b="1" dirty="0">
                <a:solidFill>
                  <a:srgbClr val="FF0000"/>
                </a:solidFill>
                <a:latin typeface="Georgia" pitchFamily="18" charset="0"/>
              </a:rPr>
              <a:t>Partial Dependency</a:t>
            </a:r>
            <a:r>
              <a:rPr lang="en-IN" sz="2000" dirty="0">
                <a:latin typeface="Georgia" pitchFamily="18" charset="0"/>
              </a:rPr>
              <a:t>. 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8382016" y="4572008"/>
            <a:ext cx="571504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nip Single Corner Rectangle 8"/>
          <p:cNvSpPr/>
          <p:nvPr/>
        </p:nvSpPr>
        <p:spPr>
          <a:xfrm>
            <a:off x="9013073" y="3861048"/>
            <a:ext cx="3095604" cy="2643206"/>
          </a:xfrm>
          <a:prstGeom prst="snip1Rect">
            <a:avLst/>
          </a:prstGeom>
          <a:noFill/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239CBFE8-1E5E-0242-8252-5A84D6632A96}"/>
              </a:ext>
            </a:extLst>
          </p:cNvPr>
          <p:cNvSpPr txBox="1"/>
          <p:nvPr/>
        </p:nvSpPr>
        <p:spPr>
          <a:xfrm>
            <a:off x="9215808" y="2873300"/>
            <a:ext cx="2690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accent3">
                    <a:lumMod val="75000"/>
                  </a:schemeClr>
                </a:solidFill>
                <a:latin typeface="Georgia" panose="02040502050405020303" pitchFamily="18" charset="0"/>
              </a:rPr>
              <a:t>Attribute D is determined by A, B</a:t>
            </a:r>
            <a:endParaRPr lang="en-IN" dirty="0">
              <a:solidFill>
                <a:schemeClr val="accent3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64CFB695-126A-7018-7409-BC4AD1CEEED6}"/>
              </a:ext>
            </a:extLst>
          </p:cNvPr>
          <p:cNvGrpSpPr/>
          <p:nvPr/>
        </p:nvGrpSpPr>
        <p:grpSpPr>
          <a:xfrm>
            <a:off x="8524892" y="2855049"/>
            <a:ext cx="3506689" cy="643155"/>
            <a:chOff x="8524892" y="2855049"/>
            <a:chExt cx="3506689" cy="643155"/>
          </a:xfrm>
        </p:grpSpPr>
        <p:cxnSp>
          <p:nvCxnSpPr>
            <p:cNvPr id="2" name="Straight Arrow Connector 1">
              <a:extLst>
                <a:ext uri="{FF2B5EF4-FFF2-40B4-BE49-F238E27FC236}">
                  <a16:creationId xmlns:a16="http://schemas.microsoft.com/office/drawing/2014/main" xmlns="" id="{E4107E44-1B52-99FC-BAE9-67606E2C14D3}"/>
                </a:ext>
              </a:extLst>
            </p:cNvPr>
            <p:cNvCxnSpPr/>
            <p:nvPr/>
          </p:nvCxnSpPr>
          <p:spPr>
            <a:xfrm>
              <a:off x="8524892" y="3176627"/>
              <a:ext cx="57150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xmlns="" id="{FE9C42BB-A74D-BBC2-0020-FCD07037D470}"/>
                </a:ext>
              </a:extLst>
            </p:cNvPr>
            <p:cNvSpPr/>
            <p:nvPr/>
          </p:nvSpPr>
          <p:spPr>
            <a:xfrm>
              <a:off x="9187256" y="2855049"/>
              <a:ext cx="2844325" cy="643155"/>
            </a:xfrm>
            <a:prstGeom prst="rect">
              <a:avLst/>
            </a:prstGeom>
            <a:noFill/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xmlns="" val="28479324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522" y="1142984"/>
            <a:ext cx="11215766" cy="166199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400" b="1" u="none" dirty="0">
                <a:solidFill>
                  <a:srgbClr val="0000FF"/>
                </a:solidFill>
                <a:latin typeface="Georgia" pitchFamily="18" charset="0"/>
              </a:rPr>
              <a:t>Partial dependency 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in a relational database occurs when a non-prime attribute (i.e., not part of any candidate key) is functionally dependent on only a part of the primary key, rather than the entire primary key.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3344E5C4-8153-AED5-4DB4-837F7CC1F7CB}"/>
              </a:ext>
            </a:extLst>
          </p:cNvPr>
          <p:cNvSpPr txBox="1">
            <a:spLocks/>
          </p:cNvSpPr>
          <p:nvPr/>
        </p:nvSpPr>
        <p:spPr>
          <a:xfrm>
            <a:off x="191344" y="188640"/>
            <a:ext cx="8047796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en-US" sz="2800" kern="0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Partial Dependencies in DBMS:  </a:t>
            </a:r>
            <a:r>
              <a:rPr lang="en-US" sz="2800" kern="0" dirty="0">
                <a:solidFill>
                  <a:srgbClr val="0000FF"/>
                </a:solidFill>
                <a:latin typeface="Georgia" panose="02040502050405020303" pitchFamily="18" charset="0"/>
              </a:rPr>
              <a:t>Definition</a:t>
            </a:r>
            <a:endParaRPr lang="en-IN" sz="2800" kern="0" dirty="0">
              <a:solidFill>
                <a:srgbClr val="0000FF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522" y="928670"/>
            <a:ext cx="10644262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3344E5C4-8153-AED5-4DB4-837F7CC1F7CB}"/>
              </a:ext>
            </a:extLst>
          </p:cNvPr>
          <p:cNvSpPr txBox="1">
            <a:spLocks/>
          </p:cNvSpPr>
          <p:nvPr/>
        </p:nvSpPr>
        <p:spPr>
          <a:xfrm>
            <a:off x="191344" y="188640"/>
            <a:ext cx="611897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en-US" sz="2800" kern="0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Partial Dependencies in DBMS</a:t>
            </a:r>
            <a:endParaRPr lang="en-IN" sz="2800" kern="0" dirty="0">
              <a:solidFill>
                <a:schemeClr val="accent3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166788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522" y="1785926"/>
            <a:ext cx="6215106" cy="428628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Consider </a:t>
            </a:r>
            <a:r>
              <a:rPr lang="en-IN" sz="2400" u="none" dirty="0">
                <a:latin typeface="Georgia" pitchFamily="18" charset="0"/>
              </a:rPr>
              <a:t>Employee_Task  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Relation</a:t>
            </a:r>
          </a:p>
          <a:p>
            <a:pPr marL="457200" indent="-457200"/>
            <a:r>
              <a:rPr lang="en-IN" sz="2000" u="none" dirty="0">
                <a:solidFill>
                  <a:schemeClr val="tx1"/>
                </a:solidFill>
                <a:latin typeface="Georgia" pitchFamily="18" charset="0"/>
              </a:rPr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3344E5C4-8153-AED5-4DB4-837F7CC1F7CB}"/>
              </a:ext>
            </a:extLst>
          </p:cNvPr>
          <p:cNvSpPr txBox="1">
            <a:spLocks/>
          </p:cNvSpPr>
          <p:nvPr/>
        </p:nvSpPr>
        <p:spPr>
          <a:xfrm>
            <a:off x="191344" y="188640"/>
            <a:ext cx="11691134" cy="11330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ea typeface="+mj-ea"/>
                <a:cs typeface="Cambria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800" kern="0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Partial Dependencies in DBMS: </a:t>
            </a:r>
            <a:r>
              <a:rPr lang="en-US" sz="2400" kern="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Various examples to illustrate when does Partial Dependency occur?   </a:t>
            </a:r>
            <a:endParaRPr lang="en-IN" sz="2400" kern="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8084" y="2357430"/>
            <a:ext cx="6858048" cy="22145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7167570" y="1071546"/>
            <a:ext cx="5024430" cy="51706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dirty="0">
                <a:latin typeface="Georgia" pitchFamily="18" charset="0"/>
              </a:rPr>
              <a:t> </a:t>
            </a:r>
            <a:r>
              <a:rPr lang="en-IN" sz="2000" dirty="0">
                <a:latin typeface="Georgia" pitchFamily="18" charset="0"/>
              </a:rPr>
              <a:t>Here, Prime (key) attributes are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Georgia" pitchFamily="18" charset="0"/>
              </a:rPr>
              <a:t> </a:t>
            </a:r>
            <a:r>
              <a:rPr lang="en-IN" sz="2000" b="1" dirty="0" err="1">
                <a:latin typeface="Georgia" pitchFamily="18" charset="0"/>
              </a:rPr>
              <a:t>Employee_ID</a:t>
            </a:r>
            <a:r>
              <a:rPr lang="en-IN" sz="2000" b="1" dirty="0">
                <a:latin typeface="Georgia" pitchFamily="18" charset="0"/>
              </a:rPr>
              <a:t> and </a:t>
            </a:r>
            <a:r>
              <a:rPr lang="en-IN" sz="2000" b="1" dirty="0" err="1">
                <a:latin typeface="Georgia" pitchFamily="18" charset="0"/>
              </a:rPr>
              <a:t>Task_No</a:t>
            </a:r>
            <a:r>
              <a:rPr lang="en-IN" sz="2000" b="1" dirty="0">
                <a:latin typeface="Georgia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N" sz="2000" b="1" dirty="0">
                <a:latin typeface="Georgia" pitchFamily="18" charset="0"/>
              </a:rPr>
              <a:t> </a:t>
            </a:r>
            <a:r>
              <a:rPr lang="en-IN" sz="2000" dirty="0">
                <a:latin typeface="Georgia" pitchFamily="18" charset="0"/>
              </a:rPr>
              <a:t>non-prime attributes are </a:t>
            </a:r>
          </a:p>
          <a:p>
            <a:pPr algn="just">
              <a:lnSpc>
                <a:spcPct val="150000"/>
              </a:lnSpc>
            </a:pPr>
            <a:r>
              <a:rPr lang="en-IN" sz="2000" b="1" dirty="0" err="1">
                <a:latin typeface="Georgia" pitchFamily="18" charset="0"/>
              </a:rPr>
              <a:t>Employee_Name</a:t>
            </a:r>
            <a:r>
              <a:rPr lang="en-IN" sz="2000" b="1" dirty="0">
                <a:latin typeface="Georgia" pitchFamily="18" charset="0"/>
              </a:rPr>
              <a:t> and </a:t>
            </a:r>
            <a:r>
              <a:rPr lang="en-IN" sz="2000" b="1" dirty="0" err="1">
                <a:latin typeface="Georgia" pitchFamily="18" charset="0"/>
              </a:rPr>
              <a:t>Task_Name</a:t>
            </a:r>
            <a:r>
              <a:rPr lang="en-IN" sz="2000" b="1" dirty="0">
                <a:latin typeface="Georgia" pitchFamily="18" charset="0"/>
              </a:rPr>
              <a:t>. 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Georgia" pitchFamily="18" charset="0"/>
              </a:rPr>
              <a:t>Now, </a:t>
            </a:r>
            <a:r>
              <a:rPr lang="en-IN" sz="2000" b="1" dirty="0" err="1">
                <a:latin typeface="Georgia" pitchFamily="18" charset="0"/>
              </a:rPr>
              <a:t>Employee_Name</a:t>
            </a:r>
            <a:r>
              <a:rPr lang="en-IN" sz="2000" b="1" dirty="0">
                <a:latin typeface="Georgia" pitchFamily="18" charset="0"/>
              </a:rPr>
              <a:t> </a:t>
            </a:r>
            <a:r>
              <a:rPr lang="en-IN" sz="2000" dirty="0">
                <a:latin typeface="Georgia" pitchFamily="18" charset="0"/>
              </a:rPr>
              <a:t>can be determined using the  </a:t>
            </a:r>
            <a:r>
              <a:rPr lang="en-IN" sz="2000" b="1" dirty="0" err="1">
                <a:latin typeface="Georgia" pitchFamily="18" charset="0"/>
              </a:rPr>
              <a:t>Employee_ID</a:t>
            </a:r>
            <a:r>
              <a:rPr lang="en-IN" sz="2000" b="1" dirty="0">
                <a:latin typeface="Georgia" pitchFamily="18" charset="0"/>
              </a:rPr>
              <a:t>  </a:t>
            </a:r>
            <a:r>
              <a:rPr lang="en-IN" sz="2000" dirty="0">
                <a:latin typeface="Georgia" pitchFamily="18" charset="0"/>
              </a:rPr>
              <a:t>and</a:t>
            </a:r>
            <a:r>
              <a:rPr lang="en-IN" sz="2000" b="1" dirty="0">
                <a:latin typeface="Georgia" pitchFamily="18" charset="0"/>
              </a:rPr>
              <a:t> </a:t>
            </a:r>
            <a:r>
              <a:rPr lang="en-IN" sz="2000" dirty="0">
                <a:latin typeface="Georgia" pitchFamily="18" charset="0"/>
              </a:rPr>
              <a:t>hence there exists a </a:t>
            </a:r>
            <a:r>
              <a:rPr lang="en-IN" sz="2000" b="1" dirty="0">
                <a:latin typeface="Georgia" pitchFamily="18" charset="0"/>
              </a:rPr>
              <a:t>partial dependency.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Georgia" pitchFamily="18" charset="0"/>
              </a:rPr>
              <a:t>Also, </a:t>
            </a:r>
            <a:r>
              <a:rPr lang="en-IN" sz="2000" b="1" dirty="0" err="1">
                <a:latin typeface="Georgia" pitchFamily="18" charset="0"/>
              </a:rPr>
              <a:t>Task_Name</a:t>
            </a:r>
            <a:r>
              <a:rPr lang="en-IN" sz="2000" b="1" dirty="0">
                <a:latin typeface="Georgia" pitchFamily="18" charset="0"/>
              </a:rPr>
              <a:t> </a:t>
            </a:r>
            <a:r>
              <a:rPr lang="en-IN" sz="2000" dirty="0">
                <a:latin typeface="Georgia" pitchFamily="18" charset="0"/>
              </a:rPr>
              <a:t>can be determined using the </a:t>
            </a:r>
            <a:r>
              <a:rPr lang="en-IN" sz="2000" b="1" dirty="0" err="1">
                <a:latin typeface="Georgia" pitchFamily="18" charset="0"/>
              </a:rPr>
              <a:t>Task_No</a:t>
            </a:r>
            <a:r>
              <a:rPr lang="en-IN" sz="2000" b="1" dirty="0">
                <a:latin typeface="Georgia" pitchFamily="18" charset="0"/>
              </a:rPr>
              <a:t>. </a:t>
            </a:r>
            <a:r>
              <a:rPr lang="en-IN" sz="2000" dirty="0">
                <a:latin typeface="Georgia" pitchFamily="18" charset="0"/>
              </a:rPr>
              <a:t>It makes the relation</a:t>
            </a:r>
            <a:r>
              <a:rPr lang="en-IN" sz="2000" b="1" dirty="0">
                <a:latin typeface="Georgia" pitchFamily="18" charset="0"/>
              </a:rPr>
              <a:t> Dependent Partially.</a:t>
            </a:r>
            <a:r>
              <a:rPr lang="en-IN" sz="2000" dirty="0">
                <a:latin typeface="Georgia" pitchFamily="18" charset="0"/>
              </a:rPr>
              <a:t> </a:t>
            </a:r>
          </a:p>
        </p:txBody>
      </p:sp>
      <p:sp>
        <p:nvSpPr>
          <p:cNvPr id="9" name="Rectangle 8"/>
          <p:cNvSpPr/>
          <p:nvPr/>
        </p:nvSpPr>
        <p:spPr>
          <a:xfrm>
            <a:off x="238084" y="5357826"/>
            <a:ext cx="592935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599F4F"/>
                </a:solidFill>
                <a:latin typeface="Georgia" pitchFamily="18" charset="0"/>
              </a:rPr>
              <a:t>Solution: </a:t>
            </a:r>
          </a:p>
          <a:p>
            <a:pPr algn="just"/>
            <a:r>
              <a:rPr lang="en-IN" sz="2000" b="1" dirty="0">
                <a:solidFill>
                  <a:srgbClr val="0070C0"/>
                </a:solidFill>
                <a:latin typeface="Georgia" pitchFamily="18" charset="0"/>
              </a:rPr>
              <a:t>We decompose (split)  the tables to remove Partial Dependency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0390" y="1504759"/>
            <a:ext cx="10587708" cy="738664"/>
          </a:xfrm>
        </p:spPr>
        <p:txBody>
          <a:bodyPr/>
          <a:lstStyle/>
          <a:p>
            <a:pPr algn="just"/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2. Consider </a:t>
            </a:r>
            <a:r>
              <a:rPr lang="en-IN" sz="2400" u="none" dirty="0">
                <a:solidFill>
                  <a:srgbClr val="0000FF"/>
                </a:solidFill>
                <a:latin typeface="Georgia" pitchFamily="18" charset="0"/>
              </a:rPr>
              <a:t>Course_Enrollment 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Relation. Can you identify a Partial Dependency if primary key attributes are </a:t>
            </a:r>
            <a:r>
              <a:rPr lang="en-IN" sz="2400" u="none" dirty="0" err="1">
                <a:solidFill>
                  <a:schemeClr val="tx1"/>
                </a:solidFill>
                <a:latin typeface="Georgia" pitchFamily="18" charset="0"/>
              </a:rPr>
              <a:t>Student_ID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and </a:t>
            </a:r>
            <a:r>
              <a:rPr lang="en-IN" sz="2400" u="none" dirty="0" err="1">
                <a:solidFill>
                  <a:schemeClr val="tx1"/>
                </a:solidFill>
                <a:latin typeface="Georgia" pitchFamily="18" charset="0"/>
              </a:rPr>
              <a:t>Course_ID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?  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3344E5C4-8153-AED5-4DB4-837F7CC1F7CB}"/>
              </a:ext>
            </a:extLst>
          </p:cNvPr>
          <p:cNvSpPr txBox="1">
            <a:spLocks/>
          </p:cNvSpPr>
          <p:nvPr/>
        </p:nvSpPr>
        <p:spPr>
          <a:xfrm>
            <a:off x="191344" y="188640"/>
            <a:ext cx="11691134" cy="11330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ea typeface="+mj-ea"/>
                <a:cs typeface="Cambria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800" kern="0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Partial Dependencies in DBMS: </a:t>
            </a:r>
            <a:r>
              <a:rPr lang="en-US" sz="2400" kern="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Various examples to illustrate when does Partial Dependency occur?   </a:t>
            </a:r>
            <a:endParaRPr lang="en-IN" sz="2400" kern="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66712" y="2643182"/>
            <a:ext cx="5133975" cy="3429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347D869-F7FA-6A7E-12B9-5530C9C10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1268760"/>
            <a:ext cx="11547118" cy="5539978"/>
          </a:xfrm>
        </p:spPr>
        <p:txBody>
          <a:bodyPr/>
          <a:lstStyle/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3. Consider a table called "Orders" with the following attributes: </a:t>
            </a:r>
          </a:p>
          <a:p>
            <a:r>
              <a:rPr lang="en-US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OrderID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</a:t>
            </a:r>
            <a:r>
              <a:rPr lang="en-US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CustomerID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</a:t>
            </a:r>
            <a:r>
              <a:rPr lang="en-US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OrderDate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</a:t>
            </a:r>
            <a:r>
              <a:rPr lang="en-US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ProductID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and Quantity. </a:t>
            </a:r>
          </a:p>
          <a:p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The table's primary key is </a:t>
            </a:r>
            <a:r>
              <a:rPr lang="en-US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OrderID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and the non-key attributes are </a:t>
            </a:r>
            <a:r>
              <a:rPr lang="en-US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CustomerID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</a:t>
            </a:r>
            <a:r>
              <a:rPr lang="en-US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OrderDate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</a:t>
            </a:r>
            <a:r>
              <a:rPr lang="en-US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ProductID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and Quantity. </a:t>
            </a:r>
          </a:p>
          <a:p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sz="2400" u="none" dirty="0">
                <a:solidFill>
                  <a:srgbClr val="C00000"/>
                </a:solidFill>
                <a:latin typeface="Georgia" panose="02040502050405020303" pitchFamily="18" charset="0"/>
              </a:rPr>
              <a:t>Answer the following: </a:t>
            </a:r>
          </a:p>
          <a:p>
            <a:pPr algn="just"/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(</a:t>
            </a:r>
            <a:r>
              <a:rPr lang="en-US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i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) </a:t>
            </a:r>
            <a:r>
              <a:rPr lang="en-US" sz="2400" u="none" dirty="0">
                <a:solidFill>
                  <a:schemeClr val="accent1"/>
                </a:solidFill>
                <a:latin typeface="Georgia" panose="02040502050405020303" pitchFamily="18" charset="0"/>
              </a:rPr>
              <a:t>If the value of </a:t>
            </a:r>
            <a:r>
              <a:rPr lang="en-US" sz="2400" u="none" dirty="0" err="1">
                <a:solidFill>
                  <a:schemeClr val="accent1"/>
                </a:solidFill>
                <a:latin typeface="Georgia" panose="02040502050405020303" pitchFamily="18" charset="0"/>
              </a:rPr>
              <a:t>CustomerID</a:t>
            </a:r>
            <a:r>
              <a:rPr lang="en-US" sz="2400" u="none" dirty="0">
                <a:solidFill>
                  <a:schemeClr val="accent1"/>
                </a:solidFill>
                <a:latin typeface="Georgia" panose="02040502050405020303" pitchFamily="18" charset="0"/>
              </a:rPr>
              <a:t> depends only on </a:t>
            </a:r>
            <a:r>
              <a:rPr lang="en-US" sz="2400" u="none" dirty="0" err="1">
                <a:solidFill>
                  <a:schemeClr val="accent1"/>
                </a:solidFill>
                <a:latin typeface="Georgia" panose="02040502050405020303" pitchFamily="18" charset="0"/>
              </a:rPr>
              <a:t>OrderID</a:t>
            </a:r>
            <a:r>
              <a:rPr lang="en-US" sz="2400" u="none" dirty="0">
                <a:solidFill>
                  <a:schemeClr val="accent1"/>
                </a:solidFill>
                <a:latin typeface="Georgia" panose="02040502050405020303" pitchFamily="18" charset="0"/>
              </a:rPr>
              <a:t>, check if there is a Partial Dependency?</a:t>
            </a:r>
          </a:p>
          <a:p>
            <a:pPr algn="just"/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(ii) </a:t>
            </a:r>
            <a:r>
              <a:rPr lang="en-US" sz="2400" u="none" dirty="0">
                <a:solidFill>
                  <a:srgbClr val="00B050"/>
                </a:solidFill>
                <a:latin typeface="Georgia" panose="02040502050405020303" pitchFamily="18" charset="0"/>
              </a:rPr>
              <a:t>If the combination of </a:t>
            </a:r>
            <a:r>
              <a:rPr lang="en-US" sz="2400" u="none" dirty="0" err="1">
                <a:solidFill>
                  <a:srgbClr val="00B050"/>
                </a:solidFill>
                <a:latin typeface="Georgia" panose="02040502050405020303" pitchFamily="18" charset="0"/>
              </a:rPr>
              <a:t>OrderID</a:t>
            </a:r>
            <a:r>
              <a:rPr lang="en-US" sz="2400" u="none" dirty="0">
                <a:solidFill>
                  <a:srgbClr val="00B050"/>
                </a:solidFill>
                <a:latin typeface="Georgia" panose="02040502050405020303" pitchFamily="18" charset="0"/>
              </a:rPr>
              <a:t> and </a:t>
            </a:r>
            <a:r>
              <a:rPr lang="en-US" sz="2400" u="none" dirty="0" err="1">
                <a:solidFill>
                  <a:srgbClr val="00B050"/>
                </a:solidFill>
                <a:latin typeface="Georgia" panose="02040502050405020303" pitchFamily="18" charset="0"/>
              </a:rPr>
              <a:t>CustomerID</a:t>
            </a:r>
            <a:r>
              <a:rPr lang="en-US" sz="2400" u="none" dirty="0">
                <a:solidFill>
                  <a:srgbClr val="00B050"/>
                </a:solidFill>
                <a:latin typeface="Georgia" panose="02040502050405020303" pitchFamily="18" charset="0"/>
              </a:rPr>
              <a:t>, are prime key attributes, then does there exists a Partial dependency? </a:t>
            </a:r>
          </a:p>
          <a:p>
            <a:pPr algn="just"/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(iii) </a:t>
            </a:r>
            <a:r>
              <a:rPr lang="en-US" sz="2400" u="none" dirty="0">
                <a:solidFill>
                  <a:srgbClr val="0000FF"/>
                </a:solidFill>
                <a:latin typeface="Georgia" panose="02040502050405020303" pitchFamily="18" charset="0"/>
              </a:rPr>
              <a:t>If the combination of </a:t>
            </a:r>
            <a:r>
              <a:rPr lang="en-US" sz="2400" u="none" dirty="0" err="1">
                <a:solidFill>
                  <a:srgbClr val="0000FF"/>
                </a:solidFill>
                <a:latin typeface="Georgia" panose="02040502050405020303" pitchFamily="18" charset="0"/>
              </a:rPr>
              <a:t>OrderID</a:t>
            </a:r>
            <a:r>
              <a:rPr lang="en-US" sz="2400" u="none" dirty="0">
                <a:solidFill>
                  <a:srgbClr val="0000FF"/>
                </a:solidFill>
                <a:latin typeface="Georgia" panose="02040502050405020303" pitchFamily="18" charset="0"/>
              </a:rPr>
              <a:t> and </a:t>
            </a:r>
            <a:r>
              <a:rPr lang="en-US" sz="2400" u="none" dirty="0" err="1">
                <a:solidFill>
                  <a:srgbClr val="0000FF"/>
                </a:solidFill>
                <a:latin typeface="Georgia" panose="02040502050405020303" pitchFamily="18" charset="0"/>
              </a:rPr>
              <a:t>ProductID</a:t>
            </a:r>
            <a:r>
              <a:rPr lang="en-US" sz="2400" u="none" dirty="0">
                <a:solidFill>
                  <a:srgbClr val="0000FF"/>
                </a:solidFill>
                <a:latin typeface="Georgia" panose="02040502050405020303" pitchFamily="18" charset="0"/>
              </a:rPr>
              <a:t>, are prime key attributes, then does there exists a Partial dependency? </a:t>
            </a:r>
          </a:p>
          <a:p>
            <a:pPr algn="just"/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(iv</a:t>
            </a:r>
            <a:r>
              <a:rPr lang="en-US" sz="2400" u="none" dirty="0">
                <a:solidFill>
                  <a:srgbClr val="B40EB8"/>
                </a:solidFill>
                <a:latin typeface="Georgia" panose="02040502050405020303" pitchFamily="18" charset="0"/>
              </a:rPr>
              <a:t>) If the combination of </a:t>
            </a:r>
            <a:r>
              <a:rPr lang="en-US" sz="2400" u="none" dirty="0" err="1">
                <a:solidFill>
                  <a:srgbClr val="B40EB8"/>
                </a:solidFill>
                <a:latin typeface="Georgia" panose="02040502050405020303" pitchFamily="18" charset="0"/>
              </a:rPr>
              <a:t>OrderID</a:t>
            </a:r>
            <a:r>
              <a:rPr lang="en-US" sz="2400" u="none" dirty="0">
                <a:solidFill>
                  <a:srgbClr val="B40EB8"/>
                </a:solidFill>
                <a:latin typeface="Georgia" panose="02040502050405020303" pitchFamily="18" charset="0"/>
              </a:rPr>
              <a:t> , </a:t>
            </a:r>
            <a:r>
              <a:rPr lang="en-US" sz="2400" u="none" dirty="0" err="1">
                <a:solidFill>
                  <a:srgbClr val="B40EB8"/>
                </a:solidFill>
                <a:latin typeface="Georgia" panose="02040502050405020303" pitchFamily="18" charset="0"/>
              </a:rPr>
              <a:t>CustomerID</a:t>
            </a:r>
            <a:r>
              <a:rPr lang="en-US" sz="2400" u="none" dirty="0">
                <a:solidFill>
                  <a:srgbClr val="B40EB8"/>
                </a:solidFill>
                <a:latin typeface="Georgia" panose="02040502050405020303" pitchFamily="18" charset="0"/>
              </a:rPr>
              <a:t> and </a:t>
            </a:r>
            <a:r>
              <a:rPr lang="en-US" sz="2400" u="none" dirty="0" err="1">
                <a:solidFill>
                  <a:srgbClr val="B40EB8"/>
                </a:solidFill>
                <a:latin typeface="Georgia" panose="02040502050405020303" pitchFamily="18" charset="0"/>
              </a:rPr>
              <a:t>ProductID</a:t>
            </a:r>
            <a:r>
              <a:rPr lang="en-US" sz="2400" u="none" dirty="0">
                <a:solidFill>
                  <a:srgbClr val="B40EB8"/>
                </a:solidFill>
                <a:latin typeface="Georgia" panose="02040502050405020303" pitchFamily="18" charset="0"/>
              </a:rPr>
              <a:t>, are prime key attributes, then does there exists a Partial dependency? </a:t>
            </a:r>
            <a:endParaRPr lang="en-IN" dirty="0">
              <a:solidFill>
                <a:srgbClr val="B40EB8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AED61B2A-4687-97E0-4923-106289EBEA1A}"/>
              </a:ext>
            </a:extLst>
          </p:cNvPr>
          <p:cNvSpPr txBox="1">
            <a:spLocks/>
          </p:cNvSpPr>
          <p:nvPr/>
        </p:nvSpPr>
        <p:spPr>
          <a:xfrm>
            <a:off x="191344" y="116632"/>
            <a:ext cx="11691134" cy="954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ea typeface="+mj-ea"/>
                <a:cs typeface="Cambria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kern="0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Partial Dependencies in DBMS: </a:t>
            </a:r>
            <a:r>
              <a:rPr lang="en-US" sz="2200" kern="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Various examples to illustrate when does Partial Dependency occur?   </a:t>
            </a:r>
            <a:endParaRPr lang="en-IN" sz="2200" kern="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5016752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xmlns="" id="{A03CBE19-44D1-D9E4-8DF6-BD431C963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900" kern="1200">
                <a:solidFill>
                  <a:srgbClr val="898989"/>
                </a:solidFill>
                <a:latin typeface="Times New Roman" panose="02020603050405020304" pitchFamily="18" charset="0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+mn-cs"/>
              </a:defRPr>
            </a:lvl9pPr>
          </a:lstStyle>
          <a:p>
            <a:fld id="{9B70F9C2-A234-44F0-A7C2-1B54CA3631BA}" type="slidenum">
              <a:rPr lang="en-US" altLang="en-US" smtClean="0"/>
              <a:pPr/>
              <a:t>49</a:t>
            </a:fld>
            <a:endParaRPr lang="en-US" altLang="en-US" sz="900">
              <a:solidFill>
                <a:srgbClr val="898989"/>
              </a:solidFill>
            </a:endParaRPr>
          </a:p>
        </p:txBody>
      </p:sp>
      <p:sp>
        <p:nvSpPr>
          <p:cNvPr id="26630" name="Text Box 89">
            <a:extLst>
              <a:ext uri="{FF2B5EF4-FFF2-40B4-BE49-F238E27FC236}">
                <a16:creationId xmlns:a16="http://schemas.microsoft.com/office/drawing/2014/main" xmlns="" id="{0BAC1E75-51A6-CA4E-53DB-4913311C9B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920" y="2412490"/>
            <a:ext cx="19050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CA" altLang="en-US" u="sng"/>
              <a:t>InvNum</a:t>
            </a:r>
            <a:endParaRPr lang="en-US" altLang="en-US" u="sng"/>
          </a:p>
        </p:txBody>
      </p:sp>
      <p:sp>
        <p:nvSpPr>
          <p:cNvPr id="26631" name="Text Box 90">
            <a:extLst>
              <a:ext uri="{FF2B5EF4-FFF2-40B4-BE49-F238E27FC236}">
                <a16:creationId xmlns:a16="http://schemas.microsoft.com/office/drawing/2014/main" xmlns="" id="{B2482FD5-FAEB-1C88-35D5-E575F875DC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3920" y="2412490"/>
            <a:ext cx="1676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CA" altLang="en-US" u="sng"/>
              <a:t>LineNum</a:t>
            </a:r>
            <a:endParaRPr lang="en-US" altLang="en-US" u="sng"/>
          </a:p>
        </p:txBody>
      </p:sp>
      <p:sp>
        <p:nvSpPr>
          <p:cNvPr id="26632" name="Text Box 91">
            <a:extLst>
              <a:ext uri="{FF2B5EF4-FFF2-40B4-BE49-F238E27FC236}">
                <a16:creationId xmlns:a16="http://schemas.microsoft.com/office/drawing/2014/main" xmlns="" id="{5B99574B-B573-C766-4563-40FA910542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0320" y="2422247"/>
            <a:ext cx="9906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CA" altLang="en-US"/>
              <a:t>Qty</a:t>
            </a:r>
            <a:endParaRPr lang="en-US" altLang="en-US"/>
          </a:p>
        </p:txBody>
      </p:sp>
      <p:sp>
        <p:nvSpPr>
          <p:cNvPr id="26633" name="Text Box 92">
            <a:extLst>
              <a:ext uri="{FF2B5EF4-FFF2-40B4-BE49-F238E27FC236}">
                <a16:creationId xmlns:a16="http://schemas.microsoft.com/office/drawing/2014/main" xmlns="" id="{907002CE-EFA4-D111-0344-9D4860CCC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0920" y="2412490"/>
            <a:ext cx="1676400" cy="466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CA" altLang="en-US"/>
              <a:t>InvDate</a:t>
            </a:r>
            <a:endParaRPr lang="en-US" altLang="en-US"/>
          </a:p>
        </p:txBody>
      </p:sp>
      <p:sp>
        <p:nvSpPr>
          <p:cNvPr id="26634" name="Freeform 94">
            <a:extLst>
              <a:ext uri="{FF2B5EF4-FFF2-40B4-BE49-F238E27FC236}">
                <a16:creationId xmlns:a16="http://schemas.microsoft.com/office/drawing/2014/main" xmlns="" id="{08F43F25-CDFE-D70D-D5A6-9AEB0EE2460C}"/>
              </a:ext>
            </a:extLst>
          </p:cNvPr>
          <p:cNvSpPr>
            <a:spLocks/>
          </p:cNvSpPr>
          <p:nvPr/>
        </p:nvSpPr>
        <p:spPr bwMode="auto">
          <a:xfrm>
            <a:off x="5099720" y="2869689"/>
            <a:ext cx="1676400" cy="533400"/>
          </a:xfrm>
          <a:custGeom>
            <a:avLst/>
            <a:gdLst>
              <a:gd name="T0" fmla="*/ 0 w 1056"/>
              <a:gd name="T1" fmla="*/ 0 h 336"/>
              <a:gd name="T2" fmla="*/ 0 w 1056"/>
              <a:gd name="T3" fmla="*/ 2147483647 h 336"/>
              <a:gd name="T4" fmla="*/ 2147483647 w 1056"/>
              <a:gd name="T5" fmla="*/ 2147483647 h 336"/>
              <a:gd name="T6" fmla="*/ 2147483647 w 1056"/>
              <a:gd name="T7" fmla="*/ 0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336"/>
              <a:gd name="T14" fmla="*/ 1056 w 1056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336">
                <a:moveTo>
                  <a:pt x="0" y="0"/>
                </a:moveTo>
                <a:lnTo>
                  <a:pt x="0" y="336"/>
                </a:lnTo>
                <a:lnTo>
                  <a:pt x="1056" y="336"/>
                </a:lnTo>
                <a:lnTo>
                  <a:pt x="1056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5" name="Freeform 95">
            <a:extLst>
              <a:ext uri="{FF2B5EF4-FFF2-40B4-BE49-F238E27FC236}">
                <a16:creationId xmlns:a16="http://schemas.microsoft.com/office/drawing/2014/main" xmlns="" id="{6EA2A402-73AF-DEB5-7E2A-24B9A60A1D66}"/>
              </a:ext>
            </a:extLst>
          </p:cNvPr>
          <p:cNvSpPr>
            <a:spLocks/>
          </p:cNvSpPr>
          <p:nvPr/>
        </p:nvSpPr>
        <p:spPr bwMode="auto">
          <a:xfrm>
            <a:off x="3423320" y="2869689"/>
            <a:ext cx="4495800" cy="533400"/>
          </a:xfrm>
          <a:custGeom>
            <a:avLst/>
            <a:gdLst>
              <a:gd name="T0" fmla="*/ 0 w 1056"/>
              <a:gd name="T1" fmla="*/ 0 h 336"/>
              <a:gd name="T2" fmla="*/ 0 w 1056"/>
              <a:gd name="T3" fmla="*/ 2147483647 h 336"/>
              <a:gd name="T4" fmla="*/ 2147483647 w 1056"/>
              <a:gd name="T5" fmla="*/ 2147483647 h 336"/>
              <a:gd name="T6" fmla="*/ 2147483647 w 1056"/>
              <a:gd name="T7" fmla="*/ 0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336"/>
              <a:gd name="T14" fmla="*/ 1056 w 1056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336">
                <a:moveTo>
                  <a:pt x="0" y="0"/>
                </a:moveTo>
                <a:lnTo>
                  <a:pt x="0" y="336"/>
                </a:lnTo>
                <a:lnTo>
                  <a:pt x="1056" y="336"/>
                </a:lnTo>
                <a:lnTo>
                  <a:pt x="1056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6" name="Freeform 96">
            <a:extLst>
              <a:ext uri="{FF2B5EF4-FFF2-40B4-BE49-F238E27FC236}">
                <a16:creationId xmlns:a16="http://schemas.microsoft.com/office/drawing/2014/main" xmlns="" id="{42260EF2-C921-66C3-AAA5-41605C566ECA}"/>
              </a:ext>
            </a:extLst>
          </p:cNvPr>
          <p:cNvSpPr>
            <a:spLocks/>
          </p:cNvSpPr>
          <p:nvPr/>
        </p:nvSpPr>
        <p:spPr bwMode="auto">
          <a:xfrm flipV="1">
            <a:off x="3575720" y="1879089"/>
            <a:ext cx="4495800" cy="533400"/>
          </a:xfrm>
          <a:custGeom>
            <a:avLst/>
            <a:gdLst>
              <a:gd name="T0" fmla="*/ 0 w 1056"/>
              <a:gd name="T1" fmla="*/ 0 h 336"/>
              <a:gd name="T2" fmla="*/ 0 w 1056"/>
              <a:gd name="T3" fmla="*/ 2147483647 h 336"/>
              <a:gd name="T4" fmla="*/ 2147483647 w 1056"/>
              <a:gd name="T5" fmla="*/ 2147483647 h 336"/>
              <a:gd name="T6" fmla="*/ 2147483647 w 1056"/>
              <a:gd name="T7" fmla="*/ 0 h 336"/>
              <a:gd name="T8" fmla="*/ 0 60000 65536"/>
              <a:gd name="T9" fmla="*/ 0 60000 65536"/>
              <a:gd name="T10" fmla="*/ 0 60000 65536"/>
              <a:gd name="T11" fmla="*/ 0 60000 65536"/>
              <a:gd name="T12" fmla="*/ 0 w 1056"/>
              <a:gd name="T13" fmla="*/ 0 h 336"/>
              <a:gd name="T14" fmla="*/ 1056 w 1056"/>
              <a:gd name="T15" fmla="*/ 336 h 3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6" h="336">
                <a:moveTo>
                  <a:pt x="0" y="0"/>
                </a:moveTo>
                <a:lnTo>
                  <a:pt x="0" y="336"/>
                </a:lnTo>
                <a:lnTo>
                  <a:pt x="1056" y="336"/>
                </a:lnTo>
                <a:lnTo>
                  <a:pt x="1056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 type="none" w="med" len="med"/>
            <a:tailEnd type="arrow" w="med" len="med"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6637" name="Text Box 97">
            <a:extLst>
              <a:ext uri="{FF2B5EF4-FFF2-40B4-BE49-F238E27FC236}">
                <a16:creationId xmlns:a16="http://schemas.microsoft.com/office/drawing/2014/main" xmlns="" id="{99646EE3-BFDD-DD07-D81C-72E22F16C4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849" y="4077013"/>
            <a:ext cx="10872142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CA" altLang="en-US" b="1" dirty="0"/>
              <a:t>Candidate keys: {</a:t>
            </a:r>
            <a:r>
              <a:rPr lang="en-CA" altLang="en-US" b="1" dirty="0" err="1"/>
              <a:t>InvNum</a:t>
            </a:r>
            <a:r>
              <a:rPr lang="en-CA" altLang="en-US" b="1" dirty="0"/>
              <a:t>, </a:t>
            </a:r>
            <a:r>
              <a:rPr lang="en-CA" altLang="en-US" b="1" dirty="0" err="1"/>
              <a:t>LineNum</a:t>
            </a:r>
            <a:r>
              <a:rPr lang="en-CA" altLang="en-US" b="1" dirty="0"/>
              <a:t>} </a:t>
            </a:r>
            <a:r>
              <a:rPr lang="en-CA" altLang="en-US" b="1" dirty="0" err="1"/>
              <a:t>InvDate</a:t>
            </a:r>
            <a:r>
              <a:rPr lang="en-CA" altLang="en-US" b="1" dirty="0"/>
              <a:t> </a:t>
            </a:r>
            <a:r>
              <a:rPr lang="en-CA" altLang="en-US" dirty="0"/>
              <a:t>, which is </a:t>
            </a:r>
            <a:r>
              <a:rPr lang="en-CA" altLang="en-US" i="1" dirty="0"/>
              <a:t>partially dependent</a:t>
            </a:r>
            <a:r>
              <a:rPr lang="en-CA" altLang="en-US" dirty="0"/>
              <a:t> on {</a:t>
            </a:r>
            <a:r>
              <a:rPr lang="en-CA" altLang="en-US" dirty="0" err="1"/>
              <a:t>InvNum</a:t>
            </a:r>
            <a:r>
              <a:rPr lang="en-CA" altLang="en-US" dirty="0"/>
              <a:t>, </a:t>
            </a:r>
            <a:r>
              <a:rPr lang="en-CA" altLang="en-US" dirty="0" err="1"/>
              <a:t>LineNum</a:t>
            </a:r>
            <a:r>
              <a:rPr lang="en-CA" altLang="en-US" dirty="0"/>
              <a:t>} as </a:t>
            </a:r>
            <a:r>
              <a:rPr lang="en-CA" altLang="en-US" dirty="0" err="1">
                <a:solidFill>
                  <a:srgbClr val="FF0000"/>
                </a:solidFill>
              </a:rPr>
              <a:t>InvNum</a:t>
            </a:r>
            <a:r>
              <a:rPr lang="en-CA" altLang="en-US" dirty="0">
                <a:solidFill>
                  <a:srgbClr val="FF0000"/>
                </a:solidFill>
              </a:rPr>
              <a:t> is a determinant of </a:t>
            </a:r>
            <a:r>
              <a:rPr lang="en-CA" altLang="en-US" dirty="0" err="1">
                <a:solidFill>
                  <a:srgbClr val="FF0000"/>
                </a:solidFill>
              </a:rPr>
              <a:t>InvDate</a:t>
            </a:r>
            <a:r>
              <a:rPr lang="en-CA" altLang="en-US" dirty="0">
                <a:solidFill>
                  <a:srgbClr val="FF0000"/>
                </a:solidFill>
              </a:rPr>
              <a:t> and </a:t>
            </a:r>
            <a:r>
              <a:rPr lang="en-CA" altLang="en-US" dirty="0" err="1">
                <a:solidFill>
                  <a:srgbClr val="FF0000"/>
                </a:solidFill>
              </a:rPr>
              <a:t>InvNum</a:t>
            </a:r>
            <a:r>
              <a:rPr lang="en-CA" altLang="en-US" dirty="0">
                <a:solidFill>
                  <a:srgbClr val="FF0000"/>
                </a:solidFill>
              </a:rPr>
              <a:t> is part of a candidate key.</a:t>
            </a:r>
            <a:endParaRPr lang="en-US" altLang="en-US" dirty="0">
              <a:solidFill>
                <a:srgbClr val="FF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1635FF37-7DE0-804E-6931-16D7D05A4302}"/>
              </a:ext>
            </a:extLst>
          </p:cNvPr>
          <p:cNvSpPr txBox="1">
            <a:spLocks/>
          </p:cNvSpPr>
          <p:nvPr/>
        </p:nvSpPr>
        <p:spPr>
          <a:xfrm>
            <a:off x="250433" y="260648"/>
            <a:ext cx="11691134" cy="9540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ea typeface="+mj-ea"/>
                <a:cs typeface="Cambria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2200" kern="0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Partial Dependencies in DBMS: </a:t>
            </a:r>
            <a:r>
              <a:rPr lang="en-US" sz="2200" kern="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Various examples to illustrate when does Partial Dependency occur?   </a:t>
            </a:r>
            <a:endParaRPr lang="en-IN" sz="2200" kern="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6468DA09-FFC0-140E-D8E3-3F5914255DB9}"/>
              </a:ext>
            </a:extLst>
          </p:cNvPr>
          <p:cNvSpPr txBox="1"/>
          <p:nvPr/>
        </p:nvSpPr>
        <p:spPr>
          <a:xfrm>
            <a:off x="407368" y="1811488"/>
            <a:ext cx="9361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Georgia" panose="02040502050405020303" pitchFamily="18" charset="0"/>
              </a:rPr>
              <a:t>e.g.4: </a:t>
            </a:r>
            <a:endParaRPr lang="en-IN" sz="2000" b="1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3901E26-693B-193E-38CD-B586A313A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88640"/>
            <a:ext cx="9907314" cy="430887"/>
          </a:xfrm>
        </p:spPr>
        <p:txBody>
          <a:bodyPr/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Types of Functional Dependencies in DBMS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89F54A0-2751-1681-CC69-7F7537C567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9863" y="1124744"/>
            <a:ext cx="9446260" cy="2148730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none" dirty="0">
                <a:solidFill>
                  <a:srgbClr val="00B050"/>
                </a:solidFill>
                <a:highlight>
                  <a:srgbClr val="00FF00"/>
                </a:highlight>
                <a:latin typeface="Georgia" panose="02040502050405020303" pitchFamily="18" charset="0"/>
              </a:rPr>
              <a:t>Trivial</a:t>
            </a:r>
            <a:r>
              <a:rPr lang="en-US" sz="2400" u="none" dirty="0">
                <a:solidFill>
                  <a:srgbClr val="00B050"/>
                </a:solidFill>
                <a:latin typeface="Georgia" panose="02040502050405020303" pitchFamily="18" charset="0"/>
              </a:rPr>
              <a:t> functional dependency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none" dirty="0">
                <a:solidFill>
                  <a:srgbClr val="00B050"/>
                </a:solidFill>
                <a:highlight>
                  <a:srgbClr val="00FFFF"/>
                </a:highlight>
                <a:latin typeface="Georgia" panose="02040502050405020303" pitchFamily="18" charset="0"/>
              </a:rPr>
              <a:t>Non-Trivial</a:t>
            </a:r>
            <a:r>
              <a:rPr lang="en-US" sz="2400" u="none" dirty="0">
                <a:solidFill>
                  <a:srgbClr val="00B050"/>
                </a:solidFill>
                <a:latin typeface="Georgia" panose="02040502050405020303" pitchFamily="18" charset="0"/>
              </a:rPr>
              <a:t> functional dependency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none" dirty="0">
                <a:solidFill>
                  <a:srgbClr val="00B050"/>
                </a:solidFill>
                <a:highlight>
                  <a:srgbClr val="FFFF00"/>
                </a:highlight>
                <a:latin typeface="Georgia" panose="02040502050405020303" pitchFamily="18" charset="0"/>
              </a:rPr>
              <a:t>Multivalued</a:t>
            </a:r>
            <a:r>
              <a:rPr lang="en-US" sz="2400" u="none" dirty="0">
                <a:solidFill>
                  <a:srgbClr val="00B050"/>
                </a:solidFill>
                <a:latin typeface="Georgia" panose="02040502050405020303" pitchFamily="18" charset="0"/>
              </a:rPr>
              <a:t> functional dependency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u="none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latin typeface="Georgia" panose="02040502050405020303" pitchFamily="18" charset="0"/>
              </a:rPr>
              <a:t>Transitive</a:t>
            </a:r>
            <a:r>
              <a:rPr lang="en-US" sz="2400" u="none" dirty="0">
                <a:solidFill>
                  <a:srgbClr val="00B050"/>
                </a:solidFill>
                <a:latin typeface="Georgia" panose="02040502050405020303" pitchFamily="18" charset="0"/>
              </a:rPr>
              <a:t> functional dependency</a:t>
            </a:r>
            <a:endParaRPr lang="en-IN" sz="2400" u="none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723138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58BDC0F-492C-BE64-515E-92AF25B50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084" y="785794"/>
            <a:ext cx="11644394" cy="5786478"/>
          </a:xfrm>
        </p:spPr>
        <p:txBody>
          <a:bodyPr/>
          <a:lstStyle/>
          <a:p>
            <a:pPr algn="just"/>
            <a:r>
              <a:rPr lang="en-US" sz="2800" u="none" dirty="0">
                <a:solidFill>
                  <a:srgbClr val="00B050"/>
                </a:solidFill>
                <a:highlight>
                  <a:srgbClr val="00FF00"/>
                </a:highlight>
                <a:latin typeface="Georgia" panose="02040502050405020303" pitchFamily="18" charset="0"/>
              </a:rPr>
              <a:t>Trivial</a:t>
            </a:r>
            <a:r>
              <a:rPr lang="en-US" sz="2800" u="none" dirty="0">
                <a:solidFill>
                  <a:srgbClr val="00B050"/>
                </a:solidFill>
                <a:latin typeface="Georgia" panose="02040502050405020303" pitchFamily="18" charset="0"/>
              </a:rPr>
              <a:t> functional dependency</a:t>
            </a:r>
          </a:p>
          <a:p>
            <a:pPr algn="just"/>
            <a:endParaRPr lang="en-US" sz="2800" u="none" dirty="0">
              <a:solidFill>
                <a:srgbClr val="00B050"/>
              </a:solidFill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In Trivial Functional Dependency, a dependent is always a subset of the determinant. </a:t>
            </a:r>
          </a:p>
          <a:p>
            <a:pPr algn="just">
              <a:lnSpc>
                <a:spcPct val="150000"/>
              </a:lnSpc>
            </a:pPr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i.e. If X → Y and Y is the subset of X, then it is called trivial functional dependency.</a:t>
            </a:r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400" u="none" dirty="0">
              <a:solidFill>
                <a:srgbClr val="00B050"/>
              </a:solidFill>
              <a:latin typeface="Georgia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400" b="1" u="none" dirty="0">
                <a:latin typeface="Georgia" pitchFamily="18" charset="0"/>
              </a:rPr>
              <a:t> 	X → Y</a:t>
            </a:r>
            <a:r>
              <a:rPr lang="en-IN" sz="2400" u="none" dirty="0">
                <a:latin typeface="Georgia" pitchFamily="18" charset="0"/>
              </a:rPr>
              <a:t> is called a trivial functional dependency if </a:t>
            </a:r>
            <a:r>
              <a:rPr lang="en-IN" sz="2400" b="1" u="none" dirty="0">
                <a:latin typeface="Georgia" pitchFamily="18" charset="0"/>
              </a:rPr>
              <a:t>Y</a:t>
            </a:r>
            <a:r>
              <a:rPr lang="en-IN" sz="2400" u="none" dirty="0">
                <a:latin typeface="Georgia" pitchFamily="18" charset="0"/>
              </a:rPr>
              <a:t> is the subset of </a:t>
            </a:r>
            <a:r>
              <a:rPr lang="en-IN" sz="2400" b="1" u="none" dirty="0">
                <a:latin typeface="Georgia" pitchFamily="18" charset="0"/>
              </a:rPr>
              <a:t>X</a:t>
            </a:r>
            <a:r>
              <a:rPr lang="en-IN" sz="2400" u="none" dirty="0">
                <a:latin typeface="Georgia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endParaRPr lang="en-US" sz="2800" u="none" dirty="0">
              <a:solidFill>
                <a:srgbClr val="00B050"/>
              </a:solidFill>
              <a:latin typeface="Georgia" panose="02040502050405020303" pitchFamily="18" charset="0"/>
            </a:endParaRPr>
          </a:p>
          <a:p>
            <a:endParaRPr lang="en-IN" sz="2400" dirty="0">
              <a:latin typeface="Georgia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F3901E26-693B-193E-38CD-B586A313A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88640"/>
            <a:ext cx="9907314" cy="430887"/>
          </a:xfrm>
        </p:spPr>
        <p:txBody>
          <a:bodyPr/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Types of Functional Dependencies in DBMS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3836" y="3857628"/>
            <a:ext cx="11025222" cy="785818"/>
          </a:xfrm>
          <a:prstGeom prst="rect">
            <a:avLst/>
          </a:prstGeom>
          <a:noFill/>
          <a:ln w="63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309522" y="5000636"/>
            <a:ext cx="111443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400" dirty="0">
                <a:latin typeface="Georgia" pitchFamily="18" charset="0"/>
              </a:rPr>
              <a:t>A trivial functional dependency occurs when an attribute or a set of attributes determines itself or any subset of itself. It means that, the dependency is obvious and doesn’t provide any useful information about the relationship between attributes. </a:t>
            </a:r>
          </a:p>
        </p:txBody>
      </p:sp>
    </p:spTree>
    <p:extLst>
      <p:ext uri="{BB962C8B-B14F-4D97-AF65-F5344CB8AC3E}">
        <p14:creationId xmlns:p14="http://schemas.microsoft.com/office/powerpoint/2010/main" xmlns="" val="3798695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F3901E26-693B-193E-38CD-B586A313A3F2}"/>
              </a:ext>
            </a:extLst>
          </p:cNvPr>
          <p:cNvSpPr txBox="1">
            <a:spLocks/>
          </p:cNvSpPr>
          <p:nvPr/>
        </p:nvSpPr>
        <p:spPr>
          <a:xfrm>
            <a:off x="238084" y="214290"/>
            <a:ext cx="990731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Types of Functional Dependencies in DBMS</a:t>
            </a:r>
            <a:endParaRPr kumimoji="0" lang="en-I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Cambria"/>
            </a:endParaRP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F58BDC0F-492C-BE64-515E-92AF25B506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084" y="1126008"/>
            <a:ext cx="11644394" cy="2143140"/>
          </a:xfrm>
        </p:spPr>
        <p:txBody>
          <a:bodyPr/>
          <a:lstStyle/>
          <a:p>
            <a:pPr algn="just"/>
            <a:r>
              <a:rPr lang="en-US" sz="2800" u="none" dirty="0">
                <a:solidFill>
                  <a:srgbClr val="00B050"/>
                </a:solidFill>
                <a:highlight>
                  <a:srgbClr val="00FF00"/>
                </a:highlight>
                <a:latin typeface="Georgia" panose="02040502050405020303" pitchFamily="18" charset="0"/>
              </a:rPr>
              <a:t>Trivial</a:t>
            </a:r>
            <a:r>
              <a:rPr lang="en-US" sz="2800" u="none" dirty="0">
                <a:solidFill>
                  <a:srgbClr val="00B050"/>
                </a:solidFill>
                <a:latin typeface="Georgia" panose="02040502050405020303" pitchFamily="18" charset="0"/>
              </a:rPr>
              <a:t> functional dependency</a:t>
            </a:r>
          </a:p>
          <a:p>
            <a:pPr algn="just"/>
            <a:endParaRPr lang="en-US" sz="2800" u="none" dirty="0">
              <a:solidFill>
                <a:srgbClr val="00B050"/>
              </a:solidFill>
              <a:latin typeface="Georgia" panose="02040502050405020303" pitchFamily="18" charset="0"/>
            </a:endParaRPr>
          </a:p>
          <a:p>
            <a:pPr algn="just"/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Example 1: 	</a:t>
            </a:r>
            <a:r>
              <a:rPr lang="en-IN" sz="2400" u="none" dirty="0">
                <a:latin typeface="Georgia" pitchFamily="18" charset="0"/>
              </a:rPr>
              <a:t>A→A  , B→B 		</a:t>
            </a:r>
            <a:r>
              <a:rPr lang="pl-PL" sz="2400" u="none" dirty="0">
                <a:latin typeface="Georgia" pitchFamily="18" charset="0"/>
              </a:rPr>
              <a:t>ABC -&gt; AB</a:t>
            </a:r>
          </a:p>
          <a:p>
            <a:pPr algn="just"/>
            <a:r>
              <a:rPr lang="en-IN" sz="2400" u="none" dirty="0">
                <a:latin typeface="Georgia" pitchFamily="18" charset="0"/>
              </a:rPr>
              <a:t>		 			</a:t>
            </a:r>
            <a:r>
              <a:rPr lang="pl-PL" sz="2400" u="none" dirty="0">
                <a:latin typeface="Georgia" pitchFamily="18" charset="0"/>
              </a:rPr>
              <a:t>ABC -&gt; A</a:t>
            </a:r>
            <a:r>
              <a:rPr lang="en-IN" sz="2400" u="none" dirty="0">
                <a:latin typeface="Georgia" pitchFamily="18" charset="0"/>
              </a:rPr>
              <a:t> </a:t>
            </a:r>
          </a:p>
          <a:p>
            <a:pPr algn="just"/>
            <a:r>
              <a:rPr lang="en-IN" sz="2400" u="none" dirty="0">
                <a:latin typeface="Georgia" pitchFamily="18" charset="0"/>
              </a:rPr>
              <a:t>					</a:t>
            </a:r>
            <a:r>
              <a:rPr lang="pl-PL" sz="2400" u="none" dirty="0">
                <a:latin typeface="Georgia" pitchFamily="18" charset="0"/>
              </a:rPr>
              <a:t>ABC -&gt; ABC</a:t>
            </a:r>
          </a:p>
          <a:p>
            <a:pPr algn="just"/>
            <a:r>
              <a:rPr lang="en-IN" sz="2400" u="none" dirty="0">
                <a:latin typeface="Georgia" pitchFamily="18" charset="0"/>
              </a:rPr>
              <a:t>				</a:t>
            </a:r>
            <a:endParaRPr lang="en-US" sz="2400" u="none" dirty="0">
              <a:solidFill>
                <a:schemeClr val="tx1"/>
              </a:solidFill>
              <a:latin typeface="Georgia" pitchFamily="18" charset="0"/>
            </a:endParaRPr>
          </a:p>
          <a:p>
            <a:pPr algn="just"/>
            <a:endParaRPr lang="en-US" sz="2800" u="none" dirty="0">
              <a:solidFill>
                <a:srgbClr val="00B050"/>
              </a:solidFill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800" u="none" dirty="0">
              <a:solidFill>
                <a:srgbClr val="00B050"/>
              </a:solidFill>
              <a:latin typeface="Georgia" panose="02040502050405020303" pitchFamily="18" charset="0"/>
            </a:endParaRPr>
          </a:p>
          <a:p>
            <a:endParaRPr lang="en-IN" sz="2400" dirty="0">
              <a:latin typeface="Georgia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216" y="3671910"/>
            <a:ext cx="634365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Rectangle 6"/>
          <p:cNvSpPr/>
          <p:nvPr/>
        </p:nvSpPr>
        <p:spPr>
          <a:xfrm>
            <a:off x="6354866" y="4374670"/>
            <a:ext cx="5645790" cy="1357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b="1" dirty="0">
                <a:latin typeface="Georgia" pitchFamily="18" charset="0"/>
              </a:rPr>
              <a:t>{ </a:t>
            </a:r>
            <a:r>
              <a:rPr lang="en-IN" sz="2000" b="1" dirty="0" err="1">
                <a:latin typeface="Georgia" pitchFamily="18" charset="0"/>
              </a:rPr>
              <a:t>Employee_Id</a:t>
            </a:r>
            <a:r>
              <a:rPr lang="en-IN" sz="2000" b="1" dirty="0">
                <a:latin typeface="Georgia" pitchFamily="18" charset="0"/>
              </a:rPr>
              <a:t>, Name } → { Name }</a:t>
            </a:r>
            <a:r>
              <a:rPr lang="en-IN" sz="2000" dirty="0">
                <a:latin typeface="Georgia" pitchFamily="18" charset="0"/>
              </a:rPr>
              <a:t> is a Trivial functional dependency, since the dependent </a:t>
            </a:r>
            <a:r>
              <a:rPr lang="en-IN" sz="2000" b="1" dirty="0">
                <a:latin typeface="Georgia" pitchFamily="18" charset="0"/>
              </a:rPr>
              <a:t>Name</a:t>
            </a:r>
            <a:r>
              <a:rPr lang="en-IN" sz="2000" dirty="0">
                <a:latin typeface="Georgia" pitchFamily="18" charset="0"/>
              </a:rPr>
              <a:t> is the subset of determinant  </a:t>
            </a:r>
          </a:p>
          <a:p>
            <a:r>
              <a:rPr lang="en-IN" sz="2000" b="1" dirty="0">
                <a:latin typeface="Georgia" pitchFamily="18" charset="0"/>
              </a:rPr>
              <a:t>{ </a:t>
            </a:r>
            <a:r>
              <a:rPr lang="en-IN" sz="2000" b="1" dirty="0" err="1">
                <a:latin typeface="Georgia" pitchFamily="18" charset="0"/>
              </a:rPr>
              <a:t>Employee_Id</a:t>
            </a:r>
            <a:r>
              <a:rPr lang="en-IN" sz="2000" b="1" dirty="0">
                <a:latin typeface="Georgia" pitchFamily="18" charset="0"/>
              </a:rPr>
              <a:t>, Name }</a:t>
            </a:r>
            <a:r>
              <a:rPr lang="en-IN" sz="2000" dirty="0">
                <a:latin typeface="Georg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18732766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14F844C-2E21-6C4A-51BE-120EF89FF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535" y="983589"/>
            <a:ext cx="9446260" cy="707886"/>
          </a:xfrm>
        </p:spPr>
        <p:txBody>
          <a:bodyPr/>
          <a:lstStyle/>
          <a:p>
            <a:pPr algn="just"/>
            <a:r>
              <a:rPr lang="en-US" sz="2800" u="none" dirty="0">
                <a:solidFill>
                  <a:srgbClr val="00B050"/>
                </a:solidFill>
                <a:highlight>
                  <a:srgbClr val="00FFFF"/>
                </a:highlight>
                <a:latin typeface="Georgia" pitchFamily="18" charset="0"/>
              </a:rPr>
              <a:t>Non-Trivial</a:t>
            </a:r>
            <a:r>
              <a:rPr lang="en-US" sz="2800" u="none" dirty="0">
                <a:solidFill>
                  <a:srgbClr val="00B050"/>
                </a:solidFill>
                <a:latin typeface="Georgia" pitchFamily="18" charset="0"/>
              </a:rPr>
              <a:t> functional dependency</a:t>
            </a: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F3901E26-693B-193E-38CD-B586A313A3F2}"/>
              </a:ext>
            </a:extLst>
          </p:cNvPr>
          <p:cNvSpPr txBox="1">
            <a:spLocks/>
          </p:cNvSpPr>
          <p:nvPr/>
        </p:nvSpPr>
        <p:spPr>
          <a:xfrm>
            <a:off x="238084" y="214290"/>
            <a:ext cx="990731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Types of Functional Dependencies in DBMS</a:t>
            </a:r>
            <a:endParaRPr kumimoji="0" lang="en-I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Cambri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966739D-1E56-69FA-B828-A0EC51566B6C}"/>
              </a:ext>
            </a:extLst>
          </p:cNvPr>
          <p:cNvSpPr txBox="1"/>
          <p:nvPr/>
        </p:nvSpPr>
        <p:spPr>
          <a:xfrm>
            <a:off x="220500" y="1658015"/>
            <a:ext cx="114745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Georgia" panose="02040502050405020303" pitchFamily="18" charset="0"/>
              </a:rPr>
              <a:t>In Non-trivial functional dependency, the dependent is strictly </a:t>
            </a:r>
            <a:r>
              <a:rPr lang="en-US" sz="2400" b="1" dirty="0">
                <a:latin typeface="Georgia" panose="02040502050405020303" pitchFamily="18" charset="0"/>
              </a:rPr>
              <a:t>not a subset </a:t>
            </a:r>
            <a:r>
              <a:rPr lang="en-US" sz="2400" dirty="0">
                <a:latin typeface="Georgia" panose="02040502050405020303" pitchFamily="18" charset="0"/>
              </a:rPr>
              <a:t>of the determinant. </a:t>
            </a:r>
          </a:p>
          <a:p>
            <a:pPr algn="just"/>
            <a:endParaRPr lang="en-US" sz="2400" dirty="0">
              <a:latin typeface="Georgia" panose="02040502050405020303" pitchFamily="18" charset="0"/>
            </a:endParaRPr>
          </a:p>
          <a:p>
            <a:pPr algn="just"/>
            <a:r>
              <a:rPr lang="en-US" sz="2400" dirty="0">
                <a:latin typeface="Georgia" panose="02040502050405020303" pitchFamily="18" charset="0"/>
              </a:rPr>
              <a:t>i.e. If X → Y and Y is not a subset of X, then it is called Non-trivial functional dependency.</a:t>
            </a:r>
            <a:endParaRPr lang="en-IN" sz="2400" dirty="0">
              <a:latin typeface="Georgia" panose="02040502050405020303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775C6966-0404-434E-4FE9-D7CCD9F7F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3571875"/>
            <a:ext cx="6307547" cy="328612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203A6584-E3F7-D974-9F0C-98DCCA2D8C68}"/>
              </a:ext>
            </a:extLst>
          </p:cNvPr>
          <p:cNvSpPr txBox="1"/>
          <p:nvPr/>
        </p:nvSpPr>
        <p:spPr>
          <a:xfrm>
            <a:off x="6528047" y="3935419"/>
            <a:ext cx="516699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Georgia" panose="02040502050405020303" pitchFamily="18" charset="0"/>
              </a:rPr>
              <a:t>{ </a:t>
            </a:r>
            <a:r>
              <a:rPr lang="en-US" sz="2000" dirty="0" err="1">
                <a:latin typeface="Georgia" panose="02040502050405020303" pitchFamily="18" charset="0"/>
              </a:rPr>
              <a:t>Employee_Id</a:t>
            </a:r>
            <a:r>
              <a:rPr lang="en-US" sz="2000" dirty="0">
                <a:latin typeface="Georgia" panose="02040502050405020303" pitchFamily="18" charset="0"/>
              </a:rPr>
              <a:t> } → { Name } is a non-trivial functional dependency because </a:t>
            </a:r>
            <a:r>
              <a:rPr lang="en-US" sz="2000" b="1" dirty="0">
                <a:latin typeface="Georgia" panose="02040502050405020303" pitchFamily="18" charset="0"/>
              </a:rPr>
              <a:t>Name </a:t>
            </a:r>
            <a:r>
              <a:rPr lang="en-US" sz="2000" dirty="0">
                <a:latin typeface="Georgia" panose="02040502050405020303" pitchFamily="18" charset="0"/>
              </a:rPr>
              <a:t>(dependent) is not a subset of </a:t>
            </a:r>
            <a:r>
              <a:rPr lang="en-US" sz="2000" dirty="0" err="1">
                <a:latin typeface="Georgia" panose="02040502050405020303" pitchFamily="18" charset="0"/>
              </a:rPr>
              <a:t>Employee_Id</a:t>
            </a:r>
            <a:r>
              <a:rPr lang="en-US" sz="2000" dirty="0">
                <a:latin typeface="Georgia" panose="02040502050405020303" pitchFamily="18" charset="0"/>
              </a:rPr>
              <a:t>(determinant).</a:t>
            </a:r>
          </a:p>
          <a:p>
            <a:pPr algn="just"/>
            <a:endParaRPr lang="en-US" sz="2000" dirty="0">
              <a:latin typeface="Georgia" panose="02040502050405020303" pitchFamily="18" charset="0"/>
            </a:endParaRPr>
          </a:p>
          <a:p>
            <a:pPr algn="just"/>
            <a:r>
              <a:rPr lang="en-US" sz="2000" i="0" dirty="0">
                <a:effectLst/>
                <a:latin typeface="Georgia" panose="02040502050405020303" pitchFamily="18" charset="0"/>
              </a:rPr>
              <a:t>{ </a:t>
            </a:r>
            <a:r>
              <a:rPr lang="en-US" sz="2000" i="0" dirty="0" err="1">
                <a:effectLst/>
                <a:latin typeface="Georgia" panose="02040502050405020303" pitchFamily="18" charset="0"/>
              </a:rPr>
              <a:t>Employee_Id</a:t>
            </a:r>
            <a:r>
              <a:rPr lang="en-US" sz="2000" i="0" dirty="0">
                <a:effectLst/>
                <a:latin typeface="Georgia" panose="02040502050405020303" pitchFamily="18" charset="0"/>
              </a:rPr>
              <a:t>, Name } → { Age } is also a non-trivial functional dependency.</a:t>
            </a:r>
            <a:endParaRPr lang="en-IN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92289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78AE3B14-D74A-1A53-3812-3B9AE589DCD4}"/>
              </a:ext>
            </a:extLst>
          </p:cNvPr>
          <p:cNvSpPr txBox="1">
            <a:spLocks/>
          </p:cNvSpPr>
          <p:nvPr/>
        </p:nvSpPr>
        <p:spPr>
          <a:xfrm>
            <a:off x="238084" y="214290"/>
            <a:ext cx="990731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Types of Functional Dependencies in DBMS</a:t>
            </a:r>
            <a:endParaRPr kumimoji="0" lang="en-I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5504E1C-5A9C-E9A2-5567-860673FD6C13}"/>
              </a:ext>
            </a:extLst>
          </p:cNvPr>
          <p:cNvSpPr txBox="1"/>
          <p:nvPr/>
        </p:nvSpPr>
        <p:spPr>
          <a:xfrm>
            <a:off x="335360" y="1052736"/>
            <a:ext cx="10945216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SzPts val="2400"/>
            </a:pPr>
            <a:r>
              <a:rPr lang="en-US" sz="2800" b="0" i="0" u="none" strike="noStrike" baseline="0" dirty="0">
                <a:solidFill>
                  <a:srgbClr val="00B050"/>
                </a:solidFill>
                <a:highlight>
                  <a:srgbClr val="FFFF00"/>
                </a:highlight>
                <a:latin typeface="Georgia" panose="02040502050405020303" pitchFamily="18" charset="0"/>
              </a:rPr>
              <a:t>Multivalued </a:t>
            </a:r>
            <a:r>
              <a:rPr lang="en-US" sz="2800" b="0" i="0" u="none" strike="noStrike" baseline="0" dirty="0">
                <a:solidFill>
                  <a:srgbClr val="00B050"/>
                </a:solidFill>
                <a:latin typeface="Georgia" panose="02040502050405020303" pitchFamily="18" charset="0"/>
              </a:rPr>
              <a:t>functional dependency</a:t>
            </a:r>
          </a:p>
          <a:p>
            <a:pPr algn="just" rtl="0">
              <a:buSzPts val="2400"/>
            </a:pPr>
            <a:endParaRPr lang="en-US" sz="2400" dirty="0">
              <a:solidFill>
                <a:srgbClr val="00B050"/>
              </a:solidFill>
              <a:highlight>
                <a:srgbClr val="FFFF00"/>
              </a:highlight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Georgia" panose="02040502050405020303" pitchFamily="18" charset="0"/>
              </a:rPr>
              <a:t>In </a:t>
            </a:r>
            <a:r>
              <a:rPr lang="en-US" sz="2400" b="1" i="0" dirty="0">
                <a:effectLst/>
                <a:latin typeface="Georgia" panose="02040502050405020303" pitchFamily="18" charset="0"/>
              </a:rPr>
              <a:t>Multivalued functional dependency</a:t>
            </a:r>
            <a:r>
              <a:rPr lang="en-US" sz="2400" b="0" i="0" dirty="0">
                <a:effectLst/>
                <a:latin typeface="Georgia" panose="02040502050405020303" pitchFamily="18" charset="0"/>
              </a:rPr>
              <a:t>, attributes in the dependent set are </a:t>
            </a:r>
            <a:r>
              <a:rPr lang="en-US" sz="2400" b="1" i="0" dirty="0">
                <a:effectLst/>
                <a:latin typeface="Georgia" panose="02040502050405020303" pitchFamily="18" charset="0"/>
              </a:rPr>
              <a:t>not dependent</a:t>
            </a:r>
            <a:r>
              <a:rPr lang="en-US" sz="2400" b="0" i="0" dirty="0">
                <a:effectLst/>
                <a:latin typeface="Georgia" panose="02040502050405020303" pitchFamily="18" charset="0"/>
              </a:rPr>
              <a:t> on each other.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  <a:latin typeface="Georgia" panose="02040502050405020303" pitchFamily="18" charset="0"/>
              </a:rPr>
              <a:t>For example, </a:t>
            </a:r>
            <a:r>
              <a:rPr lang="en-US" sz="2400" b="1" i="0" dirty="0">
                <a:effectLst/>
                <a:latin typeface="Georgia" panose="02040502050405020303" pitchFamily="18" charset="0"/>
              </a:rPr>
              <a:t>X → { Y, Z }</a:t>
            </a:r>
            <a:r>
              <a:rPr lang="en-US" sz="2400" b="0" i="0" dirty="0">
                <a:effectLst/>
                <a:latin typeface="Georgia" panose="02040502050405020303" pitchFamily="18" charset="0"/>
              </a:rPr>
              <a:t>, if there exists is </a:t>
            </a:r>
            <a:r>
              <a:rPr lang="en-US" sz="2400" b="1" i="0" dirty="0">
                <a:effectLst/>
                <a:latin typeface="Georgia" panose="02040502050405020303" pitchFamily="18" charset="0"/>
              </a:rPr>
              <a:t>no functional dependency</a:t>
            </a:r>
            <a:r>
              <a:rPr lang="en-US" sz="2400" b="0" i="0" dirty="0">
                <a:effectLst/>
                <a:latin typeface="Georgia" panose="02040502050405020303" pitchFamily="18" charset="0"/>
              </a:rPr>
              <a:t> between </a:t>
            </a:r>
            <a:r>
              <a:rPr lang="en-US" sz="2400" b="1" i="0" dirty="0">
                <a:effectLst/>
                <a:latin typeface="Georgia" panose="02040502050405020303" pitchFamily="18" charset="0"/>
              </a:rPr>
              <a:t>Y and Z</a:t>
            </a:r>
            <a:r>
              <a:rPr lang="en-US" sz="2400" b="0" i="0" dirty="0">
                <a:effectLst/>
                <a:latin typeface="Georgia" panose="02040502050405020303" pitchFamily="18" charset="0"/>
              </a:rPr>
              <a:t>, then it is called as </a:t>
            </a:r>
            <a:r>
              <a:rPr lang="en-US" sz="2400" b="0" i="1" dirty="0">
                <a:effectLst/>
                <a:latin typeface="Georgia" panose="02040502050405020303" pitchFamily="18" charset="0"/>
              </a:rPr>
              <a:t>Multivalued functional dependency</a:t>
            </a:r>
            <a:r>
              <a:rPr lang="en-US" sz="2400" b="0" i="0" dirty="0">
                <a:effectLst/>
                <a:latin typeface="Georgia" panose="02040502050405020303" pitchFamily="18" charset="0"/>
              </a:rPr>
              <a:t>.</a:t>
            </a:r>
          </a:p>
          <a:p>
            <a:pPr algn="just" rtl="0">
              <a:buSzPts val="2400"/>
            </a:pPr>
            <a:endParaRPr lang="en-US" sz="2400" b="0" i="0" u="none" strike="noStrike" baseline="0" dirty="0">
              <a:solidFill>
                <a:srgbClr val="00B050"/>
              </a:solidFill>
              <a:highlight>
                <a:srgbClr val="FFFF00"/>
              </a:highlight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467704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74F4A46-534B-2A9B-8865-399F849CD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76" y="1556792"/>
            <a:ext cx="8439150" cy="3876675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77E5B302-3160-A2CD-9248-A3C2D47AC631}"/>
              </a:ext>
            </a:extLst>
          </p:cNvPr>
          <p:cNvSpPr txBox="1">
            <a:spLocks/>
          </p:cNvSpPr>
          <p:nvPr/>
        </p:nvSpPr>
        <p:spPr>
          <a:xfrm>
            <a:off x="238084" y="214290"/>
            <a:ext cx="990731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Types of Functional Dependencies in DBMS</a:t>
            </a:r>
            <a:endParaRPr kumimoji="0" lang="en-I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2C47713-1757-848D-2C84-BD7BAAD8F2B6}"/>
              </a:ext>
            </a:extLst>
          </p:cNvPr>
          <p:cNvSpPr txBox="1"/>
          <p:nvPr/>
        </p:nvSpPr>
        <p:spPr>
          <a:xfrm>
            <a:off x="474967" y="946269"/>
            <a:ext cx="6094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>
              <a:buSzPts val="2400"/>
            </a:pPr>
            <a:r>
              <a:rPr lang="en-US" sz="1800" b="0" i="0" u="none" strike="noStrike" baseline="0" dirty="0">
                <a:solidFill>
                  <a:srgbClr val="00B050"/>
                </a:solidFill>
                <a:highlight>
                  <a:srgbClr val="FFFF00"/>
                </a:highlight>
                <a:latin typeface="Georgia" panose="02040502050405020303" pitchFamily="18" charset="0"/>
              </a:rPr>
              <a:t>Multivalued functional dependency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50D92760-9C7C-4147-70EB-7EF9C7307DE5}"/>
              </a:ext>
            </a:extLst>
          </p:cNvPr>
          <p:cNvSpPr txBox="1"/>
          <p:nvPr/>
        </p:nvSpPr>
        <p:spPr>
          <a:xfrm>
            <a:off x="623392" y="5577866"/>
            <a:ext cx="112332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Georgia" panose="02040502050405020303" pitchFamily="18" charset="0"/>
              </a:rPr>
              <a:t>{ </a:t>
            </a:r>
            <a:r>
              <a:rPr lang="en-US" sz="2000" dirty="0" err="1">
                <a:latin typeface="Georgia" panose="02040502050405020303" pitchFamily="18" charset="0"/>
              </a:rPr>
              <a:t>Employee_Id</a:t>
            </a:r>
            <a:r>
              <a:rPr lang="en-US" sz="2000" dirty="0">
                <a:latin typeface="Georgia" panose="02040502050405020303" pitchFamily="18" charset="0"/>
              </a:rPr>
              <a:t> } → { Name, Age } is a Multivalued functional dependency, since the dependent attributes Name, Age are not functionally dependent (i.e. Name → Age or Age → Name doesn’t exist </a:t>
            </a:r>
            <a:endParaRPr lang="en-IN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079227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4A62D88-3FE0-5607-4449-695C981A1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6935" y="1268760"/>
            <a:ext cx="11669704" cy="4801314"/>
          </a:xfrm>
        </p:spPr>
        <p:txBody>
          <a:bodyPr/>
          <a:lstStyle/>
          <a:p>
            <a:pPr marR="0" lvl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uLnTx/>
                <a:uFillTx/>
                <a:latin typeface="Georgia" panose="02040502050405020303" pitchFamily="18" charset="0"/>
                <a:ea typeface="+mn-ea"/>
                <a:cs typeface="Calibri"/>
              </a:rPr>
              <a:t>Transitive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Calibri"/>
              </a:rPr>
              <a:t> functional dependency</a:t>
            </a:r>
          </a:p>
          <a:p>
            <a:pPr marR="0" lvl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Consider two functional dependencies </a:t>
            </a:r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A → B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and </a:t>
            </a:r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B → C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then according to the transitivity axiom </a:t>
            </a:r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A → C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must also exist. This is called a transitive functional dependency.</a:t>
            </a:r>
          </a:p>
          <a:p>
            <a:pPr marR="0" lvl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i.e. dependent is </a:t>
            </a:r>
            <a:r>
              <a:rPr lang="en-US" sz="24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indirectly dependent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on determinant in Transitive functional dependency. </a:t>
            </a:r>
          </a:p>
          <a:p>
            <a:pPr marR="0" lvl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R="0" lvl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IN" sz="24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Georgia" panose="02040502050405020303" pitchFamily="18" charset="0"/>
              <a:ea typeface="+mn-ea"/>
              <a:cs typeface="Calibri"/>
            </a:endParaRPr>
          </a:p>
          <a:p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71FB7D68-0F60-DFF2-33ED-A8675483B2AC}"/>
              </a:ext>
            </a:extLst>
          </p:cNvPr>
          <p:cNvSpPr txBox="1">
            <a:spLocks/>
          </p:cNvSpPr>
          <p:nvPr/>
        </p:nvSpPr>
        <p:spPr>
          <a:xfrm>
            <a:off x="238084" y="214290"/>
            <a:ext cx="990731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Types of Functional Dependencies in DBMS</a:t>
            </a:r>
            <a:endParaRPr kumimoji="0" lang="en-I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245006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286334C7-D083-7844-1AEF-E0BCA0B51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84" y="1595371"/>
            <a:ext cx="8410575" cy="3886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xmlns="" id="{5C6E0DB4-CB88-F726-820B-0B2AFA929347}"/>
              </a:ext>
            </a:extLst>
          </p:cNvPr>
          <p:cNvSpPr txBox="1">
            <a:spLocks/>
          </p:cNvSpPr>
          <p:nvPr/>
        </p:nvSpPr>
        <p:spPr>
          <a:xfrm>
            <a:off x="238084" y="214290"/>
            <a:ext cx="9907314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Types of Functional Dependencies in DBMS</a:t>
            </a:r>
            <a:endParaRPr kumimoji="0" lang="en-I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Cambria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E6839A9-D980-4483-B851-DC4CD091B97F}"/>
              </a:ext>
            </a:extLst>
          </p:cNvPr>
          <p:cNvSpPr txBox="1"/>
          <p:nvPr/>
        </p:nvSpPr>
        <p:spPr>
          <a:xfrm>
            <a:off x="335360" y="955728"/>
            <a:ext cx="6094378" cy="457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00FF"/>
                </a:highlight>
                <a:uLnTx/>
                <a:uFillTx/>
                <a:latin typeface="Georgia" panose="02040502050405020303" pitchFamily="18" charset="0"/>
                <a:ea typeface="+mn-ea"/>
                <a:cs typeface="Calibri"/>
              </a:rPr>
              <a:t>Transitive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Calibri"/>
              </a:rPr>
              <a:t> functional dependency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6AC2F10-5473-B908-ED75-7B1036BED40A}"/>
              </a:ext>
            </a:extLst>
          </p:cNvPr>
          <p:cNvSpPr txBox="1"/>
          <p:nvPr/>
        </p:nvSpPr>
        <p:spPr>
          <a:xfrm>
            <a:off x="119336" y="5628599"/>
            <a:ext cx="1166529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Georgia" panose="02040502050405020303" pitchFamily="18" charset="0"/>
              </a:rPr>
              <a:t>{ </a:t>
            </a:r>
            <a:r>
              <a:rPr lang="en-US" sz="2000" dirty="0" err="1">
                <a:latin typeface="Georgia" panose="02040502050405020303" pitchFamily="18" charset="0"/>
              </a:rPr>
              <a:t>Employee_Id</a:t>
            </a:r>
            <a:r>
              <a:rPr lang="en-US" sz="2000" dirty="0">
                <a:latin typeface="Georgia" panose="02040502050405020303" pitchFamily="18" charset="0"/>
              </a:rPr>
              <a:t> → Department } and { Department → Street Number } holds true. </a:t>
            </a:r>
          </a:p>
          <a:p>
            <a:pPr algn="just"/>
            <a:r>
              <a:rPr lang="en-US" sz="2000" dirty="0">
                <a:latin typeface="Georgia" panose="02040502050405020303" pitchFamily="18" charset="0"/>
              </a:rPr>
              <a:t>Hence, according to the axiom of transitivity, { </a:t>
            </a:r>
            <a:r>
              <a:rPr lang="en-US" sz="2000" dirty="0" err="1">
                <a:latin typeface="Georgia" panose="02040502050405020303" pitchFamily="18" charset="0"/>
              </a:rPr>
              <a:t>Employee_Id</a:t>
            </a:r>
            <a:r>
              <a:rPr lang="en-US" sz="2000" dirty="0">
                <a:latin typeface="Georgia" panose="02040502050405020303" pitchFamily="18" charset="0"/>
              </a:rPr>
              <a:t> → Street Number } is a valid functional dependency.</a:t>
            </a:r>
            <a:endParaRPr lang="en-IN" sz="2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06924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7FE0041-606F-D456-A8FB-94CCEF3AA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368" y="764704"/>
            <a:ext cx="11377264" cy="3323987"/>
          </a:xfrm>
        </p:spPr>
        <p:txBody>
          <a:bodyPr/>
          <a:lstStyle/>
          <a:p>
            <a:r>
              <a:rPr lang="en-US" sz="2400" b="1" u="none" dirty="0">
                <a:solidFill>
                  <a:schemeClr val="tx1"/>
                </a:solidFill>
                <a:highlight>
                  <a:srgbClr val="FFFF00"/>
                </a:highlight>
                <a:latin typeface="Georgia" panose="02040502050405020303" pitchFamily="18" charset="0"/>
              </a:rPr>
              <a:t>Trivial Functional Dependencies</a:t>
            </a:r>
          </a:p>
          <a:p>
            <a:endParaRPr lang="en-US" sz="2400" b="1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 A functional dependency is </a:t>
            </a:r>
            <a:r>
              <a:rPr lang="en-US" sz="2400" u="none" dirty="0">
                <a:solidFill>
                  <a:schemeClr val="tx1"/>
                </a:solidFill>
                <a:highlight>
                  <a:srgbClr val="FFFF00"/>
                </a:highlight>
                <a:latin typeface="Georgia" panose="02040502050405020303" pitchFamily="18" charset="0"/>
              </a:rPr>
              <a:t>trivial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if it is satisfied by all instances of a relation.</a:t>
            </a:r>
          </a:p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</a:p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Example:</a:t>
            </a:r>
          </a:p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 	ID, name →ID</a:t>
            </a:r>
          </a:p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 	name →name</a:t>
            </a:r>
          </a:p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</a:p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In general, α → β is trivial if β ⊆ α</a:t>
            </a:r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4892397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F6B763-D79F-6627-965A-8B328D2D3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548680"/>
            <a:ext cx="5789929" cy="360040"/>
          </a:xfrm>
        </p:spPr>
        <p:txBody>
          <a:bodyPr/>
          <a:lstStyle/>
          <a:p>
            <a:r>
              <a:rPr lang="en-US" sz="2400" dirty="0">
                <a:latin typeface="Georgia" panose="02040502050405020303" pitchFamily="18" charset="0"/>
              </a:rPr>
              <a:t>Takeaway:</a:t>
            </a:r>
            <a:r>
              <a:rPr lang="en-US" sz="2000" dirty="0">
                <a:latin typeface="Georgia" panose="02040502050405020303" pitchFamily="18" charset="0"/>
              </a:rPr>
              <a:t/>
            </a:r>
            <a:br>
              <a:rPr lang="en-US" sz="2000" dirty="0">
                <a:latin typeface="Georgia" panose="02040502050405020303" pitchFamily="18" charset="0"/>
              </a:rPr>
            </a:b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38EA0F24-143B-0B30-4D00-7EBEE3CEF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368" y="1412776"/>
            <a:ext cx="11305256" cy="1107996"/>
          </a:xfrm>
        </p:spPr>
        <p:txBody>
          <a:bodyPr/>
          <a:lstStyle/>
          <a:p>
            <a:pPr algn="just"/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The process of Normalization starts with identifying the candidate keys in the relation. Without functional dependency, it's impossible to find candidate keys and normalize the database.</a:t>
            </a:r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12851996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FA24BEF-CB6B-7377-CCEF-72047684C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32" y="404664"/>
            <a:ext cx="9446260" cy="430887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Normal Forms Based on Primary Keys </a:t>
            </a:r>
            <a:endParaRPr lang="en-IN" sz="2800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8258D72-BE1F-82AB-B2EF-72B57B5281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1257" y="1484784"/>
            <a:ext cx="9446260" cy="4062651"/>
          </a:xfrm>
        </p:spPr>
        <p:txBody>
          <a:bodyPr/>
          <a:lstStyle/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Georgia" panose="02040502050405020303" pitchFamily="18" charset="0"/>
                <a:cs typeface="+mn-cs"/>
              </a:rPr>
              <a:t>Normalization of Relations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Georgia" panose="02040502050405020303" pitchFamily="18" charset="0"/>
                <a:cs typeface="+mn-cs"/>
              </a:rPr>
              <a:t>Practical Use of Normal Forms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Georgia" panose="02040502050405020303" pitchFamily="18" charset="0"/>
                <a:cs typeface="+mn-cs"/>
              </a:rPr>
              <a:t>Definitions of Keys and Attributes Participating in Keys 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Georgia" panose="02040502050405020303" pitchFamily="18" charset="0"/>
                <a:cs typeface="+mn-cs"/>
              </a:rPr>
              <a:t>First Normal Form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Georgia" panose="02040502050405020303" pitchFamily="18" charset="0"/>
                <a:cs typeface="+mn-cs"/>
              </a:rPr>
              <a:t>Second Normal Form</a:t>
            </a:r>
          </a:p>
          <a:p>
            <a:pPr marL="342900" marR="0" lvl="0" indent="-342900" algn="just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990033"/>
              </a:buClr>
              <a:buSzPct val="60000"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Georgia" panose="02040502050405020303" pitchFamily="18" charset="0"/>
                <a:cs typeface="+mn-cs"/>
              </a:rPr>
              <a:t>Third Normal Form</a:t>
            </a:r>
          </a:p>
          <a:p>
            <a:endParaRPr lang="en-IN" sz="24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4253437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BAC5A66-3A23-A585-7318-0056C861B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352" y="702887"/>
            <a:ext cx="11305256" cy="3724033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b="1" u="none" dirty="0">
                <a:latin typeface="Georgia" panose="02040502050405020303" pitchFamily="18" charset="0"/>
              </a:rPr>
              <a:t>Unnormalized form (UNF): </a:t>
            </a:r>
            <a:r>
              <a:rPr lang="en-US" sz="2200" u="none" dirty="0">
                <a:solidFill>
                  <a:srgbClr val="0000FF"/>
                </a:solidFill>
                <a:latin typeface="Georgia" panose="02040502050405020303" pitchFamily="18" charset="0"/>
              </a:rPr>
              <a:t>A table that contains one or more repeating groups. </a:t>
            </a:r>
            <a:r>
              <a:rPr lang="en-US" sz="2200" b="0" i="0" u="none" dirty="0">
                <a:solidFill>
                  <a:srgbClr val="0000FF"/>
                </a:solidFill>
                <a:effectLst/>
                <a:latin typeface="Georgia" panose="02040502050405020303" pitchFamily="18" charset="0"/>
              </a:rPr>
              <a:t>Also known as non-first normal form (NF2).</a:t>
            </a:r>
          </a:p>
          <a:p>
            <a:pPr algn="just">
              <a:lnSpc>
                <a:spcPct val="150000"/>
              </a:lnSpc>
            </a:pPr>
            <a:r>
              <a:rPr lang="en-US" sz="2400" b="0" i="0" u="none" dirty="0">
                <a:solidFill>
                  <a:srgbClr val="080808"/>
                </a:solidFill>
                <a:effectLst/>
                <a:latin typeface="Georgia" panose="02040502050405020303" pitchFamily="18" charset="0"/>
              </a:rPr>
              <a:t>An </a:t>
            </a:r>
            <a:r>
              <a:rPr lang="en-US" sz="2400" b="1" i="0" u="none" dirty="0">
                <a:solidFill>
                  <a:srgbClr val="0070C0"/>
                </a:solidFill>
                <a:effectLst/>
                <a:latin typeface="Georgia" panose="02040502050405020303" pitchFamily="18" charset="0"/>
              </a:rPr>
              <a:t>Unnormalized Form</a:t>
            </a:r>
            <a:r>
              <a:rPr lang="en-US" sz="2400" b="0" i="0" u="none" dirty="0">
                <a:solidFill>
                  <a:srgbClr val="0070C0"/>
                </a:solidFill>
                <a:effectLst/>
                <a:latin typeface="Georgia" panose="02040502050405020303" pitchFamily="18" charset="0"/>
              </a:rPr>
              <a:t> </a:t>
            </a:r>
            <a:r>
              <a:rPr lang="en-US" sz="2200" b="0" i="0" u="none" dirty="0">
                <a:solidFill>
                  <a:srgbClr val="080808"/>
                </a:solidFill>
                <a:effectLst/>
                <a:latin typeface="Georgia" panose="02040502050405020303" pitchFamily="18" charset="0"/>
              </a:rPr>
              <a:t>describes a database that </a:t>
            </a:r>
            <a:r>
              <a:rPr lang="en-US" sz="2200" b="1" i="0" u="none" dirty="0">
                <a:solidFill>
                  <a:srgbClr val="C00000"/>
                </a:solidFill>
                <a:effectLst/>
                <a:latin typeface="Georgia" panose="02040502050405020303" pitchFamily="18" charset="0"/>
              </a:rPr>
              <a:t>doesn't meet</a:t>
            </a:r>
            <a:r>
              <a:rPr lang="en-US" sz="2200" b="0" i="0" u="none" dirty="0">
                <a:solidFill>
                  <a:srgbClr val="080808"/>
                </a:solidFill>
                <a:effectLst/>
                <a:latin typeface="Georgia" panose="02040502050405020303" pitchFamily="18" charset="0"/>
              </a:rPr>
              <a:t> any of the normal form criteria. </a:t>
            </a:r>
            <a:r>
              <a:rPr lang="en-US" sz="2200" i="0" u="none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Georgia" panose="02040502050405020303" pitchFamily="18" charset="0"/>
              </a:rPr>
              <a:t>NoSQL databases </a:t>
            </a:r>
            <a:r>
              <a:rPr lang="en-US" sz="2000" i="0" u="none" dirty="0">
                <a:solidFill>
                  <a:srgbClr val="000000"/>
                </a:solidFill>
                <a:effectLst/>
                <a:highlight>
                  <a:srgbClr val="00FFFF"/>
                </a:highlight>
                <a:latin typeface="Georgia" panose="02040502050405020303" pitchFamily="18" charset="0"/>
              </a:rPr>
              <a:t>(</a:t>
            </a:r>
            <a:r>
              <a:rPr lang="en-IN" sz="2000" b="0" i="0" u="none" dirty="0">
                <a:solidFill>
                  <a:schemeClr val="accent2"/>
                </a:solidFill>
                <a:effectLst/>
                <a:latin typeface="Georgia" panose="02040502050405020303" pitchFamily="18" charset="0"/>
              </a:rPr>
              <a:t>MongoDB, Apache etc.) </a:t>
            </a:r>
            <a:r>
              <a:rPr lang="en-US" sz="2200" b="0" i="0" u="non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are based on the principles of the </a:t>
            </a:r>
            <a:r>
              <a:rPr lang="en-US" sz="2200" b="0" i="0" u="none" dirty="0">
                <a:solidFill>
                  <a:srgbClr val="0070C0"/>
                </a:solidFill>
                <a:effectLst/>
                <a:latin typeface="Georgia" panose="02040502050405020303" pitchFamily="18" charset="0"/>
              </a:rPr>
              <a:t>unnormalized relational model.</a:t>
            </a:r>
            <a:endParaRPr lang="en-US" sz="2200" u="none" dirty="0">
              <a:solidFill>
                <a:srgbClr val="0070C0"/>
              </a:solidFill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b="1" u="none" dirty="0">
                <a:latin typeface="Georgia" panose="02040502050405020303" pitchFamily="18" charset="0"/>
              </a:rPr>
              <a:t>Repeating group: </a:t>
            </a:r>
            <a:r>
              <a:rPr lang="en-US" sz="2200" u="none" dirty="0">
                <a:solidFill>
                  <a:srgbClr val="B40EB8"/>
                </a:solidFill>
                <a:latin typeface="Georgia" panose="02040502050405020303" pitchFamily="18" charset="0"/>
              </a:rPr>
              <a:t>an attribute or group of attributes within a table that occurs with multiple values for a single occurrence of the nominated key attributes of that table. </a:t>
            </a:r>
            <a:endParaRPr lang="en-IN" sz="2200" u="none" dirty="0">
              <a:solidFill>
                <a:srgbClr val="B40EB8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D8782986-03ED-D8BD-DABA-F9B2DA0EB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432" y="89605"/>
            <a:ext cx="9446260" cy="430887"/>
          </a:xfrm>
        </p:spPr>
        <p:txBody>
          <a:bodyPr/>
          <a:lstStyle/>
          <a:p>
            <a:pPr algn="ctr"/>
            <a:r>
              <a:rPr lang="en-US" sz="2800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Normal Forms Based on Primary Keys </a:t>
            </a:r>
            <a:endParaRPr lang="en-IN" sz="2800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FB8747A-61C6-9727-38F3-BF28D7F61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36" y="4359064"/>
            <a:ext cx="3867150" cy="24927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27E7ED2-F365-5370-3950-D58FD3972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9738" y="4466799"/>
            <a:ext cx="3867150" cy="232649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FA3D996F-21A3-3203-1695-DD0637E336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0140" y="4426920"/>
            <a:ext cx="2581275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437082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xmlns="" id="{A6F5CFFD-99C7-877B-96FA-C4896B3884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217085"/>
            <a:ext cx="11521280" cy="4601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US" altLang="en-US" sz="2200" dirty="0">
              <a:latin typeface="Georgia" panose="02040502050405020303" pitchFamily="18" charset="0"/>
            </a:endParaRPr>
          </a:p>
          <a:p>
            <a:endParaRPr lang="en-US" altLang="en-US" sz="2200" dirty="0">
              <a:latin typeface="Georgia" panose="02040502050405020303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Georgia" panose="02040502050405020303" pitchFamily="18" charset="0"/>
              </a:rPr>
              <a:t>Normalization is the process of effectively organizing the data in the database.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Georgia" panose="02040502050405020303" pitchFamily="18" charset="0"/>
              </a:rPr>
              <a:t>    Normalization is a </a:t>
            </a:r>
            <a:r>
              <a:rPr lang="en-US" altLang="en-US" sz="2200" i="1" dirty="0">
                <a:solidFill>
                  <a:srgbClr val="2635A0"/>
                </a:solidFill>
                <a:latin typeface="Georgia" panose="02040502050405020303" pitchFamily="18" charset="0"/>
              </a:rPr>
              <a:t>database design technique </a:t>
            </a:r>
            <a:r>
              <a:rPr lang="en-US" altLang="en-US" sz="2200" dirty="0">
                <a:latin typeface="Georgia" panose="02040502050405020303" pitchFamily="18" charset="0"/>
              </a:rPr>
              <a:t>that </a:t>
            </a:r>
            <a:r>
              <a:rPr lang="en-US" altLang="en-US" sz="2200" b="1" dirty="0">
                <a:solidFill>
                  <a:srgbClr val="00B050"/>
                </a:solidFill>
                <a:latin typeface="Georgia" panose="02040502050405020303" pitchFamily="18" charset="0"/>
              </a:rPr>
              <a:t>reduces data redundancy </a:t>
            </a:r>
            <a:r>
              <a:rPr lang="en-US" altLang="en-US" sz="2200" dirty="0">
                <a:latin typeface="Georgia" panose="02040502050405020303" pitchFamily="18" charset="0"/>
              </a:rPr>
              <a:t>from a relation or set of relations and </a:t>
            </a:r>
            <a:r>
              <a:rPr lang="en-US" altLang="en-US" sz="2200" dirty="0">
                <a:solidFill>
                  <a:srgbClr val="C00000"/>
                </a:solidFill>
                <a:latin typeface="Georgia" panose="02040502050405020303" pitchFamily="18" charset="0"/>
              </a:rPr>
              <a:t>eliminates</a:t>
            </a:r>
            <a:r>
              <a:rPr lang="en-US" altLang="en-US" sz="2200" dirty="0">
                <a:latin typeface="Georgia" panose="02040502050405020303" pitchFamily="18" charset="0"/>
              </a:rPr>
              <a:t> undesirable characteristics like </a:t>
            </a:r>
            <a:r>
              <a:rPr lang="en-US" altLang="en-US" sz="2200" b="1" dirty="0">
                <a:solidFill>
                  <a:srgbClr val="C00000"/>
                </a:solidFill>
                <a:latin typeface="Georgia" panose="02040502050405020303" pitchFamily="18" charset="0"/>
              </a:rPr>
              <a:t>Insertion, Update and Deletion Anomalies.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Georgia" panose="02040502050405020303" pitchFamily="18" charset="0"/>
              </a:rPr>
              <a:t> Normalization divides the larger table into the smaller tables and links them using relationship.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Georgia" panose="02040502050405020303" pitchFamily="18" charset="0"/>
              </a:rPr>
              <a:t> </a:t>
            </a:r>
            <a:r>
              <a:rPr lang="en-US" sz="2200" b="0" i="0" dirty="0">
                <a:effectLst/>
                <a:latin typeface="Georgia" panose="02040502050405020303" pitchFamily="18" charset="0"/>
              </a:rPr>
              <a:t>The purpose of Normalization in SQL is to eliminate redundant (repetitive) data and ensure data is stored logically.</a:t>
            </a:r>
            <a:endParaRPr lang="en-US" altLang="en-US" sz="2200" dirty="0">
              <a:latin typeface="Georgia" panose="02040502050405020303" pitchFamily="18" charset="0"/>
            </a:endParaRPr>
          </a:p>
        </p:txBody>
      </p:sp>
      <p:pic>
        <p:nvPicPr>
          <p:cNvPr id="28675" name="Picture 2" descr="DBMS Normalization">
            <a:extLst>
              <a:ext uri="{FF2B5EF4-FFF2-40B4-BE49-F238E27FC236}">
                <a16:creationId xmlns:a16="http://schemas.microsoft.com/office/drawing/2014/main" xmlns="" id="{F81BA622-451B-CBE8-F269-ED00D44A62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943872" y="4365104"/>
            <a:ext cx="5038725" cy="2686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6" name="Rectangle 4">
            <a:extLst>
              <a:ext uri="{FF2B5EF4-FFF2-40B4-BE49-F238E27FC236}">
                <a16:creationId xmlns:a16="http://schemas.microsoft.com/office/drawing/2014/main" xmlns="" id="{E7B84C91-0BCD-F989-A599-B26E17D56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352" y="5384963"/>
            <a:ext cx="43204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sz="1800" dirty="0">
                <a:solidFill>
                  <a:srgbClr val="610B38"/>
                </a:solidFill>
                <a:latin typeface="Georgia" panose="02040502050405020303" pitchFamily="18" charset="0"/>
              </a:rPr>
              <a:t>Types of Normal Forms</a:t>
            </a:r>
          </a:p>
          <a:p>
            <a:r>
              <a:rPr lang="en-US" altLang="en-US" sz="1800" dirty="0">
                <a:solidFill>
                  <a:srgbClr val="333333"/>
                </a:solidFill>
                <a:latin typeface="Georgia" panose="02040502050405020303" pitchFamily="18" charset="0"/>
              </a:rPr>
              <a:t>There are the four types of normal forms</a:t>
            </a:r>
            <a:endParaRPr lang="en-US" altLang="en-US" sz="1800" dirty="0">
              <a:latin typeface="Georgia" panose="02040502050405020303" pitchFamily="18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xmlns="" id="{CFEEE704-1556-6472-9D09-D1E77FAF594A}"/>
              </a:ext>
            </a:extLst>
          </p:cNvPr>
          <p:cNvSpPr txBox="1">
            <a:spLocks/>
          </p:cNvSpPr>
          <p:nvPr/>
        </p:nvSpPr>
        <p:spPr>
          <a:xfrm>
            <a:off x="407368" y="116632"/>
            <a:ext cx="10515600" cy="471586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en-US" sz="2400" b="1" kern="0" dirty="0">
                <a:solidFill>
                  <a:sysClr val="windowText" lastClr="000000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Introduction to Normalization</a:t>
            </a:r>
            <a:r>
              <a:rPr lang="en-US" altLang="en-US" sz="2400" kern="0" dirty="0">
                <a:solidFill>
                  <a:sysClr val="windowText" lastClr="000000"/>
                </a:solidFill>
                <a:latin typeface="Georgia" panose="02040502050405020303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xmlns="" id="{D2188EE5-0280-F1A6-3D0A-5C20C3C6E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352" y="188640"/>
            <a:ext cx="10515600" cy="471586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latin typeface="Georgia" panose="02040502050405020303" pitchFamily="18" charset="0"/>
                <a:cs typeface="Times New Roman" panose="02020603050405020304" pitchFamily="18" charset="0"/>
              </a:rPr>
              <a:t>Introduction to Normalization</a:t>
            </a:r>
            <a:r>
              <a:rPr lang="en-US" altLang="en-US" sz="2400" dirty="0">
                <a:latin typeface="Georgia" panose="02040502050405020303" pitchFamily="18" charset="0"/>
              </a:rPr>
              <a:t> 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xmlns="" id="{E0E61606-2A78-359B-927F-D49D7A80D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44" y="802987"/>
            <a:ext cx="11593288" cy="5865118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b="1" dirty="0">
                <a:latin typeface="Georgia" panose="02040502050405020303" pitchFamily="18" charset="0"/>
                <a:cs typeface="Times New Roman" panose="02020603050405020304" pitchFamily="18" charset="0"/>
              </a:rPr>
              <a:t>Normalization</a:t>
            </a: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: is the process of decomposing unsatisfactory "bad" relations by breaking up their attributes into smaller relations.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b="1" dirty="0">
                <a:latin typeface="Georgia" panose="02040502050405020303" pitchFamily="18" charset="0"/>
                <a:cs typeface="Times New Roman" panose="02020603050405020304" pitchFamily="18" charset="0"/>
              </a:rPr>
              <a:t>Normal form</a:t>
            </a: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: Condition using keys and FDs of a relation to certify whether a relation schema is in a particular normal form.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2NF, 3NF, BCNF based on keys and FDs of a relation schema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4NF based on keys, multi-valued dependencies</a:t>
            </a:r>
          </a:p>
          <a:p>
            <a:pPr marL="87313" lvl="1" indent="0" algn="just" eaLnBrk="1" hangingPunct="1">
              <a:lnSpc>
                <a:spcPct val="150000"/>
              </a:lnSpc>
            </a:pP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 The inventor of the relational model </a:t>
            </a:r>
            <a:r>
              <a:rPr lang="en-US" altLang="en-US" sz="2400" b="1" dirty="0">
                <a:latin typeface="Georgia" panose="02040502050405020303" pitchFamily="18" charset="0"/>
                <a:cs typeface="Times New Roman" panose="02020603050405020304" pitchFamily="18" charset="0"/>
              </a:rPr>
              <a:t>Edgar Codd </a:t>
            </a: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proposed the theory of </a:t>
            </a:r>
            <a:r>
              <a:rPr lang="en-US" altLang="en-US" sz="2400" b="1" dirty="0">
                <a:latin typeface="Georgia" panose="02040502050405020303" pitchFamily="18" charset="0"/>
                <a:cs typeface="Times New Roman" panose="02020603050405020304" pitchFamily="18" charset="0"/>
              </a:rPr>
              <a:t>normalization of data </a:t>
            </a: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with the introduction of the </a:t>
            </a:r>
            <a:r>
              <a:rPr lang="en-US" altLang="en-US" sz="2400" b="1" dirty="0">
                <a:latin typeface="Georgia" panose="02040502050405020303" pitchFamily="18" charset="0"/>
                <a:cs typeface="Times New Roman" panose="02020603050405020304" pitchFamily="18" charset="0"/>
              </a:rPr>
              <a:t>First Normal Form</a:t>
            </a: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, and he continued to extend theory with Second and Third Normal Form. Later he joined </a:t>
            </a:r>
            <a:r>
              <a:rPr lang="en-US" altLang="en-US" sz="2400" b="1" dirty="0">
                <a:latin typeface="Georgia" panose="02040502050405020303" pitchFamily="18" charset="0"/>
                <a:cs typeface="Times New Roman" panose="02020603050405020304" pitchFamily="18" charset="0"/>
              </a:rPr>
              <a:t>Raymond F. Boyce </a:t>
            </a: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to develop the theory of </a:t>
            </a:r>
            <a:r>
              <a:rPr lang="en-US" altLang="en-US" sz="2200" b="1" dirty="0">
                <a:latin typeface="Georgia" panose="02040502050405020303" pitchFamily="18" charset="0"/>
                <a:cs typeface="Times New Roman" panose="02020603050405020304" pitchFamily="18" charset="0"/>
              </a:rPr>
              <a:t>Boyce-Codd Normal Form</a:t>
            </a:r>
            <a:r>
              <a:rPr lang="en-US" altLang="en-US" sz="2200" dirty="0">
                <a:latin typeface="Georgia" panose="02040502050405020303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99F9AD67-9E6A-FA13-AB06-85C86EF71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232" y="549711"/>
            <a:ext cx="6129800" cy="620589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The purpose of Normalization in SQL is to eliminate redundant (repetitive) data and ensure data is </a:t>
            </a: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+mn-ea"/>
                <a:cs typeface="+mn-cs"/>
              </a:rPr>
              <a:t>stored logically.</a:t>
            </a:r>
          </a:p>
          <a:p>
            <a:pPr algn="just">
              <a:lnSpc>
                <a:spcPct val="150000"/>
              </a:lnSpc>
            </a:pPr>
            <a:r>
              <a:rPr lang="en-US" sz="2200" dirty="0">
                <a:solidFill>
                  <a:prstClr val="black"/>
                </a:solidFill>
                <a:latin typeface="Georgia" panose="02040502050405020303" pitchFamily="18" charset="0"/>
              </a:rPr>
              <a:t> </a:t>
            </a:r>
            <a:r>
              <a:rPr lang="en-US" sz="1800" b="1" dirty="0">
                <a:latin typeface="Georgia" panose="02040502050405020303" pitchFamily="18" charset="0"/>
              </a:rPr>
              <a:t>Normalization</a:t>
            </a:r>
            <a:r>
              <a:rPr lang="en-US" sz="1800" dirty="0">
                <a:latin typeface="Georgia" panose="02040502050405020303" pitchFamily="18" charset="0"/>
              </a:rPr>
              <a:t> in relational databases is about logically organizing data to reduce redundancy, ensure consistency, and avoid anomalies (such as update anomalies, delete anomalies). </a:t>
            </a:r>
            <a:r>
              <a:rPr lang="en-US" sz="1800" b="1" dirty="0">
                <a:latin typeface="Georgia" panose="02040502050405020303" pitchFamily="18" charset="0"/>
              </a:rPr>
              <a:t>Physically</a:t>
            </a:r>
            <a:r>
              <a:rPr lang="en-US" sz="1800" dirty="0">
                <a:latin typeface="Georgia" panose="02040502050405020303" pitchFamily="18" charset="0"/>
              </a:rPr>
              <a:t>, data is still stored on disk in tables, rows, and columns. The database management system (DBMS) will </a:t>
            </a:r>
            <a:r>
              <a:rPr lang="en-US" sz="1800" b="1" dirty="0">
                <a:latin typeface="Georgia" panose="02040502050405020303" pitchFamily="18" charset="0"/>
              </a:rPr>
              <a:t>store the data physically</a:t>
            </a:r>
            <a:r>
              <a:rPr lang="en-US" sz="1800" dirty="0">
                <a:latin typeface="Georgia" panose="02040502050405020303" pitchFamily="18" charset="0"/>
              </a:rPr>
              <a:t> (on disks or in memory) in a way that optimizes access, indexing, and retrieval (using techniques like </a:t>
            </a:r>
            <a:r>
              <a:rPr lang="en-US" sz="1800" b="1" dirty="0">
                <a:latin typeface="Georgia" panose="02040502050405020303" pitchFamily="18" charset="0"/>
              </a:rPr>
              <a:t>indexing</a:t>
            </a:r>
            <a:r>
              <a:rPr lang="en-US" sz="1800" dirty="0">
                <a:latin typeface="Georgia" panose="02040502050405020303" pitchFamily="18" charset="0"/>
              </a:rPr>
              <a:t> or </a:t>
            </a:r>
            <a:r>
              <a:rPr lang="en-US" sz="1800" b="1" dirty="0">
                <a:latin typeface="Georgia" panose="02040502050405020303" pitchFamily="18" charset="0"/>
              </a:rPr>
              <a:t>partitioning</a:t>
            </a:r>
            <a:r>
              <a:rPr lang="en-US" sz="1800" dirty="0">
                <a:latin typeface="Georgia" panose="02040502050405020303" pitchFamily="18" charset="0"/>
              </a:rPr>
              <a:t>). However, </a:t>
            </a:r>
            <a:r>
              <a:rPr lang="en-US" sz="1800" b="1" dirty="0">
                <a:latin typeface="Georgia" panose="02040502050405020303" pitchFamily="18" charset="0"/>
              </a:rPr>
              <a:t>normalization</a:t>
            </a:r>
            <a:r>
              <a:rPr lang="en-US" sz="1800" dirty="0">
                <a:latin typeface="Georgia" panose="02040502050405020303" pitchFamily="18" charset="0"/>
              </a:rPr>
              <a:t> does not dictate how the DBMS stores the data physically. </a:t>
            </a:r>
            <a:endParaRPr lang="en-IN" sz="1800" dirty="0"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F01A8D2B-4C6A-1726-B1B6-AA49B895E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32" y="156077"/>
            <a:ext cx="10515600" cy="288032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latin typeface="Georgia" panose="02040502050405020303" pitchFamily="18" charset="0"/>
                <a:cs typeface="Times New Roman" panose="02020603050405020304" pitchFamily="18" charset="0"/>
              </a:rPr>
              <a:t>Introduction to Normalization</a:t>
            </a:r>
            <a:r>
              <a:rPr lang="en-US" altLang="en-US" sz="2400" dirty="0">
                <a:latin typeface="Georgia" panose="02040502050405020303" pitchFamily="18" charset="0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660D45F-20D9-DBDA-6548-EEC231C52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113" y="415409"/>
            <a:ext cx="5193696" cy="2033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F483DD4F-CE7D-8E7E-301C-83E518E3B2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5113" y="2534245"/>
            <a:ext cx="5544616" cy="34004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E2F17B4F-C038-B669-27B5-56382DBEFF83}"/>
              </a:ext>
            </a:extLst>
          </p:cNvPr>
          <p:cNvSpPr txBox="1"/>
          <p:nvPr/>
        </p:nvSpPr>
        <p:spPr>
          <a:xfrm>
            <a:off x="6816081" y="5934670"/>
            <a:ext cx="53759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1" dirty="0" err="1">
                <a:solidFill>
                  <a:schemeClr val="accent2"/>
                </a:solidFill>
                <a:latin typeface="Georgia" panose="02040502050405020303" pitchFamily="18" charset="0"/>
              </a:rPr>
              <a:t>CustomerID</a:t>
            </a:r>
            <a:r>
              <a:rPr lang="en-US" dirty="0">
                <a:solidFill>
                  <a:schemeClr val="accent2"/>
                </a:solidFill>
                <a:latin typeface="Georgia" panose="02040502050405020303" pitchFamily="18" charset="0"/>
              </a:rPr>
              <a:t> is used as a foreign key in the </a:t>
            </a:r>
            <a:r>
              <a:rPr lang="en-US" b="1" dirty="0">
                <a:solidFill>
                  <a:schemeClr val="accent2"/>
                </a:solidFill>
                <a:latin typeface="Georgia" panose="02040502050405020303" pitchFamily="18" charset="0"/>
              </a:rPr>
              <a:t>Order Table</a:t>
            </a:r>
            <a:r>
              <a:rPr lang="en-US" dirty="0">
                <a:solidFill>
                  <a:schemeClr val="accent2"/>
                </a:solidFill>
                <a:latin typeface="Georgia" panose="02040502050405020303" pitchFamily="18" charset="0"/>
              </a:rPr>
              <a:t>, linking each order to a customer.</a:t>
            </a:r>
            <a:endParaRPr lang="en-IN" dirty="0">
              <a:solidFill>
                <a:schemeClr val="accent2"/>
              </a:solidFill>
              <a:latin typeface="Georgia" panose="02040502050405020303" pitchFamily="18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F4D83C71-4A98-B9B4-8081-DB08AFC8BD14}"/>
              </a:ext>
            </a:extLst>
          </p:cNvPr>
          <p:cNvCxnSpPr/>
          <p:nvPr/>
        </p:nvCxnSpPr>
        <p:spPr>
          <a:xfrm>
            <a:off x="6384032" y="44624"/>
            <a:ext cx="72008" cy="671097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68764512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0781BDAF-9BDC-D156-A83F-DC1781E713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537990547"/>
              </p:ext>
            </p:extLst>
          </p:nvPr>
        </p:nvGraphicFramePr>
        <p:xfrm>
          <a:off x="1199456" y="260648"/>
          <a:ext cx="9433048" cy="4392488"/>
        </p:xfrm>
        <a:graphic>
          <a:graphicData uri="http://schemas.openxmlformats.org/drawingml/2006/table">
            <a:tbl>
              <a:tblPr/>
              <a:tblGrid>
                <a:gridCol w="256332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86972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54926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eorgia" panose="02040502050405020303" pitchFamily="18" charset="0"/>
                        </a:rPr>
                        <a:t>Normal Form</a:t>
                      </a:r>
                    </a:p>
                  </a:txBody>
                  <a:tcPr marL="68918" marR="68918" marT="68902" marB="68902">
                    <a:lnL w="7620" cap="flat" cmpd="sng" algn="ctr">
                      <a:solidFill>
                        <a:srgbClr val="3090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90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90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b="1" dirty="0">
                          <a:solidFill>
                            <a:srgbClr val="00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Georgia" panose="02040502050405020303" pitchFamily="18" charset="0"/>
                        </a:rPr>
                        <a:t>Description</a:t>
                      </a:r>
                    </a:p>
                  </a:txBody>
                  <a:tcPr marL="68918" marR="68918" marT="68902" marB="68902">
                    <a:lnL w="7620" cap="flat" cmpd="sng" algn="ctr">
                      <a:solidFill>
                        <a:srgbClr val="3090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90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90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77421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dirty="0">
                          <a:solidFill>
                            <a:srgbClr val="008000"/>
                          </a:solidFill>
                          <a:latin typeface="Georgia" panose="02040502050405020303" pitchFamily="18" charset="0"/>
                          <a:hlinkClick r:id="rId2"/>
                        </a:rPr>
                        <a:t>1NF</a:t>
                      </a:r>
                    </a:p>
                  </a:txBody>
                  <a:tcPr marL="45945" marR="45945" marT="45935" marB="4593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rgbClr val="333333"/>
                          </a:solidFill>
                          <a:latin typeface="Georgia" panose="02040502050405020303" pitchFamily="18" charset="0"/>
                        </a:rPr>
                        <a:t>A relation is in 1NF if it contains an atomic value.</a:t>
                      </a:r>
                    </a:p>
                  </a:txBody>
                  <a:tcPr marL="45945" marR="45945" marT="45935" marB="4593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99020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 dirty="0">
                          <a:solidFill>
                            <a:srgbClr val="008000"/>
                          </a:solidFill>
                          <a:latin typeface="Georgia" panose="02040502050405020303" pitchFamily="18" charset="0"/>
                          <a:hlinkClick r:id="rId3"/>
                        </a:rPr>
                        <a:t>2NF</a:t>
                      </a:r>
                    </a:p>
                  </a:txBody>
                  <a:tcPr marL="45945" marR="45945" marT="45935" marB="4593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rgbClr val="333333"/>
                          </a:solidFill>
                          <a:latin typeface="Georgia" panose="02040502050405020303" pitchFamily="18" charset="0"/>
                        </a:rPr>
                        <a:t>A relation will be in 2NF if it is in 1NF and all non-key attributes are fully functional dependent on the primary key.</a:t>
                      </a:r>
                    </a:p>
                  </a:txBody>
                  <a:tcPr marL="45945" marR="45945" marT="45935" marB="4593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693286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solidFill>
                            <a:srgbClr val="008000"/>
                          </a:solidFill>
                          <a:latin typeface="Georgia" panose="02040502050405020303" pitchFamily="18" charset="0"/>
                          <a:hlinkClick r:id="rId4"/>
                        </a:rPr>
                        <a:t>3NF</a:t>
                      </a:r>
                    </a:p>
                  </a:txBody>
                  <a:tcPr marL="45945" marR="45945" marT="45935" marB="4593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rgbClr val="333333"/>
                          </a:solidFill>
                          <a:latin typeface="Georgia" panose="02040502050405020303" pitchFamily="18" charset="0"/>
                        </a:rPr>
                        <a:t>A relation will be in 3NF if it is in 2NF and no transition dependency exists.</a:t>
                      </a:r>
                    </a:p>
                  </a:txBody>
                  <a:tcPr marL="45945" marR="45945" marT="45935" marB="4593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11147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solidFill>
                            <a:srgbClr val="008000"/>
                          </a:solidFill>
                          <a:latin typeface="Georgia" panose="02040502050405020303" pitchFamily="18" charset="0"/>
                          <a:hlinkClick r:id="rId5"/>
                        </a:rPr>
                        <a:t>4NF</a:t>
                      </a:r>
                    </a:p>
                  </a:txBody>
                  <a:tcPr marL="45945" marR="45945" marT="45935" marB="4593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rgbClr val="333333"/>
                          </a:solidFill>
                          <a:latin typeface="Georgia" panose="02040502050405020303" pitchFamily="18" charset="0"/>
                        </a:rPr>
                        <a:t>A relation will be in 4NF if it is in Boyce </a:t>
                      </a:r>
                      <a:r>
                        <a:rPr lang="en-US" sz="1800" dirty="0" err="1">
                          <a:solidFill>
                            <a:srgbClr val="333333"/>
                          </a:solidFill>
                          <a:latin typeface="Georgia" panose="02040502050405020303" pitchFamily="18" charset="0"/>
                        </a:rPr>
                        <a:t>Codd</a:t>
                      </a:r>
                      <a:r>
                        <a:rPr lang="en-US" sz="1800" dirty="0">
                          <a:solidFill>
                            <a:srgbClr val="333333"/>
                          </a:solidFill>
                          <a:latin typeface="Georgia" panose="02040502050405020303" pitchFamily="18" charset="0"/>
                        </a:rPr>
                        <a:t> normal form and has no multi-valued dependency.</a:t>
                      </a:r>
                    </a:p>
                  </a:txBody>
                  <a:tcPr marL="45945" marR="45945" marT="45935" marB="4593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871158"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u="none" strike="noStrike">
                          <a:solidFill>
                            <a:srgbClr val="008000"/>
                          </a:solidFill>
                          <a:latin typeface="Georgia" panose="02040502050405020303" pitchFamily="18" charset="0"/>
                          <a:hlinkClick r:id="rId6"/>
                        </a:rPr>
                        <a:t>5NF</a:t>
                      </a:r>
                    </a:p>
                  </a:txBody>
                  <a:tcPr marL="45945" marR="45945" marT="45935" marB="4593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US" sz="1800" dirty="0">
                          <a:solidFill>
                            <a:srgbClr val="333333"/>
                          </a:solidFill>
                          <a:latin typeface="Georgia" panose="02040502050405020303" pitchFamily="18" charset="0"/>
                        </a:rPr>
                        <a:t>A relation is in 5NF if it is in 4NF and not contains any join dependency and joining should be lossless.</a:t>
                      </a:r>
                    </a:p>
                  </a:txBody>
                  <a:tcPr marL="45945" marR="45945" marT="45935" marB="45935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11A2E02-3CEE-C1D0-C850-5715749AFB6B}"/>
              </a:ext>
            </a:extLst>
          </p:cNvPr>
          <p:cNvSpPr txBox="1"/>
          <p:nvPr/>
        </p:nvSpPr>
        <p:spPr>
          <a:xfrm>
            <a:off x="443372" y="4797152"/>
            <a:ext cx="1094521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latin typeface="Georgia" panose="02040502050405020303" pitchFamily="18" charset="0"/>
              </a:rPr>
              <a:t>The Theory of Data Normalization in MySQL server is still being developed further. For example, there are discussions even on 6</a:t>
            </a:r>
            <a:r>
              <a:rPr lang="en-US" sz="2400" baseline="30000" dirty="0">
                <a:latin typeface="Georgia" panose="02040502050405020303" pitchFamily="18" charset="0"/>
              </a:rPr>
              <a:t>th</a:t>
            </a:r>
            <a:r>
              <a:rPr lang="en-US" sz="2400" dirty="0">
                <a:latin typeface="Georgia" panose="02040502050405020303" pitchFamily="18" charset="0"/>
              </a:rPr>
              <a:t> Normal Form. However, in most practical applications, normalization achieves its best in </a:t>
            </a:r>
            <a:r>
              <a:rPr lang="en-US" sz="2400" b="1" dirty="0">
                <a:latin typeface="Georgia" panose="02040502050405020303" pitchFamily="18" charset="0"/>
              </a:rPr>
              <a:t>3</a:t>
            </a:r>
            <a:r>
              <a:rPr lang="en-US" sz="2400" b="1" baseline="30000" dirty="0">
                <a:latin typeface="Georgia" panose="02040502050405020303" pitchFamily="18" charset="0"/>
              </a:rPr>
              <a:t>rd </a:t>
            </a:r>
            <a:r>
              <a:rPr lang="en-US" sz="2400" b="1" dirty="0">
                <a:latin typeface="Georgia" panose="02040502050405020303" pitchFamily="18" charset="0"/>
              </a:rPr>
              <a:t>Normal Form.</a:t>
            </a:r>
            <a:endParaRPr lang="en-IN" sz="2400" b="1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xmlns="" id="{C3874E0E-5B3A-D692-2F18-0B7F16BC9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22" y="285728"/>
            <a:ext cx="10515600" cy="543594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First Normal Form (1NF)</a:t>
            </a:r>
            <a:r>
              <a:rPr lang="en-US" altLang="en-US" sz="2400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</a:p>
        </p:txBody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xmlns="" id="{6660FE3B-AAF3-E3AC-D129-423D34A77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084" y="928670"/>
            <a:ext cx="11715832" cy="5929330"/>
          </a:xfrm>
        </p:spPr>
        <p:txBody>
          <a:bodyPr/>
          <a:lstStyle/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Georgia" panose="02040502050405020303" pitchFamily="18" charset="0"/>
              </a:rPr>
              <a:t>A Relation will be 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1NF</a:t>
            </a:r>
            <a:r>
              <a:rPr lang="en-US" altLang="en-US" sz="2400" dirty="0">
                <a:latin typeface="Georgia" panose="02040502050405020303" pitchFamily="18" charset="0"/>
              </a:rPr>
              <a:t> if it contains an </a:t>
            </a:r>
            <a:r>
              <a:rPr lang="en-US" altLang="en-US" sz="2400" b="1" dirty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atomic value </a:t>
            </a:r>
            <a:r>
              <a:rPr lang="en-US" altLang="en-US" sz="2000" dirty="0">
                <a:latin typeface="Georgia" panose="02040502050405020303" pitchFamily="18" charset="0"/>
              </a:rPr>
              <a:t>(i.e. indivisible or without any group data item) </a:t>
            </a:r>
            <a:r>
              <a:rPr lang="en-US" altLang="en-US" sz="2400" dirty="0">
                <a:latin typeface="Georgia" pitchFamily="18" charset="0"/>
              </a:rPr>
              <a:t>and </a:t>
            </a:r>
            <a:r>
              <a:rPr lang="en-IN" sz="2400" dirty="0">
                <a:latin typeface="Georgia" pitchFamily="18" charset="0"/>
              </a:rPr>
              <a:t>every relation should possess a </a:t>
            </a:r>
            <a:r>
              <a:rPr lang="en-IN" sz="2400" b="1" dirty="0">
                <a:solidFill>
                  <a:srgbClr val="0000FF"/>
                </a:solidFill>
                <a:latin typeface="Georgia" pitchFamily="18" charset="0"/>
              </a:rPr>
              <a:t>unique primary key</a:t>
            </a:r>
            <a:r>
              <a:rPr lang="en-IN" sz="2400" dirty="0">
                <a:latin typeface="Georgia" pitchFamily="18" charset="0"/>
              </a:rPr>
              <a:t> — the smallest set of columns that distinctly identifies a record. </a:t>
            </a:r>
            <a:endParaRPr lang="en-US" altLang="en-US" sz="2400" dirty="0">
              <a:latin typeface="Georgia" pitchFamily="18" charset="0"/>
            </a:endParaRP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Disallows composite attributes, multivalued attributes, and </a:t>
            </a:r>
            <a:r>
              <a:rPr lang="en-US" altLang="en-US" sz="2400" b="1" dirty="0">
                <a:latin typeface="Georgia" panose="02040502050405020303" pitchFamily="18" charset="0"/>
                <a:cs typeface="Times New Roman" panose="02020603050405020304" pitchFamily="18" charset="0"/>
              </a:rPr>
              <a:t>nested relations</a:t>
            </a: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; attributes whose values </a:t>
            </a:r>
            <a:r>
              <a:rPr lang="en-US" altLang="en-US" sz="2400" i="1" dirty="0">
                <a:latin typeface="Georgia" panose="02040502050405020303" pitchFamily="18" charset="0"/>
                <a:cs typeface="Times New Roman" panose="02020603050405020304" pitchFamily="18" charset="0"/>
              </a:rPr>
              <a:t>for an individual tuple</a:t>
            </a: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 are non-atomic.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altLang="en-US" sz="2400" dirty="0">
                <a:latin typeface="Georgia" panose="02040502050405020303" pitchFamily="18" charset="0"/>
                <a:cs typeface="Times New Roman" panose="02020603050405020304" pitchFamily="18" charset="0"/>
              </a:rPr>
              <a:t>Considered to be part of the definition of relation.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Georgia" panose="02040502050405020303" pitchFamily="18" charset="0"/>
              </a:rPr>
              <a:t>It states that an attribute of a table </a:t>
            </a:r>
            <a:r>
              <a:rPr lang="en-US" altLang="en-US" sz="2400" b="1" i="1" dirty="0">
                <a:latin typeface="Georgia" panose="02040502050405020303" pitchFamily="18" charset="0"/>
              </a:rPr>
              <a:t>cannot hold multiple values</a:t>
            </a:r>
            <a:r>
              <a:rPr lang="en-US" altLang="en-US" sz="2400" dirty="0">
                <a:latin typeface="Georgia" panose="02040502050405020303" pitchFamily="18" charset="0"/>
              </a:rPr>
              <a:t>. It must hold </a:t>
            </a:r>
            <a:r>
              <a:rPr lang="en-US" altLang="en-US" sz="2400" b="1" i="1" dirty="0">
                <a:latin typeface="Georgia" panose="02040502050405020303" pitchFamily="18" charset="0"/>
              </a:rPr>
              <a:t>only single-valued attribute</a:t>
            </a:r>
            <a:r>
              <a:rPr lang="en-US" altLang="en-US" sz="2400" dirty="0">
                <a:latin typeface="Georgia" panose="02040502050405020303" pitchFamily="18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en-US" sz="2400" dirty="0">
                <a:latin typeface="Georgia" panose="02040502050405020303" pitchFamily="18" charset="0"/>
              </a:rPr>
              <a:t>i.e. First normal form disallows the multi-valued attribute, composite attribute, and their combinations.</a:t>
            </a:r>
          </a:p>
          <a:p>
            <a:pPr eaLnBrk="1" hangingPunct="1">
              <a:buFont typeface="Arial" panose="020B0604020202020204" pitchFamily="34" charset="0"/>
              <a:buNone/>
            </a:pPr>
            <a:endParaRPr lang="en-US" altLang="en-US" dirty="0"/>
          </a:p>
        </p:txBody>
      </p:sp>
      <p:sp>
        <p:nvSpPr>
          <p:cNvPr id="4" name="Rectangle 3"/>
          <p:cNvSpPr/>
          <p:nvPr/>
        </p:nvSpPr>
        <p:spPr>
          <a:xfrm>
            <a:off x="166646" y="1000108"/>
            <a:ext cx="11858708" cy="1714512"/>
          </a:xfrm>
          <a:prstGeom prst="rect">
            <a:avLst/>
          </a:prstGeom>
          <a:noFill/>
          <a:ln w="25400" cmpd="dbl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2D5371FF-94AC-DBBC-6E9C-0850E159D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4" y="1081922"/>
            <a:ext cx="2581275" cy="2276475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72F8F411-0FF3-C9D9-6C52-E90065E824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332656"/>
            <a:ext cx="10515600" cy="369332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508058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First Normal Form (1NF)</a:t>
            </a:r>
            <a:r>
              <a:rPr lang="en-US" altLang="en-US" sz="2400" dirty="0">
                <a:solidFill>
                  <a:srgbClr val="508058"/>
                </a:solidFill>
                <a:latin typeface="Georgia" panose="02040502050405020303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C6A88C1-17B7-6E5A-9710-16368A921A13}"/>
              </a:ext>
            </a:extLst>
          </p:cNvPr>
          <p:cNvSpPr txBox="1"/>
          <p:nvPr/>
        </p:nvSpPr>
        <p:spPr>
          <a:xfrm>
            <a:off x="3287688" y="1003225"/>
            <a:ext cx="856895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This table is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not in 1NF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as it contains the </a:t>
            </a:r>
            <a:r>
              <a:rPr lang="en-US" sz="2000" b="1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multivalued attribute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. It can be normalized to the </a:t>
            </a:r>
            <a:r>
              <a:rPr lang="en-US" sz="2000" b="1" i="0" dirty="0">
                <a:solidFill>
                  <a:srgbClr val="599F4F"/>
                </a:solidFill>
                <a:effectLst/>
                <a:latin typeface="Georgia" panose="02040502050405020303" pitchFamily="18" charset="0"/>
              </a:rPr>
              <a:t>first normal form 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by distributing the multivalued attributes in different columns as follows.</a:t>
            </a:r>
            <a:endParaRPr lang="en-IN" sz="2000" dirty="0">
              <a:latin typeface="Georgia" panose="02040502050405020303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E3946249-3C99-FDB1-DE54-66526AEBB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736" y="2055339"/>
            <a:ext cx="4333875" cy="13144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66580A59-6621-89B1-75EA-CB9D39020A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14" y="4077072"/>
            <a:ext cx="3867150" cy="22764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CBCE4AE9-8D15-BB06-D2E4-33D30BF530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7888" y="4148550"/>
            <a:ext cx="4667250" cy="1584705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CCD69DDE-9CAD-CDB9-580C-4DB0269BDB26}"/>
              </a:ext>
            </a:extLst>
          </p:cNvPr>
          <p:cNvCxnSpPr/>
          <p:nvPr/>
        </p:nvCxnSpPr>
        <p:spPr>
          <a:xfrm>
            <a:off x="4223792" y="4941168"/>
            <a:ext cx="2880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5EC7942C-3AF2-516B-4048-3AE9F79EF5AF}"/>
              </a:ext>
            </a:extLst>
          </p:cNvPr>
          <p:cNvCxnSpPr/>
          <p:nvPr/>
        </p:nvCxnSpPr>
        <p:spPr>
          <a:xfrm>
            <a:off x="3287688" y="2620318"/>
            <a:ext cx="2880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90365079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73B0589E-388D-BF9A-7218-ED170BF7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84" y="928670"/>
            <a:ext cx="3867150" cy="2492756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51E7AD4E-0661-69DB-8A5B-1ED8F6C74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368" y="332656"/>
            <a:ext cx="10515600" cy="369332"/>
          </a:xfrm>
        </p:spPr>
        <p:txBody>
          <a:bodyPr/>
          <a:lstStyle/>
          <a:p>
            <a:pPr eaLnBrk="1" hangingPunct="1"/>
            <a:r>
              <a:rPr lang="en-US" altLang="en-US" sz="2400" b="1" dirty="0">
                <a:solidFill>
                  <a:srgbClr val="508058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First Normal Form (1NF)</a:t>
            </a:r>
            <a:r>
              <a:rPr lang="en-US" altLang="en-US" sz="2400" dirty="0">
                <a:solidFill>
                  <a:srgbClr val="508058"/>
                </a:solidFill>
                <a:latin typeface="Georgia" panose="02040502050405020303" pitchFamily="18" charset="0"/>
              </a:rPr>
              <a:t> 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xmlns="" id="{EFEDDEE1-B153-6F5D-2EB6-2E170C05B2BA}"/>
              </a:ext>
            </a:extLst>
          </p:cNvPr>
          <p:cNvCxnSpPr/>
          <p:nvPr/>
        </p:nvCxnSpPr>
        <p:spPr>
          <a:xfrm>
            <a:off x="4167174" y="1571612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167306" y="714357"/>
            <a:ext cx="67151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IN" sz="2000" dirty="0">
                <a:latin typeface="Georgia" pitchFamily="18" charset="0"/>
              </a:rPr>
              <a:t> </a:t>
            </a:r>
            <a:r>
              <a:rPr lang="en-IN" sz="2000" dirty="0">
                <a:solidFill>
                  <a:srgbClr val="C00000"/>
                </a:solidFill>
                <a:latin typeface="Georgia" pitchFamily="18" charset="0"/>
              </a:rPr>
              <a:t>Lack of unique Primary key</a:t>
            </a:r>
          </a:p>
          <a:p>
            <a:endParaRPr lang="en-IN" sz="2000" dirty="0">
              <a:solidFill>
                <a:srgbClr val="C00000"/>
              </a:solidFill>
              <a:latin typeface="Georgi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IN" sz="2000" dirty="0">
                <a:solidFill>
                  <a:srgbClr val="C00000"/>
                </a:solidFill>
                <a:latin typeface="Georgia" pitchFamily="18" charset="0"/>
              </a:rPr>
              <a:t> </a:t>
            </a:r>
            <a:r>
              <a:rPr lang="en-IN" sz="2000" b="1" dirty="0">
                <a:solidFill>
                  <a:srgbClr val="C00000"/>
                </a:solidFill>
                <a:latin typeface="Georgia" pitchFamily="18" charset="0"/>
              </a:rPr>
              <a:t>Phone Number</a:t>
            </a:r>
            <a:r>
              <a:rPr lang="en-IN" sz="2000" dirty="0">
                <a:solidFill>
                  <a:srgbClr val="C00000"/>
                </a:solidFill>
                <a:latin typeface="Georgia" pitchFamily="18" charset="0"/>
              </a:rPr>
              <a:t> attribute holds more than one values.</a:t>
            </a:r>
            <a:endParaRPr lang="en-IN" sz="2000" dirty="0">
              <a:latin typeface="Georgia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24628" y="1785926"/>
            <a:ext cx="4143404" cy="5072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9" name="Elbow Connector 8"/>
          <p:cNvCxnSpPr/>
          <p:nvPr/>
        </p:nvCxnSpPr>
        <p:spPr>
          <a:xfrm>
            <a:off x="4738678" y="3000372"/>
            <a:ext cx="1500198" cy="85725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38084" y="4929198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IN" sz="2000" dirty="0">
                <a:latin typeface="Georgia" pitchFamily="18" charset="0"/>
              </a:rPr>
              <a:t>The </a:t>
            </a:r>
            <a:r>
              <a:rPr lang="en-IN" sz="2000" b="1" dirty="0">
                <a:latin typeface="Georgia" pitchFamily="18" charset="0"/>
              </a:rPr>
              <a:t>Customer ID</a:t>
            </a:r>
            <a:r>
              <a:rPr lang="en-IN" sz="2000" dirty="0">
                <a:latin typeface="Georgia" pitchFamily="18" charset="0"/>
              </a:rPr>
              <a:t> column in the </a:t>
            </a:r>
            <a:r>
              <a:rPr lang="en-IN" sz="2000" b="1" dirty="0">
                <a:latin typeface="Georgia" pitchFamily="18" charset="0"/>
              </a:rPr>
              <a:t>Phone Numbers</a:t>
            </a:r>
            <a:r>
              <a:rPr lang="en-IN" sz="2000" dirty="0">
                <a:latin typeface="Georgia" pitchFamily="18" charset="0"/>
              </a:rPr>
              <a:t> table should be designated as a </a:t>
            </a:r>
            <a:r>
              <a:rPr lang="en-IN" sz="2000" b="1" dirty="0">
                <a:latin typeface="Georgia" pitchFamily="18" charset="0"/>
              </a:rPr>
              <a:t>foreign key</a:t>
            </a:r>
            <a:r>
              <a:rPr lang="en-IN" sz="2000" dirty="0">
                <a:latin typeface="Georgia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xmlns="" val="7851786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0390" y="1504759"/>
            <a:ext cx="11016336" cy="2852935"/>
          </a:xfrm>
        </p:spPr>
        <p:txBody>
          <a:bodyPr/>
          <a:lstStyle/>
          <a:p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A Relation is in 2 NF if:</a:t>
            </a:r>
          </a:p>
          <a:p>
            <a:endParaRPr lang="en-IN" sz="2400" u="none" dirty="0">
              <a:solidFill>
                <a:schemeClr val="tx1"/>
              </a:solidFill>
              <a:latin typeface="Georgia" pitchFamily="18" charset="0"/>
            </a:endParaRP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latin typeface="Georgia" pitchFamily="18" charset="0"/>
              </a:rPr>
              <a:t>   </a:t>
            </a:r>
            <a:r>
              <a:rPr lang="en-IN" sz="2400" dirty="0">
                <a:solidFill>
                  <a:srgbClr val="7030A0"/>
                </a:solidFill>
                <a:latin typeface="Georgia" pitchFamily="18" charset="0"/>
              </a:rPr>
              <a:t>It is in first normal form or 1NF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u="none" dirty="0">
                <a:latin typeface="Georgia" pitchFamily="18" charset="0"/>
              </a:rPr>
              <a:t>   </a:t>
            </a:r>
            <a:r>
              <a:rPr lang="en-IN" sz="2400" dirty="0">
                <a:solidFill>
                  <a:srgbClr val="7030A0"/>
                </a:solidFill>
                <a:latin typeface="Georgia" pitchFamily="18" charset="0"/>
              </a:rPr>
              <a:t>It doesn’t contain any partial dependencies. i.e. All non-key attributes (i.e., columns not included in the primary key) must be fully dependent on the primary key. </a:t>
            </a:r>
            <a:endParaRPr lang="en-IN" sz="2400" u="none" dirty="0">
              <a:solidFill>
                <a:srgbClr val="7030A0"/>
              </a:solidFill>
              <a:latin typeface="Georgia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72F8F411-0FF3-C9D9-6C52-E90065E82493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Second Normal Form (2NF)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380960" y="1500174"/>
            <a:ext cx="11358642" cy="300039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72F8F411-0FF3-C9D9-6C52-E90065E82493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Second Normal Form (2NF)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8084" y="1071546"/>
            <a:ext cx="7572428" cy="3286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7810512" y="525096"/>
            <a:ext cx="42621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solidFill>
                  <a:srgbClr val="002060"/>
                </a:solidFill>
                <a:latin typeface="Georgia" pitchFamily="18" charset="0"/>
              </a:rPr>
              <a:t>Employee</a:t>
            </a:r>
            <a:r>
              <a:rPr lang="en-IN" sz="2000" dirty="0">
                <a:solidFill>
                  <a:srgbClr val="002060"/>
                </a:solidFill>
                <a:latin typeface="Georgia" pitchFamily="18" charset="0"/>
              </a:rPr>
              <a:t> table with</a:t>
            </a:r>
          </a:p>
          <a:p>
            <a:pPr algn="just"/>
            <a:r>
              <a:rPr lang="en-IN" sz="2000" dirty="0" err="1">
                <a:solidFill>
                  <a:srgbClr val="002060"/>
                </a:solidFill>
                <a:latin typeface="Georgia" pitchFamily="18" charset="0"/>
              </a:rPr>
              <a:t>EmployeeID</a:t>
            </a:r>
            <a:r>
              <a:rPr lang="en-IN" sz="2000" dirty="0">
                <a:solidFill>
                  <a:srgbClr val="002060"/>
                </a:solidFill>
                <a:latin typeface="Georgia" pitchFamily="18" charset="0"/>
              </a:rPr>
              <a:t> and </a:t>
            </a:r>
            <a:r>
              <a:rPr lang="en-IN" sz="2000" dirty="0" err="1">
                <a:solidFill>
                  <a:srgbClr val="002060"/>
                </a:solidFill>
                <a:latin typeface="Georgia" pitchFamily="18" charset="0"/>
              </a:rPr>
              <a:t>DepartmentID</a:t>
            </a:r>
            <a:r>
              <a:rPr lang="en-IN" sz="2000" dirty="0">
                <a:solidFill>
                  <a:srgbClr val="002060"/>
                </a:solidFill>
                <a:latin typeface="Georgia" pitchFamily="18" charset="0"/>
              </a:rPr>
              <a:t> as  Candidate keys (Primary keys).  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3388" y="1988840"/>
            <a:ext cx="385765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Georgia" pitchFamily="18" charset="0"/>
              </a:rPr>
              <a:t>Check if Employee</a:t>
            </a:r>
            <a:r>
              <a:rPr lang="en-IN" sz="2000" dirty="0">
                <a:latin typeface="Georgia" pitchFamily="18" charset="0"/>
              </a:rPr>
              <a:t> table is in </a:t>
            </a:r>
            <a:r>
              <a:rPr lang="en-IN" sz="2000" b="1" dirty="0">
                <a:latin typeface="Georgia" pitchFamily="18" charset="0"/>
              </a:rPr>
              <a:t>2NF</a:t>
            </a:r>
            <a:r>
              <a:rPr lang="en-IN" sz="2000" dirty="0">
                <a:latin typeface="Georgia" pitchFamily="18" charset="0"/>
              </a:rPr>
              <a:t>:</a:t>
            </a:r>
          </a:p>
          <a:p>
            <a:pPr algn="just"/>
            <a:endParaRPr lang="en-IN" sz="2000" dirty="0">
              <a:latin typeface="Georgia" pitchFamily="18" charset="0"/>
            </a:endParaRPr>
          </a:p>
          <a:p>
            <a:pPr marL="457200" indent="-457200" algn="just">
              <a:buAutoNum type="arabicPeriod"/>
            </a:pPr>
            <a:r>
              <a:rPr lang="en-IN" sz="2000" dirty="0">
                <a:latin typeface="Georgia" pitchFamily="18" charset="0"/>
              </a:rPr>
              <a:t>Table is in 1 NF as there is a composite Primary key. Also, Table has atomic values. </a:t>
            </a:r>
          </a:p>
          <a:p>
            <a:pPr marL="457200" indent="-457200" algn="just">
              <a:buAutoNum type="arabicPeriod"/>
            </a:pPr>
            <a:r>
              <a:rPr lang="en-IN" sz="2000" dirty="0">
                <a:latin typeface="Georgia" pitchFamily="18" charset="0"/>
              </a:rPr>
              <a:t>The non-prime attributes, Name, Surname, and Head are dependent only on part of the composite Primary key. So </a:t>
            </a:r>
            <a:r>
              <a:rPr lang="en-IN" sz="2000" dirty="0">
                <a:solidFill>
                  <a:srgbClr val="FF0000"/>
                </a:solidFill>
                <a:latin typeface="Georgia" pitchFamily="18" charset="0"/>
              </a:rPr>
              <a:t>violates</a:t>
            </a:r>
            <a:r>
              <a:rPr lang="en-IN" sz="2000" dirty="0">
                <a:latin typeface="Georgia" pitchFamily="18" charset="0"/>
              </a:rPr>
              <a:t> the rule, and hence the table is not in 2NF.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60" y="4941168"/>
            <a:ext cx="73581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000" dirty="0">
                <a:latin typeface="Georgia" pitchFamily="18" charset="0"/>
              </a:rPr>
              <a:t>Further, there is a Modification anomaly, if we try to delete </a:t>
            </a:r>
            <a:r>
              <a:rPr lang="en-IN" sz="2000" i="1" dirty="0" err="1">
                <a:latin typeface="Georgia" pitchFamily="18" charset="0"/>
              </a:rPr>
              <a:t>DepartmentID</a:t>
            </a:r>
            <a:r>
              <a:rPr lang="en-IN" sz="2000" dirty="0">
                <a:latin typeface="Georgia" pitchFamily="18" charset="0"/>
              </a:rPr>
              <a:t> row from the table, we can’t determine </a:t>
            </a:r>
            <a:r>
              <a:rPr lang="en-IN" sz="2000" i="1" dirty="0">
                <a:latin typeface="Georgia" pitchFamily="18" charset="0"/>
              </a:rPr>
              <a:t>Head</a:t>
            </a:r>
            <a:r>
              <a:rPr lang="en-IN" sz="2000" dirty="0">
                <a:latin typeface="Georgia" pitchFamily="18" charset="0"/>
              </a:rPr>
              <a:t> in such case.  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72F8F411-0FF3-C9D9-6C52-E90065E82493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Second Normal Form (2NF)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522" y="928670"/>
            <a:ext cx="6143668" cy="37147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738942" y="714356"/>
            <a:ext cx="5453058" cy="40719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522" y="1071546"/>
            <a:ext cx="6877050" cy="41434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72F8F411-0FF3-C9D9-6C52-E90065E82493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Second Normal Form (2NF)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380960" y="5572140"/>
            <a:ext cx="11001452" cy="9596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dirty="0">
                <a:latin typeface="Georgia" pitchFamily="18" charset="0"/>
              </a:rPr>
              <a:t>Now, the table aligns with the </a:t>
            </a:r>
            <a:r>
              <a:rPr lang="en-IN" sz="2000" b="1" dirty="0">
                <a:latin typeface="Georgia" pitchFamily="18" charset="0"/>
              </a:rPr>
              <a:t>second normal form</a:t>
            </a:r>
            <a:r>
              <a:rPr lang="en-IN" sz="2000" dirty="0">
                <a:latin typeface="Georgia" pitchFamily="18" charset="0"/>
              </a:rPr>
              <a:t>, guaranteeing we </a:t>
            </a:r>
            <a:r>
              <a:rPr lang="en-IN" sz="2000" b="1" dirty="0">
                <a:latin typeface="Georgia" pitchFamily="18" charset="0"/>
              </a:rPr>
              <a:t>retain vital information</a:t>
            </a:r>
            <a:r>
              <a:rPr lang="en-IN" sz="2000" dirty="0">
                <a:latin typeface="Georgia" pitchFamily="18" charset="0"/>
              </a:rPr>
              <a:t> even if rows from the initial table are deleted.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A97DF53-7EA1-4C56-EF1B-D36A1DE86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368" y="1052736"/>
            <a:ext cx="11423681" cy="5288051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A table that is in 2NF (Second Normal Form) can still suffer from </a:t>
            </a:r>
            <a:r>
              <a:rPr lang="en-US" sz="2400" u="none" dirty="0">
                <a:solidFill>
                  <a:srgbClr val="FF0000"/>
                </a:solidFill>
                <a:latin typeface="Georgia" panose="02040502050405020303" pitchFamily="18" charset="0"/>
              </a:rPr>
              <a:t>anomalies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specifically </a:t>
            </a:r>
            <a:r>
              <a:rPr lang="en-US" sz="2400" u="none" dirty="0">
                <a:solidFill>
                  <a:srgbClr val="FF0000"/>
                </a:solidFill>
                <a:latin typeface="Georgia" panose="02040502050405020303" pitchFamily="18" charset="0"/>
              </a:rPr>
              <a:t>update anomalies, insert anomalies, and delete anomalies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. These issues are typically addressed by further normalizing the table to </a:t>
            </a:r>
            <a:r>
              <a:rPr lang="en-US" sz="2400" b="1" u="none" dirty="0">
                <a:solidFill>
                  <a:srgbClr val="7030A0"/>
                </a:solidFill>
                <a:latin typeface="Georgia" panose="02040502050405020303" pitchFamily="18" charset="0"/>
              </a:rPr>
              <a:t>3NF (Third Normal Form)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or beyond. 2NF doesn’t guarantee to resolve the following issues: </a:t>
            </a:r>
          </a:p>
          <a:p>
            <a:pPr algn="just"/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Georgia" panose="02040502050405020303" pitchFamily="18" charset="0"/>
              </a:rPr>
              <a:t>Transitive Dependencies: These occur when a non-key column (i.e. non-prime attribute) is dependent on another non-key column, which is then dependent on the primary key. This is the main issue addressed by 3NF.</a:t>
            </a:r>
          </a:p>
          <a:p>
            <a:pPr marL="8001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Georgia" panose="02040502050405020303" pitchFamily="18" charset="0"/>
              </a:rPr>
              <a:t>Anomalies: Even in 2NF, if there are transitive dependencies, the following anomalies may be faced: </a:t>
            </a:r>
            <a:r>
              <a:rPr lang="en-US" sz="2000" u="none" dirty="0">
                <a:solidFill>
                  <a:srgbClr val="FF0000"/>
                </a:solidFill>
                <a:latin typeface="Georgia" panose="02040502050405020303" pitchFamily="18" charset="0"/>
              </a:rPr>
              <a:t>update anomalies, insert anomalies, and delete anomalies .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	</a:t>
            </a:r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247203AB-EEEB-EB85-9B8F-613B21A0E6B9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Second Normal Form (2NF)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55742661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18653EB3-3D4D-52C7-9F0B-D5FC16C4C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6218" y="1124744"/>
            <a:ext cx="11614437" cy="738664"/>
          </a:xfrm>
        </p:spPr>
        <p:txBody>
          <a:bodyPr/>
          <a:lstStyle/>
          <a:p>
            <a:pPr algn="just"/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Example of a Table in 2NF with anomalies. Consider the table STUDENT, stores information about students and the teachers.</a:t>
            </a:r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1E9EDB65-4413-7D3F-4465-C00FC5CE5CA3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Second Normal Form (2NF)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70D3F3C9-D302-985D-9325-63B99680E0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6312" y="2224609"/>
            <a:ext cx="10239375" cy="3148607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26ECC1F8-4A57-E963-E4CC-26D3FDC29426}"/>
              </a:ext>
            </a:extLst>
          </p:cNvPr>
          <p:cNvSpPr txBox="1">
            <a:spLocks/>
          </p:cNvSpPr>
          <p:nvPr/>
        </p:nvSpPr>
        <p:spPr>
          <a:xfrm>
            <a:off x="767408" y="5729092"/>
            <a:ext cx="4435369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 u="heavy">
                <a:solidFill>
                  <a:srgbClr val="0462C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u="none" kern="0" dirty="0">
                <a:solidFill>
                  <a:schemeClr val="tx1"/>
                </a:solidFill>
                <a:latin typeface="Georgia" panose="02040502050405020303" pitchFamily="18" charset="0"/>
              </a:rPr>
              <a:t>Here, the primary key is </a:t>
            </a:r>
            <a:r>
              <a:rPr lang="en-US" sz="2000" u="none" kern="0" dirty="0" err="1">
                <a:solidFill>
                  <a:schemeClr val="tx1"/>
                </a:solidFill>
                <a:latin typeface="Georgia" panose="02040502050405020303" pitchFamily="18" charset="0"/>
              </a:rPr>
              <a:t>Stu_Id</a:t>
            </a:r>
            <a:r>
              <a:rPr lang="en-US" sz="2000" u="none" kern="0" dirty="0">
                <a:solidFill>
                  <a:schemeClr val="tx1"/>
                </a:solidFill>
                <a:latin typeface="Georgia" panose="02040502050405020303" pitchFamily="18" charset="0"/>
              </a:rPr>
              <a:t>. </a:t>
            </a:r>
          </a:p>
          <a:p>
            <a:pPr marL="342900" indent="-342900" algn="just">
              <a:buFont typeface="Wingdings" panose="05000000000000000000" pitchFamily="2" charset="2"/>
              <a:buChar char="ü"/>
            </a:pPr>
            <a:r>
              <a:rPr lang="en-US" sz="2000" u="none" kern="0" dirty="0">
                <a:solidFill>
                  <a:schemeClr val="tx1"/>
                </a:solidFill>
                <a:latin typeface="Georgia" panose="02040502050405020303" pitchFamily="18" charset="0"/>
              </a:rPr>
              <a:t>The table is in 2 NF.  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xmlns="" id="{71365F39-B821-00B1-23E2-4F97FE90CC61}"/>
              </a:ext>
            </a:extLst>
          </p:cNvPr>
          <p:cNvSpPr txBox="1">
            <a:spLocks/>
          </p:cNvSpPr>
          <p:nvPr/>
        </p:nvSpPr>
        <p:spPr>
          <a:xfrm>
            <a:off x="5585720" y="5909791"/>
            <a:ext cx="6408711" cy="6155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 u="heavy">
                <a:solidFill>
                  <a:srgbClr val="0462C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000" u="none" kern="0" dirty="0">
                <a:solidFill>
                  <a:srgbClr val="C00000"/>
                </a:solidFill>
                <a:latin typeface="Georgia" panose="02040502050405020303" pitchFamily="18" charset="0"/>
              </a:rPr>
              <a:t>However, this table suffers from </a:t>
            </a:r>
            <a:r>
              <a:rPr lang="en-US" sz="2000" b="0" i="0" u="none" dirty="0">
                <a:solidFill>
                  <a:srgbClr val="C00000"/>
                </a:solidFill>
                <a:effectLst/>
                <a:latin typeface="Georgia" panose="02040502050405020303" pitchFamily="18" charset="0"/>
              </a:rPr>
              <a:t>insertion, deletion and update anomalies</a:t>
            </a:r>
            <a:r>
              <a:rPr lang="en-US" sz="2000" u="none" kern="0" dirty="0">
                <a:solidFill>
                  <a:srgbClr val="C00000"/>
                </a:solidFill>
                <a:latin typeface="Georgia" panose="02040502050405020303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xmlns="" val="106474860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28E4E1F-B669-4F9D-8FFB-07259EF047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368" y="1124744"/>
            <a:ext cx="11521280" cy="923330"/>
          </a:xfrm>
        </p:spPr>
        <p:txBody>
          <a:bodyPr/>
          <a:lstStyle/>
          <a:p>
            <a:pPr algn="just"/>
            <a:r>
              <a:rPr lang="en-US" sz="20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Insertion anomaly: </a:t>
            </a:r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Suppose that we want to insert information about a new teacher ‘Mayank’ having </a:t>
            </a:r>
            <a:r>
              <a:rPr lang="en-US" sz="20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Teach_Id</a:t>
            </a:r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 = ‘206’ , </a:t>
            </a:r>
            <a:r>
              <a:rPr lang="en-US" sz="20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Teach_Qual</a:t>
            </a:r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 = ‘MCA’ who has not yet been allotted any student. This is not possible as </a:t>
            </a:r>
            <a:r>
              <a:rPr lang="en-US" sz="20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Stu_Id</a:t>
            </a:r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 will contain a </a:t>
            </a:r>
            <a:r>
              <a:rPr lang="en-US" sz="2000" i="1" u="none" dirty="0">
                <a:solidFill>
                  <a:schemeClr val="tx1"/>
                </a:solidFill>
                <a:latin typeface="Georgia" panose="02040502050405020303" pitchFamily="18" charset="0"/>
              </a:rPr>
              <a:t>null value</a:t>
            </a:r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.</a:t>
            </a:r>
            <a:endParaRPr lang="en-IN" sz="20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A14F87AC-0BB8-4E5E-0DDF-73E7D1FB90A1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Second Normal Form (2NF)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EFD0833-FA75-B089-CAAC-B94DCB84F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344" y="2381275"/>
            <a:ext cx="10172700" cy="33147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45DEBAE-1982-0FA7-28A5-ED58AC9458CF}"/>
              </a:ext>
            </a:extLst>
          </p:cNvPr>
          <p:cNvSpPr txBox="1"/>
          <p:nvPr/>
        </p:nvSpPr>
        <p:spPr>
          <a:xfrm>
            <a:off x="803412" y="6093296"/>
            <a:ext cx="105851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Georgia" panose="02040502050405020303" pitchFamily="18" charset="0"/>
              </a:rPr>
              <a:t>The table assumes that every record in the table represents a student-teacher relationship (i.e., each student is associated with a teacher). 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0115793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C4352DD-340B-0B7D-DFDE-73F952251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5867" y="1052736"/>
            <a:ext cx="11420266" cy="3483389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sz="20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Deletion anomaly: </a:t>
            </a:r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Suppose that a student whose </a:t>
            </a:r>
            <a:r>
              <a:rPr lang="en-US" sz="20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Stu_Id</a:t>
            </a:r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 = 1768 decides to quit the college, so we would have to delete this tuple from the STUDENT relation. </a:t>
            </a:r>
            <a:r>
              <a:rPr lang="en-US" sz="2000" b="0" i="0" u="non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Thus, on deleting this tuple, the information about the teacher would also be deleted.</a:t>
            </a:r>
          </a:p>
          <a:p>
            <a:pPr algn="just"/>
            <a:endParaRPr lang="en-US" sz="20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1" i="0" u="non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Updation Anomaly:</a:t>
            </a:r>
            <a:r>
              <a:rPr lang="en-US" sz="2000" b="0" i="0" u="non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 The second normal form also suffers from updation anomaly. </a:t>
            </a:r>
          </a:p>
          <a:p>
            <a:pPr algn="just">
              <a:lnSpc>
                <a:spcPct val="150000"/>
              </a:lnSpc>
            </a:pPr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e.g. If t</a:t>
            </a:r>
            <a:r>
              <a:rPr lang="en-US" sz="2000" b="0" i="0" u="non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he value of the qualifications of the teacher i.e. </a:t>
            </a:r>
            <a:r>
              <a:rPr lang="en-US" sz="2000" b="0" i="0" u="non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Teach_Qual</a:t>
            </a:r>
            <a:r>
              <a:rPr lang="en-US" sz="2000" b="0" i="0" u="non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whose </a:t>
            </a:r>
            <a:r>
              <a:rPr lang="en-US" sz="2000" b="0" i="0" u="none" dirty="0" err="1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Teach_Id</a:t>
            </a:r>
            <a:r>
              <a:rPr lang="en-US" sz="2000" b="0" i="0" u="non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= ‘204’ is updated from MCA to Ph.D. , then we would have to update this information every row wherever this appears, which may lead to inconsistencies in the database.   </a:t>
            </a:r>
            <a:endParaRPr lang="en-IN" sz="20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483BDE4D-5A66-D083-0BB9-F08AC7583C99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Second Normal Form (2NF)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9698E51-4A07-1E55-BC5E-CA1BE92F73F8}"/>
              </a:ext>
            </a:extLst>
          </p:cNvPr>
          <p:cNvSpPr txBox="1"/>
          <p:nvPr/>
        </p:nvSpPr>
        <p:spPr>
          <a:xfrm>
            <a:off x="2208784" y="5434042"/>
            <a:ext cx="6912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Georgia" panose="02040502050405020303" pitchFamily="18" charset="0"/>
              </a:rPr>
              <a:t>How to overcome the anomalies?</a:t>
            </a:r>
          </a:p>
          <a:p>
            <a:pPr algn="just"/>
            <a:r>
              <a:rPr lang="en-US" sz="2400" dirty="0">
                <a:solidFill>
                  <a:srgbClr val="00B050"/>
                </a:solidFill>
                <a:latin typeface="Georgia" panose="02040502050405020303" pitchFamily="18" charset="0"/>
              </a:rPr>
              <a:t>Solution: Normalize the table further into </a:t>
            </a:r>
            <a:r>
              <a:rPr lang="en-US" sz="2400" b="1" dirty="0">
                <a:solidFill>
                  <a:srgbClr val="00B050"/>
                </a:solidFill>
                <a:latin typeface="Georgia" panose="02040502050405020303" pitchFamily="18" charset="0"/>
              </a:rPr>
              <a:t>3NF</a:t>
            </a:r>
            <a:r>
              <a:rPr lang="en-US" sz="2400" dirty="0">
                <a:solidFill>
                  <a:srgbClr val="00B050"/>
                </a:solidFill>
                <a:latin typeface="Georgia" panose="02040502050405020303" pitchFamily="18" charset="0"/>
              </a:rPr>
              <a:t>.  </a:t>
            </a:r>
            <a:endParaRPr lang="en-IN" sz="2400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Rectangle: Diagonal Corners Rounded 4">
            <a:extLst>
              <a:ext uri="{FF2B5EF4-FFF2-40B4-BE49-F238E27FC236}">
                <a16:creationId xmlns:a16="http://schemas.microsoft.com/office/drawing/2014/main" xmlns="" id="{CEEDF0C0-F4ED-6D1E-326F-E15C39F73880}"/>
              </a:ext>
            </a:extLst>
          </p:cNvPr>
          <p:cNvSpPr/>
          <p:nvPr/>
        </p:nvSpPr>
        <p:spPr>
          <a:xfrm>
            <a:off x="1919536" y="5389764"/>
            <a:ext cx="7776864" cy="919555"/>
          </a:xfrm>
          <a:prstGeom prst="round2DiagRect">
            <a:avLst/>
          </a:prstGeom>
          <a:noFill/>
          <a:ln w="127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70358331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7670D45-F3DB-1885-ED18-45B5DD0F7E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390" y="1504759"/>
            <a:ext cx="9446260" cy="2572313"/>
          </a:xfrm>
        </p:spPr>
        <p:txBody>
          <a:bodyPr/>
          <a:lstStyle/>
          <a:p>
            <a:r>
              <a:rPr lang="en-US" sz="2400" u="none" dirty="0">
                <a:solidFill>
                  <a:schemeClr val="accent5">
                    <a:lumMod val="50000"/>
                  </a:schemeClr>
                </a:solidFill>
                <a:highlight>
                  <a:srgbClr val="FFFF00"/>
                </a:highlight>
                <a:latin typeface="Georgia" panose="02040502050405020303" pitchFamily="18" charset="0"/>
              </a:rPr>
              <a:t>1NF</a:t>
            </a:r>
            <a:r>
              <a:rPr lang="en-US" sz="2400" u="none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 eliminated </a:t>
            </a:r>
            <a:r>
              <a:rPr lang="en-US" sz="2400" u="none" dirty="0">
                <a:solidFill>
                  <a:schemeClr val="accent5">
                    <a:lumMod val="50000"/>
                  </a:schemeClr>
                </a:solidFill>
                <a:highlight>
                  <a:srgbClr val="C0C0C0"/>
                </a:highlight>
                <a:latin typeface="Georgia" panose="02040502050405020303" pitchFamily="18" charset="0"/>
              </a:rPr>
              <a:t>Composite and Multivalued Attributes</a:t>
            </a:r>
          </a:p>
          <a:p>
            <a:endParaRPr lang="en-US" sz="2400" u="none" dirty="0">
              <a:solidFill>
                <a:schemeClr val="accent5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2400" u="none" dirty="0">
                <a:solidFill>
                  <a:schemeClr val="accent5">
                    <a:lumMod val="50000"/>
                  </a:schemeClr>
                </a:solidFill>
                <a:highlight>
                  <a:srgbClr val="00FFFF"/>
                </a:highlight>
                <a:latin typeface="Georgia" panose="02040502050405020303" pitchFamily="18" charset="0"/>
              </a:rPr>
              <a:t>2NF</a:t>
            </a:r>
            <a:r>
              <a:rPr lang="en-US" sz="2400" u="none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 eliminated </a:t>
            </a:r>
            <a:r>
              <a:rPr lang="en-US" sz="2400" u="none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Georgia" panose="02040502050405020303" pitchFamily="18" charset="0"/>
              </a:rPr>
              <a:t>Partial Dependency</a:t>
            </a:r>
          </a:p>
          <a:p>
            <a:endParaRPr lang="en-US" sz="2400" u="none" dirty="0">
              <a:solidFill>
                <a:schemeClr val="accent5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2400" u="none" dirty="0">
                <a:solidFill>
                  <a:schemeClr val="accent5">
                    <a:lumMod val="50000"/>
                  </a:schemeClr>
                </a:solidFill>
                <a:latin typeface="Georgia" panose="02040502050405020303" pitchFamily="18" charset="0"/>
              </a:rPr>
              <a:t>3NF…………….. 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6E995E20-D0D2-9FAF-A4FD-D8605578E2B0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Review</a:t>
            </a:r>
            <a:endParaRPr kumimoji="0" lang="en-US" altLang="en-US" sz="2800" b="1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50000"/>
                </a:schemeClr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Cambria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382F583-09BE-AF82-61AF-50A4C3D1B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624" y="2708920"/>
            <a:ext cx="1440160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87032895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F09BD81B-342E-5FC1-0A11-393D19FDDAA0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Third Normal Form (3NF)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xmlns="" id="{4FA865BA-B745-9433-5B05-A432FEF06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832" y="1095604"/>
            <a:ext cx="11016336" cy="2031325"/>
          </a:xfrm>
        </p:spPr>
        <p:txBody>
          <a:bodyPr/>
          <a:lstStyle/>
          <a:p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A Relation is in 3 NF if: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dirty="0">
                <a:latin typeface="Georgia" pitchFamily="18" charset="0"/>
              </a:rPr>
              <a:t>   </a:t>
            </a:r>
            <a:r>
              <a:rPr lang="en-IN" sz="2400" dirty="0">
                <a:solidFill>
                  <a:srgbClr val="B40EB8"/>
                </a:solidFill>
                <a:latin typeface="Georgia" pitchFamily="18" charset="0"/>
              </a:rPr>
              <a:t>It is in second normal form or 2NF.</a:t>
            </a: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u="none" dirty="0">
                <a:solidFill>
                  <a:srgbClr val="B40EB8"/>
                </a:solidFill>
                <a:latin typeface="Georgia" pitchFamily="18" charset="0"/>
              </a:rPr>
              <a:t>   </a:t>
            </a:r>
            <a:r>
              <a:rPr lang="en-IN" sz="2400" dirty="0">
                <a:solidFill>
                  <a:srgbClr val="B40EB8"/>
                </a:solidFill>
                <a:latin typeface="Georgia" pitchFamily="18" charset="0"/>
              </a:rPr>
              <a:t>It doesn’t contain transitive functional dependencies (for non-prime attributes).</a:t>
            </a:r>
            <a:endParaRPr lang="en-IN" sz="2400" u="none" dirty="0">
              <a:solidFill>
                <a:srgbClr val="B40EB8"/>
              </a:solidFill>
              <a:latin typeface="Georgia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17D7D8F-38BA-2E72-3652-75EE081EC99C}"/>
              </a:ext>
            </a:extLst>
          </p:cNvPr>
          <p:cNvSpPr txBox="1"/>
          <p:nvPr/>
        </p:nvSpPr>
        <p:spPr>
          <a:xfrm>
            <a:off x="1127448" y="3429000"/>
            <a:ext cx="7704856" cy="1883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02060"/>
                </a:solidFill>
                <a:effectLst/>
                <a:latin typeface="Georgia" panose="02040502050405020303" pitchFamily="18" charset="0"/>
              </a:rPr>
              <a:t>Transitive dependency means indirect dependency </a:t>
            </a: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02060"/>
                </a:solidFill>
                <a:effectLst/>
                <a:latin typeface="Georgia" panose="02040502050405020303" pitchFamily="18" charset="0"/>
              </a:rPr>
              <a:t>i.e. 	</a:t>
            </a:r>
            <a:r>
              <a:rPr lang="en-US" sz="2000" b="1" i="0" dirty="0">
                <a:solidFill>
                  <a:srgbClr val="002060"/>
                </a:solidFill>
                <a:effectLst/>
                <a:latin typeface="Georgia" panose="02040502050405020303" pitchFamily="18" charset="0"/>
              </a:rPr>
              <a:t>X→Y</a:t>
            </a:r>
            <a:r>
              <a:rPr lang="en-US" sz="2000" b="0" i="0" dirty="0">
                <a:solidFill>
                  <a:srgbClr val="002060"/>
                </a:solidFill>
                <a:effectLst/>
                <a:latin typeface="Georgia" panose="02040502050405020303" pitchFamily="18" charset="0"/>
              </a:rPr>
              <a:t> (Y is dependent on X) </a:t>
            </a:r>
            <a:r>
              <a:rPr lang="en-US" sz="2000" dirty="0">
                <a:solidFill>
                  <a:srgbClr val="002060"/>
                </a:solidFill>
                <a:latin typeface="Georgia" panose="02040502050405020303" pitchFamily="18" charset="0"/>
              </a:rPr>
              <a:t>and</a:t>
            </a:r>
          </a:p>
          <a:p>
            <a:pPr algn="just">
              <a:lnSpc>
                <a:spcPct val="150000"/>
              </a:lnSpc>
            </a:pPr>
            <a:r>
              <a:rPr lang="en-US" sz="2000" b="1" i="0" dirty="0">
                <a:solidFill>
                  <a:srgbClr val="002060"/>
                </a:solidFill>
                <a:effectLst/>
                <a:latin typeface="Georgia" panose="02040502050405020303" pitchFamily="18" charset="0"/>
              </a:rPr>
              <a:t>	Y→Z</a:t>
            </a:r>
            <a:endParaRPr lang="en-US" sz="2000" b="0" i="0" dirty="0">
              <a:solidFill>
                <a:srgbClr val="002060"/>
              </a:solidFill>
              <a:effectLst/>
              <a:latin typeface="Georgia" panose="02040502050405020303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sz="2000" b="0" i="0" dirty="0">
                <a:solidFill>
                  <a:srgbClr val="002060"/>
                </a:solidFill>
                <a:effectLst/>
                <a:latin typeface="Georgia" panose="02040502050405020303" pitchFamily="18" charset="0"/>
              </a:rPr>
              <a:t>so,  	</a:t>
            </a:r>
            <a:r>
              <a:rPr lang="en-US" sz="2000" b="1" i="0" dirty="0">
                <a:solidFill>
                  <a:srgbClr val="002060"/>
                </a:solidFill>
                <a:effectLst/>
                <a:latin typeface="Georgia" panose="02040502050405020303" pitchFamily="18" charset="0"/>
              </a:rPr>
              <a:t>X→Z. </a:t>
            </a:r>
            <a:endParaRPr lang="en-IN" sz="20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3F689633-917C-903B-CD5B-6694F70BAE70}"/>
              </a:ext>
            </a:extLst>
          </p:cNvPr>
          <p:cNvSpPr txBox="1"/>
          <p:nvPr/>
        </p:nvSpPr>
        <p:spPr>
          <a:xfrm>
            <a:off x="587832" y="5694347"/>
            <a:ext cx="113399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400" b="1" i="0" dirty="0">
                <a:effectLst/>
                <a:latin typeface="Georgia" panose="02040502050405020303" pitchFamily="18" charset="0"/>
              </a:rPr>
              <a:t>3 NF </a:t>
            </a:r>
            <a:r>
              <a:rPr lang="en-US" sz="2400" b="0" i="0" dirty="0">
                <a:effectLst/>
                <a:latin typeface="Georgia" panose="02040502050405020303" pitchFamily="18" charset="0"/>
              </a:rPr>
              <a:t>is used to reduce the </a:t>
            </a:r>
            <a:r>
              <a:rPr lang="en-US" sz="2400" b="1" i="0" dirty="0">
                <a:effectLst/>
                <a:latin typeface="Georgia" panose="02040502050405020303" pitchFamily="18" charset="0"/>
              </a:rPr>
              <a:t>data duplication. </a:t>
            </a:r>
            <a:r>
              <a:rPr lang="en-US" sz="2400" b="0" i="0" dirty="0">
                <a:effectLst/>
                <a:latin typeface="Georgia" panose="02040502050405020303" pitchFamily="18" charset="0"/>
              </a:rPr>
              <a:t>It is also used to achieve the data integrity.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38084" y="928670"/>
            <a:ext cx="11715832" cy="2571768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68902917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9ADC23B-5BEC-05A6-259F-3415AA0431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625" y="1196752"/>
            <a:ext cx="9446260" cy="369332"/>
          </a:xfrm>
        </p:spPr>
        <p:txBody>
          <a:bodyPr/>
          <a:lstStyle/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e.g.: </a:t>
            </a:r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7F464764-1E2C-570A-796D-DB12FBDC1476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Third Normal Form (3NF)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9F52E158-BCF7-7828-DE2A-52723EFFE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5850" y="1052734"/>
            <a:ext cx="5010150" cy="261937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ACC2150-2597-6F2C-2B3E-7114207D8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675" y="1490885"/>
            <a:ext cx="5477941" cy="174307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xmlns="" id="{053386C1-471C-9DDD-F0AE-58E98E0CEED6}"/>
              </a:ext>
            </a:extLst>
          </p:cNvPr>
          <p:cNvGrpSpPr/>
          <p:nvPr/>
        </p:nvGrpSpPr>
        <p:grpSpPr>
          <a:xfrm>
            <a:off x="372899" y="4613062"/>
            <a:ext cx="9227493" cy="1138773"/>
            <a:chOff x="623392" y="4460919"/>
            <a:chExt cx="7784512" cy="1138773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xmlns="" id="{64D131B3-C6D8-E3A5-467C-ACBB142BDDE3}"/>
                </a:ext>
              </a:extLst>
            </p:cNvPr>
            <p:cNvSpPr txBox="1"/>
            <p:nvPr/>
          </p:nvSpPr>
          <p:spPr>
            <a:xfrm>
              <a:off x="623392" y="4460919"/>
              <a:ext cx="7784512" cy="113877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kern="0" dirty="0">
                  <a:solidFill>
                    <a:srgbClr val="4BACC6">
                      <a:lumMod val="50000"/>
                    </a:srgbClr>
                  </a:solidFill>
                  <a:latin typeface="Georgia" panose="02040502050405020303" pitchFamily="18" charset="0"/>
                  <a:cs typeface="Calibri"/>
                  <a:sym typeface="Wingdings" panose="05000000000000000000" pitchFamily="2" charset="2"/>
                </a:rPr>
                <a:t> </a:t>
              </a:r>
              <a:r>
                <a:rPr lang="en-US" sz="2000" b="1" kern="0" dirty="0">
                  <a:latin typeface="Georgia" panose="02040502050405020303" pitchFamily="18" charset="0"/>
                  <a:cs typeface="Calibri"/>
                  <a:sym typeface="Wingdings" panose="05000000000000000000" pitchFamily="2" charset="2"/>
                </a:rPr>
                <a:t>1</a:t>
              </a:r>
              <a:r>
                <a:rPr lang="en-US" sz="2000" b="1" kern="0" baseline="30000" dirty="0">
                  <a:latin typeface="Georgia" panose="02040502050405020303" pitchFamily="18" charset="0"/>
                  <a:cs typeface="Calibri"/>
                  <a:sym typeface="Wingdings" panose="05000000000000000000" pitchFamily="2" charset="2"/>
                </a:rPr>
                <a:t>st</a:t>
              </a:r>
              <a:r>
                <a:rPr lang="en-US" sz="2000" b="1" kern="0" dirty="0">
                  <a:latin typeface="Georgia" panose="02040502050405020303" pitchFamily="18" charset="0"/>
                  <a:cs typeface="Calibri"/>
                  <a:sym typeface="Wingdings" panose="05000000000000000000" pitchFamily="2" charset="2"/>
                </a:rPr>
                <a:t> condition: </a:t>
              </a:r>
            </a:p>
            <a:p>
              <a:r>
                <a:rPr lang="en-US" sz="2400" kern="0" dirty="0">
                  <a:solidFill>
                    <a:srgbClr val="4BACC6">
                      <a:lumMod val="50000"/>
                    </a:srgbClr>
                  </a:solidFill>
                  <a:latin typeface="Georgia" panose="02040502050405020303" pitchFamily="18" charset="0"/>
                  <a:cs typeface="Calibri"/>
                  <a:sym typeface="Wingdings" panose="05000000000000000000" pitchFamily="2" charset="2"/>
                </a:rPr>
                <a:t>   No Composite and Multivalued Attributes                  1NF</a:t>
              </a:r>
            </a:p>
            <a:p>
              <a:r>
                <a:rPr lang="en-US" sz="2400" kern="0" dirty="0">
                  <a:solidFill>
                    <a:srgbClr val="4BACC6">
                      <a:lumMod val="50000"/>
                    </a:srgbClr>
                  </a:solidFill>
                  <a:latin typeface="Georgia" panose="02040502050405020303" pitchFamily="18" charset="0"/>
                  <a:cs typeface="Calibri"/>
                  <a:sym typeface="Wingdings" panose="05000000000000000000" pitchFamily="2" charset="2"/>
                </a:rPr>
                <a:t>   No Partial Dependency                                                     2 NF</a:t>
              </a:r>
              <a:endParaRPr lang="en-IN" sz="2400" dirty="0"/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xmlns="" id="{59637F5A-1EBB-9216-EFD6-8EEC953A396A}"/>
                </a:ext>
              </a:extLst>
            </p:cNvPr>
            <p:cNvGrpSpPr/>
            <p:nvPr/>
          </p:nvGrpSpPr>
          <p:grpSpPr>
            <a:xfrm>
              <a:off x="5506207" y="5005049"/>
              <a:ext cx="1378661" cy="360040"/>
              <a:chOff x="5506207" y="5005049"/>
              <a:chExt cx="1378661" cy="360040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xmlns="" id="{625D267A-1A9F-997D-C646-27841A0B2E4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506207" y="5365089"/>
                <a:ext cx="1008112" cy="0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xmlns="" id="{B4EF950B-2A9B-69D9-05DA-BA1AEB3BBD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76756" y="5005049"/>
                <a:ext cx="1008112" cy="0"/>
              </a:xfrm>
              <a:prstGeom prst="straightConnector1">
                <a:avLst/>
              </a:prstGeom>
              <a:ln>
                <a:solidFill>
                  <a:schemeClr val="accent2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xmlns="" val="252703927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F7B7D16-7E5A-B1E4-1589-44AE661E90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0390" y="1504759"/>
            <a:ext cx="9446260" cy="646331"/>
          </a:xfrm>
        </p:spPr>
        <p:txBody>
          <a:bodyPr/>
          <a:lstStyle/>
          <a:p>
            <a:r>
              <a:rPr lang="en-US" sz="2400" u="none" kern="0" dirty="0">
                <a:solidFill>
                  <a:schemeClr val="tx1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 </a:t>
            </a:r>
            <a:r>
              <a:rPr lang="en-US" sz="2400" b="1" u="none" kern="0" dirty="0">
                <a:solidFill>
                  <a:schemeClr val="tx1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2</a:t>
            </a:r>
            <a:r>
              <a:rPr lang="en-US" sz="2400" b="1" u="none" kern="0" baseline="30000" dirty="0">
                <a:solidFill>
                  <a:schemeClr val="tx1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nd</a:t>
            </a:r>
            <a:r>
              <a:rPr lang="en-US" sz="2400" b="1" u="none" kern="0" dirty="0">
                <a:solidFill>
                  <a:schemeClr val="tx1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 condition: </a:t>
            </a:r>
            <a:r>
              <a:rPr lang="en-US" sz="2400" u="none" kern="0" dirty="0">
                <a:solidFill>
                  <a:schemeClr val="tx1"/>
                </a:solidFill>
                <a:latin typeface="Georgia" panose="02040502050405020303" pitchFamily="18" charset="0"/>
                <a:sym typeface="Wingdings" panose="05000000000000000000" pitchFamily="2" charset="2"/>
              </a:rPr>
              <a:t>Table must not contain Transitive Dependency. </a:t>
            </a:r>
          </a:p>
          <a:p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6F4751C6-24AB-42E8-49BE-2AFB503513E2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Third Normal Form (3NF)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8718D4C4-33CE-96F7-3A91-899124B58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90" y="2151090"/>
            <a:ext cx="9944100" cy="286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7582091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4B53F5-12AF-75A9-D956-81DC600AD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052" y="1150875"/>
            <a:ext cx="11297572" cy="738664"/>
          </a:xfrm>
        </p:spPr>
        <p:txBody>
          <a:bodyPr/>
          <a:lstStyle/>
          <a:p>
            <a:pPr algn="just"/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Consider the table BOOK. </a:t>
            </a:r>
            <a:r>
              <a:rPr lang="en-US" sz="24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BookID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 is the primary key of the table. Check if the table is in 3NF?  </a:t>
            </a:r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42602096-674D-995A-E68B-49EE29FA2FD1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Third Normal Form (3NF)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688DDC7C-4794-A808-5E7F-5D66B2ED1D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33795522"/>
              </p:ext>
            </p:extLst>
          </p:nvPr>
        </p:nvGraphicFramePr>
        <p:xfrm>
          <a:off x="349684" y="3075939"/>
          <a:ext cx="6502400" cy="2555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xmlns="" val="1798924325"/>
                    </a:ext>
                  </a:extLst>
                </a:gridCol>
                <a:gridCol w="1758776">
                  <a:extLst>
                    <a:ext uri="{9D8B030D-6E8A-4147-A177-3AD203B41FA5}">
                      <a16:colId xmlns:a16="http://schemas.microsoft.com/office/drawing/2014/main" xmlns="" val="3870590742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xmlns="" val="4211152638"/>
                    </a:ext>
                  </a:extLst>
                </a:gridCol>
                <a:gridCol w="1245816">
                  <a:extLst>
                    <a:ext uri="{9D8B030D-6E8A-4147-A177-3AD203B41FA5}">
                      <a16:colId xmlns:a16="http://schemas.microsoft.com/office/drawing/2014/main" xmlns="" val="29639203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BookID</a:t>
                      </a:r>
                      <a:endParaRPr lang="en-IN" sz="2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CategoryID</a:t>
                      </a:r>
                      <a:endParaRPr lang="en-IN" sz="2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Category Type</a:t>
                      </a:r>
                      <a:endParaRPr lang="en-IN" sz="2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Price</a:t>
                      </a:r>
                      <a:endParaRPr lang="en-IN" sz="2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912620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1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B40EB8"/>
                          </a:solidFill>
                          <a:latin typeface="Georgia" panose="02040502050405020303" pitchFamily="18" charset="0"/>
                        </a:rPr>
                        <a:t>1</a:t>
                      </a:r>
                      <a:endParaRPr lang="en-IN" sz="1800" b="1" dirty="0">
                        <a:solidFill>
                          <a:srgbClr val="B40EB8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B40EB8"/>
                          </a:solidFill>
                          <a:latin typeface="Georgia" panose="02040502050405020303" pitchFamily="18" charset="0"/>
                        </a:rPr>
                        <a:t>History</a:t>
                      </a:r>
                      <a:endParaRPr lang="en-IN" sz="1800" b="1" dirty="0">
                        <a:solidFill>
                          <a:srgbClr val="B40EB8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300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94714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2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accent2"/>
                          </a:solidFill>
                          <a:latin typeface="Georgia" panose="02040502050405020303" pitchFamily="18" charset="0"/>
                        </a:rPr>
                        <a:t>2</a:t>
                      </a:r>
                      <a:endParaRPr lang="en-IN" sz="1800" b="1" dirty="0">
                        <a:solidFill>
                          <a:schemeClr val="accent2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accent2"/>
                          </a:solidFill>
                          <a:latin typeface="Georgia" panose="02040502050405020303" pitchFamily="18" charset="0"/>
                        </a:rPr>
                        <a:t>Science</a:t>
                      </a:r>
                      <a:endParaRPr lang="en-IN" sz="1800" b="1" dirty="0">
                        <a:solidFill>
                          <a:schemeClr val="accent2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350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58270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3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B40EB8"/>
                          </a:solidFill>
                          <a:latin typeface="Georgia" panose="02040502050405020303" pitchFamily="18" charset="0"/>
                        </a:rPr>
                        <a:t>1</a:t>
                      </a:r>
                      <a:endParaRPr lang="en-IN" sz="1800" b="1" dirty="0">
                        <a:solidFill>
                          <a:srgbClr val="B40EB8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B40EB8"/>
                          </a:solidFill>
                          <a:latin typeface="Georgia" panose="02040502050405020303" pitchFamily="18" charset="0"/>
                        </a:rPr>
                        <a:t>History</a:t>
                      </a:r>
                      <a:endParaRPr lang="en-IN" sz="1800" b="1" dirty="0">
                        <a:solidFill>
                          <a:srgbClr val="B40EB8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250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27072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4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3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Mystery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200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4160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5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accent2"/>
                          </a:solidFill>
                          <a:latin typeface="Georgia" panose="02040502050405020303" pitchFamily="18" charset="0"/>
                        </a:rPr>
                        <a:t>2</a:t>
                      </a:r>
                      <a:endParaRPr lang="en-IN" sz="1800" b="1" dirty="0">
                        <a:solidFill>
                          <a:schemeClr val="accent2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chemeClr val="accent2"/>
                          </a:solidFill>
                          <a:latin typeface="Georgia" panose="02040502050405020303" pitchFamily="18" charset="0"/>
                        </a:rPr>
                        <a:t>Science</a:t>
                      </a:r>
                      <a:endParaRPr lang="en-IN" sz="1800" b="1" dirty="0">
                        <a:solidFill>
                          <a:schemeClr val="accent2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300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2609761"/>
                  </a:ext>
                </a:extLst>
              </a:tr>
            </a:tbl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xmlns="" id="{8F99B81E-CE79-C1FD-1674-6BF8A7AC5251}"/>
              </a:ext>
            </a:extLst>
          </p:cNvPr>
          <p:cNvGrpSpPr/>
          <p:nvPr/>
        </p:nvGrpSpPr>
        <p:grpSpPr>
          <a:xfrm>
            <a:off x="7104112" y="3121802"/>
            <a:ext cx="4392489" cy="2585323"/>
            <a:chOff x="7681269" y="2859250"/>
            <a:chExt cx="4392489" cy="2585323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xmlns="" id="{75713F14-1C20-40F6-E218-F373A8879AC7}"/>
                </a:ext>
              </a:extLst>
            </p:cNvPr>
            <p:cNvSpPr txBox="1"/>
            <p:nvPr/>
          </p:nvSpPr>
          <p:spPr>
            <a:xfrm>
              <a:off x="7681269" y="2859250"/>
              <a:ext cx="4392489" cy="25853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just"/>
              <a:r>
                <a:rPr lang="en-US" sz="1800" dirty="0">
                  <a:solidFill>
                    <a:schemeClr val="tx1"/>
                  </a:solidFill>
                  <a:latin typeface="Georgia" panose="02040502050405020303" pitchFamily="18" charset="0"/>
                </a:rPr>
                <a:t>FDs: </a:t>
              </a:r>
            </a:p>
            <a:p>
              <a:pPr algn="just"/>
              <a:endParaRPr lang="en-US" dirty="0">
                <a:latin typeface="Georgia" panose="02040502050405020303" pitchFamily="18" charset="0"/>
              </a:endParaRPr>
            </a:p>
            <a:p>
              <a:pPr algn="just"/>
              <a:r>
                <a:rPr lang="en-US" sz="1800" dirty="0" err="1">
                  <a:solidFill>
                    <a:schemeClr val="tx1"/>
                  </a:solidFill>
                  <a:latin typeface="Georgia" panose="02040502050405020303" pitchFamily="18" charset="0"/>
                </a:rPr>
                <a:t>BookID</a:t>
              </a:r>
              <a:r>
                <a:rPr lang="en-US" sz="1800" dirty="0">
                  <a:solidFill>
                    <a:schemeClr val="tx1"/>
                  </a:solidFill>
                  <a:latin typeface="Georgia" panose="02040502050405020303" pitchFamily="18" charset="0"/>
                </a:rPr>
                <a:t>                 </a:t>
              </a:r>
              <a:r>
                <a:rPr lang="en-US" sz="1800" dirty="0" err="1">
                  <a:solidFill>
                    <a:schemeClr val="tx1"/>
                  </a:solidFill>
                  <a:latin typeface="Georgia" panose="02040502050405020303" pitchFamily="18" charset="0"/>
                </a:rPr>
                <a:t>CategoryID</a:t>
              </a:r>
              <a:endParaRPr lang="en-US" sz="1800" dirty="0">
                <a:solidFill>
                  <a:schemeClr val="tx1"/>
                </a:solidFill>
                <a:latin typeface="Georgia" panose="02040502050405020303" pitchFamily="18" charset="0"/>
              </a:endParaRPr>
            </a:p>
            <a:p>
              <a:pPr algn="just"/>
              <a:r>
                <a:rPr lang="en-US" sz="1800" dirty="0" err="1">
                  <a:solidFill>
                    <a:schemeClr val="tx1"/>
                  </a:solidFill>
                  <a:latin typeface="Georgia" panose="02040502050405020303" pitchFamily="18" charset="0"/>
                </a:rPr>
                <a:t>CategoryID</a:t>
              </a:r>
              <a:r>
                <a:rPr lang="en-US" sz="1800" dirty="0">
                  <a:solidFill>
                    <a:schemeClr val="tx1"/>
                  </a:solidFill>
                  <a:latin typeface="Georgia" panose="02040502050405020303" pitchFamily="18" charset="0"/>
                </a:rPr>
                <a:t>               Category Type</a:t>
              </a:r>
            </a:p>
            <a:p>
              <a:pPr algn="just"/>
              <a:r>
                <a:rPr lang="en-US" sz="1800" dirty="0">
                  <a:solidFill>
                    <a:schemeClr val="tx1"/>
                  </a:solidFill>
                  <a:latin typeface="Georgia" panose="02040502050405020303" pitchFamily="18" charset="0"/>
                </a:rPr>
                <a:t>So, </a:t>
              </a:r>
            </a:p>
            <a:p>
              <a:pPr algn="just"/>
              <a:r>
                <a:rPr lang="en-IN" sz="1800" dirty="0" err="1">
                  <a:solidFill>
                    <a:schemeClr val="tx1"/>
                  </a:solidFill>
                  <a:latin typeface="Georgia" panose="02040502050405020303" pitchFamily="18" charset="0"/>
                </a:rPr>
                <a:t>BookID</a:t>
              </a:r>
              <a:r>
                <a:rPr lang="en-IN" sz="1800" dirty="0">
                  <a:solidFill>
                    <a:schemeClr val="tx1"/>
                  </a:solidFill>
                  <a:latin typeface="Georgia" panose="02040502050405020303" pitchFamily="18" charset="0"/>
                </a:rPr>
                <a:t>                </a:t>
              </a:r>
              <a:r>
                <a:rPr lang="en-IN" sz="1800" dirty="0" err="1">
                  <a:solidFill>
                    <a:schemeClr val="tx1"/>
                  </a:solidFill>
                  <a:latin typeface="Georgia" panose="02040502050405020303" pitchFamily="18" charset="0"/>
                </a:rPr>
                <a:t>Categorytype</a:t>
              </a:r>
              <a:endParaRPr lang="en-IN" sz="1800" dirty="0">
                <a:solidFill>
                  <a:schemeClr val="tx1"/>
                </a:solidFill>
                <a:latin typeface="Georgia" panose="02040502050405020303" pitchFamily="18" charset="0"/>
              </a:endParaRPr>
            </a:p>
            <a:p>
              <a:pPr algn="just"/>
              <a:endParaRPr lang="en-IN" dirty="0">
                <a:latin typeface="Georgia" panose="02040502050405020303" pitchFamily="18" charset="0"/>
              </a:endParaRPr>
            </a:p>
            <a:p>
              <a:pPr algn="just"/>
              <a:r>
                <a:rPr lang="en-IN" sz="1800" dirty="0">
                  <a:solidFill>
                    <a:schemeClr val="tx1"/>
                  </a:solidFill>
                  <a:latin typeface="Georgia" panose="02040502050405020303" pitchFamily="18" charset="0"/>
                </a:rPr>
                <a:t>Hence, the table </a:t>
              </a:r>
              <a:r>
                <a:rPr lang="en-IN" dirty="0">
                  <a:latin typeface="Georgia" panose="02040502050405020303" pitchFamily="18" charset="0"/>
                </a:rPr>
                <a:t>has Transitive Dependency. So, table is not in 3NF. </a:t>
              </a:r>
              <a:endParaRPr lang="en-IN" sz="1800" dirty="0">
                <a:solidFill>
                  <a:schemeClr val="tx1"/>
                </a:solidFill>
                <a:latin typeface="Georgia" panose="02040502050405020303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xmlns="" id="{83C348AC-9712-C74D-B32F-00584A239DE8}"/>
                </a:ext>
              </a:extLst>
            </p:cNvPr>
            <p:cNvCxnSpPr/>
            <p:nvPr/>
          </p:nvCxnSpPr>
          <p:spPr>
            <a:xfrm>
              <a:off x="8628302" y="3583671"/>
              <a:ext cx="720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xmlns="" id="{4B72372D-4F40-39E4-8B1C-F7222DE6A1B9}"/>
                </a:ext>
              </a:extLst>
            </p:cNvPr>
            <p:cNvCxnSpPr/>
            <p:nvPr/>
          </p:nvCxnSpPr>
          <p:spPr>
            <a:xfrm>
              <a:off x="8977413" y="3886528"/>
              <a:ext cx="720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xmlns="" id="{92C1FFBE-DD2F-D084-4146-84832EE74854}"/>
                </a:ext>
              </a:extLst>
            </p:cNvPr>
            <p:cNvCxnSpPr/>
            <p:nvPr/>
          </p:nvCxnSpPr>
          <p:spPr>
            <a:xfrm>
              <a:off x="8617373" y="4447767"/>
              <a:ext cx="72008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02362C3E-BBF4-82D1-0294-C4BA949A201F}"/>
              </a:ext>
            </a:extLst>
          </p:cNvPr>
          <p:cNvSpPr txBox="1"/>
          <p:nvPr/>
        </p:nvSpPr>
        <p:spPr>
          <a:xfrm>
            <a:off x="553695" y="2628721"/>
            <a:ext cx="15098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u="none" dirty="0">
                <a:solidFill>
                  <a:schemeClr val="tx1"/>
                </a:solidFill>
                <a:latin typeface="Georgia" panose="02040502050405020303" pitchFamily="18" charset="0"/>
              </a:rPr>
              <a:t>BOOK</a:t>
            </a:r>
            <a:endParaRPr lang="en-IN" sz="2000" b="1" dirty="0"/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xmlns="" id="{75427F04-6100-2579-93BF-46DC0C0EEE12}"/>
              </a:ext>
            </a:extLst>
          </p:cNvPr>
          <p:cNvSpPr txBox="1">
            <a:spLocks/>
          </p:cNvSpPr>
          <p:nvPr/>
        </p:nvSpPr>
        <p:spPr>
          <a:xfrm>
            <a:off x="176152" y="6170934"/>
            <a:ext cx="1177537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 u="heavy">
                <a:solidFill>
                  <a:srgbClr val="0462C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400" u="none" kern="0" dirty="0">
                <a:solidFill>
                  <a:srgbClr val="FF0000"/>
                </a:solidFill>
                <a:latin typeface="Georgia" panose="02040502050405020303" pitchFamily="18" charset="0"/>
              </a:rPr>
              <a:t>Further, there is </a:t>
            </a:r>
            <a:r>
              <a:rPr lang="en-US" sz="2400" b="1" u="none" kern="0" dirty="0">
                <a:solidFill>
                  <a:srgbClr val="FF0000"/>
                </a:solidFill>
                <a:latin typeface="Georgia" panose="02040502050405020303" pitchFamily="18" charset="0"/>
              </a:rPr>
              <a:t>redundancy</a:t>
            </a:r>
            <a:r>
              <a:rPr lang="en-US" sz="2400" u="none" kern="0" dirty="0">
                <a:solidFill>
                  <a:srgbClr val="FF0000"/>
                </a:solidFill>
                <a:latin typeface="Georgia" panose="02040502050405020303" pitchFamily="18" charset="0"/>
              </a:rPr>
              <a:t> in the above table, which may be removed with the 3NF. </a:t>
            </a:r>
            <a:endParaRPr lang="en-IN" sz="2400" u="none" kern="0" dirty="0">
              <a:solidFill>
                <a:srgbClr val="FF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1971296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CDC1BF7-CFC9-889E-ACAF-30F00860C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368" y="980728"/>
            <a:ext cx="9446260" cy="1107996"/>
          </a:xfrm>
        </p:spPr>
        <p:txBody>
          <a:bodyPr/>
          <a:lstStyle/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How to make the table BOOK to be in 3 NF? </a:t>
            </a:r>
          </a:p>
          <a:p>
            <a:endParaRPr lang="en-US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sz="2400" u="none" dirty="0">
                <a:solidFill>
                  <a:srgbClr val="00B050"/>
                </a:solidFill>
                <a:latin typeface="Georgia" panose="02040502050405020303" pitchFamily="18" charset="0"/>
              </a:rPr>
              <a:t>Solution: Decompose the table into multiple tables. </a:t>
            </a:r>
            <a:endParaRPr lang="en-IN" sz="2400" u="none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8FD5A5DB-328E-0842-618D-641CF8B3D915}"/>
              </a:ext>
            </a:extLst>
          </p:cNvPr>
          <p:cNvSpPr txBox="1">
            <a:spLocks/>
          </p:cNvSpPr>
          <p:nvPr/>
        </p:nvSpPr>
        <p:spPr>
          <a:xfrm>
            <a:off x="373660" y="188640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Third Normal Form (3NF)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ADC7124F-C5E1-350D-3926-A714A5413B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382177591"/>
              </p:ext>
            </p:extLst>
          </p:nvPr>
        </p:nvGraphicFramePr>
        <p:xfrm>
          <a:off x="767408" y="3541616"/>
          <a:ext cx="4630192" cy="2396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xmlns="" val="1798924325"/>
                    </a:ext>
                  </a:extLst>
                </a:gridCol>
                <a:gridCol w="1758776">
                  <a:extLst>
                    <a:ext uri="{9D8B030D-6E8A-4147-A177-3AD203B41FA5}">
                      <a16:colId xmlns:a16="http://schemas.microsoft.com/office/drawing/2014/main" xmlns="" val="3870590742"/>
                    </a:ext>
                  </a:extLst>
                </a:gridCol>
                <a:gridCol w="1245816">
                  <a:extLst>
                    <a:ext uri="{9D8B030D-6E8A-4147-A177-3AD203B41FA5}">
                      <a16:colId xmlns:a16="http://schemas.microsoft.com/office/drawing/2014/main" xmlns="" val="2963920371"/>
                    </a:ext>
                  </a:extLst>
                </a:gridCol>
              </a:tblGrid>
              <a:tr h="567416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BookID</a:t>
                      </a:r>
                      <a:endParaRPr lang="en-IN" sz="2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CategoryID</a:t>
                      </a:r>
                      <a:endParaRPr lang="en-IN" sz="2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Georgia" panose="02040502050405020303" pitchFamily="18" charset="0"/>
                        </a:rPr>
                        <a:t>Price</a:t>
                      </a:r>
                      <a:endParaRPr lang="en-IN" sz="2000" dirty="0">
                        <a:solidFill>
                          <a:schemeClr val="tx1"/>
                        </a:solidFill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991262091"/>
                  </a:ext>
                </a:extLst>
              </a:tr>
              <a:tr h="35364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1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1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300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94714917"/>
                  </a:ext>
                </a:extLst>
              </a:tr>
              <a:tr h="35364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2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2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350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658270690"/>
                  </a:ext>
                </a:extLst>
              </a:tr>
              <a:tr h="35364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3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1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250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527072195"/>
                  </a:ext>
                </a:extLst>
              </a:tr>
              <a:tr h="35364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4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3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200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344160148"/>
                  </a:ext>
                </a:extLst>
              </a:tr>
              <a:tr h="353648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5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2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Georgia" panose="02040502050405020303" pitchFamily="18" charset="0"/>
                        </a:rPr>
                        <a:t>300</a:t>
                      </a:r>
                      <a:endParaRPr lang="en-IN" sz="1800" dirty="0">
                        <a:latin typeface="Georgia" panose="02040502050405020303" pitchFamily="18" charset="0"/>
                      </a:endParaRPr>
                    </a:p>
                  </a:txBody>
                  <a:tcPr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7260976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9B57609-61FC-582F-78E7-63753664CD64}"/>
              </a:ext>
            </a:extLst>
          </p:cNvPr>
          <p:cNvSpPr txBox="1"/>
          <p:nvPr/>
        </p:nvSpPr>
        <p:spPr>
          <a:xfrm>
            <a:off x="122139" y="3021326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latin typeface="Georgia" panose="02040502050405020303" pitchFamily="18" charset="0"/>
              </a:rPr>
              <a:t>BOOK1 </a:t>
            </a:r>
            <a:endParaRPr lang="en-IN" sz="2400" b="1" dirty="0">
              <a:latin typeface="Georgia" panose="02040502050405020303" pitchFamily="18" charset="0"/>
            </a:endParaRP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xmlns="" id="{04198218-8316-16A6-AA1F-C461FA7C3FED}"/>
              </a:ext>
            </a:extLst>
          </p:cNvPr>
          <p:cNvCxnSpPr/>
          <p:nvPr/>
        </p:nvCxnSpPr>
        <p:spPr>
          <a:xfrm rot="5400000" flipH="1" flipV="1">
            <a:off x="1451083" y="3110528"/>
            <a:ext cx="812989" cy="3600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F9388BA2-3C47-3EF6-932F-467A5167DC64}"/>
              </a:ext>
            </a:extLst>
          </p:cNvPr>
          <p:cNvSpPr txBox="1"/>
          <p:nvPr/>
        </p:nvSpPr>
        <p:spPr>
          <a:xfrm>
            <a:off x="1515785" y="2535134"/>
            <a:ext cx="1411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Primary key 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xmlns="" id="{93868E41-C056-5757-8A0C-ACCCE9B21194}"/>
              </a:ext>
            </a:extLst>
          </p:cNvPr>
          <p:cNvCxnSpPr/>
          <p:nvPr/>
        </p:nvCxnSpPr>
        <p:spPr>
          <a:xfrm rot="5400000" flipH="1" flipV="1">
            <a:off x="3296728" y="3032149"/>
            <a:ext cx="543377" cy="36004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xmlns="" id="{F919F1C8-AD08-C8E3-0F50-D8C8FBCE5FAE}"/>
              </a:ext>
            </a:extLst>
          </p:cNvPr>
          <p:cNvCxnSpPr>
            <a:cxnSpLocks/>
          </p:cNvCxnSpPr>
          <p:nvPr/>
        </p:nvCxnSpPr>
        <p:spPr>
          <a:xfrm rot="16200000" flipV="1">
            <a:off x="3804131" y="2941133"/>
            <a:ext cx="623360" cy="62205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E656751-6A86-BB7F-2890-CEDDCFE33638}"/>
              </a:ext>
            </a:extLst>
          </p:cNvPr>
          <p:cNvSpPr txBox="1"/>
          <p:nvPr/>
        </p:nvSpPr>
        <p:spPr>
          <a:xfrm>
            <a:off x="3175232" y="2557358"/>
            <a:ext cx="2456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</a:rPr>
              <a:t>Nonprime  attributes </a:t>
            </a:r>
            <a:endParaRPr lang="en-IN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A55B5A70-C7F0-5553-6253-63E91E4A9087}"/>
              </a:ext>
            </a:extLst>
          </p:cNvPr>
          <p:cNvSpPr txBox="1"/>
          <p:nvPr/>
        </p:nvSpPr>
        <p:spPr>
          <a:xfrm>
            <a:off x="6596066" y="2333685"/>
            <a:ext cx="525344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Nonprime  attributes,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CategoryID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 and Price are fully functionally dependent on </a:t>
            </a:r>
            <a:r>
              <a:rPr lang="en-US" sz="2400" dirty="0" err="1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BookID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. So, table is in 2NF, i.e. the 1</a:t>
            </a:r>
            <a:r>
              <a:rPr lang="en-US" sz="2400" baseline="30000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st</a:t>
            </a: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 condition for 3NF is satisfied.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 No Transitive FD in this table is found. 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 Hence, this table BOOK is in 3NF. </a:t>
            </a:r>
            <a:endParaRPr lang="en-IN" sz="2400" dirty="0">
              <a:solidFill>
                <a:schemeClr val="accent6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61333597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2761810-38B0-23BD-57A4-AF57AA924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67504" y="2071678"/>
            <a:ext cx="5256584" cy="3810723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u="none" dirty="0">
                <a:solidFill>
                  <a:srgbClr val="0070C0"/>
                </a:solidFill>
                <a:latin typeface="Georgia" panose="02040502050405020303" pitchFamily="18" charset="0"/>
              </a:rPr>
              <a:t>Non-prime attribute, CategoryType is fully functionally dependent on </a:t>
            </a:r>
            <a:r>
              <a:rPr lang="en-US" sz="2400" u="none" dirty="0" err="1">
                <a:solidFill>
                  <a:srgbClr val="0070C0"/>
                </a:solidFill>
                <a:latin typeface="Georgia" panose="02040502050405020303" pitchFamily="18" charset="0"/>
              </a:rPr>
              <a:t>CategoryID</a:t>
            </a:r>
            <a:r>
              <a:rPr lang="en-US" sz="2400" u="none" dirty="0">
                <a:solidFill>
                  <a:srgbClr val="0070C0"/>
                </a:solidFill>
                <a:latin typeface="Georgia" panose="02040502050405020303" pitchFamily="18" charset="0"/>
              </a:rPr>
              <a:t>, which is the primary key. Hence table is in 2NF.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u="none" dirty="0">
                <a:solidFill>
                  <a:srgbClr val="0070C0"/>
                </a:solidFill>
                <a:latin typeface="Georgia" panose="02040502050405020303" pitchFamily="18" charset="0"/>
              </a:rPr>
              <a:t> No Transitive FD in this table is found.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400" u="none" dirty="0">
                <a:solidFill>
                  <a:srgbClr val="0070C0"/>
                </a:solidFill>
                <a:latin typeface="Georgia" panose="02040502050405020303" pitchFamily="18" charset="0"/>
              </a:rPr>
              <a:t> Hence, table CATEGORY is in 3NF.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FD402031-DE30-AAA8-C9D8-B123B8814C9A}"/>
              </a:ext>
            </a:extLst>
          </p:cNvPr>
          <p:cNvSpPr txBox="1">
            <a:spLocks/>
          </p:cNvSpPr>
          <p:nvPr/>
        </p:nvSpPr>
        <p:spPr>
          <a:xfrm>
            <a:off x="373660" y="188640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Third Normal Form (3NF)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36E1280-B33A-5ABA-EFF0-3E6EFBD83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560" y="3088785"/>
            <a:ext cx="3670110" cy="19447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E361826C-33EF-ACF6-A5EB-CBB346A8B17A}"/>
              </a:ext>
            </a:extLst>
          </p:cNvPr>
          <p:cNvSpPr txBox="1"/>
          <p:nvPr/>
        </p:nvSpPr>
        <p:spPr>
          <a:xfrm>
            <a:off x="84573" y="3284984"/>
            <a:ext cx="2063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Georgia" panose="02040502050405020303" pitchFamily="18" charset="0"/>
              </a:rPr>
              <a:t>CATEGORY</a:t>
            </a:r>
            <a:endParaRPr lang="en-IN" sz="2400" b="1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E8F184E2-4A52-E5CE-8EAD-020E1E357157}"/>
              </a:ext>
            </a:extLst>
          </p:cNvPr>
          <p:cNvSpPr txBox="1"/>
          <p:nvPr/>
        </p:nvSpPr>
        <p:spPr>
          <a:xfrm>
            <a:off x="2041587" y="2255178"/>
            <a:ext cx="1411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Primary key </a:t>
            </a:r>
            <a:endParaRPr lang="en-IN" dirty="0">
              <a:solidFill>
                <a:schemeClr val="accent6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xmlns="" id="{AB661038-8A3D-F6A2-EAB4-8EB771CC94FF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408597" y="2933588"/>
            <a:ext cx="690092" cy="12700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B0A3E8B-3928-BEFE-8F32-BB66D819E22E}"/>
              </a:ext>
            </a:extLst>
          </p:cNvPr>
          <p:cNvSpPr txBox="1"/>
          <p:nvPr/>
        </p:nvSpPr>
        <p:spPr>
          <a:xfrm>
            <a:off x="4038412" y="2302650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Georgia" panose="02040502050405020303" pitchFamily="18" charset="0"/>
              </a:rPr>
              <a:t>Nonprime  attribute </a:t>
            </a:r>
            <a:endParaRPr lang="en-IN" dirty="0">
              <a:solidFill>
                <a:schemeClr val="tx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xmlns="" id="{BEFE7449-39A3-85C4-E7BD-80897C748F38}"/>
              </a:ext>
            </a:extLst>
          </p:cNvPr>
          <p:cNvCxnSpPr/>
          <p:nvPr/>
        </p:nvCxnSpPr>
        <p:spPr>
          <a:xfrm rot="16200000" flipV="1">
            <a:off x="4529359" y="2942479"/>
            <a:ext cx="613002" cy="7200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>
            <a:extLst>
              <a:ext uri="{FF2B5EF4-FFF2-40B4-BE49-F238E27FC236}">
                <a16:creationId xmlns:a16="http://schemas.microsoft.com/office/drawing/2014/main" xmlns="" id="{DB5C843E-47E8-3044-E7DD-9F84C5292243}"/>
              </a:ext>
            </a:extLst>
          </p:cNvPr>
          <p:cNvSpPr txBox="1">
            <a:spLocks/>
          </p:cNvSpPr>
          <p:nvPr/>
        </p:nvSpPr>
        <p:spPr>
          <a:xfrm>
            <a:off x="595274" y="6286520"/>
            <a:ext cx="8208912" cy="3650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 u="heavy">
                <a:solidFill>
                  <a:srgbClr val="0462C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b="1" u="none" kern="0" dirty="0">
                <a:solidFill>
                  <a:srgbClr val="C00000"/>
                </a:solidFill>
                <a:latin typeface="Georgia" panose="02040502050405020303" pitchFamily="18" charset="0"/>
              </a:rPr>
              <a:t>Note that Redundant data has been eliminated in the above table.  </a:t>
            </a:r>
            <a:endParaRPr lang="en-IN" b="1" u="none" kern="0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80960" y="928670"/>
            <a:ext cx="71438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200" dirty="0">
                <a:latin typeface="Georgia" panose="02040502050405020303" pitchFamily="18" charset="0"/>
              </a:rPr>
              <a:t>How to make the table BOOK to be in 3 NF? </a:t>
            </a:r>
          </a:p>
          <a:p>
            <a:pPr algn="just"/>
            <a:endParaRPr lang="en-US" sz="2200" dirty="0">
              <a:latin typeface="Georgia" panose="02040502050405020303" pitchFamily="18" charset="0"/>
            </a:endParaRPr>
          </a:p>
          <a:p>
            <a:pPr algn="just"/>
            <a:r>
              <a:rPr lang="en-US" sz="2200" dirty="0">
                <a:solidFill>
                  <a:srgbClr val="00B050"/>
                </a:solidFill>
                <a:latin typeface="Georgia" panose="02040502050405020303" pitchFamily="18" charset="0"/>
              </a:rPr>
              <a:t>Solution: Decompose the table into multiple tables. </a:t>
            </a:r>
            <a:endParaRPr lang="en-IN" sz="2200" dirty="0">
              <a:solidFill>
                <a:srgbClr val="00B05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1589210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D55B76C3-715F-E191-91D5-90EF1C803DB9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Third Normal Form (3NF)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FB3530F-3C10-1E5E-7ED0-E672939B7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353468"/>
            <a:ext cx="11665296" cy="41510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A49289B-0129-AE97-AB60-69AE9C131766}"/>
              </a:ext>
            </a:extLst>
          </p:cNvPr>
          <p:cNvSpPr txBox="1"/>
          <p:nvPr/>
        </p:nvSpPr>
        <p:spPr>
          <a:xfrm>
            <a:off x="649948" y="5670594"/>
            <a:ext cx="109906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latin typeface="Georgia" panose="02040502050405020303" pitchFamily="18" charset="0"/>
              </a:rPr>
              <a:t>Emp ID indirectly determines the </a:t>
            </a:r>
            <a:r>
              <a:rPr lang="en-US" dirty="0" err="1">
                <a:latin typeface="Georgia" panose="02040502050405020303" pitchFamily="18" charset="0"/>
              </a:rPr>
              <a:t>Project_Name</a:t>
            </a:r>
            <a:r>
              <a:rPr lang="en-US" dirty="0">
                <a:latin typeface="Georgia" panose="02040502050405020303" pitchFamily="18" charset="0"/>
              </a:rPr>
              <a:t>. A non–prime attribute </a:t>
            </a:r>
            <a:r>
              <a:rPr lang="en-US" dirty="0" err="1">
                <a:latin typeface="Georgia" panose="02040502050405020303" pitchFamily="18" charset="0"/>
              </a:rPr>
              <a:t>Project_ID</a:t>
            </a:r>
            <a:r>
              <a:rPr lang="en-US" dirty="0">
                <a:latin typeface="Georgia" panose="02040502050405020303" pitchFamily="18" charset="0"/>
              </a:rPr>
              <a:t> determines another non-prime attribute, </a:t>
            </a:r>
            <a:r>
              <a:rPr lang="en-US" dirty="0" err="1">
                <a:latin typeface="Georgia" panose="02040502050405020303" pitchFamily="18" charset="0"/>
              </a:rPr>
              <a:t>Project_Name</a:t>
            </a:r>
            <a:r>
              <a:rPr lang="en-US" dirty="0">
                <a:latin typeface="Georgia" panose="02040502050405020303" pitchFamily="18" charset="0"/>
              </a:rPr>
              <a:t>. So, in this table </a:t>
            </a:r>
            <a:r>
              <a:rPr lang="en-US" b="1" dirty="0">
                <a:latin typeface="Georgia" panose="02040502050405020303" pitchFamily="18" charset="0"/>
              </a:rPr>
              <a:t>Transitive Dependency </a:t>
            </a:r>
            <a:r>
              <a:rPr lang="en-US" dirty="0">
                <a:latin typeface="Georgia" panose="02040502050405020303" pitchFamily="18" charset="0"/>
              </a:rPr>
              <a:t>exists and hence the table is </a:t>
            </a:r>
            <a:r>
              <a:rPr lang="en-US" b="1" dirty="0">
                <a:latin typeface="Georgia" panose="02040502050405020303" pitchFamily="18" charset="0"/>
              </a:rPr>
              <a:t>not in 3NF.   </a:t>
            </a:r>
            <a:endParaRPr lang="en-IN" b="1" dirty="0">
              <a:latin typeface="Georgia" panose="02040502050405020303" pitchFamily="18" charset="0"/>
            </a:endParaRP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xmlns="" id="{0B1A3300-E789-719B-9D55-BF31EDE951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3352" y="1004888"/>
            <a:ext cx="2022565" cy="365036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US" b="1" u="none" dirty="0">
                <a:solidFill>
                  <a:srgbClr val="0070C0"/>
                </a:solidFill>
                <a:latin typeface="Georgia" panose="02040502050405020303" pitchFamily="18" charset="0"/>
              </a:rPr>
              <a:t>e.g.2: </a:t>
            </a:r>
            <a:endParaRPr lang="en-IN" b="1" u="none" dirty="0">
              <a:solidFill>
                <a:srgbClr val="0070C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2654116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43460920-0291-B8E2-8CF1-F6E3EC84AB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38084" y="1857364"/>
            <a:ext cx="11161240" cy="738664"/>
          </a:xfrm>
        </p:spPr>
        <p:txBody>
          <a:bodyPr/>
          <a:lstStyle/>
          <a:p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How to eliminate Transitive Dependency so that the table exists in 3NF. </a:t>
            </a:r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246F2E7C-0AE2-3E7B-10ED-DAFF397E42EA}"/>
              </a:ext>
            </a:extLst>
          </p:cNvPr>
          <p:cNvSpPr txBox="1">
            <a:spLocks/>
          </p:cNvSpPr>
          <p:nvPr/>
        </p:nvSpPr>
        <p:spPr>
          <a:xfrm>
            <a:off x="407368" y="33265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Third Normal Form (3NF)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268824255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7B74FB8-D584-C5AA-EFE5-4250C268F9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2" y="620688"/>
            <a:ext cx="12192000" cy="6504046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0AF04805-409A-D7DE-CB5F-925EC4C6154A}"/>
              </a:ext>
            </a:extLst>
          </p:cNvPr>
          <p:cNvSpPr txBox="1">
            <a:spLocks/>
          </p:cNvSpPr>
          <p:nvPr/>
        </p:nvSpPr>
        <p:spPr>
          <a:xfrm>
            <a:off x="335360" y="181989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Third Normal Form (3NF)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11835804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4D6BBA5-341B-E7C5-1086-C58F753F1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360" y="908720"/>
            <a:ext cx="11233248" cy="4680520"/>
          </a:xfrm>
        </p:spPr>
        <p:txBody>
          <a:bodyPr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0" i="0" u="non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BCNF is the advance version of 3NF, hence known as 3.5 NF.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0" i="0" u="none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 It is stricter than 3NF.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 Every relation in BCNF is also in 3NF; however, a relation in 3NF is not necessarily in BCNF.</a:t>
            </a:r>
            <a:endParaRPr lang="en-US" sz="2400" b="0" i="0" u="none" dirty="0"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algn="just"/>
            <a:endParaRPr lang="en-US" sz="2400" b="0" i="0" u="none" dirty="0"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algn="just"/>
            <a:endParaRPr lang="en-US" sz="2400" u="none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algn="just"/>
            <a:endParaRPr lang="en-US" sz="2400" u="none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  <a:p>
            <a:pPr algn="just"/>
            <a:r>
              <a:rPr lang="en-US" sz="2400" u="none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BCNF Rule: A table is in BCNF if 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u="none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The table is in 3NF.  	</a:t>
            </a:r>
          </a:p>
          <a:p>
            <a:pPr marL="800100" lvl="1" indent="-342900" algn="just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E</a:t>
            </a:r>
            <a:r>
              <a:rPr lang="en-US" sz="2400" b="1" u="none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very functional dependency </a:t>
            </a:r>
            <a:r>
              <a:rPr lang="en-US" sz="2400" u="none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X → Y,  X is the super key of the table.</a:t>
            </a:r>
            <a:endParaRPr lang="en-IN" sz="2400" u="none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7B4CDEBF-7697-C4AF-339B-9AD79BC9692E}"/>
              </a:ext>
            </a:extLst>
          </p:cNvPr>
          <p:cNvSpPr txBox="1">
            <a:spLocks/>
          </p:cNvSpPr>
          <p:nvPr/>
        </p:nvSpPr>
        <p:spPr>
          <a:xfrm>
            <a:off x="191344" y="162997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Boyce-Codd Normal Form (BCNF) or 3.5 NF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6786" y="3284984"/>
            <a:ext cx="11501518" cy="157163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12096948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5274" y="1142984"/>
            <a:ext cx="10659146" cy="4431983"/>
          </a:xfrm>
        </p:spPr>
        <p:txBody>
          <a:bodyPr/>
          <a:lstStyle/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  Super key: 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a </a:t>
            </a: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super key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is a set of one or more attributes (columns) that can uniquely  identify a record (or </a:t>
            </a:r>
            <a:r>
              <a:rPr lang="en-IN" sz="2400" u="none" dirty="0" err="1">
                <a:solidFill>
                  <a:schemeClr val="tx1"/>
                </a:solidFill>
                <a:latin typeface="Georgia" pitchFamily="18" charset="0"/>
              </a:rPr>
              <a:t>tuple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) in a database table.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 A superkey </a:t>
            </a: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may or may not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be minimal, meaning it can have extra attributes that aren't necessary for uniqueness.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</a:t>
            </a: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superkey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</a:t>
            </a: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cannot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have </a:t>
            </a:r>
            <a:r>
              <a:rPr lang="en-IN" sz="2400" u="none" dirty="0">
                <a:solidFill>
                  <a:srgbClr val="FF0000"/>
                </a:solidFill>
                <a:latin typeface="Georgia" pitchFamily="18" charset="0"/>
              </a:rPr>
              <a:t>duplicate values 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in the context of a database table.</a:t>
            </a:r>
          </a:p>
          <a:p>
            <a:pPr algn="just">
              <a:lnSpc>
                <a:spcPct val="150000"/>
              </a:lnSpc>
              <a:buFont typeface="Arial" pitchFamily="34" charset="0"/>
              <a:buChar char="•"/>
            </a:pP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 A primary key is a </a:t>
            </a: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candidate key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that has been </a:t>
            </a: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chosen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to uniquely identify records in a table. A primary key must be </a:t>
            </a: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minimal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, meaning it cannot have any unnecessary attributes.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7B4CDEBF-7697-C4AF-339B-9AD79BC9692E}"/>
              </a:ext>
            </a:extLst>
          </p:cNvPr>
          <p:cNvSpPr txBox="1">
            <a:spLocks/>
          </p:cNvSpPr>
          <p:nvPr/>
        </p:nvSpPr>
        <p:spPr>
          <a:xfrm>
            <a:off x="238084" y="285728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Boyce-Codd Normal Form (BCNF) or 3.5 NF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2398" y="4572008"/>
            <a:ext cx="11358642" cy="166199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sz="2400" b="1" dirty="0">
                <a:solidFill>
                  <a:schemeClr val="tx1"/>
                </a:solidFill>
              </a:rPr>
              <a:t>{</a:t>
            </a:r>
            <a:r>
              <a:rPr lang="en-IN" sz="2400" b="1" u="none" dirty="0" err="1">
                <a:solidFill>
                  <a:schemeClr val="tx1"/>
                </a:solidFill>
                <a:latin typeface="Georgia" pitchFamily="18" charset="0"/>
              </a:rPr>
              <a:t>EmployeeID</a:t>
            </a: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} can not be a valid superkey. </a:t>
            </a:r>
          </a:p>
          <a:p>
            <a:pPr algn="just">
              <a:lnSpc>
                <a:spcPct val="150000"/>
              </a:lnSpc>
            </a:pP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Instead, the combination {</a:t>
            </a:r>
            <a:r>
              <a:rPr lang="en-IN" sz="2400" u="none" dirty="0" err="1">
                <a:solidFill>
                  <a:schemeClr val="tx1"/>
                </a:solidFill>
                <a:latin typeface="Georgia" pitchFamily="18" charset="0"/>
              </a:rPr>
              <a:t>EmployeeID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, Email} would work as a </a:t>
            </a: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valid superkey 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because the pair of values will </a:t>
            </a: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uniquely identify each record.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95274" y="1214422"/>
            <a:ext cx="7572428" cy="2786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7B4CDEBF-7697-C4AF-339B-9AD79BC9692E}"/>
              </a:ext>
            </a:extLst>
          </p:cNvPr>
          <p:cNvSpPr txBox="1">
            <a:spLocks/>
          </p:cNvSpPr>
          <p:nvPr/>
        </p:nvSpPr>
        <p:spPr>
          <a:xfrm>
            <a:off x="238084" y="285728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Boyce-Codd Normal Form (BCNF) or 3.5 NF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7B4CDEBF-7697-C4AF-339B-9AD79BC9692E}"/>
              </a:ext>
            </a:extLst>
          </p:cNvPr>
          <p:cNvSpPr txBox="1">
            <a:spLocks/>
          </p:cNvSpPr>
          <p:nvPr/>
        </p:nvSpPr>
        <p:spPr>
          <a:xfrm>
            <a:off x="238084" y="285728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Boyce-Codd Normal Form (BCNF) or 3.5 NF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6778" y="1714488"/>
            <a:ext cx="9572692" cy="46434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1452530" y="5929330"/>
            <a:ext cx="17859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latin typeface="Georgia" pitchFamily="18" charset="0"/>
              </a:rPr>
              <a:t>Super key: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398" y="1142984"/>
            <a:ext cx="1071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Georgia" pitchFamily="18" charset="0"/>
              </a:rPr>
              <a:t>e.g. 1: 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0390" y="1504759"/>
            <a:ext cx="5301296" cy="1477328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Check if the table is in </a:t>
            </a: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1NF.</a:t>
            </a: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</a:t>
            </a:r>
          </a:p>
          <a:p>
            <a:pPr marL="457200" indent="-457200">
              <a:buAutoNum type="arabicPeriod"/>
            </a:pPr>
            <a:endParaRPr lang="en-IN" sz="2400" u="none" dirty="0">
              <a:solidFill>
                <a:schemeClr val="tx1"/>
              </a:solidFill>
              <a:latin typeface="Georgia" pitchFamily="18" charset="0"/>
            </a:endParaRPr>
          </a:p>
          <a:p>
            <a:pPr marL="457200" indent="-457200">
              <a:buAutoNum type="arabicPeriod"/>
            </a:pPr>
            <a:endParaRPr lang="en-IN" sz="2400" u="none" dirty="0">
              <a:solidFill>
                <a:schemeClr val="tx1"/>
              </a:solidFill>
              <a:latin typeface="Georgia" pitchFamily="18" charset="0"/>
            </a:endParaRPr>
          </a:p>
          <a:p>
            <a:pPr marL="457200" indent="-457200">
              <a:buAutoNum type="arabicPeriod"/>
            </a:pP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Check if the table is in </a:t>
            </a: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2 NF. 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7B4CDEBF-7697-C4AF-339B-9AD79BC9692E}"/>
              </a:ext>
            </a:extLst>
          </p:cNvPr>
          <p:cNvSpPr txBox="1">
            <a:spLocks/>
          </p:cNvSpPr>
          <p:nvPr/>
        </p:nvSpPr>
        <p:spPr>
          <a:xfrm>
            <a:off x="238084" y="285728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Boyce-Codd Normal Form (BCNF) or 3.5 NF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4430" y="1500174"/>
            <a:ext cx="4058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Georgia" pitchFamily="18" charset="0"/>
              </a:rPr>
              <a:t>√</a:t>
            </a:r>
            <a:endParaRPr lang="en-IN" sz="2400" b="1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67438" y="2357430"/>
            <a:ext cx="578647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05390" y="4214818"/>
            <a:ext cx="678661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4952992" y="2500306"/>
            <a:ext cx="4058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Georgia" pitchFamily="18" charset="0"/>
              </a:rPr>
              <a:t>√</a:t>
            </a:r>
            <a:endParaRPr lang="en-IN" sz="2400" b="1" dirty="0"/>
          </a:p>
        </p:txBody>
      </p:sp>
      <p:cxnSp>
        <p:nvCxnSpPr>
          <p:cNvPr id="10" name="Straight Connector 9"/>
          <p:cNvCxnSpPr/>
          <p:nvPr/>
        </p:nvCxnSpPr>
        <p:spPr>
          <a:xfrm rot="5400000">
            <a:off x="2632063" y="3963979"/>
            <a:ext cx="578645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dissolve/>
  </p:transition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7B4CDEBF-7697-C4AF-339B-9AD79BC9692E}"/>
              </a:ext>
            </a:extLst>
          </p:cNvPr>
          <p:cNvSpPr txBox="1">
            <a:spLocks/>
          </p:cNvSpPr>
          <p:nvPr/>
        </p:nvSpPr>
        <p:spPr>
          <a:xfrm>
            <a:off x="238084" y="285728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Boyce-Codd Normal Form (BCNF) or 3.5 NF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09522" y="1500174"/>
            <a:ext cx="4729792" cy="1846659"/>
          </a:xfrm>
        </p:spPr>
        <p:txBody>
          <a:bodyPr/>
          <a:lstStyle/>
          <a:p>
            <a:pPr marL="457200" indent="-457200">
              <a:buAutoNum type="arabicPeriod" startAt="3"/>
            </a:pPr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Check if the table is in </a:t>
            </a:r>
            <a:r>
              <a:rPr lang="en-IN" sz="2400" b="1" u="none" dirty="0">
                <a:solidFill>
                  <a:schemeClr val="tx1"/>
                </a:solidFill>
                <a:latin typeface="Georgia" pitchFamily="18" charset="0"/>
              </a:rPr>
              <a:t>3NF.</a:t>
            </a:r>
          </a:p>
          <a:p>
            <a:pPr marL="457200" indent="-457200">
              <a:buAutoNum type="arabicPeriod" startAt="3"/>
            </a:pPr>
            <a:endParaRPr lang="en-IN" sz="2400" b="1" u="none" dirty="0">
              <a:solidFill>
                <a:schemeClr val="tx1"/>
              </a:solidFill>
              <a:latin typeface="Georgia" pitchFamily="18" charset="0"/>
            </a:endParaRPr>
          </a:p>
          <a:p>
            <a:pPr marL="457200" indent="-457200">
              <a:buAutoNum type="arabicPeriod" startAt="3"/>
            </a:pPr>
            <a:endParaRPr lang="en-IN" sz="2400" b="1" u="none" dirty="0">
              <a:solidFill>
                <a:schemeClr val="tx1"/>
              </a:solidFill>
              <a:latin typeface="Georgia" pitchFamily="18" charset="0"/>
            </a:endParaRPr>
          </a:p>
          <a:p>
            <a:pPr marL="457200" indent="-457200"/>
            <a:r>
              <a:rPr lang="en-IN" sz="2400" u="none" dirty="0">
                <a:solidFill>
                  <a:schemeClr val="tx1"/>
                </a:solidFill>
                <a:latin typeface="Georgia" pitchFamily="18" charset="0"/>
              </a:rPr>
              <a:t> </a:t>
            </a:r>
          </a:p>
          <a:p>
            <a:pPr marL="457200" indent="-457200">
              <a:buAutoNum type="arabicPeriod"/>
            </a:pPr>
            <a:endParaRPr lang="en-IN" sz="2400" u="none" dirty="0">
              <a:solidFill>
                <a:schemeClr val="tx1"/>
              </a:solidFill>
              <a:latin typeface="Georgia" pitchFamily="18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00675" y="1357298"/>
            <a:ext cx="6791325" cy="177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81625" y="2928934"/>
            <a:ext cx="6810375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Rectangle 7"/>
          <p:cNvSpPr/>
          <p:nvPr/>
        </p:nvSpPr>
        <p:spPr>
          <a:xfrm>
            <a:off x="4667240" y="1500174"/>
            <a:ext cx="4058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>
                <a:latin typeface="Georgia" pitchFamily="18" charset="0"/>
              </a:rPr>
              <a:t>√</a:t>
            </a:r>
            <a:endParaRPr lang="en-IN" sz="2400" b="1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2417749" y="3963979"/>
            <a:ext cx="5786454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66778" y="1214422"/>
            <a:ext cx="9429816" cy="47434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7B4CDEBF-7697-C4AF-339B-9AD79BC9692E}"/>
              </a:ext>
            </a:extLst>
          </p:cNvPr>
          <p:cNvSpPr txBox="1">
            <a:spLocks/>
          </p:cNvSpPr>
          <p:nvPr/>
        </p:nvSpPr>
        <p:spPr>
          <a:xfrm>
            <a:off x="238084" y="285728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Boyce-Codd Normal Form (BCNF) or 3.5 NF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8150" y="785794"/>
            <a:ext cx="9429816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7B4CDEBF-7697-C4AF-339B-9AD79BC9692E}"/>
              </a:ext>
            </a:extLst>
          </p:cNvPr>
          <p:cNvSpPr txBox="1">
            <a:spLocks/>
          </p:cNvSpPr>
          <p:nvPr/>
        </p:nvSpPr>
        <p:spPr>
          <a:xfrm>
            <a:off x="238084" y="285728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Boyce-Codd Normal Form (BCNF) or 3.5 NF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7B4CDEBF-7697-C4AF-339B-9AD79BC9692E}"/>
              </a:ext>
            </a:extLst>
          </p:cNvPr>
          <p:cNvSpPr txBox="1">
            <a:spLocks/>
          </p:cNvSpPr>
          <p:nvPr/>
        </p:nvSpPr>
        <p:spPr>
          <a:xfrm>
            <a:off x="881026" y="6143644"/>
            <a:ext cx="10515600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Hence, table is not in BCNF or 3.5 NF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9588" y="1571612"/>
            <a:ext cx="9787006" cy="5072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7B4CDEBF-7697-C4AF-339B-9AD79BC9692E}"/>
              </a:ext>
            </a:extLst>
          </p:cNvPr>
          <p:cNvSpPr txBox="1">
            <a:spLocks/>
          </p:cNvSpPr>
          <p:nvPr/>
        </p:nvSpPr>
        <p:spPr>
          <a:xfrm>
            <a:off x="309522" y="285728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Boyce-Codd Normal Form (BCNF) or 3.5 NF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8084" y="1000108"/>
            <a:ext cx="115015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i="1" dirty="0">
                <a:latin typeface="Georgia" pitchFamily="18" charset="0"/>
              </a:rPr>
              <a:t>How to make the table to be in BCNF:  </a:t>
            </a:r>
            <a:r>
              <a:rPr lang="en-IN" sz="2400" b="1" dirty="0">
                <a:latin typeface="Georgia" pitchFamily="18" charset="0"/>
              </a:rPr>
              <a:t>Decompose the table into 2 tables , R1 and R2  as shown below.  </a:t>
            </a:r>
            <a:r>
              <a:rPr lang="en-IN" sz="2400" b="1" i="1" dirty="0">
                <a:latin typeface="Georgia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7B4CDEBF-7697-C4AF-339B-9AD79BC9692E}"/>
              </a:ext>
            </a:extLst>
          </p:cNvPr>
          <p:cNvSpPr txBox="1">
            <a:spLocks/>
          </p:cNvSpPr>
          <p:nvPr/>
        </p:nvSpPr>
        <p:spPr>
          <a:xfrm>
            <a:off x="309522" y="357166"/>
            <a:ext cx="105156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Boyce-Codd Normal Form (BCNF) or 3.5 NF</a:t>
            </a:r>
            <a:r>
              <a:rPr kumimoji="0" lang="en-US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B40EB8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8150" y="2500306"/>
          <a:ext cx="4643470" cy="212630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003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431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Georgia" pitchFamily="18" charset="0"/>
                        </a:rPr>
                        <a:t>STUDENT</a:t>
                      </a:r>
                      <a:r>
                        <a:rPr lang="en-IN" sz="2400" baseline="0" dirty="0">
                          <a:latin typeface="Georgia" pitchFamily="18" charset="0"/>
                        </a:rPr>
                        <a:t> </a:t>
                      </a:r>
                      <a:endParaRPr lang="en-IN" sz="2400" dirty="0">
                        <a:latin typeface="Georg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Georgia" pitchFamily="18" charset="0"/>
                        </a:rPr>
                        <a:t>TEACHER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MNO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PQR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MNO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XYZ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STU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096000" y="2714620"/>
          <a:ext cx="4643470" cy="175546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0033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14314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642942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Georgia" pitchFamily="18" charset="0"/>
                        </a:rPr>
                        <a:t>TEACHER</a:t>
                      </a:r>
                      <a:r>
                        <a:rPr lang="en-IN" sz="2400" baseline="0" dirty="0">
                          <a:latin typeface="Georgia" pitchFamily="18" charset="0"/>
                        </a:rPr>
                        <a:t> </a:t>
                      </a:r>
                      <a:endParaRPr lang="en-IN" sz="2400" dirty="0">
                        <a:latin typeface="Georg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 dirty="0">
                          <a:latin typeface="Georgia" pitchFamily="18" charset="0"/>
                        </a:rPr>
                        <a:t>SUBJECT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MNO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PQR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STU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Georgia" pitchFamily="18" charset="0"/>
                        </a:rPr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53190" y="2285992"/>
            <a:ext cx="714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Georgia" pitchFamily="18" charset="0"/>
              </a:rPr>
              <a:t>R2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6302" y="2081202"/>
            <a:ext cx="77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Georgia" pitchFamily="18" charset="0"/>
              </a:rPr>
              <a:t>R1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8150" y="5143512"/>
            <a:ext cx="5000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dirty="0">
                <a:latin typeface="Georgia" pitchFamily="18" charset="0"/>
              </a:rPr>
              <a:t>R1 and R2 are in BCNF. 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4452132" y="4501364"/>
            <a:ext cx="3001984" cy="572298"/>
            <a:chOff x="4452132" y="4501364"/>
            <a:chExt cx="3001984" cy="572298"/>
          </a:xfrm>
        </p:grpSpPr>
        <p:cxnSp>
          <p:nvCxnSpPr>
            <p:cNvPr id="13" name="Straight Connector 12"/>
            <p:cNvCxnSpPr/>
            <p:nvPr/>
          </p:nvCxnSpPr>
          <p:spPr>
            <a:xfrm rot="5400000">
              <a:off x="7167570" y="4786322"/>
              <a:ext cx="571504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rot="10800000">
              <a:off x="4452926" y="5072074"/>
              <a:ext cx="3000396" cy="158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 rot="5400000" flipH="1" flipV="1">
              <a:off x="4238612" y="4857760"/>
              <a:ext cx="428628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975" y="404664"/>
            <a:ext cx="9933090" cy="430887"/>
          </a:xfrm>
        </p:spPr>
        <p:txBody>
          <a:bodyPr/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Introduction to the higher normal forms 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56FEA77D-CFDE-0A50-6D04-B26513F338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084" y="1214422"/>
            <a:ext cx="11715832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CC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Fourth Normal Form (4NF)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CC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en-US" sz="2400" b="1" u="none" dirty="0">
              <a:solidFill>
                <a:schemeClr val="accent5">
                  <a:lumMod val="75000"/>
                </a:schemeClr>
              </a:solidFill>
              <a:latin typeface="Georgia" pitchFamily="18" charset="0"/>
              <a:ea typeface="+mj-ea"/>
              <a:cs typeface="Cambria"/>
            </a:endParaRP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IN" sz="2400" u="none" dirty="0">
                <a:latin typeface="Georgia" pitchFamily="18" charset="0"/>
              </a:rPr>
              <a:t>   Unlike 2NF, 3NF, BCNF which are concerned with functional dependencies, </a:t>
            </a:r>
            <a:r>
              <a:rPr lang="en-IN" sz="2400" b="1" u="none" dirty="0">
                <a:latin typeface="Georgia" pitchFamily="18" charset="0"/>
              </a:rPr>
              <a:t>4NF</a:t>
            </a:r>
            <a:r>
              <a:rPr lang="en-IN" sz="2400" u="none" dirty="0">
                <a:latin typeface="Georgia" pitchFamily="18" charset="0"/>
              </a:rPr>
              <a:t> is concerned with </a:t>
            </a:r>
            <a:r>
              <a:rPr lang="en-IN" sz="2400" b="1" u="none" dirty="0">
                <a:solidFill>
                  <a:schemeClr val="accent2">
                    <a:lumMod val="75000"/>
                  </a:schemeClr>
                </a:solidFill>
                <a:latin typeface="Georgia" pitchFamily="18" charset="0"/>
              </a:rPr>
              <a:t>multi valued dependency (MVD)</a:t>
            </a:r>
            <a:r>
              <a:rPr lang="en-IN" sz="2400" u="none" dirty="0">
                <a:latin typeface="Georgia" pitchFamily="18" charset="0"/>
              </a:rPr>
              <a:t>.</a:t>
            </a:r>
            <a:endParaRPr kumimoji="0" lang="en-US" altLang="en-US" sz="240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Georgia" pitchFamily="18" charset="0"/>
              <a:ea typeface="+mj-ea"/>
              <a:cs typeface="Cambria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95274" y="3571876"/>
            <a:ext cx="110014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Georgia" pitchFamily="18" charset="0"/>
              </a:rPr>
              <a:t>A relation will be in </a:t>
            </a:r>
            <a:r>
              <a:rPr lang="en-IN" sz="2400" b="1" dirty="0">
                <a:solidFill>
                  <a:srgbClr val="33CCFF"/>
                </a:solidFill>
                <a:latin typeface="Georgia" pitchFamily="18" charset="0"/>
              </a:rPr>
              <a:t>4NF</a:t>
            </a:r>
            <a:r>
              <a:rPr lang="en-IN" sz="2400" b="1" dirty="0">
                <a:latin typeface="Georgia" pitchFamily="18" charset="0"/>
              </a:rPr>
              <a:t> </a:t>
            </a:r>
            <a:r>
              <a:rPr lang="en-IN" sz="2400" dirty="0">
                <a:latin typeface="Georgia" pitchFamily="18" charset="0"/>
              </a:rPr>
              <a:t>if it is in Boyce </a:t>
            </a:r>
            <a:r>
              <a:rPr lang="en-IN" sz="2400" dirty="0" err="1">
                <a:latin typeface="Georgia" pitchFamily="18" charset="0"/>
              </a:rPr>
              <a:t>Codd</a:t>
            </a:r>
            <a:r>
              <a:rPr lang="en-IN" sz="2400" dirty="0">
                <a:latin typeface="Georgia" pitchFamily="18" charset="0"/>
              </a:rPr>
              <a:t> normal form (BCNF) and has no multi-valued dependency.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Georgia" pitchFamily="18" charset="0"/>
              </a:rPr>
              <a:t>For a dependency A → B, if for a single value of A, multiple values of B exists, then the relation will be a multi-valued dependency.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238084" y="3500438"/>
            <a:ext cx="11787270" cy="24288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522" y="1214422"/>
            <a:ext cx="11430080" cy="1328954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en-IN" sz="2000" b="1" u="none" dirty="0">
                <a:solidFill>
                  <a:schemeClr val="tx1"/>
                </a:solidFill>
                <a:highlight>
                  <a:srgbClr val="00FFFF"/>
                </a:highlight>
                <a:latin typeface="Georgia" pitchFamily="18" charset="0"/>
              </a:rPr>
              <a:t>MVD</a:t>
            </a:r>
            <a:r>
              <a:rPr lang="en-IN" sz="2000" u="none" dirty="0">
                <a:solidFill>
                  <a:schemeClr val="tx1"/>
                </a:solidFill>
                <a:latin typeface="Georgia" pitchFamily="18" charset="0"/>
              </a:rPr>
              <a:t> (Multi-Valued Dependency) is a concept in </a:t>
            </a:r>
            <a:r>
              <a:rPr lang="en-IN" sz="2000" b="1" u="none" dirty="0">
                <a:solidFill>
                  <a:schemeClr val="tx1"/>
                </a:solidFill>
                <a:latin typeface="Georgia" pitchFamily="18" charset="0"/>
              </a:rPr>
              <a:t>database theory</a:t>
            </a:r>
            <a:r>
              <a:rPr lang="en-IN" sz="2000" u="none" dirty="0">
                <a:solidFill>
                  <a:schemeClr val="tx1"/>
                </a:solidFill>
                <a:latin typeface="Georgia" pitchFamily="18" charset="0"/>
              </a:rPr>
              <a:t> related to the relationships between attributes in a </a:t>
            </a:r>
            <a:r>
              <a:rPr lang="en-IN" sz="2000" b="1" u="none" dirty="0">
                <a:solidFill>
                  <a:schemeClr val="tx1"/>
                </a:solidFill>
                <a:latin typeface="Georgia" pitchFamily="18" charset="0"/>
              </a:rPr>
              <a:t>relational database</a:t>
            </a:r>
            <a:r>
              <a:rPr lang="en-IN" sz="2000" u="none" dirty="0">
                <a:solidFill>
                  <a:schemeClr val="tx1"/>
                </a:solidFill>
                <a:latin typeface="Georgia" pitchFamily="18" charset="0"/>
              </a:rPr>
              <a:t>. It is an extension of </a:t>
            </a:r>
            <a:r>
              <a:rPr lang="en-IN" sz="2000" b="1" u="none" dirty="0">
                <a:solidFill>
                  <a:schemeClr val="tx1"/>
                </a:solidFill>
                <a:latin typeface="Georgia" pitchFamily="18" charset="0"/>
              </a:rPr>
              <a:t>functional dependency</a:t>
            </a:r>
            <a:r>
              <a:rPr lang="en-IN" sz="2000" u="none" dirty="0">
                <a:solidFill>
                  <a:schemeClr val="tx1"/>
                </a:solidFill>
                <a:latin typeface="Georgia" pitchFamily="18" charset="0"/>
              </a:rPr>
              <a:t> and is important when dealing with </a:t>
            </a:r>
            <a:r>
              <a:rPr lang="en-IN" sz="2000" b="1" u="none" dirty="0">
                <a:solidFill>
                  <a:schemeClr val="tx1"/>
                </a:solidFill>
                <a:latin typeface="Georgia" pitchFamily="18" charset="0"/>
              </a:rPr>
              <a:t>higher normal forms</a:t>
            </a:r>
            <a:r>
              <a:rPr lang="en-IN" sz="2000" u="none" dirty="0">
                <a:solidFill>
                  <a:schemeClr val="tx1"/>
                </a:solidFill>
                <a:latin typeface="Georgia" pitchFamily="18" charset="0"/>
              </a:rPr>
              <a:t>, specifically </a:t>
            </a:r>
            <a:r>
              <a:rPr lang="en-IN" sz="2000" b="1" u="none" dirty="0">
                <a:solidFill>
                  <a:schemeClr val="tx1"/>
                </a:solidFill>
                <a:latin typeface="Georgia" pitchFamily="18" charset="0"/>
              </a:rPr>
              <a:t>Fourth Normal Form (4NF)</a:t>
            </a:r>
            <a:r>
              <a:rPr lang="en-IN" sz="2000" u="none" dirty="0">
                <a:solidFill>
                  <a:schemeClr val="tx1"/>
                </a:solidFill>
                <a:latin typeface="Georgia" pitchFamily="18" charset="0"/>
              </a:rPr>
              <a:t>.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36975" y="404664"/>
            <a:ext cx="9933090" cy="430887"/>
          </a:xfrm>
        </p:spPr>
        <p:txBody>
          <a:bodyPr/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Introduction to the higher normal forms 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05982" y="2852936"/>
            <a:ext cx="11305256" cy="35757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Georgia" panose="02040502050405020303" pitchFamily="18" charset="0"/>
              </a:rPr>
              <a:t>Definition of MVD:</a:t>
            </a: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Georgia" panose="02040502050405020303" pitchFamily="18" charset="0"/>
              </a:rPr>
              <a:t>A </a:t>
            </a:r>
            <a:r>
              <a:rPr lang="en-IN" sz="2000" b="1" dirty="0">
                <a:latin typeface="Georgia" panose="02040502050405020303" pitchFamily="18" charset="0"/>
              </a:rPr>
              <a:t>multi-valued dependency (MVD)</a:t>
            </a:r>
            <a:r>
              <a:rPr lang="en-IN" sz="2000" dirty="0">
                <a:latin typeface="Georgia" panose="02040502050405020303" pitchFamily="18" charset="0"/>
              </a:rPr>
              <a:t> occurs when one attribute (or a set of attributes) determines a set of other attributes in a way that the values of the determined attributes are independent of the values of other attributes in the relation.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Georgia" panose="02040502050405020303" pitchFamily="18" charset="0"/>
              </a:rPr>
              <a:t>From the definition of multivalued dependency, we can derive the following rule: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Georgia" panose="02040502050405020303" pitchFamily="18" charset="0"/>
              </a:rPr>
              <a:t>	• If α →β, then α →→β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Georgia" panose="02040502050405020303" pitchFamily="18" charset="0"/>
              </a:rPr>
              <a:t>That is, every functional dependency is also a multivalued dependency.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highlight>
                  <a:srgbClr val="00FFFF"/>
                </a:highlight>
                <a:latin typeface="Georgia" panose="02040502050405020303" pitchFamily="18" charset="0"/>
              </a:rPr>
              <a:t>MVD</a:t>
            </a:r>
            <a:r>
              <a:rPr lang="en-US" sz="2000" dirty="0">
                <a:latin typeface="Georgia" panose="02040502050405020303" pitchFamily="18" charset="0"/>
              </a:rPr>
              <a:t> is denoted as </a:t>
            </a:r>
            <a:r>
              <a:rPr lang="en-US" sz="2000" b="1" dirty="0">
                <a:highlight>
                  <a:srgbClr val="00FFFF"/>
                </a:highlight>
                <a:latin typeface="Georgia" panose="02040502050405020303" pitchFamily="18" charset="0"/>
              </a:rPr>
              <a:t>A →→ B</a:t>
            </a:r>
            <a:r>
              <a:rPr lang="en-US" sz="2000" dirty="0">
                <a:latin typeface="Georgia" panose="02040502050405020303" pitchFamily="18" charset="0"/>
              </a:rPr>
              <a:t>, in which attribute B is determined by a single value of A. </a:t>
            </a:r>
            <a:endParaRPr lang="en-IN" sz="20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EED3FA6-CD15-F764-2D84-36D26F176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368" y="1124744"/>
            <a:ext cx="11571279" cy="1846659"/>
          </a:xfrm>
        </p:spPr>
        <p:txBody>
          <a:bodyPr/>
          <a:lstStyle/>
          <a:p>
            <a:pPr algn="just"/>
            <a:r>
              <a:rPr lang="en-US" sz="2400" u="none" dirty="0">
                <a:solidFill>
                  <a:srgbClr val="FF0000"/>
                </a:solidFill>
                <a:latin typeface="Georgia" panose="02040502050405020303" pitchFamily="18" charset="0"/>
              </a:rPr>
              <a:t>Note: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In DBMS, 1NF (First Normal Form) focuses on eliminating </a:t>
            </a:r>
            <a:r>
              <a:rPr lang="en-US" sz="2400" b="1" u="none" dirty="0">
                <a:solidFill>
                  <a:srgbClr val="0070C0"/>
                </a:solidFill>
                <a:latin typeface="Georgia" panose="02040502050405020303" pitchFamily="18" charset="0"/>
              </a:rPr>
              <a:t>non-atomic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values </a:t>
            </a:r>
            <a:r>
              <a:rPr lang="en-US" sz="2400" i="1" u="none" dirty="0">
                <a:solidFill>
                  <a:srgbClr val="0070C0"/>
                </a:solidFill>
                <a:latin typeface="Georgia" panose="02040502050405020303" pitchFamily="18" charset="0"/>
              </a:rPr>
              <a:t>(</a:t>
            </a:r>
            <a:r>
              <a:rPr lang="en-US" sz="2400" b="1" i="1" u="none" dirty="0">
                <a:solidFill>
                  <a:srgbClr val="0070C0"/>
                </a:solidFill>
                <a:latin typeface="Georgia" panose="02040502050405020303" pitchFamily="18" charset="0"/>
              </a:rPr>
              <a:t>like storing multiple values in a single cell),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 while </a:t>
            </a:r>
            <a:r>
              <a:rPr lang="en-US" sz="2400" b="1" u="none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multivalued dependencies (MVDs) 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address situations where </a:t>
            </a:r>
            <a:r>
              <a:rPr lang="en-US" sz="2400" b="1" i="1" u="none" dirty="0">
                <a:solidFill>
                  <a:schemeClr val="accent6">
                    <a:lumMod val="50000"/>
                  </a:schemeClr>
                </a:solidFill>
                <a:latin typeface="Georgia" panose="02040502050405020303" pitchFamily="18" charset="0"/>
              </a:rPr>
              <a:t>one attribute can have multiple, independent values</a:t>
            </a:r>
            <a:r>
              <a:rPr lang="en-US" sz="2400" u="none" dirty="0">
                <a:solidFill>
                  <a:schemeClr val="tx1"/>
                </a:solidFill>
                <a:latin typeface="Georgia" panose="02040502050405020303" pitchFamily="18" charset="0"/>
              </a:rPr>
              <a:t>, which is a concern addressed in higher normal forms like 4NF. </a:t>
            </a:r>
            <a:endParaRPr lang="en-IN" sz="24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7CDBA156-1F43-1A05-FEE4-72CB2FCB6CCF}"/>
              </a:ext>
            </a:extLst>
          </p:cNvPr>
          <p:cNvSpPr txBox="1">
            <a:spLocks/>
          </p:cNvSpPr>
          <p:nvPr/>
        </p:nvSpPr>
        <p:spPr>
          <a:xfrm>
            <a:off x="329468" y="211616"/>
            <a:ext cx="993309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en-US" sz="2800" kern="0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Introduction to the higher normal forms </a:t>
            </a:r>
            <a:endParaRPr lang="en-IN" sz="2800" kern="0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485DEC3E-C1E8-79B1-5149-C2E3DCA69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75" y="3260596"/>
            <a:ext cx="7631233" cy="11811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0E62D722-5BFA-0F2C-F578-FC762BAAB6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468" y="4662636"/>
            <a:ext cx="7629525" cy="1790700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FF745B6A-B795-2F30-67D1-EC72819AD912}"/>
              </a:ext>
            </a:extLst>
          </p:cNvPr>
          <p:cNvCxnSpPr>
            <a:stCxn id="6" idx="3"/>
          </p:cNvCxnSpPr>
          <p:nvPr/>
        </p:nvCxnSpPr>
        <p:spPr>
          <a:xfrm>
            <a:off x="7968208" y="3851146"/>
            <a:ext cx="1008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18316EAE-8DEC-F01A-B5D7-9054C700A4DA}"/>
              </a:ext>
            </a:extLst>
          </p:cNvPr>
          <p:cNvCxnSpPr/>
          <p:nvPr/>
        </p:nvCxnSpPr>
        <p:spPr>
          <a:xfrm>
            <a:off x="7752184" y="5373216"/>
            <a:ext cx="10081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39C884F6-497E-1872-091E-750753F4DB0C}"/>
              </a:ext>
            </a:extLst>
          </p:cNvPr>
          <p:cNvSpPr txBox="1"/>
          <p:nvPr/>
        </p:nvSpPr>
        <p:spPr>
          <a:xfrm>
            <a:off x="8952889" y="5014923"/>
            <a:ext cx="31281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rgbClr val="0070C0"/>
                </a:solidFill>
                <a:latin typeface="Georgia" panose="02040502050405020303" pitchFamily="18" charset="0"/>
              </a:rPr>
              <a:t>Multivalued Dependency.</a:t>
            </a:r>
            <a:endParaRPr lang="en-IN" sz="2000" dirty="0">
              <a:solidFill>
                <a:srgbClr val="0070C0"/>
              </a:solidFill>
              <a:latin typeface="Georgia" panose="0204050205040502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26DC8949-F3D5-C477-5035-8454D96024A4}"/>
              </a:ext>
            </a:extLst>
          </p:cNvPr>
          <p:cNvSpPr txBox="1"/>
          <p:nvPr/>
        </p:nvSpPr>
        <p:spPr>
          <a:xfrm>
            <a:off x="9200727" y="3781237"/>
            <a:ext cx="288031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solidFill>
                  <a:schemeClr val="accent3">
                    <a:lumMod val="50000"/>
                  </a:schemeClr>
                </a:solidFill>
                <a:latin typeface="Georgia" panose="02040502050405020303" pitchFamily="18" charset="0"/>
              </a:rPr>
              <a:t>Non-atomic values in 1NF.</a:t>
            </a:r>
            <a:endParaRPr lang="en-IN" sz="2000" dirty="0">
              <a:solidFill>
                <a:schemeClr val="accent3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134032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A7BE2A87-F4C9-E052-98A1-52B0B66A82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1344" y="980728"/>
            <a:ext cx="11521280" cy="1231106"/>
          </a:xfrm>
        </p:spPr>
        <p:txBody>
          <a:bodyPr/>
          <a:lstStyle/>
          <a:p>
            <a:pPr algn="just"/>
            <a:r>
              <a:rPr lang="en-US" sz="2000" b="0" i="0" u="none" dirty="0" smtClean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Example 1: </a:t>
            </a:r>
            <a:r>
              <a:rPr lang="en-US" sz="2000" b="0" i="0" u="non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The concept of MVD or Multivalued dependency refers to having multiple rows in a given table. </a:t>
            </a:r>
          </a:p>
          <a:p>
            <a:pPr algn="just"/>
            <a:r>
              <a:rPr lang="en-US" sz="2000" b="0" i="0" u="non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There is a car manufacturing company that produces two of the </a:t>
            </a:r>
            <a:r>
              <a:rPr lang="en-US" sz="2000" b="0" i="0" u="none" dirty="0" err="1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colours</a:t>
            </a:r>
            <a:r>
              <a:rPr lang="en-US" sz="2000" b="0" i="0" u="none" dirty="0"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in the market, i.e., red and yellow of each of their models, every year.</a:t>
            </a:r>
            <a:endParaRPr lang="en-IN" sz="20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62CFE079-28FE-1E34-6A9E-C1B956A7ACEC}"/>
              </a:ext>
            </a:extLst>
          </p:cNvPr>
          <p:cNvSpPr txBox="1">
            <a:spLocks/>
          </p:cNvSpPr>
          <p:nvPr/>
        </p:nvSpPr>
        <p:spPr>
          <a:xfrm>
            <a:off x="329468" y="211616"/>
            <a:ext cx="993309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en-US" sz="2800" kern="0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Introduction to the higher normal forms </a:t>
            </a:r>
            <a:endParaRPr lang="en-IN" sz="2800" kern="0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4735869-8D05-BB05-40BC-C5DADE1DEB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44" y="2480870"/>
            <a:ext cx="6715125" cy="33718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CE48F071-B0EE-4F0F-0EC8-9D9635D93AD6}"/>
              </a:ext>
            </a:extLst>
          </p:cNvPr>
          <p:cNvSpPr txBox="1"/>
          <p:nvPr/>
        </p:nvSpPr>
        <p:spPr>
          <a:xfrm>
            <a:off x="6528048" y="2561199"/>
            <a:ext cx="532859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 The columns COLOUR and MANUF_MONTH are dependent on CAR_MODEL, and they are independent of each other. Thus, we can call both of these columns multivalued. These are, as a result, dependent on CAR_MODEL. </a:t>
            </a:r>
          </a:p>
          <a:p>
            <a:pPr algn="just"/>
            <a:endParaRPr lang="en-US" b="0" i="0" dirty="0">
              <a:solidFill>
                <a:srgbClr val="444444"/>
              </a:solidFill>
              <a:effectLst/>
              <a:latin typeface="Georgia" panose="02040502050405020303" pitchFamily="18" charset="0"/>
            </a:endParaRPr>
          </a:p>
          <a:p>
            <a:pPr algn="just"/>
            <a:r>
              <a:rPr lang="en-US" dirty="0">
                <a:solidFill>
                  <a:srgbClr val="444444"/>
                </a:solidFill>
                <a:latin typeface="Georgia" panose="02040502050405020303" pitchFamily="18" charset="0"/>
              </a:rPr>
              <a:t>T</a:t>
            </a:r>
            <a:r>
              <a:rPr lang="en-US" b="0" i="0" dirty="0">
                <a:solidFill>
                  <a:srgbClr val="444444"/>
                </a:solidFill>
                <a:effectLst/>
                <a:latin typeface="Georgia" panose="02040502050405020303" pitchFamily="18" charset="0"/>
              </a:rPr>
              <a:t>he dependencies are:</a:t>
            </a:r>
          </a:p>
          <a:p>
            <a:pPr algn="just"/>
            <a:endParaRPr lang="en-IN" dirty="0">
              <a:latin typeface="Georgia" panose="020405020504050203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8DCD3A4-195B-3A2A-9EB5-8867BF343788}"/>
              </a:ext>
            </a:extLst>
          </p:cNvPr>
          <p:cNvSpPr txBox="1"/>
          <p:nvPr/>
        </p:nvSpPr>
        <p:spPr>
          <a:xfrm>
            <a:off x="6600056" y="4676894"/>
            <a:ext cx="43204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/>
                </a:solidFill>
                <a:latin typeface="Georgia" panose="02040502050405020303" pitchFamily="18" charset="0"/>
              </a:rPr>
              <a:t>CAR_MODEL → → MANUF_MONTH</a:t>
            </a:r>
          </a:p>
          <a:p>
            <a:endParaRPr lang="en-US" dirty="0">
              <a:solidFill>
                <a:schemeClr val="accent2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chemeClr val="accent2"/>
                </a:solidFill>
                <a:latin typeface="Georgia" panose="02040502050405020303" pitchFamily="18" charset="0"/>
              </a:rPr>
              <a:t>CAR_MODEL → → COLOUR</a:t>
            </a:r>
            <a:endParaRPr lang="en-IN" dirty="0">
              <a:solidFill>
                <a:schemeClr val="accent2"/>
              </a:solidFill>
              <a:latin typeface="Georgia" panose="02040502050405020303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402F881-6382-4717-3767-65DAF4A5EA04}"/>
              </a:ext>
            </a:extLst>
          </p:cNvPr>
          <p:cNvSpPr txBox="1"/>
          <p:nvPr/>
        </p:nvSpPr>
        <p:spPr>
          <a:xfrm>
            <a:off x="4583832" y="5933049"/>
            <a:ext cx="72728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effectLst/>
                <a:latin typeface="Georgia" panose="02040502050405020303" pitchFamily="18" charset="0"/>
              </a:rPr>
              <a:t>i.e. “CAR_MODEL multidetermined MANUF_MONTH” and “CAR_MODEL multidetermined COLOUR”.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205847710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E7BFDA6-669D-3E3D-27FE-A1A72F312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7BA34F3-64D6-BC64-844D-92678AD5B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75" y="404664"/>
            <a:ext cx="9933090" cy="430887"/>
          </a:xfrm>
        </p:spPr>
        <p:txBody>
          <a:bodyPr/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Introduction to the higher normal forms 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61268BA9-051A-489C-B7C4-28C4A6994C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084" y="1214422"/>
            <a:ext cx="11715832" cy="18466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CC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Fourth Normal Form (4NF)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33CCF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  <a:p>
            <a:pPr marL="0" marR="0" lvl="0" indent="0" algn="just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endParaRPr lang="en-US" altLang="en-US" sz="2400" b="1" u="none" dirty="0">
              <a:solidFill>
                <a:schemeClr val="accent5">
                  <a:lumMod val="75000"/>
                </a:schemeClr>
              </a:solidFill>
              <a:latin typeface="Georgia" pitchFamily="18" charset="0"/>
              <a:ea typeface="+mj-ea"/>
              <a:cs typeface="Cambria"/>
            </a:endParaRPr>
          </a:p>
          <a:p>
            <a:pPr lvl="1" algn="just">
              <a:lnSpc>
                <a:spcPct val="150000"/>
              </a:lnSpc>
              <a:buFont typeface="Arial" pitchFamily="34" charset="0"/>
              <a:buChar char="•"/>
              <a:defRPr/>
            </a:pPr>
            <a:r>
              <a:rPr lang="en-IN" sz="2400" u="none" dirty="0">
                <a:latin typeface="Georgia" pitchFamily="18" charset="0"/>
              </a:rPr>
              <a:t>   Unlike 2NF, 3NF, BCNF which are concerned with functional dependencies, </a:t>
            </a:r>
            <a:r>
              <a:rPr lang="en-IN" sz="2400" b="1" u="none" dirty="0">
                <a:latin typeface="Georgia" pitchFamily="18" charset="0"/>
              </a:rPr>
              <a:t>4NF</a:t>
            </a:r>
            <a:r>
              <a:rPr lang="en-IN" sz="2400" u="none" dirty="0">
                <a:latin typeface="Georgia" pitchFamily="18" charset="0"/>
              </a:rPr>
              <a:t> is concerned with </a:t>
            </a:r>
            <a:r>
              <a:rPr lang="en-IN" sz="2400" b="1" u="none" dirty="0">
                <a:solidFill>
                  <a:schemeClr val="accent2">
                    <a:lumMod val="75000"/>
                  </a:schemeClr>
                </a:solidFill>
                <a:latin typeface="Georgia" pitchFamily="18" charset="0"/>
              </a:rPr>
              <a:t>multi valued dependency (MVD)</a:t>
            </a:r>
            <a:r>
              <a:rPr lang="en-IN" sz="2400" u="none" dirty="0">
                <a:latin typeface="Georgia" pitchFamily="18" charset="0"/>
              </a:rPr>
              <a:t>.</a:t>
            </a:r>
            <a:endParaRPr kumimoji="0" lang="en-US" altLang="en-US" sz="2400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uLnTx/>
              <a:uFillTx/>
              <a:latin typeface="Georgia" pitchFamily="18" charset="0"/>
              <a:ea typeface="+mj-ea"/>
              <a:cs typeface="Cambria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428CF2E5-CB83-6A1A-1B98-B9AA4761142E}"/>
              </a:ext>
            </a:extLst>
          </p:cNvPr>
          <p:cNvSpPr/>
          <p:nvPr/>
        </p:nvSpPr>
        <p:spPr>
          <a:xfrm>
            <a:off x="595274" y="3571876"/>
            <a:ext cx="1100145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A relation will be in 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srgbClr val="33CCFF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4NF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 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if it is in Boyce 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Codd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 normal form (BCNF) and has no multi-valued dependency.</a:t>
            </a:r>
          </a:p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itchFamily="18" charset="0"/>
                <a:ea typeface="+mn-ea"/>
                <a:cs typeface="+mn-cs"/>
              </a:rPr>
              <a:t>For a dependency A → B, if for a single value of A, multiple values of B exists, then the relation will be a multi-valued dependency.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6B878E93-9812-5F49-0DA8-438C6B7CF546}"/>
              </a:ext>
            </a:extLst>
          </p:cNvPr>
          <p:cNvSpPr/>
          <p:nvPr/>
        </p:nvSpPr>
        <p:spPr>
          <a:xfrm>
            <a:off x="238084" y="3500438"/>
            <a:ext cx="11787270" cy="242889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55657402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7F94DF7-21F7-3189-7D62-A1F40E3AC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4628" y="2428868"/>
            <a:ext cx="5429288" cy="615553"/>
          </a:xfrm>
        </p:spPr>
        <p:txBody>
          <a:bodyPr/>
          <a:lstStyle/>
          <a:p>
            <a:r>
              <a:rPr lang="en-IN" sz="2000" u="none" dirty="0" smtClean="0">
                <a:solidFill>
                  <a:srgbClr val="C00000"/>
                </a:solidFill>
                <a:latin typeface="Georgia" pitchFamily="18" charset="0"/>
              </a:rPr>
              <a:t>MVD exists in this table and hence table can’t be in 4 NF. How to make it </a:t>
            </a:r>
            <a:r>
              <a:rPr lang="en-IN" sz="2000" u="none" dirty="0" smtClean="0">
                <a:solidFill>
                  <a:srgbClr val="C00000"/>
                </a:solidFill>
                <a:latin typeface="Georgia" pitchFamily="18" charset="0"/>
              </a:rPr>
              <a:t>to be in 4 NF?</a:t>
            </a:r>
            <a:r>
              <a:rPr lang="en-IN" sz="2000" u="none" dirty="0" smtClean="0">
                <a:solidFill>
                  <a:srgbClr val="C00000"/>
                </a:solidFill>
                <a:latin typeface="Georgia" pitchFamily="18" charset="0"/>
              </a:rPr>
              <a:t> </a:t>
            </a:r>
            <a:endParaRPr lang="en-IN" sz="2000" u="none" dirty="0">
              <a:solidFill>
                <a:srgbClr val="C00000"/>
              </a:solidFill>
              <a:latin typeface="Georgia" pitchFamily="18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xmlns="" id="{FBBE8F40-A359-62F5-1F16-02EFC56F60AE}"/>
              </a:ext>
            </a:extLst>
          </p:cNvPr>
          <p:cNvSpPr txBox="1">
            <a:spLocks/>
          </p:cNvSpPr>
          <p:nvPr/>
        </p:nvSpPr>
        <p:spPr>
          <a:xfrm>
            <a:off x="329468" y="211616"/>
            <a:ext cx="993309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rgbClr val="C00000"/>
                </a:solidFill>
                <a:latin typeface="Cambria"/>
                <a:ea typeface="+mj-ea"/>
                <a:cs typeface="Cambria"/>
              </a:defRPr>
            </a:lvl1pPr>
          </a:lstStyle>
          <a:p>
            <a:r>
              <a:rPr lang="en-US" sz="2800" kern="0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Introduction to the higher normal forms : </a:t>
            </a:r>
            <a:r>
              <a:rPr lang="en-US" sz="2800" kern="0" dirty="0">
                <a:solidFill>
                  <a:srgbClr val="00B0F0"/>
                </a:solidFill>
                <a:latin typeface="Georgia" panose="02040502050405020303" pitchFamily="18" charset="0"/>
              </a:rPr>
              <a:t>(4NF) </a:t>
            </a:r>
            <a:endParaRPr lang="en-IN" sz="2800" kern="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80960" y="857232"/>
          <a:ext cx="5929354" cy="2214578"/>
        </p:xfrm>
        <a:graphic>
          <a:graphicData uri="http://schemas.openxmlformats.org/drawingml/2006/table">
            <a:tbl>
              <a:tblPr/>
              <a:tblGrid>
                <a:gridCol w="1827309"/>
                <a:gridCol w="2131860"/>
                <a:gridCol w="1970185"/>
              </a:tblGrid>
              <a:tr h="738193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Georgia" pitchFamily="18" charset="0"/>
                          <a:ea typeface="Calibri"/>
                          <a:cs typeface="Times New Roman"/>
                        </a:rPr>
                        <a:t>Course</a:t>
                      </a:r>
                      <a:endParaRPr lang="en-IN" sz="2000" dirty="0">
                        <a:latin typeface="Georgia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 dirty="0">
                          <a:latin typeface="Georgia" pitchFamily="18" charset="0"/>
                          <a:ea typeface="Calibri"/>
                          <a:cs typeface="Times New Roman"/>
                        </a:rPr>
                        <a:t>Instructor</a:t>
                      </a:r>
                      <a:endParaRPr lang="en-IN" sz="2000" dirty="0">
                        <a:latin typeface="Georgia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b="1">
                          <a:latin typeface="Georgia" pitchFamily="18" charset="0"/>
                          <a:ea typeface="Calibri"/>
                          <a:cs typeface="Times New Roman"/>
                        </a:rPr>
                        <a:t>Textbook</a:t>
                      </a:r>
                      <a:endParaRPr lang="en-IN" sz="2000">
                        <a:latin typeface="Georgia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8193">
                <a:tc rowSpan="2"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Georgia" pitchFamily="18" charset="0"/>
                          <a:ea typeface="Calibri"/>
                          <a:cs typeface="Times New Roman"/>
                        </a:rPr>
                        <a:t>DBMS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Georgia" pitchFamily="18" charset="0"/>
                          <a:ea typeface="Calibri"/>
                          <a:cs typeface="Times New Roman"/>
                        </a:rPr>
                        <a:t>ABC</a:t>
                      </a:r>
                    </a:p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Georgia" pitchFamily="18" charset="0"/>
                          <a:ea typeface="Calibri"/>
                          <a:cs typeface="Times New Roman"/>
                        </a:rPr>
                        <a:t>XYZ</a:t>
                      </a:r>
                    </a:p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Georgia" pitchFamily="18" charset="0"/>
                          <a:ea typeface="Calibri"/>
                          <a:cs typeface="Times New Roman"/>
                        </a:rPr>
                        <a:t>PQR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Georgia" pitchFamily="18" charset="0"/>
                          <a:ea typeface="Calibri"/>
                          <a:cs typeface="Times New Roman"/>
                        </a:rPr>
                        <a:t>NAVATHE</a:t>
                      </a:r>
                    </a:p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Georgia" pitchFamily="18" charset="0"/>
                          <a:ea typeface="Calibri"/>
                          <a:cs typeface="Times New Roman"/>
                        </a:rPr>
                        <a:t>RAGHU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096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Georgia" pitchFamily="18" charset="0"/>
                          <a:ea typeface="Calibri"/>
                          <a:cs typeface="Times New Roman"/>
                        </a:rPr>
                        <a:t>GREG </a:t>
                      </a:r>
                    </a:p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Georgia" pitchFamily="18" charset="0"/>
                          <a:ea typeface="Calibri"/>
                          <a:cs typeface="Times New Roman"/>
                        </a:rPr>
                        <a:t>PETER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9096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latin typeface="Georgia" pitchFamily="18" charset="0"/>
                          <a:ea typeface="Calibri"/>
                          <a:cs typeface="Times New Roman"/>
                        </a:rPr>
                        <a:t>OS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latin typeface="Georgia" pitchFamily="18" charset="0"/>
                          <a:ea typeface="Calibri"/>
                          <a:cs typeface="Times New Roman"/>
                        </a:rPr>
                        <a:t>MNO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241" name="Rectangle 1"/>
          <p:cNvSpPr>
            <a:spLocks noChangeArrowheads="1"/>
          </p:cNvSpPr>
          <p:nvPr/>
        </p:nvSpPr>
        <p:spPr bwMode="auto">
          <a:xfrm>
            <a:off x="6596066" y="785794"/>
            <a:ext cx="4548262" cy="1631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  <a:t>Course→→Instructor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eorgia" pitchFamily="18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itchFamily="18" charset="0"/>
                <a:ea typeface="Calibri" pitchFamily="34" charset="0"/>
                <a:cs typeface="Times New Roman" pitchFamily="18" charset="0"/>
              </a:rPr>
              <a:t>Course→→ Textbook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000" dirty="0" smtClean="0">
              <a:latin typeface="Georgia" pitchFamily="18" charset="0"/>
              <a:cs typeface="Times New Roman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itchFamily="18" charset="0"/>
                <a:cs typeface="Times New Roman" pitchFamily="18" charset="0"/>
              </a:rPr>
              <a:t>However, Instructor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Georgia" pitchFamily="18" charset="0"/>
                <a:cs typeface="Times New Roman" pitchFamily="18" charset="0"/>
              </a:rPr>
              <a:t> and Textbook are not related. </a:t>
            </a:r>
            <a:endParaRPr kumimoji="0" 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Georgia" pitchFamily="18" charset="0"/>
              <a:cs typeface="Arial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66844" y="3857628"/>
          <a:ext cx="3571900" cy="2403041"/>
        </p:xfrm>
        <a:graphic>
          <a:graphicData uri="http://schemas.openxmlformats.org/drawingml/2006/table">
            <a:tbl>
              <a:tblPr/>
              <a:tblGrid>
                <a:gridCol w="1835690"/>
                <a:gridCol w="1736210"/>
              </a:tblGrid>
              <a:tr h="588830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1" dirty="0">
                          <a:latin typeface="Times New Roman"/>
                          <a:ea typeface="Calibri"/>
                          <a:cs typeface="Times New Roman"/>
                        </a:rPr>
                        <a:t>Course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1" dirty="0">
                          <a:latin typeface="Times New Roman"/>
                          <a:ea typeface="Calibri"/>
                          <a:cs typeface="Times New Roman"/>
                        </a:rPr>
                        <a:t>Instructor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581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/>
                          <a:ea typeface="Calibri"/>
                          <a:cs typeface="Times New Roman"/>
                        </a:rPr>
                        <a:t>DBMS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/>
                          <a:ea typeface="Calibri"/>
                          <a:cs typeface="Times New Roman"/>
                        </a:rPr>
                        <a:t>ABC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581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/>
                          <a:ea typeface="Calibri"/>
                          <a:cs typeface="Times New Roman"/>
                        </a:rPr>
                        <a:t>DBMS</a:t>
                      </a:r>
                      <a:endParaRPr lang="en-IN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/>
                          <a:ea typeface="Calibri"/>
                          <a:cs typeface="Times New Roman"/>
                        </a:rPr>
                        <a:t>XYZ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581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/>
                          <a:ea typeface="Calibri"/>
                          <a:cs typeface="Times New Roman"/>
                        </a:rPr>
                        <a:t>DBMS</a:t>
                      </a:r>
                      <a:endParaRPr lang="en-IN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/>
                          <a:ea typeface="Calibri"/>
                          <a:cs typeface="Times New Roman"/>
                        </a:rPr>
                        <a:t>PQR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880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>
                          <a:latin typeface="Times New Roman"/>
                          <a:ea typeface="Calibri"/>
                          <a:cs typeface="Times New Roman"/>
                        </a:rPr>
                        <a:t>OS</a:t>
                      </a:r>
                      <a:endParaRPr lang="en-IN" sz="18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Times New Roman"/>
                          <a:ea typeface="Calibri"/>
                          <a:cs typeface="Times New Roman"/>
                        </a:rPr>
                        <a:t>MNO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Placeholder 2">
            <a:extLst>
              <a:ext uri="{FF2B5EF4-FFF2-40B4-BE49-F238E27FC236}">
                <a16:creationId xmlns:a16="http://schemas.microsoft.com/office/drawing/2014/main" xmlns="" id="{97F94DF7-21F7-3189-7D62-A1F40E3ACCB8}"/>
              </a:ext>
            </a:extLst>
          </p:cNvPr>
          <p:cNvSpPr txBox="1">
            <a:spLocks/>
          </p:cNvSpPr>
          <p:nvPr/>
        </p:nvSpPr>
        <p:spPr>
          <a:xfrm>
            <a:off x="452398" y="3357563"/>
            <a:ext cx="5857916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itchFamily="18" charset="0"/>
                <a:ea typeface="+mn-ea"/>
                <a:cs typeface="Calibri"/>
              </a:rPr>
              <a:t>Decompose</a:t>
            </a:r>
            <a:r>
              <a:rPr kumimoji="0" lang="en-IN" sz="2000" b="0" i="0" u="none" strike="noStrike" kern="0" cap="none" spc="0" normalizeH="0" noProof="0" dirty="0" smtClean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Georgia" pitchFamily="18" charset="0"/>
                <a:ea typeface="+mn-ea"/>
                <a:cs typeface="Calibri"/>
              </a:rPr>
              <a:t> tables into 2 tables as shown below. 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Georgia" pitchFamily="18" charset="0"/>
              <a:ea typeface="+mn-ea"/>
              <a:cs typeface="Calibri"/>
            </a:endParaRP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xmlns="" id="{97F94DF7-21F7-3189-7D62-A1F40E3ACCB8}"/>
              </a:ext>
            </a:extLst>
          </p:cNvPr>
          <p:cNvSpPr txBox="1">
            <a:spLocks/>
          </p:cNvSpPr>
          <p:nvPr/>
        </p:nvSpPr>
        <p:spPr>
          <a:xfrm>
            <a:off x="238084" y="4000505"/>
            <a:ext cx="142876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 pitchFamily="18" charset="0"/>
                <a:ea typeface="+mn-ea"/>
                <a:cs typeface="Calibri"/>
              </a:rPr>
              <a:t>TEACHER 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Georgia" pitchFamily="18" charset="0"/>
              <a:ea typeface="+mn-ea"/>
              <a:cs typeface="Calibri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xmlns="" id="{97F94DF7-21F7-3189-7D62-A1F40E3ACCB8}"/>
              </a:ext>
            </a:extLst>
          </p:cNvPr>
          <p:cNvSpPr txBox="1">
            <a:spLocks/>
          </p:cNvSpPr>
          <p:nvPr/>
        </p:nvSpPr>
        <p:spPr>
          <a:xfrm>
            <a:off x="6453190" y="4000504"/>
            <a:ext cx="1428760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 pitchFamily="18" charset="0"/>
                <a:ea typeface="+mn-ea"/>
                <a:cs typeface="Calibri"/>
              </a:rPr>
              <a:t>TEXTBOOK </a:t>
            </a:r>
            <a:endParaRPr kumimoji="0" lang="en-IN" sz="20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Georgia" pitchFamily="18" charset="0"/>
              <a:ea typeface="+mn-ea"/>
              <a:cs typeface="Calibri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8096264" y="3714752"/>
          <a:ext cx="3571900" cy="2797922"/>
        </p:xfrm>
        <a:graphic>
          <a:graphicData uri="http://schemas.openxmlformats.org/drawingml/2006/table">
            <a:tbl>
              <a:tblPr/>
              <a:tblGrid>
                <a:gridCol w="1835690"/>
                <a:gridCol w="1736210"/>
              </a:tblGrid>
              <a:tr h="588830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1" dirty="0">
                          <a:latin typeface="Times New Roman"/>
                          <a:ea typeface="Calibri"/>
                          <a:cs typeface="Times New Roman"/>
                        </a:rPr>
                        <a:t>Course</a:t>
                      </a:r>
                      <a:endParaRPr lang="en-IN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b="1" dirty="0" smtClean="0">
                          <a:latin typeface="Georgia" pitchFamily="18" charset="0"/>
                          <a:ea typeface="Calibri"/>
                          <a:cs typeface="Times New Roman"/>
                        </a:rPr>
                        <a:t>Textbook</a:t>
                      </a:r>
                      <a:endParaRPr lang="en-IN" sz="1800" dirty="0">
                        <a:latin typeface="Georgia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581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Georgia" pitchFamily="18" charset="0"/>
                          <a:ea typeface="Calibri"/>
                          <a:cs typeface="Times New Roman"/>
                        </a:rPr>
                        <a:t>DBMS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0" algn="ctr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>
                          <a:latin typeface="Georgia" pitchFamily="18" charset="0"/>
                          <a:ea typeface="Calibri"/>
                          <a:cs typeface="Times New Roman"/>
                        </a:rPr>
                        <a:t>NAVATHE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581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>
                          <a:latin typeface="Georgia" pitchFamily="18" charset="0"/>
                          <a:ea typeface="Calibri"/>
                          <a:cs typeface="Times New Roman"/>
                        </a:rPr>
                        <a:t>DBMS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 smtClean="0">
                          <a:latin typeface="Georgia" pitchFamily="18" charset="0"/>
                          <a:ea typeface="Calibri"/>
                          <a:cs typeface="Times New Roman"/>
                        </a:rPr>
                        <a:t>RAGHU</a:t>
                      </a:r>
                      <a:endParaRPr lang="en-IN" sz="1800" dirty="0">
                        <a:latin typeface="Georgia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9581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 smtClean="0">
                          <a:latin typeface="Georgia" pitchFamily="18" charset="0"/>
                          <a:ea typeface="Calibri"/>
                          <a:cs typeface="Times New Roman"/>
                        </a:rPr>
                        <a:t>OS</a:t>
                      </a:r>
                      <a:endParaRPr lang="en-IN" sz="1800" dirty="0">
                        <a:latin typeface="Georgia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0" algn="ctr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>
                          <a:latin typeface="Georgia" pitchFamily="18" charset="0"/>
                          <a:ea typeface="Calibri"/>
                          <a:cs typeface="Times New Roman"/>
                        </a:rPr>
                        <a:t>GREG </a:t>
                      </a:r>
                    </a:p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latin typeface="Georgia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9880">
                <a:tc>
                  <a:txBody>
                    <a:bodyPr/>
                    <a:lstStyle/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800" dirty="0" smtClean="0">
                          <a:latin typeface="Georgia" pitchFamily="18" charset="0"/>
                          <a:ea typeface="Calibri"/>
                          <a:cs typeface="Times New Roman"/>
                        </a:rPr>
                        <a:t>OS</a:t>
                      </a:r>
                      <a:endParaRPr lang="en-IN" sz="1800" dirty="0">
                        <a:latin typeface="Georgia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marR="0" indent="0" algn="ctr" defTabSz="91440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 smtClean="0">
                          <a:latin typeface="Georgia" pitchFamily="18" charset="0"/>
                          <a:ea typeface="Calibri"/>
                          <a:cs typeface="Times New Roman"/>
                        </a:rPr>
                        <a:t>PETER </a:t>
                      </a:r>
                    </a:p>
                    <a:p>
                      <a:pPr marL="45720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en-IN" sz="1800" dirty="0">
                        <a:latin typeface="Georgia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21144788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xmlns="" id="{4818AE84-E246-8448-9E8B-0F020DEED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6909" y="1124744"/>
            <a:ext cx="9445625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Fifth Normal Form (5NF)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E6C5DC27-A925-9450-040C-F3CB5E05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975" y="404664"/>
            <a:ext cx="9933090" cy="430887"/>
          </a:xfrm>
        </p:spPr>
        <p:txBody>
          <a:bodyPr/>
          <a:lstStyle/>
          <a:p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Introduction to the higher normal forms 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5274" y="2143116"/>
            <a:ext cx="1107289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Georgia" pitchFamily="18" charset="0"/>
              </a:rPr>
              <a:t>A relation is in </a:t>
            </a:r>
            <a:r>
              <a:rPr lang="en-IN" sz="2400" b="1" dirty="0">
                <a:solidFill>
                  <a:schemeClr val="accent6">
                    <a:lumMod val="75000"/>
                  </a:schemeClr>
                </a:solidFill>
                <a:latin typeface="Georgia" pitchFamily="18" charset="0"/>
              </a:rPr>
              <a:t>5NF</a:t>
            </a:r>
            <a:r>
              <a:rPr lang="en-IN" sz="2400" dirty="0">
                <a:solidFill>
                  <a:schemeClr val="accent6">
                    <a:lumMod val="50000"/>
                  </a:schemeClr>
                </a:solidFill>
                <a:latin typeface="Georgia" pitchFamily="18" charset="0"/>
              </a:rPr>
              <a:t> </a:t>
            </a:r>
            <a:r>
              <a:rPr lang="en-IN" sz="2400" dirty="0">
                <a:latin typeface="Georgia" pitchFamily="18" charset="0"/>
              </a:rPr>
              <a:t>if it is in 4NF and not contains any </a:t>
            </a:r>
            <a:r>
              <a:rPr lang="en-IN" sz="2400" b="1" dirty="0">
                <a:latin typeface="Georgia" pitchFamily="18" charset="0"/>
              </a:rPr>
              <a:t>join dependency </a:t>
            </a:r>
            <a:r>
              <a:rPr lang="en-IN" sz="2400" dirty="0">
                <a:latin typeface="Georgia" pitchFamily="18" charset="0"/>
              </a:rPr>
              <a:t>and joining should be </a:t>
            </a:r>
            <a:r>
              <a:rPr lang="en-IN" sz="2400" b="1" dirty="0">
                <a:latin typeface="Georgia" pitchFamily="18" charset="0"/>
              </a:rPr>
              <a:t>lossless.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Georgia" pitchFamily="18" charset="0"/>
              </a:rPr>
              <a:t>5NF is satisfied when all the tables are broken into as many tables as possible in order to avoid redundancy.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Georgia" pitchFamily="18" charset="0"/>
              </a:rPr>
              <a:t>5NF is also known as </a:t>
            </a:r>
            <a:r>
              <a:rPr lang="en-IN" sz="2400" dirty="0" smtClean="0">
                <a:latin typeface="Georgia" pitchFamily="18" charset="0"/>
              </a:rPr>
              <a:t>Project-Join Normal Form </a:t>
            </a:r>
            <a:r>
              <a:rPr lang="en-IN" sz="2400" dirty="0">
                <a:latin typeface="Georgia" pitchFamily="18" charset="0"/>
              </a:rPr>
              <a:t>(PJ/NF).</a:t>
            </a:r>
          </a:p>
        </p:txBody>
      </p:sp>
      <p:sp>
        <p:nvSpPr>
          <p:cNvPr id="7" name="Rectangle 6"/>
          <p:cNvSpPr/>
          <p:nvPr/>
        </p:nvSpPr>
        <p:spPr>
          <a:xfrm>
            <a:off x="309522" y="2000240"/>
            <a:ext cx="11644394" cy="32147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2464" y="857232"/>
            <a:ext cx="10001320" cy="57864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E6C5DC27-A925-9450-040C-F3CB5E05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522" y="214290"/>
            <a:ext cx="10259619" cy="861774"/>
          </a:xfrm>
        </p:spPr>
        <p:txBody>
          <a:bodyPr/>
          <a:lstStyle/>
          <a:p>
            <a:pPr lvl="0"/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Introduction to the higher normal </a:t>
            </a: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forms: </a:t>
            </a:r>
            <a:r>
              <a:rPr lang="en-US" altLang="en-US" sz="2800" dirty="0" smtClean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5NF</a:t>
            </a:r>
            <a:r>
              <a:rPr lang="en-US" altLang="en-US" sz="2800" dirty="0" smtClean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en-US" altLang="en-US" sz="2800" dirty="0" smtClean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/>
            </a:r>
            <a:br>
              <a:rPr lang="en-US" altLang="en-US" sz="2800" dirty="0" smtClean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</a:b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xmlns="" id="{E6C5DC27-A925-9450-040C-F3CB5E056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84" y="142852"/>
            <a:ext cx="10259619" cy="428628"/>
          </a:xfrm>
        </p:spPr>
        <p:txBody>
          <a:bodyPr/>
          <a:lstStyle/>
          <a:p>
            <a:pPr lvl="0"/>
            <a:r>
              <a:rPr lang="en-US" sz="2400" dirty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Introduction to the higher normal 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forms: </a:t>
            </a:r>
            <a:r>
              <a:rPr lang="en-US" altLang="en-US" sz="2400" dirty="0" smtClean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5NF</a:t>
            </a:r>
            <a:r>
              <a:rPr lang="en-US" altLang="en-US" sz="2400" dirty="0" smtClean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r>
              <a:rPr lang="en-US" altLang="en-US" sz="2800" dirty="0" smtClean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  <a:t/>
            </a:r>
            <a:br>
              <a:rPr lang="en-US" altLang="en-US" sz="2800" dirty="0" smtClean="0">
                <a:solidFill>
                  <a:schemeClr val="accent6">
                    <a:lumMod val="75000"/>
                  </a:schemeClr>
                </a:solidFill>
                <a:latin typeface="Georgia" panose="02040502050405020303" pitchFamily="18" charset="0"/>
              </a:rPr>
            </a:br>
            <a:r>
              <a:rPr lang="en-US" sz="2800" dirty="0" smtClean="0">
                <a:solidFill>
                  <a:schemeClr val="accent2">
                    <a:lumMod val="75000"/>
                  </a:schemeClr>
                </a:solidFill>
                <a:latin typeface="Georgia" panose="02040502050405020303" pitchFamily="18" charset="0"/>
              </a:rPr>
              <a:t> </a:t>
            </a:r>
            <a:endParaRPr lang="en-IN" sz="2800" dirty="0">
              <a:solidFill>
                <a:schemeClr val="accent2">
                  <a:lumMod val="75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138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38216" y="785794"/>
            <a:ext cx="9286940" cy="59293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E6C5DC27-A925-9450-040C-F3CB5E056976}"/>
              </a:ext>
            </a:extLst>
          </p:cNvPr>
          <p:cNvSpPr txBox="1">
            <a:spLocks/>
          </p:cNvSpPr>
          <p:nvPr/>
        </p:nvSpPr>
        <p:spPr>
          <a:xfrm>
            <a:off x="336975" y="404664"/>
            <a:ext cx="993309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Introduction to the higher normal forms </a:t>
            </a:r>
            <a:endParaRPr kumimoji="0" lang="en-IN" sz="2800" b="1" i="0" u="none" strike="noStrike" kern="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Cambria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4818AE84-E246-8448-9E8B-0F020DEED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6909" y="1124744"/>
            <a:ext cx="9445625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42A4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Sixth Normal Form (6NF)</a:t>
            </a: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42A4F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Cambria"/>
              </a:rPr>
              <a:t>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en-US" sz="2400" b="1" u="none" dirty="0">
              <a:solidFill>
                <a:srgbClr val="C42A4F"/>
              </a:solidFill>
              <a:latin typeface="Georgia" panose="02040502050405020303" pitchFamily="18" charset="0"/>
              <a:ea typeface="+mj-ea"/>
              <a:cs typeface="Cambria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i="0" u="none" strike="noStrike" kern="0" cap="none" spc="0" normalizeH="0" baseline="0" noProof="0" dirty="0">
              <a:ln>
                <a:noFill/>
              </a:ln>
              <a:solidFill>
                <a:srgbClr val="C42A4F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Cambria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38084" y="2214554"/>
            <a:ext cx="115015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dirty="0">
                <a:latin typeface="Georgia" pitchFamily="18" charset="0"/>
              </a:rPr>
              <a:t>A relation is in 6NF, only if, It is in 5NF, and every join dependency on the relation is trivial. </a:t>
            </a:r>
          </a:p>
        </p:txBody>
      </p:sp>
      <p:sp>
        <p:nvSpPr>
          <p:cNvPr id="7" name="Rectangle 6"/>
          <p:cNvSpPr/>
          <p:nvPr/>
        </p:nvSpPr>
        <p:spPr>
          <a:xfrm>
            <a:off x="238084" y="2000240"/>
            <a:ext cx="11715832" cy="171451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80960" y="4000504"/>
            <a:ext cx="11430080" cy="11330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Georgia" pitchFamily="18" charset="0"/>
              </a:rPr>
              <a:t>6NF is primarily used to deal with </a:t>
            </a:r>
            <a:r>
              <a:rPr lang="en-IN" sz="2400" b="1" dirty="0">
                <a:latin typeface="Georgia" pitchFamily="18" charset="0"/>
              </a:rPr>
              <a:t>temporal databases</a:t>
            </a:r>
            <a:r>
              <a:rPr lang="en-IN" sz="2400" dirty="0">
                <a:latin typeface="Georgia" pitchFamily="18" charset="0"/>
              </a:rPr>
              <a:t>, where the database includes information that changes over time, such as historical data.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8282" y="1576388"/>
            <a:ext cx="8858311" cy="456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4818AE84-E246-8448-9E8B-0F020DEED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38085" y="571480"/>
            <a:ext cx="228601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REVIEW: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Cambri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9720" y="857232"/>
            <a:ext cx="8786874" cy="5772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4818AE84-E246-8448-9E8B-0F020DEEDA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0960" y="214290"/>
            <a:ext cx="228601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Georgia" panose="02040502050405020303" pitchFamily="18" charset="0"/>
                <a:ea typeface="+mj-ea"/>
                <a:cs typeface="Times New Roman" panose="02020603050405020304" pitchFamily="18" charset="0"/>
              </a:rPr>
              <a:t>REVIEW:</a:t>
            </a:r>
            <a:endParaRPr kumimoji="0" lang="en-US" altLang="en-US" sz="2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Georgia" panose="02040502050405020303" pitchFamily="18" charset="0"/>
              <a:ea typeface="+mj-ea"/>
              <a:cs typeface="Cambri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4B1135D-3E00-1697-E9E1-C6D08910B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188640"/>
            <a:ext cx="5789929" cy="430887"/>
          </a:xfrm>
        </p:spPr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Practice questions</a:t>
            </a:r>
            <a:endParaRPr lang="en-IN" sz="2800" dirty="0">
              <a:latin typeface="Georgia" panose="02040502050405020303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00A24EDB-AF7E-AC20-3F91-35154637AD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368" y="1196752"/>
            <a:ext cx="11593288" cy="430887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For a database relation R(</a:t>
            </a:r>
            <a:r>
              <a:rPr lang="en-US" sz="20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a,b,c,d</a:t>
            </a:r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), where the domains, a, </a:t>
            </a:r>
            <a:r>
              <a:rPr lang="en-US" sz="20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b,c</a:t>
            </a:r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, d  include only atomic values, only the following functional dependencies and those that can be inferred from them hold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  <a:latin typeface="Georgia" panose="02040502050405020303" pitchFamily="18" charset="0"/>
              </a:rPr>
              <a:t> a              c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 b              d</a:t>
            </a:r>
          </a:p>
          <a:p>
            <a:endParaRPr lang="en-US" sz="20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This relation is</a:t>
            </a:r>
          </a:p>
          <a:p>
            <a:endParaRPr lang="en-US" sz="20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(</a:t>
            </a:r>
            <a:r>
              <a:rPr lang="en-US" sz="2000" u="none" dirty="0" err="1">
                <a:solidFill>
                  <a:schemeClr val="tx1"/>
                </a:solidFill>
                <a:latin typeface="Georgia" panose="02040502050405020303" pitchFamily="18" charset="0"/>
              </a:rPr>
              <a:t>i</a:t>
            </a:r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) in first normal form but not in second normal form</a:t>
            </a:r>
          </a:p>
          <a:p>
            <a:endParaRPr lang="en-US" sz="20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(ii) in second normal form but not in first normal form</a:t>
            </a:r>
          </a:p>
          <a:p>
            <a:endParaRPr lang="en-US" sz="20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(iii) in third normal form</a:t>
            </a:r>
          </a:p>
          <a:p>
            <a:endParaRPr lang="en-US" sz="2000" u="none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r>
              <a:rPr lang="en-US" sz="2000" u="none" dirty="0">
                <a:solidFill>
                  <a:schemeClr val="tx1"/>
                </a:solidFill>
                <a:latin typeface="Georgia" panose="02040502050405020303" pitchFamily="18" charset="0"/>
              </a:rPr>
              <a:t>(iv) none of the above</a:t>
            </a:r>
            <a:endParaRPr lang="en-IN" sz="2000" u="none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D2653CD4-9FD5-DDE1-D848-1A90DF9D195B}"/>
              </a:ext>
            </a:extLst>
          </p:cNvPr>
          <p:cNvGrpSpPr/>
          <p:nvPr/>
        </p:nvGrpSpPr>
        <p:grpSpPr>
          <a:xfrm>
            <a:off x="1559496" y="1988840"/>
            <a:ext cx="504056" cy="288032"/>
            <a:chOff x="1559496" y="1988840"/>
            <a:chExt cx="504056" cy="288032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xmlns="" id="{9AD64DFE-5354-CA48-E0E9-C74208A2914A}"/>
                </a:ext>
              </a:extLst>
            </p:cNvPr>
            <p:cNvCxnSpPr/>
            <p:nvPr/>
          </p:nvCxnSpPr>
          <p:spPr>
            <a:xfrm>
              <a:off x="1559496" y="1988840"/>
              <a:ext cx="5040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xmlns="" id="{52D03A11-6045-1191-1BD7-4C096B62ECF6}"/>
                </a:ext>
              </a:extLst>
            </p:cNvPr>
            <p:cNvCxnSpPr/>
            <p:nvPr/>
          </p:nvCxnSpPr>
          <p:spPr>
            <a:xfrm>
              <a:off x="1559496" y="2276872"/>
              <a:ext cx="50405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038539046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646" y="857232"/>
            <a:ext cx="2286016" cy="307777"/>
          </a:xfrm>
        </p:spPr>
        <p:txBody>
          <a:bodyPr/>
          <a:lstStyle/>
          <a:p>
            <a:r>
              <a:rPr lang="en-IN" sz="2000" u="none" dirty="0" smtClean="0">
                <a:solidFill>
                  <a:schemeClr val="tx1"/>
                </a:solidFill>
                <a:latin typeface="Georgia" pitchFamily="18" charset="0"/>
              </a:rPr>
              <a:t>2.</a:t>
            </a:r>
            <a:endParaRPr lang="en-IN" sz="2000" u="none" dirty="0">
              <a:solidFill>
                <a:schemeClr val="tx1"/>
              </a:solidFill>
              <a:latin typeface="Georgia" pitchFamily="18" charset="0"/>
            </a:endParaRPr>
          </a:p>
        </p:txBody>
      </p:sp>
      <p:pic>
        <p:nvPicPr>
          <p:cNvPr id="139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14422"/>
            <a:ext cx="7572428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xmlns="" id="{04B1135D-3E00-1697-E9E1-C6D08910B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188640"/>
            <a:ext cx="5789929" cy="430887"/>
          </a:xfrm>
        </p:spPr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Practice questions</a:t>
            </a:r>
            <a:endParaRPr lang="en-IN" sz="2800" dirty="0">
              <a:latin typeface="Georgia" panose="02040502050405020303" pitchFamily="18" charset="0"/>
            </a:endParaRPr>
          </a:p>
        </p:txBody>
      </p:sp>
      <p:pic>
        <p:nvPicPr>
          <p:cNvPr id="139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24760" y="2357430"/>
            <a:ext cx="4357718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522" y="642919"/>
            <a:ext cx="1500198" cy="276999"/>
          </a:xfrm>
        </p:spPr>
        <p:txBody>
          <a:bodyPr/>
          <a:lstStyle/>
          <a:p>
            <a:r>
              <a:rPr lang="en-IN" u="none" dirty="0" smtClean="0">
                <a:solidFill>
                  <a:schemeClr val="tx1"/>
                </a:solidFill>
                <a:latin typeface="Georgia" pitchFamily="18" charset="0"/>
              </a:rPr>
              <a:t>3.</a:t>
            </a:r>
            <a:endParaRPr lang="en-IN" u="none" dirty="0">
              <a:solidFill>
                <a:schemeClr val="tx1"/>
              </a:solidFill>
              <a:latin typeface="Georgia" pitchFamily="18" charset="0"/>
            </a:endParaRPr>
          </a:p>
        </p:txBody>
      </p:sp>
      <p:pic>
        <p:nvPicPr>
          <p:cNvPr id="140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9522" y="1214422"/>
            <a:ext cx="10644262" cy="4786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9522" y="571480"/>
            <a:ext cx="1143008" cy="307777"/>
          </a:xfrm>
        </p:spPr>
        <p:txBody>
          <a:bodyPr/>
          <a:lstStyle/>
          <a:p>
            <a:r>
              <a:rPr lang="en-IN" sz="2000" u="none" dirty="0" smtClean="0">
                <a:solidFill>
                  <a:schemeClr val="tx1"/>
                </a:solidFill>
                <a:latin typeface="Georgia" pitchFamily="18" charset="0"/>
              </a:rPr>
              <a:t>4.</a:t>
            </a:r>
            <a:endParaRPr lang="en-IN" sz="2000" u="none" dirty="0">
              <a:solidFill>
                <a:schemeClr val="tx1"/>
              </a:solidFill>
              <a:latin typeface="Georgia" pitchFamily="18" charset="0"/>
            </a:endParaRPr>
          </a:p>
        </p:txBody>
      </p:sp>
      <p:pic>
        <p:nvPicPr>
          <p:cNvPr id="141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81092" y="1285860"/>
            <a:ext cx="8715436" cy="4786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3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4034" y="857232"/>
            <a:ext cx="8072494" cy="48577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09522" y="571480"/>
            <a:ext cx="1143008" cy="307777"/>
          </a:xfrm>
        </p:spPr>
        <p:txBody>
          <a:bodyPr/>
          <a:lstStyle/>
          <a:p>
            <a:r>
              <a:rPr lang="en-IN" sz="2000" u="none" dirty="0" smtClean="0">
                <a:solidFill>
                  <a:schemeClr val="tx1"/>
                </a:solidFill>
                <a:latin typeface="Georgia" pitchFamily="18" charset="0"/>
              </a:rPr>
              <a:t>5.</a:t>
            </a:r>
            <a:endParaRPr lang="en-IN" sz="2000" u="none" dirty="0">
              <a:solidFill>
                <a:schemeClr val="tx1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09720" y="642918"/>
            <a:ext cx="8215370" cy="5143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09522" y="571480"/>
            <a:ext cx="1143008" cy="307777"/>
          </a:xfrm>
        </p:spPr>
        <p:txBody>
          <a:bodyPr/>
          <a:lstStyle/>
          <a:p>
            <a:r>
              <a:rPr lang="en-IN" sz="2000" u="none" dirty="0" smtClean="0">
                <a:solidFill>
                  <a:schemeClr val="tx1"/>
                </a:solidFill>
                <a:latin typeface="Georgia" pitchFamily="18" charset="0"/>
              </a:rPr>
              <a:t>6.</a:t>
            </a:r>
            <a:endParaRPr lang="en-IN" sz="2000" u="none" dirty="0">
              <a:solidFill>
                <a:schemeClr val="tx1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3968" y="857232"/>
            <a:ext cx="9072626" cy="557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09522" y="571480"/>
            <a:ext cx="1143008" cy="307777"/>
          </a:xfrm>
        </p:spPr>
        <p:txBody>
          <a:bodyPr/>
          <a:lstStyle/>
          <a:p>
            <a:r>
              <a:rPr lang="en-IN" sz="2000" u="none" dirty="0" smtClean="0">
                <a:solidFill>
                  <a:schemeClr val="tx1"/>
                </a:solidFill>
                <a:latin typeface="Georgia" pitchFamily="18" charset="0"/>
              </a:rPr>
              <a:t>7.</a:t>
            </a:r>
            <a:endParaRPr lang="en-IN" sz="2000" u="none" dirty="0">
              <a:solidFill>
                <a:schemeClr val="tx1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3836" y="428604"/>
            <a:ext cx="7929618" cy="59293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541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39074" y="2214554"/>
            <a:ext cx="4143404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238084" y="285728"/>
            <a:ext cx="1143008" cy="307777"/>
          </a:xfrm>
        </p:spPr>
        <p:txBody>
          <a:bodyPr/>
          <a:lstStyle/>
          <a:p>
            <a:r>
              <a:rPr lang="en-IN" sz="2000" u="none" dirty="0" smtClean="0">
                <a:solidFill>
                  <a:schemeClr val="tx1"/>
                </a:solidFill>
                <a:latin typeface="Georgia" pitchFamily="18" charset="0"/>
              </a:rPr>
              <a:t>8.</a:t>
            </a:r>
            <a:endParaRPr lang="en-IN" sz="2000" u="none" dirty="0">
              <a:solidFill>
                <a:schemeClr val="tx1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8282" y="1000109"/>
            <a:ext cx="7734331" cy="5072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238084" y="285728"/>
            <a:ext cx="1143008" cy="307777"/>
          </a:xfrm>
        </p:spPr>
        <p:txBody>
          <a:bodyPr/>
          <a:lstStyle/>
          <a:p>
            <a:r>
              <a:rPr lang="en-IN" sz="2000" u="none" dirty="0" smtClean="0">
                <a:solidFill>
                  <a:schemeClr val="tx1"/>
                </a:solidFill>
                <a:latin typeface="Georgia" pitchFamily="18" charset="0"/>
              </a:rPr>
              <a:t>9.</a:t>
            </a:r>
            <a:endParaRPr lang="en-IN" sz="2000" u="none" dirty="0">
              <a:solidFill>
                <a:schemeClr val="tx1"/>
              </a:solidFill>
              <a:latin typeface="Georgia" pitchFamily="18" charset="0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9654" y="857232"/>
            <a:ext cx="9501254" cy="6000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309522" y="785794"/>
            <a:ext cx="1143008" cy="307777"/>
          </a:xfrm>
        </p:spPr>
        <p:txBody>
          <a:bodyPr/>
          <a:lstStyle/>
          <a:p>
            <a:r>
              <a:rPr lang="en-IN" sz="2000" u="none" dirty="0" smtClean="0">
                <a:solidFill>
                  <a:schemeClr val="tx1"/>
                </a:solidFill>
                <a:latin typeface="Georgia" pitchFamily="18" charset="0"/>
              </a:rPr>
              <a:t>10.</a:t>
            </a:r>
            <a:endParaRPr lang="en-IN" sz="2000" u="none" dirty="0">
              <a:solidFill>
                <a:schemeClr val="tx1"/>
              </a:solidFill>
              <a:latin typeface="Georgia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04B1135D-3E00-1697-E9E1-C6D08910B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084" y="142852"/>
            <a:ext cx="5789929" cy="430887"/>
          </a:xfrm>
        </p:spPr>
        <p:txBody>
          <a:bodyPr/>
          <a:lstStyle/>
          <a:p>
            <a:r>
              <a:rPr lang="en-US" sz="2800" dirty="0">
                <a:latin typeface="Georgia" panose="02040502050405020303" pitchFamily="18" charset="0"/>
              </a:rPr>
              <a:t>Practice questions</a:t>
            </a:r>
            <a:endParaRPr lang="en-IN" sz="28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1813805-2B6F-AE5A-E443-97CD17675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5640" y="2636912"/>
            <a:ext cx="6855405" cy="923330"/>
          </a:xfrm>
        </p:spPr>
        <p:txBody>
          <a:bodyPr/>
          <a:lstStyle/>
          <a:p>
            <a:pPr algn="ctr"/>
            <a:r>
              <a:rPr lang="en-US" sz="6000" dirty="0">
                <a:latin typeface="Georgia" panose="02040502050405020303" pitchFamily="18" charset="0"/>
              </a:rPr>
              <a:t>THANK YOU</a:t>
            </a:r>
            <a:endParaRPr lang="en-IN" sz="6000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2105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14231</TotalTime>
  <Words>4541</Words>
  <Application>Microsoft Office PowerPoint</Application>
  <PresentationFormat>Custom</PresentationFormat>
  <Paragraphs>619</Paragraphs>
  <Slides>119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119</vt:i4>
      </vt:variant>
    </vt:vector>
  </HeadingPairs>
  <TitlesOfParts>
    <vt:vector size="121" baseType="lpstr">
      <vt:lpstr>Office Theme</vt:lpstr>
      <vt:lpstr>1_Office Theme</vt:lpstr>
      <vt:lpstr>National Institute of  Technology Karnataka Surathkal  Department of Information Technology</vt:lpstr>
      <vt:lpstr>Course Outline</vt:lpstr>
      <vt:lpstr>Course Outline</vt:lpstr>
      <vt:lpstr>1. Informal Design Guidelines for Relational Databases </vt:lpstr>
      <vt:lpstr>1. Informal Design Guidelines for Relational Databases </vt:lpstr>
      <vt:lpstr>1. Informal Design Guidelines for Relational Databases 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Functional Dependencies </vt:lpstr>
      <vt:lpstr>Slide 19</vt:lpstr>
      <vt:lpstr>Functional Dependencies (FD) </vt:lpstr>
      <vt:lpstr>Functional Dependencies (FD) </vt:lpstr>
      <vt:lpstr>Functional Dependencies (FD) </vt:lpstr>
      <vt:lpstr>Functional Dependencies (FD) </vt:lpstr>
      <vt:lpstr>Functional Dependencies (FD) </vt:lpstr>
      <vt:lpstr>Functional Dependencies (FD) 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Types of Functional Dependencies in DBMS</vt:lpstr>
      <vt:lpstr>Types of Functional Dependencies in DBMS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Takeaway: </vt:lpstr>
      <vt:lpstr>Normal Forms Based on Primary Keys </vt:lpstr>
      <vt:lpstr>Normal Forms Based on Primary Keys </vt:lpstr>
      <vt:lpstr>Slide 62</vt:lpstr>
      <vt:lpstr>Introduction to Normalization </vt:lpstr>
      <vt:lpstr>Introduction to Normalization </vt:lpstr>
      <vt:lpstr>Slide 65</vt:lpstr>
      <vt:lpstr>First Normal Form (1NF) </vt:lpstr>
      <vt:lpstr>First Normal Form (1NF) </vt:lpstr>
      <vt:lpstr>First Normal Form (1NF) 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Introduction to the higher normal forms </vt:lpstr>
      <vt:lpstr>Introduction to the higher normal forms </vt:lpstr>
      <vt:lpstr>Slide 99</vt:lpstr>
      <vt:lpstr>Slide 100</vt:lpstr>
      <vt:lpstr>Introduction to the higher normal forms </vt:lpstr>
      <vt:lpstr>Slide 102</vt:lpstr>
      <vt:lpstr>Introduction to the higher normal forms </vt:lpstr>
      <vt:lpstr>Introduction to the higher normal forms: 5NF   </vt:lpstr>
      <vt:lpstr>Introduction to the higher normal forms: 5NF   </vt:lpstr>
      <vt:lpstr>Slide 106</vt:lpstr>
      <vt:lpstr>Slide 107</vt:lpstr>
      <vt:lpstr>Slide 108</vt:lpstr>
      <vt:lpstr>Practice questions</vt:lpstr>
      <vt:lpstr>Practice questions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Practice questions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National Institute of  Technology Karnataka Surathkal  Department of Information Technology</dc:title>
  <dc:creator>This PC</dc:creator>
  <cp:lastModifiedBy>ituser</cp:lastModifiedBy>
  <cp:revision>1115</cp:revision>
  <dcterms:created xsi:type="dcterms:W3CDTF">2024-08-15T06:17:50Z</dcterms:created>
  <dcterms:modified xsi:type="dcterms:W3CDTF">2025-03-28T05:41:02Z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2021-08-09T00:00:00Z</vt:filetime>
  </property>
  <property fmtid="{D5CDD505-2E9C-101B-9397-08002B2CF9AE}" pid="3" name="LastSaved">
    <vt:filetime>2024-08-15T00:00:00Z</vt:filetime>
  </property>
</Properties>
</file>