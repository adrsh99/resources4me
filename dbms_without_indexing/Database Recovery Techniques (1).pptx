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6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-76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F67AC3-9025-EAB2-B408-E55761318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2AD5EB-CF45-F4EA-605A-74AE311F1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AF0D68-E6F9-CE99-6A22-864F9BA2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116FC5-6031-D115-B9DE-302A24C7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368EE8-E011-34AC-87BB-0F1DB160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4787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3F6A8D-879B-DC37-7118-C3417FAB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2D2BD1-2399-2771-9B67-8BFEC35FD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645BFF-7CC0-EB87-ECF5-FF2B97DA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CF5C1D-B248-EFE1-7ECA-030A08F1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06764A-569C-CD42-4542-382A6E3A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290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C0F798-2381-5853-6A59-D15261AD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273E8D-0723-6302-BE48-13B33FCA8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094D97-CC12-9BE6-4EA8-2EFEF4DE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500387-D44E-000B-61D0-96737673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6BE8F2-D96B-D2C6-3DCC-13E461B5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3438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857698-ABDE-1621-D51D-66A7AA5A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826345-77AA-C286-4871-4E9FB2F7B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B83C3E0-A744-D64C-1D44-C0E28815A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97922C-018E-D3C3-D55F-0826F394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AB17BF-6498-9262-ECF2-66D8073F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0EB542-C943-38C3-DAAF-F6A97043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936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02AEAF-3CE8-C7ED-AD12-93588FD59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DBDC13-80BD-35D3-5EF1-4DD03812F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7BFC60-FDC9-AA0E-F398-2E4F8B908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F7EAE2C-DB6C-CEBC-D5B2-F0BD71B7B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E848099-B55A-E0B9-1EC7-3AF14A9FD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61D5D15-1A0E-1D77-1026-12367CA8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6A6B3E5-D89B-4A9C-2107-CD8D55EB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A3FCEF4-3C86-002F-1274-1CDB6C61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3326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4D083B-036A-DB54-7CB4-5E166C4E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B7FE908-1F7E-E09E-FA07-EAA05AF9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326DFFA-2D02-828D-3495-0FB4BCFF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7D24F2-3B92-8C6E-9C4E-07C5D7DC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6122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00585CB-5D79-5A7F-ECFB-2743E6C58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5EE95D0-5B49-8876-3695-E68B436D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63AEBC-BA17-5F37-FBD3-229A1FB0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5855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40AF8-C12E-79F0-1BBA-B8E55E4C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0C0E53-2C1A-8AF5-8ECD-FF22EC5DF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7C25215-E238-8B8D-B03E-EFDCF795A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2574582-BBC7-0288-5DC7-30ADCD68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C171853-4C18-B6FD-94FA-36755371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CA6115C-2DFC-2906-58BC-FD678E5E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7478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7393F9-CD20-411E-4DAB-C30A7927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4586DE-0B55-28C3-5768-143BD460B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AA17352-02A0-1F66-871A-D472F95F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2759F80-FEDE-A820-EB41-FB105F71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FFEB21B-0542-9A95-75CA-BC7E5DAB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8542F0D-44D3-2075-5009-1D44BDA5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1404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D53B84-1C99-1F1A-705A-CE1EFCC1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C36DBE-2985-FB68-49C3-6FDEB770F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46C8A7-5949-D992-6643-30C225BF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804609-02F3-F7A0-7CE6-10F46ADD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831774-1800-6F6A-6F3C-713DA599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2124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A057423-D90A-EFF0-A4C1-F218E1449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F7BB636-92F6-42E4-5DD9-8F33180D0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609166-D628-7924-0967-1A0C1FC5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E1053A-3C64-6A58-2067-307A5DE5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FA3718-554F-15AB-7EB7-372767BA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9406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81CC17D-F1C5-FAFB-D336-7D3CB88C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2FFE6-309B-A710-6B1C-5F6FEDD5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2C7FE1-C987-1CB4-9E34-95CF76AF7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7128F-FA69-489B-A1A8-66DFC38A564F}" type="datetimeFigureOut">
              <a:rPr lang="en-IN" smtClean="0"/>
              <a:pPr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CF1B5C-10F8-6432-537A-CEA263412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D7CAB5-FF58-830C-7C98-FEA4E7B8B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A0AC8-A551-4ECB-93C1-5255C98230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1747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68780" y="5637207"/>
            <a:ext cx="5223220" cy="32060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540"/>
              </a:lnSpc>
            </a:pPr>
            <a:r>
              <a:rPr sz="2400" b="1" spc="150" dirty="0">
                <a:latin typeface="Cambria"/>
                <a:cs typeface="Cambria"/>
              </a:rPr>
              <a:t>Dr.</a:t>
            </a:r>
            <a:r>
              <a:rPr sz="2400" b="1" spc="204" dirty="0">
                <a:latin typeface="Cambria"/>
                <a:cs typeface="Cambria"/>
              </a:rPr>
              <a:t> </a:t>
            </a:r>
            <a:r>
              <a:rPr lang="en-US" sz="2400" b="1" spc="195" dirty="0">
                <a:latin typeface="Cambria"/>
                <a:cs typeface="Cambria"/>
              </a:rPr>
              <a:t>Jayashree T R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7825" y="1247775"/>
            <a:ext cx="1229967" cy="1233755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1666844" y="2714620"/>
            <a:ext cx="9452283" cy="1893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8225" algn="l"/>
                <a:tab pos="4889500" algn="l"/>
              </a:tabLst>
              <a:defRPr/>
            </a:pPr>
            <a:r>
              <a:rPr kumimoji="0" lang="en-IN" sz="4800" b="1" i="0" u="none" strike="noStrike" kern="0" cap="none" spc="26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I</a:t>
            </a:r>
            <a:r>
              <a:rPr kumimoji="0" lang="en-IN" sz="4800" b="1" i="0" u="none" strike="noStrike" kern="0" cap="none" spc="29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T</a:t>
            </a:r>
            <a:r>
              <a:rPr kumimoji="0" lang="en-IN" sz="4800" b="1" i="0" u="none" strike="noStrike" kern="0" cap="none" spc="52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 </a:t>
            </a:r>
            <a:r>
              <a:rPr kumimoji="0" lang="en-IN" sz="4800" b="1" i="0" u="none" strike="noStrike" kern="0" cap="none" spc="3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252</a:t>
            </a:r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	</a:t>
            </a:r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-Bold"/>
                <a:ea typeface="+mj-ea"/>
                <a:cs typeface="Cambria"/>
              </a:rPr>
              <a:t>DATABASE SYSTEMS</a:t>
            </a:r>
          </a:p>
          <a:p>
            <a:pPr algn="ctr"/>
            <a:endParaRPr lang="en-I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FF"/>
                </a:solidFill>
                <a:latin typeface="Georgia" panose="02040502050405020303" pitchFamily="18" charset="0"/>
              </a:rPr>
              <a:t>Database Recovery Techniques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xmlns="" id="{E4000907-9B09-3E4A-43DE-86B6677D4878}"/>
              </a:ext>
            </a:extLst>
          </p:cNvPr>
          <p:cNvSpPr txBox="1">
            <a:spLocks/>
          </p:cNvSpPr>
          <p:nvPr/>
        </p:nvSpPr>
        <p:spPr>
          <a:xfrm>
            <a:off x="242887" y="262000"/>
            <a:ext cx="11410950" cy="914400"/>
          </a:xfrm>
          <a:prstGeom prst="rect">
            <a:avLst/>
          </a:prstGeom>
          <a:solidFill>
            <a:srgbClr val="C5DFB4"/>
          </a:solidFill>
          <a:ln w="12700">
            <a:solidFill>
              <a:srgbClr val="2E528F"/>
            </a:solidFill>
          </a:ln>
        </p:spPr>
        <p:txBody>
          <a:bodyPr vert="horz" wrap="square" lIns="0" tIns="15875" rIns="0" bIns="0" rtlCol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2080260" marR="718185" lvl="0" indent="-1353820" defTabSz="914400" eaLnBrk="1" fontAlgn="auto" latinLnBrk="0" hangingPunct="1">
              <a:lnSpc>
                <a:spcPts val="337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93315" algn="l"/>
                <a:tab pos="4145279" algn="l"/>
                <a:tab pos="4413250" algn="l"/>
                <a:tab pos="6877050" algn="l"/>
                <a:tab pos="7222490" algn="l"/>
                <a:tab pos="8914765" algn="l"/>
              </a:tabLst>
              <a:defRPr/>
            </a:pPr>
            <a:r>
              <a:rPr kumimoji="0" lang="en-US" sz="2750" b="1" i="0" u="none" strike="noStrike" kern="0" cap="none" spc="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N</a:t>
            </a:r>
            <a:r>
              <a:rPr kumimoji="0" lang="en-US" sz="2750" b="1" i="0" u="none" strike="noStrike" kern="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2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i</a:t>
            </a:r>
            <a:r>
              <a:rPr kumimoji="0" lang="en-US" sz="2750" b="1" i="0" u="none" strike="noStrike" kern="0" cap="none" spc="18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o</a:t>
            </a:r>
            <a:r>
              <a:rPr kumimoji="0" lang="en-US" sz="2750" b="1" i="0" u="none" strike="noStrike" kern="0" cap="none" spc="1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n</a:t>
            </a:r>
            <a:r>
              <a:rPr kumimoji="0" lang="en-US" sz="2750" b="1" i="0" u="none" strike="noStrike" kern="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9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l</a:t>
            </a:r>
            <a:r>
              <a:rPr kumimoji="0" lang="en-US" sz="2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	</a:t>
            </a:r>
            <a:r>
              <a:rPr kumimoji="0" lang="en-US" sz="2750" b="1" i="0" u="none" strike="noStrike" kern="0" cap="none" spc="1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I</a:t>
            </a:r>
            <a:r>
              <a:rPr kumimoji="0" lang="en-US" sz="2750" b="1" i="0" u="none" strike="noStrike" kern="0" cap="none" spc="2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n</a:t>
            </a:r>
            <a:r>
              <a:rPr kumimoji="0" lang="en-US" sz="2750" b="1" i="0" u="none" strike="noStrike" kern="0" cap="none" spc="1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s</a:t>
            </a:r>
            <a:r>
              <a:rPr kumimoji="0" lang="en-US" sz="2750" b="1" i="0" u="none" strike="noStrike" kern="0" cap="none" spc="2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i</a:t>
            </a:r>
            <a:r>
              <a:rPr kumimoji="0" lang="en-US" sz="2750" b="1" i="0" u="none" strike="noStrike" kern="0" cap="none" spc="1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2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u</a:t>
            </a:r>
            <a:r>
              <a:rPr kumimoji="0" lang="en-US" sz="2750" b="1" i="0" u="none" strike="noStrike" kern="0" cap="none" spc="2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te</a:t>
            </a:r>
            <a:r>
              <a:rPr kumimoji="0" lang="en-US" sz="2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	</a:t>
            </a:r>
            <a:r>
              <a:rPr kumimoji="0" lang="en-US" sz="2750" b="1" i="0" u="none" strike="noStrike" kern="0" cap="none" spc="19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o</a:t>
            </a:r>
            <a:r>
              <a:rPr kumimoji="0" lang="en-US" sz="2750" b="1" i="0" u="none" strike="noStrike" kern="0" cap="none" spc="11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f</a:t>
            </a:r>
            <a:r>
              <a:rPr kumimoji="0" lang="en-US" sz="2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 </a:t>
            </a:r>
            <a:r>
              <a:rPr kumimoji="0" lang="en-US" sz="2750" b="1" i="0" u="none" strike="noStrike" kern="0" cap="none" spc="-24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 </a:t>
            </a:r>
            <a:r>
              <a:rPr kumimoji="0" lang="en-US" sz="2750" b="1" i="0" u="none" strike="noStrike" kern="0" cap="none" spc="18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1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e</a:t>
            </a:r>
            <a:r>
              <a:rPr kumimoji="0" lang="en-US" sz="2750" b="1" i="0" u="none" strike="noStrike" kern="0" cap="none" spc="28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c</a:t>
            </a:r>
            <a:r>
              <a:rPr kumimoji="0" lang="en-US" sz="2750" b="1" i="0" u="none" strike="noStrike" kern="0" cap="none" spc="22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h</a:t>
            </a:r>
            <a:r>
              <a:rPr kumimoji="0" lang="en-US" sz="2750" b="1" i="0" u="none" strike="noStrike" kern="0" cap="none" spc="2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n</a:t>
            </a:r>
            <a:r>
              <a:rPr kumimoji="0" lang="en-US" sz="2750" b="1" i="0" u="none" strike="noStrike" kern="0" cap="none" spc="1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o</a:t>
            </a:r>
            <a:r>
              <a:rPr kumimoji="0" lang="en-US" sz="2750" b="1" i="0" u="none" strike="noStrike" kern="0" cap="none" spc="1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l</a:t>
            </a:r>
            <a:r>
              <a:rPr kumimoji="0" lang="en-US" sz="2750" b="1" i="0" u="none" strike="noStrike" kern="0" cap="none" spc="17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o</a:t>
            </a:r>
            <a:r>
              <a:rPr kumimoji="0" lang="en-US" sz="2750" b="1" i="0" u="none" strike="noStrike" kern="0" cap="none" spc="1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g</a:t>
            </a:r>
            <a:r>
              <a:rPr kumimoji="0" lang="en-US" sz="2750" b="1" i="0" u="none" strike="noStrike" kern="0" cap="none" spc="2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y</a:t>
            </a:r>
            <a:r>
              <a:rPr kumimoji="0" lang="en-US" sz="2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	</a:t>
            </a:r>
            <a:r>
              <a:rPr kumimoji="0" lang="en-US" sz="2750" b="1" i="0" u="none" strike="noStrike" kern="0" cap="none" spc="3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K</a:t>
            </a:r>
            <a:r>
              <a:rPr kumimoji="0" lang="en-US" sz="2750" b="1" i="0" u="none" strike="noStrike" kern="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ar</a:t>
            </a:r>
            <a:r>
              <a:rPr kumimoji="0" lang="en-US" sz="2750" b="1" i="0" u="none" strike="noStrike" kern="0" cap="none" spc="11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n</a:t>
            </a:r>
            <a:r>
              <a:rPr kumimoji="0" lang="en-US" sz="2750" b="1" i="0" u="none" strike="noStrike" kern="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1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2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1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k</a:t>
            </a:r>
            <a:r>
              <a:rPr kumimoji="0" lang="en-US" sz="2750" b="1" i="0" u="none" strike="noStrike" kern="0" cap="none" spc="1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	</a:t>
            </a:r>
            <a:r>
              <a:rPr kumimoji="0" lang="en-US" sz="2750" b="1" i="0" u="none" strike="noStrike" kern="0" cap="none" spc="3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S</a:t>
            </a:r>
            <a:r>
              <a:rPr kumimoji="0" lang="en-US" sz="2750" b="1" i="0" u="none" strike="noStrike" kern="0" cap="none" spc="1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u</a:t>
            </a:r>
            <a:r>
              <a:rPr kumimoji="0" lang="en-US" sz="2750" b="1" i="0" u="none" strike="noStrike" kern="0" cap="none" spc="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r</a:t>
            </a:r>
            <a:r>
              <a:rPr kumimoji="0" lang="en-US" sz="2750" b="1" i="0" u="none" strike="noStrike" kern="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19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</a:t>
            </a:r>
            <a:r>
              <a:rPr kumimoji="0" lang="en-US" sz="2750" b="1" i="0" u="none" strike="noStrike" kern="0" cap="none" spc="3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h</a:t>
            </a:r>
            <a:r>
              <a:rPr kumimoji="0" lang="en-US" sz="2750" b="1" i="0" u="none" strike="noStrike" kern="0" cap="none" spc="17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k</a:t>
            </a:r>
            <a:r>
              <a:rPr kumimoji="0" lang="en-US" sz="2750" b="1" i="0" u="none" strike="noStrike" kern="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a</a:t>
            </a:r>
            <a:r>
              <a:rPr kumimoji="0" lang="en-US" sz="2750" b="1" i="0" u="none" strike="noStrike" kern="0" cap="none" spc="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l  </a:t>
            </a:r>
            <a:r>
              <a:rPr kumimoji="0" lang="en-US" sz="2750" b="1" i="0" u="none" strike="noStrike" kern="0" cap="none" spc="18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Department	</a:t>
            </a:r>
            <a:r>
              <a:rPr kumimoji="0" lang="en-US" sz="2750" b="1" i="0" u="none" strike="noStrike" kern="0" cap="none" spc="1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of</a:t>
            </a:r>
            <a:r>
              <a:rPr kumimoji="0" lang="en-US" sz="2750" b="1" i="0" u="none" strike="noStrike" kern="0" cap="none" spc="40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 </a:t>
            </a:r>
            <a:r>
              <a:rPr kumimoji="0" lang="en-US" sz="2750" b="1" i="0" u="none" strike="noStrike" kern="0" cap="none" spc="17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Information	</a:t>
            </a:r>
            <a:r>
              <a:rPr kumimoji="0" lang="en-US" sz="2750" b="1" i="0" u="none" strike="noStrike" kern="0" cap="none" spc="1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+mj-ea"/>
              </a:rPr>
              <a:t>Technology</a:t>
            </a:r>
            <a:endParaRPr kumimoji="0" lang="en-US" sz="275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12" y="214290"/>
            <a:ext cx="303847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spc="204" dirty="0">
                <a:latin typeface="Georgia"/>
                <a:cs typeface="Georgia"/>
              </a:rPr>
              <a:t>Course</a:t>
            </a:r>
            <a:r>
              <a:rPr sz="3200" b="0" spc="110" dirty="0">
                <a:latin typeface="Georgia"/>
                <a:cs typeface="Georgia"/>
              </a:rPr>
              <a:t> </a:t>
            </a:r>
            <a:r>
              <a:rPr sz="3200" b="0" spc="145" dirty="0">
                <a:latin typeface="Georgia"/>
                <a:cs typeface="Georgia"/>
              </a:rPr>
              <a:t>Outline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785794"/>
            <a:ext cx="10930498" cy="589263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spc="140" dirty="0">
                <a:latin typeface="Cambria"/>
                <a:cs typeface="Cambria"/>
              </a:rPr>
              <a:t>Course</a:t>
            </a:r>
            <a:r>
              <a:rPr sz="2000" b="1" spc="8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Plan:</a:t>
            </a:r>
            <a:r>
              <a:rPr sz="2000" b="1" spc="20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Theory: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spc="100" dirty="0">
                <a:latin typeface="Cambria"/>
                <a:cs typeface="Cambria"/>
              </a:rPr>
              <a:t>Part</a:t>
            </a:r>
            <a:r>
              <a:rPr sz="2000" b="1" spc="204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A: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80" dirty="0">
                <a:latin typeface="Cambria"/>
                <a:cs typeface="Cambria"/>
              </a:rPr>
              <a:t>Parallel</a:t>
            </a:r>
            <a:r>
              <a:rPr sz="2000" b="1" spc="75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Computer</a:t>
            </a:r>
            <a:r>
              <a:rPr sz="2000" b="1" spc="130" dirty="0">
                <a:latin typeface="Cambria"/>
                <a:cs typeface="Cambria"/>
              </a:rPr>
              <a:t> Architectures</a:t>
            </a:r>
            <a:endParaRPr sz="2000" dirty="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070"/>
              </a:spcBef>
              <a:tabLst>
                <a:tab pos="1642745" algn="l"/>
                <a:tab pos="8228965" algn="l"/>
              </a:tabLst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spc="165" dirty="0">
                <a:latin typeface="Georgia"/>
                <a:cs typeface="Georgia"/>
              </a:rPr>
              <a:t>1:	</a:t>
            </a:r>
            <a:r>
              <a:rPr sz="2000" spc="155" dirty="0">
                <a:highlight>
                  <a:srgbClr val="00FFFF"/>
                </a:highlight>
                <a:latin typeface="Times-Bold"/>
                <a:cs typeface="Cambria"/>
              </a:rPr>
              <a:t>Introduction</a:t>
            </a:r>
            <a:r>
              <a:rPr sz="2000" spc="140" dirty="0">
                <a:highlight>
                  <a:srgbClr val="00FFFF"/>
                </a:highlight>
                <a:latin typeface="Times-Bold"/>
                <a:cs typeface="Cambria"/>
              </a:rPr>
              <a:t> </a:t>
            </a:r>
            <a:r>
              <a:rPr sz="2000" spc="150" dirty="0">
                <a:highlight>
                  <a:srgbClr val="00FFFF"/>
                </a:highlight>
                <a:latin typeface="Times-Bold"/>
                <a:cs typeface="Cambria"/>
              </a:rPr>
              <a:t>to</a:t>
            </a:r>
            <a:r>
              <a:rPr sz="2000" spc="229" dirty="0">
                <a:highlight>
                  <a:srgbClr val="00FFFF"/>
                </a:highlight>
                <a:latin typeface="Times-Bold"/>
                <a:cs typeface="Cambria"/>
              </a:rPr>
              <a:t> </a:t>
            </a:r>
            <a:r>
              <a:rPr lang="en-IN" sz="2000" dirty="0">
                <a:highlight>
                  <a:srgbClr val="00FFFF"/>
                </a:highlight>
                <a:latin typeface="Times-Bold"/>
              </a:rPr>
              <a:t>to the course, highlighting the </a:t>
            </a:r>
            <a:r>
              <a:rPr lang="en-US" sz="2000" dirty="0">
                <a:highlight>
                  <a:srgbClr val="00FFFF"/>
                </a:highlight>
                <a:latin typeface="Times-Bold"/>
              </a:rPr>
              <a:t>data and databases, and related basic concepts. Advantages and need for a database system.</a:t>
            </a:r>
            <a:endParaRPr sz="2000" dirty="0">
              <a:highlight>
                <a:srgbClr val="00FFFF"/>
              </a:highlight>
              <a:latin typeface="Times-Bold"/>
              <a:cs typeface="Georgia"/>
            </a:endParaRP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25" dirty="0">
                <a:latin typeface="Georgia"/>
                <a:cs typeface="Georgia"/>
              </a:rPr>
              <a:t>2</a:t>
            </a:r>
            <a:r>
              <a:rPr sz="2000" spc="125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00FF00"/>
                </a:highlight>
                <a:latin typeface="Times-Bold"/>
              </a:rPr>
              <a:t>Attributes, tuples, relational schema, conceptual model, introduction to SQL-DML, DDL, creating relations/ tables, access and manipulate data. </a:t>
            </a: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40" dirty="0">
                <a:latin typeface="Georgia"/>
                <a:cs typeface="Georgia"/>
              </a:rPr>
              <a:t>3,4</a:t>
            </a:r>
            <a:r>
              <a:rPr sz="2000" spc="140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Times-Bold"/>
              </a:rPr>
              <a:t>Data model, relational model, and SQL, relational data model and relational database constraints, SQL data definition and data types, specifying constraints, basic retrieval queries,</a:t>
            </a:r>
            <a:r>
              <a:rPr lang="en-US" sz="2000" dirty="0">
                <a:latin typeface="Times-Bold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Times-Bold"/>
              </a:rPr>
              <a:t>complex quires, triggers, views, schema modification. </a:t>
            </a: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 </a:t>
            </a:r>
            <a:r>
              <a:rPr lang="en-IN" sz="2000" spc="60" dirty="0">
                <a:latin typeface="Georgia"/>
                <a:cs typeface="Georgia"/>
              </a:rPr>
              <a:t>5-6</a:t>
            </a:r>
            <a:r>
              <a:rPr sz="2000" spc="229" dirty="0">
                <a:latin typeface="Georgia"/>
                <a:cs typeface="Georgia"/>
              </a:rPr>
              <a:t>: </a:t>
            </a:r>
            <a:r>
              <a:rPr lang="en-US" sz="2000" dirty="0">
                <a:highlight>
                  <a:srgbClr val="FF00FF"/>
                </a:highlight>
                <a:latin typeface="Times-Bold"/>
              </a:rPr>
              <a:t>ER model development, entity types/sets, attribute, relationship types/sets, simple employee database conceptual design using ER concepts, ER to relational mapping algorithm, EER model. </a:t>
            </a:r>
            <a:endParaRPr sz="2000" dirty="0">
              <a:highlight>
                <a:srgbClr val="FF00FF"/>
              </a:highlight>
              <a:latin typeface="Times-Bold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5650" y="714374"/>
            <a:ext cx="1276350" cy="2533650"/>
          </a:xfrm>
          <a:custGeom>
            <a:avLst/>
            <a:gdLst/>
            <a:ahLst/>
            <a:cxnLst/>
            <a:rect l="l" t="t" r="r" b="b"/>
            <a:pathLst>
              <a:path w="1276350" h="2533650">
                <a:moveTo>
                  <a:pt x="1276350" y="0"/>
                </a:moveTo>
                <a:lnTo>
                  <a:pt x="0" y="1266825"/>
                </a:lnTo>
                <a:lnTo>
                  <a:pt x="233273" y="1498371"/>
                </a:lnTo>
                <a:lnTo>
                  <a:pt x="3302" y="1728343"/>
                </a:lnTo>
                <a:lnTo>
                  <a:pt x="459613" y="2184654"/>
                </a:lnTo>
                <a:lnTo>
                  <a:pt x="691324" y="1953006"/>
                </a:lnTo>
                <a:lnTo>
                  <a:pt x="1276350" y="2533650"/>
                </a:lnTo>
                <a:lnTo>
                  <a:pt x="127635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997" y="258127"/>
            <a:ext cx="303847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0" spc="204" dirty="0">
                <a:latin typeface="Georgia"/>
                <a:cs typeface="Georgia"/>
              </a:rPr>
              <a:t>Course</a:t>
            </a:r>
            <a:r>
              <a:rPr sz="3200" b="0" spc="110" dirty="0">
                <a:latin typeface="Georgia"/>
                <a:cs typeface="Georgia"/>
              </a:rPr>
              <a:t> </a:t>
            </a:r>
            <a:r>
              <a:rPr sz="3200" b="0" spc="145" dirty="0">
                <a:latin typeface="Georgia"/>
                <a:cs typeface="Georgia"/>
              </a:rPr>
              <a:t>Outline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390" y="1620837"/>
            <a:ext cx="2730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" dirty="0">
                <a:latin typeface="Georgia"/>
                <a:cs typeface="Georgia"/>
              </a:rPr>
              <a:t>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308" y="1650238"/>
            <a:ext cx="13906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2295"/>
              </a:lnSpc>
            </a:pPr>
            <a:r>
              <a:rPr sz="2000" spc="120">
                <a:latin typeface="Georgia"/>
                <a:cs typeface="Georgia"/>
              </a:rPr>
              <a:t>eek</a:t>
            </a:r>
            <a:r>
              <a:rPr sz="2000" spc="25">
                <a:latin typeface="Georgia"/>
                <a:cs typeface="Georgia"/>
              </a:rPr>
              <a:t> </a:t>
            </a:r>
            <a:r>
              <a:rPr lang="en-IN" sz="2000" spc="195" dirty="0">
                <a:latin typeface="Georgia"/>
                <a:cs typeface="Georgia"/>
              </a:rPr>
              <a:t>7,8</a:t>
            </a:r>
            <a:r>
              <a:rPr sz="2000" spc="-40">
                <a:latin typeface="Georgia"/>
                <a:cs typeface="Georgia"/>
              </a:rPr>
              <a:t> </a:t>
            </a:r>
            <a:r>
              <a:rPr sz="2000" spc="20" dirty="0">
                <a:latin typeface="Georgia"/>
                <a:cs typeface="Georgia"/>
              </a:rPr>
              <a:t>: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274" y="2285992"/>
            <a:ext cx="11144328" cy="388311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just"/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lang="en-IN" sz="2000" spc="125" dirty="0">
                <a:latin typeface="Georgia"/>
                <a:cs typeface="Georgia"/>
              </a:rPr>
              <a:t>9</a:t>
            </a:r>
            <a:r>
              <a:rPr sz="2000" spc="125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33CCFF"/>
                </a:highlight>
                <a:latin typeface="Times-Bold"/>
              </a:rPr>
              <a:t>Procedural query languages: relational algebra and SQL-SELECT, PROJECT, RENAME, binary and JOIN operations with examples.  </a:t>
            </a:r>
            <a:endParaRPr lang="en-IN" sz="2000" dirty="0">
              <a:highlight>
                <a:srgbClr val="33CCFF"/>
              </a:highlight>
              <a:latin typeface="Times-Bold"/>
            </a:endParaRPr>
          </a:p>
          <a:p>
            <a:pPr algn="just"/>
            <a:r>
              <a:rPr lang="en-US" sz="2000" dirty="0">
                <a:highlight>
                  <a:srgbClr val="33CCFF"/>
                </a:highlight>
                <a:latin typeface="Times-Bold"/>
              </a:rPr>
              <a:t>Non-Procedural query languages: relational calculus, and SQL-</a:t>
            </a:r>
            <a:r>
              <a:rPr lang="en-US" sz="2000" dirty="0" err="1">
                <a:highlight>
                  <a:srgbClr val="33CCFF"/>
                </a:highlight>
                <a:latin typeface="Times-Bold"/>
              </a:rPr>
              <a:t>tuple</a:t>
            </a:r>
            <a:r>
              <a:rPr lang="en-US" sz="2000" dirty="0">
                <a:highlight>
                  <a:srgbClr val="33CCFF"/>
                </a:highlight>
                <a:latin typeface="Times-Bold"/>
              </a:rPr>
              <a:t> relational calculus, existential a universal quantifier with examples. </a:t>
            </a:r>
            <a:endParaRPr sz="2000" dirty="0">
              <a:highlight>
                <a:srgbClr val="33CCFF"/>
              </a:highlight>
              <a:latin typeface="Times-Bold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2490470" algn="l"/>
              </a:tabLst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70" dirty="0">
                <a:latin typeface="Georgia"/>
                <a:cs typeface="Georgia"/>
              </a:rPr>
              <a:t>10</a:t>
            </a:r>
            <a:r>
              <a:rPr sz="2000" spc="170" dirty="0">
                <a:latin typeface="Georgia"/>
                <a:cs typeface="Georgia"/>
              </a:rPr>
              <a:t>,</a:t>
            </a:r>
            <a:r>
              <a:rPr lang="en-IN" sz="2000" spc="170" dirty="0">
                <a:latin typeface="Georgia"/>
                <a:cs typeface="Georgia"/>
              </a:rPr>
              <a:t>11</a:t>
            </a:r>
            <a:r>
              <a:rPr sz="2000" spc="65" dirty="0">
                <a:latin typeface="Georgia"/>
                <a:cs typeface="Georgia"/>
              </a:rPr>
              <a:t> </a:t>
            </a:r>
            <a:r>
              <a:rPr sz="2000" spc="20" dirty="0">
                <a:latin typeface="Georgia"/>
                <a:cs typeface="Georgia"/>
              </a:rPr>
              <a:t>: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008080"/>
                </a:highlight>
                <a:latin typeface="Times-Bold"/>
              </a:rPr>
              <a:t>Transaction management, schedule and </a:t>
            </a:r>
            <a:r>
              <a:rPr lang="en-IE" sz="2000" dirty="0">
                <a:highlight>
                  <a:srgbClr val="008080"/>
                </a:highlight>
                <a:latin typeface="Times-Bold"/>
              </a:rPr>
              <a:t>serializability</a:t>
            </a:r>
            <a:r>
              <a:rPr lang="en-US" sz="2000" dirty="0">
                <a:latin typeface="Times-Bold"/>
              </a:rPr>
              <a:t>, </a:t>
            </a:r>
            <a:r>
              <a:rPr lang="en-US" sz="2000" dirty="0">
                <a:highlight>
                  <a:srgbClr val="008080"/>
                </a:highlight>
                <a:latin typeface="Times-Bold"/>
              </a:rPr>
              <a:t>concurrency control, 2-phase lock</a:t>
            </a:r>
            <a:r>
              <a:rPr lang="en-US" sz="2000" dirty="0">
                <a:latin typeface="Times-Bold"/>
              </a:rPr>
              <a:t>, </a:t>
            </a:r>
            <a:r>
              <a:rPr lang="en-US" sz="2000" dirty="0">
                <a:highlight>
                  <a:srgbClr val="008080"/>
                </a:highlight>
                <a:latin typeface="Times-Bold"/>
              </a:rPr>
              <a:t>recovery mechanism: undo/redo values. </a:t>
            </a:r>
            <a:endParaRPr sz="2000" dirty="0">
              <a:highlight>
                <a:srgbClr val="008080"/>
              </a:highlight>
              <a:latin typeface="Times-Bold"/>
              <a:cs typeface="Georgia"/>
            </a:endParaRPr>
          </a:p>
          <a:p>
            <a:pPr marL="241300" marR="5080" indent="-229235" algn="just">
              <a:lnSpc>
                <a:spcPts val="2180"/>
              </a:lnSpc>
              <a:spcBef>
                <a:spcPts val="101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spc="220" dirty="0">
                <a:latin typeface="Georgia"/>
                <a:cs typeface="Georgia"/>
              </a:rPr>
              <a:t>1</a:t>
            </a:r>
            <a:r>
              <a:rPr lang="en-IN" sz="2000" spc="220" dirty="0">
                <a:latin typeface="Georgia"/>
                <a:cs typeface="Georgia"/>
              </a:rPr>
              <a:t>2</a:t>
            </a:r>
            <a:r>
              <a:rPr sz="2000" spc="220" dirty="0">
                <a:latin typeface="Georgia"/>
                <a:cs typeface="Georgia"/>
              </a:rPr>
              <a:t>,1</a:t>
            </a:r>
            <a:r>
              <a:rPr lang="en-IN" sz="2000" spc="220" dirty="0">
                <a:latin typeface="Georgia"/>
                <a:cs typeface="Georgia"/>
              </a:rPr>
              <a:t>3: </a:t>
            </a:r>
            <a:r>
              <a:rPr lang="en-US" sz="2000" dirty="0">
                <a:latin typeface="Times-Bold"/>
              </a:rPr>
              <a:t>Disk storage- basic file structures, ordered/unordered. binary search, hashing, indexing, importance of indexes, primary and secondary indexing methods, clustered, B tree, B++ trees.</a:t>
            </a:r>
          </a:p>
          <a:p>
            <a:pPr marL="241300" marR="5080" indent="-229235" algn="just">
              <a:lnSpc>
                <a:spcPts val="2180"/>
              </a:lnSpc>
              <a:spcBef>
                <a:spcPts val="1010"/>
              </a:spcBef>
            </a:pPr>
            <a:r>
              <a:rPr lang="en-IN" sz="2000" spc="85" dirty="0">
                <a:latin typeface="Georgia"/>
                <a:cs typeface="Georgia"/>
              </a:rPr>
              <a:t>Week</a:t>
            </a:r>
            <a:r>
              <a:rPr lang="en-IN" sz="2000" spc="60" dirty="0">
                <a:latin typeface="Georgia"/>
                <a:cs typeface="Georgia"/>
              </a:rPr>
              <a:t> </a:t>
            </a:r>
            <a:r>
              <a:rPr lang="en-IN" sz="2000" spc="220" dirty="0">
                <a:latin typeface="Georgia"/>
                <a:cs typeface="Georgia"/>
              </a:rPr>
              <a:t>14: </a:t>
            </a:r>
            <a:r>
              <a:rPr lang="en-IN" sz="2000" dirty="0">
                <a:latin typeface="Times-Bold"/>
              </a:rPr>
              <a:t>Current trends in database system, introduction to data warehousing, data mining. </a:t>
            </a:r>
            <a:endParaRPr sz="2000" dirty="0">
              <a:latin typeface="Times-Bold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spc="130" dirty="0">
                <a:latin typeface="Cambria"/>
                <a:cs typeface="Cambria"/>
              </a:rPr>
              <a:t>Practical:</a:t>
            </a:r>
            <a:r>
              <a:rPr lang="en-IN" sz="2000" spc="130" dirty="0">
                <a:latin typeface="Cambria"/>
                <a:cs typeface="Cambria"/>
              </a:rPr>
              <a:t> MySQL commands </a:t>
            </a: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lang="en-IN" sz="2000" spc="130" dirty="0">
                <a:latin typeface="Cambria"/>
                <a:cs typeface="Cambria"/>
              </a:rPr>
              <a:t>Project: Team of 2 or 3 members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915650" y="714374"/>
            <a:ext cx="1276350" cy="2533650"/>
          </a:xfrm>
          <a:custGeom>
            <a:avLst/>
            <a:gdLst/>
            <a:ahLst/>
            <a:cxnLst/>
            <a:rect l="l" t="t" r="r" b="b"/>
            <a:pathLst>
              <a:path w="1276350" h="2533650">
                <a:moveTo>
                  <a:pt x="1276350" y="0"/>
                </a:moveTo>
                <a:lnTo>
                  <a:pt x="0" y="1266825"/>
                </a:lnTo>
                <a:lnTo>
                  <a:pt x="233273" y="1498371"/>
                </a:lnTo>
                <a:lnTo>
                  <a:pt x="3302" y="1728343"/>
                </a:lnTo>
                <a:lnTo>
                  <a:pt x="459613" y="2184654"/>
                </a:lnTo>
                <a:lnTo>
                  <a:pt x="691324" y="1953006"/>
                </a:lnTo>
                <a:lnTo>
                  <a:pt x="1276350" y="2533650"/>
                </a:lnTo>
                <a:lnTo>
                  <a:pt x="127635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24034" y="1214422"/>
            <a:ext cx="89297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spc="155" dirty="0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  <a:latin typeface="Times-Bold"/>
                <a:cs typeface="Cambria"/>
              </a:rPr>
              <a:t>Functional dependency definition, need of normalization, anomalies and redundant information in tuples, normalization steps (INF, 2NF, 3NF), BCNF, introduction to the higher normal forms. </a:t>
            </a:r>
            <a:endParaRPr lang="en-IN" sz="2000" spc="155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  <a:latin typeface="Times-Bold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FEF88AF-8CBD-F027-E874-071B83D7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395287"/>
            <a:ext cx="928687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2996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D28B5ED-F86B-972A-DF91-88D25351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442912"/>
            <a:ext cx="93059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1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2B00A4F-6D8E-B0C6-0F19-C518D2EF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528637"/>
            <a:ext cx="945832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62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3B826D-E605-5479-11CA-A71802CBD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604837"/>
            <a:ext cx="95154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1830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572526-05F5-C463-7A7D-6BC5F5B2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504825"/>
            <a:ext cx="933450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18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C7FD7B3-86A8-40ED-46E1-9C5D8798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290512"/>
            <a:ext cx="930592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009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B73780-2737-C546-92A8-5FE393E47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057275"/>
            <a:ext cx="88582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755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8462" y="492369"/>
            <a:ext cx="8190401" cy="536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39103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6950" y="942975"/>
            <a:ext cx="76581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626976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4732" y="436099"/>
            <a:ext cx="8072218" cy="57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18376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852" y="576776"/>
            <a:ext cx="8255098" cy="57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9988" y="872198"/>
            <a:ext cx="8174575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5582" y="534573"/>
            <a:ext cx="8330418" cy="593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8634" y="196948"/>
            <a:ext cx="9551963" cy="666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1514" y="464234"/>
            <a:ext cx="9073661" cy="5950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5243" y="436098"/>
            <a:ext cx="8372182" cy="5838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346" y="182881"/>
            <a:ext cx="9889589" cy="667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1680" y="590842"/>
            <a:ext cx="8145194" cy="5613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8463" y="633046"/>
            <a:ext cx="8623494" cy="545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997" y="2531550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C00000"/>
                </a:solidFill>
                <a:latin typeface="Georgia" pitchFamily="18" charset="0"/>
              </a:rPr>
              <a:t>THANK YOU</a:t>
            </a:r>
            <a:endParaRPr lang="en-IN" b="1" dirty="0">
              <a:solidFill>
                <a:srgbClr val="C00000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200</Words>
  <Application>Microsoft Office PowerPoint</Application>
  <PresentationFormat>Custom</PresentationFormat>
  <Paragraphs>24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Course Outline</vt:lpstr>
      <vt:lpstr>Course Outline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Jayashree T.R 190900110</dc:creator>
  <cp:lastModifiedBy>ituser</cp:lastModifiedBy>
  <cp:revision>6</cp:revision>
  <dcterms:created xsi:type="dcterms:W3CDTF">2025-04-24T17:15:08Z</dcterms:created>
  <dcterms:modified xsi:type="dcterms:W3CDTF">2025-04-25T04:17:00Z</dcterms:modified>
</cp:coreProperties>
</file>