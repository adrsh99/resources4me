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61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2" r:id="rId17"/>
    <p:sldId id="343" r:id="rId18"/>
    <p:sldId id="344" r:id="rId19"/>
    <p:sldId id="350" r:id="rId20"/>
    <p:sldId id="380" r:id="rId21"/>
    <p:sldId id="381" r:id="rId22"/>
    <p:sldId id="345" r:id="rId23"/>
    <p:sldId id="346" r:id="rId24"/>
    <p:sldId id="347" r:id="rId25"/>
    <p:sldId id="348" r:id="rId26"/>
    <p:sldId id="349" r:id="rId27"/>
    <p:sldId id="351" r:id="rId28"/>
    <p:sldId id="352" r:id="rId29"/>
    <p:sldId id="353" r:id="rId30"/>
    <p:sldId id="355" r:id="rId31"/>
    <p:sldId id="356" r:id="rId32"/>
    <p:sldId id="358" r:id="rId33"/>
    <p:sldId id="359" r:id="rId34"/>
    <p:sldId id="360" r:id="rId35"/>
    <p:sldId id="361" r:id="rId36"/>
    <p:sldId id="362" r:id="rId37"/>
    <p:sldId id="363" r:id="rId38"/>
    <p:sldId id="369" r:id="rId39"/>
    <p:sldId id="37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modh777@gmail.com" initials="p" lastIdx="1" clrIdx="0">
    <p:extLst>
      <p:ext uri="{19B8F6BF-5375-455C-9EA6-DF929625EA0E}">
        <p15:presenceInfo xmlns:p15="http://schemas.microsoft.com/office/powerpoint/2012/main" userId="51661f3c6c5ca6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0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52A83-2B58-4944-A67C-F4126BA35758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C655F-E753-45C7-A519-7471009948C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C7FE-9E08-4A2B-BE99-31924C47C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586DD-7926-4458-82A0-790AAEDF1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2E478-1546-4CF8-86BF-DCA26E87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FBD4-0D2E-4B1F-B34A-1E80E9EF5657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CE3BF-E61E-486F-B7D4-7D4D34F4B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DE3C-A1B2-42AF-AAFE-CEAE07ED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45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C1C7-AEFD-4060-8EF1-82029423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7C0F-1611-46E1-89F3-072658169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9776-76F2-428D-95C1-6063EF7D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EAB9F-5B52-4792-96B3-207F2588B6A7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64090-2518-430C-A960-798A39B9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78A41-F7A7-4E1F-B05E-CD993B47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2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25AE-A082-4155-A675-62A4C614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684D5-0990-4B88-A3B6-F8AF5A0D3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015E-F7AC-4447-BCCD-0C78C7CC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6700-0465-4511-9BF8-FC8E155B7A42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812CF-AB24-4E8E-ACAF-D98140EE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FBA4-9749-47E3-B025-E2395771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2BCD-956E-499D-B03E-1F0916E1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2F7FD-FA5E-4F56-B2B5-B96B683A5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7E7FE-F38A-461C-8DA9-165378712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DCCC8-BD3C-4354-AE40-EF04B5C0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3B975-6F24-4FF1-9EB3-030673152D60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68653-6ECB-48DF-A84F-6481651C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11CE8-BE13-43AE-8D83-A3749189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5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79B3-3F9C-4768-8989-5367CD4D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2286-FA99-42B9-82A1-3CE170756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35E4C-6CE9-4E88-8185-4FEE39468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96785-20AA-4978-B64E-3AB75B2C9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442B3-83E7-4B4E-B7CD-E9E7F8BCF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18476-8D89-4A59-8BFE-09586C49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DE051-3709-43F6-85DF-376075523170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AC41F-CC5A-429E-902B-6041A73C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1BA28-7E53-46ED-A24F-AFEDF5E2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08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C2B0-72A1-4EA7-80B1-01F39EB6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CAB10-B072-43F5-ADDE-ADA5313C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7FB4-0037-4F8D-9504-01433CC7E03F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B39B1-0524-458F-AFB1-DC481B0F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02509-5864-4CA3-AD56-690AE1A8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0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5518F-58B4-4E42-911D-A1BDEE82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1ED0-ED59-4373-9BE5-E5DB797E7E5A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030FC-B946-4678-8F82-FBF70F07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1001-2B2E-4BEA-A580-5783E1F2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0FB0-1F8C-47FD-A2C5-10068643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8EB29-4D43-4BE1-98FA-AA00E78AB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BA6CA-7ED7-4A02-99E0-0451A8E54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03EEF-9607-445E-9691-86015F43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6C8E-6FF6-48E6-B649-ABF41CC74418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370B5-8F30-40BC-9CA1-4C6327D2D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B5218-D4D9-489E-8320-DDD0D92CE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24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84C4-24BC-4B16-BCDF-C3E9815C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66BA7-4070-4F1C-9EA0-508B4BBF6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734BB-B0E3-4F98-9363-A800EA2BD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26102-1A1B-4E88-8937-AC27B479F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17A27-2EB9-4AE9-89FC-8C4E217CDD6C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0155A-1F65-4641-AB55-C61D6D59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1F6DD-5FD7-45B6-B5A6-A447504A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21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0756-A195-4C7A-BCB2-7229000E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BAE84-823D-498F-A0DE-D597FFCD2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C1D48-217A-4124-B273-BD7FAD2A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7F3F-5FC8-433C-A742-E53F11FA7AC7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551DB-2996-4F39-AF01-7C2C00C6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684E-DE6F-427F-94E4-CCB35B3B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9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C65761-CE3B-4A08-A03B-5C6B9C3A6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F8C24-03CB-4254-A762-65D4C87F7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D17CC-0129-4B9C-A244-6F58BE5C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C68E-13A1-4A4D-8970-722801422D97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09B41-1384-4413-B6BE-BDC16E66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B1F1F-DEB0-4045-B4B6-D3E3B2A5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AA728-E283-416C-A33F-53053984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7BBEF-3DEF-45BB-98F8-AF8AEFCBF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70CE9-9E3B-44A4-9A86-9A3F4E936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65979-65EB-458C-8A76-C8606C7C9363}" type="datetime1">
              <a:rPr lang="en-US" smtClean="0"/>
              <a:t>2/2/2024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0DEFB-CBD4-4544-B6C6-CED927ED5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531AC-A168-48FF-8E9E-ABAB13F5E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6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F676-B5C7-4BFC-A5E2-09683FE6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65125"/>
            <a:ext cx="11006328" cy="692493"/>
          </a:xfrm>
        </p:spPr>
        <p:txBody>
          <a:bodyPr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Process Synchronization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B72C-F7CA-4104-954E-11FE16177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388124"/>
            <a:ext cx="11603736" cy="536014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Critical-Section Problem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Peterson’s Solution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Synchronization Hardware </a:t>
            </a:r>
          </a:p>
          <a:p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Locks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Semaphores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Classic Problems of Synchronization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Monitors</a:t>
            </a:r>
          </a:p>
          <a:p>
            <a:pPr>
              <a:buNone/>
            </a:pPr>
            <a:endParaRPr lang="en-US" altLang="en-US" sz="33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Producer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while (true)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/*  produce an item and put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nextProduced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*/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 while (counter== BUFFER_SIZE)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; // do nothing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buffer [in]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nextProduced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in = (in + 1) % BUFFER_SIZE;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counter++;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   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Consume</a:t>
            </a:r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while (true) 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   while (counter == 0)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 ; // do nothing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nextConsumed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 buffer[out];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  out = (out + 1) % BUFFER_SIZE;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             counter--;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/*  consume the item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nextConsumed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counter++ could be implemented as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register1 = counter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register1 = register1 + 1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counter = register1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counter-- could be implemented as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register2 = counter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register2 = register2 - 1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counter = register2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Race Condition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5123" t="23729" r="19660" b="33872"/>
          <a:stretch>
            <a:fillRect/>
          </a:stretch>
        </p:blipFill>
        <p:spPr bwMode="auto">
          <a:xfrm>
            <a:off x="1363530" y="1718632"/>
            <a:ext cx="7692335" cy="4131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Critical 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Critical section – segment of code 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changing common variables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Updating a table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Writing a file etc.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Entry section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Exit section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Remainder section</a:t>
            </a:r>
          </a:p>
          <a:p>
            <a:pPr lvl="2"/>
            <a:endParaRPr lang="en-US" dirty="0">
              <a:latin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Critical 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6429"/>
            <a:ext cx="10515600" cy="4759287"/>
          </a:xfrm>
        </p:spPr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do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critical section</a:t>
            </a: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remainder section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}while (TRUE);</a:t>
            </a:r>
          </a:p>
          <a:p>
            <a:pPr>
              <a:buFont typeface="Monotype Sorts" charset="2"/>
              <a:buNone/>
            </a:pPr>
            <a:endParaRPr lang="en-US" dirty="0">
              <a:latin typeface="Calibri" pitchFamily="34" charset="0"/>
            </a:endParaRP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Figure: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General structure of a typical process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>
              <a:buFont typeface="Monotype Sorts" charset="2"/>
              <a:buNone/>
            </a:pPr>
            <a:endParaRPr lang="en-US" dirty="0">
              <a:latin typeface="Calibri" pitchFamily="34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731085" y="2237707"/>
            <a:ext cx="2235318" cy="45978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Verdana" charset="0"/>
              </a:rPr>
              <a:t>Entry section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760863" y="3454743"/>
            <a:ext cx="2244725" cy="5095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Verdana" charset="0"/>
              </a:rPr>
              <a:t>Exit section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876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Solution to Critical-Section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243"/>
            <a:ext cx="10515600" cy="471172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Mutual Exclusion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If process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executing in its critical section,      then no other processes can be executing in their critical sections</a:t>
            </a:r>
          </a:p>
          <a:p>
            <a:pPr marL="457200" indent="-457200">
              <a:buFont typeface="Monotype Sorts" charset="2"/>
              <a:buAutoNum type="arabicPeriod" startAt="2"/>
              <a:defRPr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Progress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- If no process -critical section </a:t>
            </a:r>
          </a:p>
          <a:p>
            <a:pPr marL="457200" indent="-457200">
              <a:buFont typeface="Monotype Sorts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some process - enter their critical section, </a:t>
            </a:r>
          </a:p>
          <a:p>
            <a:pPr marL="457200" indent="-457200">
              <a:buFont typeface="Monotype Sorts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selection cannot be postponed indefinitely</a:t>
            </a:r>
          </a:p>
          <a:p>
            <a:pPr>
              <a:buFont typeface="Monotype Sorts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Bounded Waiting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 A bound must exist on the number of times that other processes are allowed to enter their critical sections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2198"/>
            <a:ext cx="10515600" cy="5394765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Ex:</a:t>
            </a:r>
          </a:p>
          <a:p>
            <a:pPr lvl="1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Kernel – maintaining list of open files</a:t>
            </a:r>
          </a:p>
          <a:p>
            <a:pPr lvl="1">
              <a:buFont typeface="Monotype Sorts" charset="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Approaches to handle critical section in OS: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Preemptive kernels: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allows a process to be preempted while it is running in kernel mode</a:t>
            </a:r>
          </a:p>
          <a:p>
            <a:pPr marL="1657350" lvl="3" indent="-514350">
              <a:buFontTx/>
              <a:buNone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Linux 2.6 kernel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Nonpreemptive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kernels: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does not allow a process running in kernel mode to be preempted </a:t>
            </a:r>
          </a:p>
          <a:p>
            <a:pPr marL="1657350" lvl="3" indent="-514350">
              <a:buFontTx/>
              <a:buNone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Windows XP, Windows 2000</a:t>
            </a:r>
          </a:p>
          <a:p>
            <a:pPr marL="971550" lvl="1" indent="-514350">
              <a:buFont typeface="+mj-lt"/>
              <a:buAutoNum type="arabicPeriod"/>
              <a:defRPr/>
            </a:pPr>
            <a:endParaRPr lang="en-US" dirty="0">
              <a:latin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Peterson’s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s/w based solution to critical-section problem</a:t>
            </a: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Two process solution – 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two processes share two variables:</a:t>
            </a:r>
          </a:p>
          <a:p>
            <a:pPr lvl="1"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turn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; 	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indicates whose turn it is to enter the critical section. </a:t>
            </a:r>
          </a:p>
          <a:p>
            <a:pPr lvl="1"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boolean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flag[2]	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indicates if a process is ready to enter the critical 						      section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flag[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true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process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ready!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Algorithm for Process P</a:t>
            </a:r>
            <a:r>
              <a:rPr lang="en-US" sz="4000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US" sz="4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do {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flag[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= TRUE;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turn = j;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while (flag[j] &amp;&amp; turn == j);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critical section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flag[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= FALSE;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remainder section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} while (TRUE); 	</a:t>
            </a:r>
          </a:p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Figure: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Structure of process in P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Peterson’s solution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1. How mutual exclusion is preserved?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enter into critical section: 	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flag[j]=0</a:t>
            </a: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				turn=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If both 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execute critical section at same time:</a:t>
            </a: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flag[0] = flag[1] = 1</a:t>
            </a: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turn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j	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only one is possible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2. How progress requirement and bounded waiting requirements are satisfied?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can be prevented from entering critical section if :</a:t>
            </a:r>
          </a:p>
          <a:p>
            <a:pPr algn="ctr"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flag[j] = 1 &amp; turn = j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not ready to enter the critical section, then</a:t>
            </a:r>
          </a:p>
          <a:p>
            <a:pPr algn="ctr"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flag[j] = 0</a:t>
            </a:r>
          </a:p>
          <a:p>
            <a:pPr algn="ctr"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can enter into critical section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has set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flag[j] = 1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&amp; executing remainder section, then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turn =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or turn = 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 turn =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P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will enter critical section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turn = j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Pj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will enter critical section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83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Synchronization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964" y="1340882"/>
            <a:ext cx="10515600" cy="4498057"/>
          </a:xfrm>
        </p:spPr>
        <p:txBody>
          <a:bodyPr>
            <a:noAutofit/>
          </a:bodyPr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Solution to critical section problem requires a tool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lock</a:t>
            </a: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Critical regions protected by locks -&gt; prevents race conditions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do 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critical section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remainder section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} while (TRUE);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907200" y="3894979"/>
            <a:ext cx="1758950" cy="4635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acquire lock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74244" y="4846274"/>
            <a:ext cx="1757363" cy="4635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release 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5476" y="3302344"/>
            <a:ext cx="5567324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Uniprocessors : prevent interrupts from   occurring while modifying shared variable.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Won’t work in multiprocessor environment because disabling interrupts is time consuming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TestAndSet Instruction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33E986-ACFC-0555-2563-B3A698C81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85FB10-F62F-11D8-D233-BF6D4BAA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67" y="898940"/>
            <a:ext cx="10784633" cy="5518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Swap 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6918" y="1760311"/>
            <a:ext cx="6514322" cy="3707428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Definition:</a:t>
            </a: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void Swap (boolean *a, boolean *b)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{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boolean temp = *a;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*a = *b;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*b = temp: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}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solidFill>
                <a:srgbClr val="0000FF"/>
              </a:solidFill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462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Solution using 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311" y="957925"/>
            <a:ext cx="10515600" cy="5280254"/>
          </a:xfrm>
        </p:spPr>
        <p:txBody>
          <a:bodyPr>
            <a:normAutofit/>
          </a:bodyPr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Shared Boolean variable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lock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initialized to FALSE; Each process has a local Boolean variable key</a:t>
            </a:r>
          </a:p>
          <a:p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B3E296-7173-6332-DF2C-68360F9D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83" y="1677686"/>
            <a:ext cx="9204237" cy="51803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58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Bounded-waiting Mutual Exclusion with </a:t>
            </a:r>
            <a:r>
              <a:rPr lang="en-US" sz="4000" b="1" dirty="0" err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TestandTet</a:t>
            </a:r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5414789"/>
          </a:xfrm>
        </p:spPr>
        <p:txBody>
          <a:bodyPr>
            <a:normAutofit fontScale="55000" lnSpcReduction="20000"/>
          </a:bodyPr>
          <a:lstStyle/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do {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waiting[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] = TRUE;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key = TRUE;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while (waiting[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] &amp;&amp; key)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key = TestAndSet(&amp;lock);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waiting[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] = FALSE;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// critical section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j = (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+ 1) % n;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while ((j != 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) &amp;&amp; !waiting[j])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j = (j + 1) % n;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if (j == 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lock = FALSE;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else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waiting[j] = FALSE;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// remainder section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} while (TRUE);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079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Deadlock and Starvation in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4132" y="1307832"/>
            <a:ext cx="10515600" cy="5070934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Deadlock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– two or more processes are waiting indefinitely for an event that can be caused by only one of the waiting processes</a:t>
            </a:r>
          </a:p>
          <a:p>
            <a:pPr>
              <a:tabLst>
                <a:tab pos="1887538" algn="ctr"/>
                <a:tab pos="4572000" algn="ctr"/>
              </a:tabLst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be two semaphores initialized to 1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		        </a:t>
            </a:r>
            <a:r>
              <a:rPr lang="en-US" sz="26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600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                            </a:t>
            </a:r>
            <a:r>
              <a:rPr lang="en-US" sz="26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600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     wait (T); 	                                   wait (Q);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      wait (Q); 	                                     wait (T);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. 		.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. 		.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. 		.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      signal  (T); 	                                  signal (Q);</a:t>
            </a:r>
          </a:p>
          <a:p>
            <a:pPr>
              <a:buNone/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      signal (Q); 	                                   signal (T);</a:t>
            </a:r>
          </a:p>
          <a:p>
            <a:pPr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Starvation </a:t>
            </a:r>
            <a:r>
              <a:rPr lang="en-US" sz="26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– indefinite blocking.  A process may never be removed from the semaphore queue in which it is suspended</a:t>
            </a:r>
          </a:p>
          <a:p>
            <a:pPr>
              <a:tabLst>
                <a:tab pos="1887538" algn="ctr"/>
                <a:tab pos="4572000" algn="ctr"/>
              </a:tabLst>
            </a:pPr>
            <a:r>
              <a:rPr lang="en-US" sz="26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Priority Inversion 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- Scheduling problem when lower-priority process holds a lock needed by higher-priority 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E2539-29D1-B824-7F52-3DDA4154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ED3BB4-2A86-A5A1-0D52-101777927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04" y="132318"/>
            <a:ext cx="8976049" cy="60555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9B5133-A46C-31E0-4916-5601297F9370}"/>
              </a:ext>
            </a:extLst>
          </p:cNvPr>
          <p:cNvSpPr txBox="1"/>
          <p:nvPr/>
        </p:nvSpPr>
        <p:spPr>
          <a:xfrm>
            <a:off x="1250302" y="63563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Source: Modern operating system-Tanenbaum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6C56AD-5B51-D07D-B797-13AB423451C5}"/>
              </a:ext>
            </a:extLst>
          </p:cNvPr>
          <p:cNvSpPr txBox="1"/>
          <p:nvPr/>
        </p:nvSpPr>
        <p:spPr>
          <a:xfrm>
            <a:off x="-111967" y="132318"/>
            <a:ext cx="2862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Producer consumer Problem</a:t>
            </a:r>
          </a:p>
        </p:txBody>
      </p:sp>
    </p:spTree>
    <p:extLst>
      <p:ext uri="{BB962C8B-B14F-4D97-AF65-F5344CB8AC3E}">
        <p14:creationId xmlns:p14="http://schemas.microsoft.com/office/powerpoint/2010/main" val="70190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1D13D-73A4-55E3-4A1D-217199427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80" y="855242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/>
              <a:t>The essence of the problem here is that a wakeup sent to a process that is not (yet) sleeping is lost.</a:t>
            </a:r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3200" dirty="0"/>
              <a:t>If it were not lost, everything would work. A quick fix is to modify the rules to add a wakeup waiting bit to the picture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0DD08-E250-E23F-DB3E-A2BF1CD2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91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065" y="1395967"/>
            <a:ext cx="10515600" cy="503788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Synchronization tool that does not require busy waiting </a:t>
            </a:r>
            <a:endParaRPr lang="en-US" sz="24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integer variable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 standard operations modify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S: wait()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signal()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Originally called </a:t>
            </a:r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P()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V()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Less complicated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 only be accessed via two indivisible (atomic) operations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156273" y="4179295"/>
            <a:ext cx="3131261" cy="212876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wait (S) 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{ 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 while S &lt;= 0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   ; 		// no-op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  S--;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}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5902019" y="4355755"/>
            <a:ext cx="1498600" cy="14747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signal (S) 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{ 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S++;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26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215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as General Synchronization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234" y="1649356"/>
            <a:ext cx="10515600" cy="4843518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2005013" algn="ctr"/>
                <a:tab pos="4518025" algn="ctr"/>
              </a:tabLst>
            </a:pPr>
            <a:r>
              <a:rPr lang="en-US" sz="22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Counting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semaphore – integer value can range over an unrestricted domain</a:t>
            </a:r>
          </a:p>
          <a:p>
            <a:pPr>
              <a:tabLst>
                <a:tab pos="2005013" algn="ctr"/>
                <a:tab pos="4518025" algn="ctr"/>
              </a:tabLst>
            </a:pPr>
            <a:r>
              <a:rPr lang="en-US" sz="22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Binary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semaphore – integer value can range only between 0  and 1; can be simpler to implement</a:t>
            </a:r>
          </a:p>
          <a:p>
            <a:pPr lvl="1">
              <a:tabLst>
                <a:tab pos="2005013" algn="ctr"/>
                <a:tab pos="4518025" algn="ctr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MT Extra" charset="0"/>
              </a:rPr>
              <a:t>Also known as </a:t>
            </a:r>
            <a:r>
              <a:rPr lang="en-US" sz="2000" dirty="0" err="1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20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 locks</a:t>
            </a:r>
            <a:endParaRPr lang="en-US" sz="2000" dirty="0">
              <a:solidFill>
                <a:srgbClr val="3366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2005013" algn="ctr"/>
                <a:tab pos="4518025" algn="ctr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implement a counting semaphore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as a binary semaphore</a:t>
            </a:r>
          </a:p>
          <a:p>
            <a:pPr>
              <a:tabLst>
                <a:tab pos="2005013" algn="ctr"/>
                <a:tab pos="4518025" algn="ctr"/>
              </a:tabLst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Provides mutual exclusion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semaphore </a:t>
            </a:r>
            <a:r>
              <a:rPr lang="en-US" sz="30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3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;    //  </a:t>
            </a: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initialized to 1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do {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	wait (</a:t>
            </a:r>
            <a:r>
              <a:rPr lang="en-US" sz="30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);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         // Critical section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     signal (</a:t>
            </a:r>
            <a:r>
              <a:rPr lang="en-US" sz="30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);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		// remainder section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} while (TRUE);</a:t>
            </a:r>
          </a:p>
          <a:p>
            <a:pPr>
              <a:buFont typeface="Monotype Sorts" charset="2"/>
              <a:buNone/>
              <a:tabLst>
                <a:tab pos="2005013" algn="ctr"/>
                <a:tab pos="4518025" algn="ctr"/>
              </a:tabLst>
            </a:pPr>
            <a:endParaRPr lang="en-US" sz="1900" dirty="0">
              <a:solidFill>
                <a:srgbClr val="0000FF"/>
              </a:solidFill>
              <a:sym typeface="MT Extra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531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Must guarantee that no two processes can execute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wait 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signal 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on the same semaphore at the same time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Thus, implementation becomes the critical section problem where the wait and signal code are placed in the critical section.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Could now have </a:t>
            </a:r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busy waiting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critical section implementation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implementation code is short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Little busy waiting if critical section rarely occupied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Note that applications may spend lots of time in critical sections and therefore this is not a good solution.</a:t>
            </a: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36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Implementation with no Busy waiting</a:t>
            </a:r>
            <a:r>
              <a:rPr lang="en-US" sz="4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With each semaphore there is an associated waiting queue. Each entry in a waiting queue has two data items: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value (of type integer)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pointer to next record in the list</a:t>
            </a:r>
          </a:p>
          <a:p>
            <a:pPr lvl="1"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 operations:</a:t>
            </a:r>
          </a:p>
          <a:p>
            <a:pPr lvl="1"/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block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place the process invoking the operation on the      appropriate waiting queue.</a:t>
            </a:r>
          </a:p>
          <a:p>
            <a:pPr lvl="1"/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wakeup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remove one of processes in the waiting queue and place it in the ready queue.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9950" y="2268978"/>
            <a:ext cx="2803028" cy="1600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typedef struct {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int value;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struct process *list;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}semaphore;</a:t>
            </a:r>
          </a:p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122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580" y="0"/>
            <a:ext cx="10515600" cy="96791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Implementation with no Busy waiting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579" y="1130205"/>
            <a:ext cx="10515600" cy="56624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Implementation of wait: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    wait(semaphore *S)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S-&gt;value--;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if (S-&gt;value &lt; 0)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add this process to S-&gt;list;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block();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}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Implementation of signal: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signal(semaphore *S)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S-&gt;value++;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if (S-&gt;value &lt;= 0)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remove a process P from S-&gt;list;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wakeup(P);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} </a:t>
            </a:r>
          </a:p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662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Classical Problems of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Bounded-Buffer Problem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Readers and Writers Problem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Dining-Philosophers Problem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Bounded-Buffer Problem </a:t>
            </a:r>
            <a:b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i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Solution Using Semaphore</a:t>
            </a:r>
            <a:endParaRPr lang="en-US" sz="4000" b="1" i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buffers, each can hold one item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initialized to the value 1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full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initialized to the value 0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empty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initialized to the value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5E85BD2-FBA5-93D5-813A-3A964E9DE968}"/>
              </a:ext>
            </a:extLst>
          </p:cNvPr>
          <p:cNvSpPr/>
          <p:nvPr/>
        </p:nvSpPr>
        <p:spPr>
          <a:xfrm>
            <a:off x="7781731" y="2948473"/>
            <a:ext cx="475861" cy="830425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93B01-83FB-130F-1F62-87736F493747}"/>
              </a:ext>
            </a:extLst>
          </p:cNvPr>
          <p:cNvSpPr txBox="1"/>
          <p:nvPr/>
        </p:nvSpPr>
        <p:spPr>
          <a:xfrm>
            <a:off x="8257592" y="3179019"/>
            <a:ext cx="3745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Count the no. of full &amp; empty buffers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Bounded Buffer Problem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902" y="1467065"/>
            <a:ext cx="5589290" cy="468534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structure of the producer process:</a:t>
            </a: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do  {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//   produce an item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wait (empty);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wait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     //  add the item to the  buffer</a:t>
            </a: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signal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signal (full);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} while (TRUE);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7E1951-7749-1044-05CA-97F8D525B2AD}"/>
              </a:ext>
            </a:extLst>
          </p:cNvPr>
          <p:cNvSpPr txBox="1">
            <a:spLocks/>
          </p:cNvSpPr>
          <p:nvPr/>
        </p:nvSpPr>
        <p:spPr>
          <a:xfrm>
            <a:off x="5701004" y="1506570"/>
            <a:ext cx="6352737" cy="502686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The structure of the consumer process</a:t>
            </a:r>
          </a:p>
          <a:p>
            <a:pPr>
              <a:buFont typeface="Monotype Sorts" charset="2"/>
              <a:buNone/>
            </a:pPr>
            <a:endParaRPr lang="en-US" sz="3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do {</a:t>
            </a: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         wait (full);</a:t>
            </a: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         wait (mutex);</a:t>
            </a:r>
          </a:p>
          <a:p>
            <a:pPr>
              <a:buFont typeface="Monotype Sorts" charset="2"/>
              <a:buNone/>
            </a:pPr>
            <a:endParaRPr lang="en-US" sz="3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                  //  remove an item from  buffer to </a:t>
            </a:r>
            <a:r>
              <a:rPr lang="en-US" sz="3800" dirty="0" err="1">
                <a:latin typeface="Times New Roman" pitchFamily="18" charset="0"/>
                <a:cs typeface="Times New Roman" pitchFamily="18" charset="0"/>
              </a:rPr>
              <a:t>nextc</a:t>
            </a:r>
            <a:endParaRPr lang="en-US" sz="3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endParaRPr lang="en-US" sz="3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         signal (mutex);</a:t>
            </a: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         signal (empty);</a:t>
            </a: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  </a:t>
            </a: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                 //  consume the item in </a:t>
            </a:r>
            <a:r>
              <a:rPr lang="en-US" sz="3800" dirty="0" err="1">
                <a:latin typeface="Times New Roman" pitchFamily="18" charset="0"/>
                <a:cs typeface="Times New Roman" pitchFamily="18" charset="0"/>
              </a:rPr>
              <a:t>nextc</a:t>
            </a:r>
            <a:endParaRPr lang="en-US" sz="3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          } while (TRUE);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564" y="-11329"/>
            <a:ext cx="10515600" cy="81368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Readers-Writers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564" y="802351"/>
            <a:ext cx="10515600" cy="549076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data set is shared among a number of concurrent processes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Readers – only read the data set; they do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perform any updates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Writers   – can both read and write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– allow multiple readers to read at the same time.  Only one single writer can access the shared data at the same time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Variations: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1. no reader be kept waiting unless a writer has already obtained permission to use the shared object.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2. if a writer is waiting to access the object, no new readers may start reading.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solution to either problem may result in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In the first case, writers may starve; in the second case, readers may starve.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Shared Data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set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initialized to 1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initialized to 1 // </a:t>
            </a:r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Mutual exclusion semaphore WRITER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Integer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readcount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initialized to 0 // </a:t>
            </a:r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How many process reading the data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741109" y="4530565"/>
            <a:ext cx="2919221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semaphore mutex,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 readcount;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4" y="-101405"/>
            <a:ext cx="10515600" cy="83571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Readers-Writers Problem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94" y="992685"/>
            <a:ext cx="5596550" cy="4872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Writer process:</a:t>
            </a:r>
          </a:p>
          <a:p>
            <a:pPr>
              <a:buFont typeface="Monotype Sorts" charset="2"/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>
              <a:buFont typeface="Monotype Sorts" charset="2"/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 {</a:t>
            </a: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wait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;</a:t>
            </a: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</a:t>
            </a: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//    writing is performed</a:t>
            </a:r>
          </a:p>
          <a:p>
            <a:pPr>
              <a:buFont typeface="Monotype Sorts" charset="2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signal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;</a:t>
            </a: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} while (TRUE);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7B22D2-F167-84C3-E61C-181911392C6C}"/>
              </a:ext>
            </a:extLst>
          </p:cNvPr>
          <p:cNvSpPr txBox="1">
            <a:spLocks/>
          </p:cNvSpPr>
          <p:nvPr/>
        </p:nvSpPr>
        <p:spPr>
          <a:xfrm>
            <a:off x="5934269" y="1086720"/>
            <a:ext cx="6677607" cy="561328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sz="5900" b="1" dirty="0">
                <a:latin typeface="Times New Roman" pitchFamily="18" charset="0"/>
                <a:cs typeface="Times New Roman" pitchFamily="18" charset="0"/>
              </a:rPr>
              <a:t>Reader process: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3300" b="1" dirty="0"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do {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wait (mutex)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readcount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++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if (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readcount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== 1)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			          wait (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signal (mutex)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        // reading is performed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 wait (mutex)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readcount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- -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 if (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readcount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== 0)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			         signal (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       signal (mutex)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} while (TRUE);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Dining-Philosophers Problem</a:t>
            </a:r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03651" y="1495119"/>
            <a:ext cx="3232516" cy="3098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4876800"/>
            <a:ext cx="7029450" cy="124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370013" algn="l"/>
                <a:tab pos="15414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Shared data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370013" algn="l"/>
                <a:tab pos="15414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Bowl of rice (data set)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370013" algn="l"/>
                <a:tab pos="15414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Binary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chopstick [5]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initialized to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065" y="265974"/>
            <a:ext cx="10515600" cy="112215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Dining-Philosophers Problem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149" y="1410159"/>
            <a:ext cx="10515600" cy="4755787"/>
          </a:xfrm>
        </p:spPr>
        <p:txBody>
          <a:bodyPr>
            <a:normAutofit/>
          </a:bodyPr>
          <a:lstStyle/>
          <a:p>
            <a:pPr marL="381000" indent="-381000"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The structure of Philosopher</a:t>
            </a:r>
            <a:r>
              <a:rPr lang="en-US" sz="1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81000" indent="-3810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  { 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wait ( chopstick[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] );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     wait ( chopstick[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+ 1) % 5] );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             //  eat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     signal ( chopstick[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] );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     signal (chopstick[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+ 1) % 5] );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  //  think</a:t>
            </a: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1200150" lvl="2" indent="-342900">
              <a:buNone/>
              <a:tabLst>
                <a:tab pos="1712913" algn="l"/>
                <a:tab pos="2005013" algn="l"/>
                <a:tab pos="2232025" algn="l"/>
                <a:tab pos="2459038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 while (TRUE);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Dining-Philosophers Problem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Remedies:</a:t>
            </a:r>
          </a:p>
          <a:p>
            <a:pPr marL="514350" indent="-514350">
              <a:buFont typeface="Monotype Sorts" charset="2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At most 4 philosophers</a:t>
            </a:r>
          </a:p>
          <a:p>
            <a:pPr marL="514350" indent="-514350">
              <a:buFont typeface="Monotype Sorts" charset="2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Pick only if both are available</a:t>
            </a:r>
          </a:p>
          <a:p>
            <a:pPr marL="514350" indent="-514350">
              <a:buFont typeface="Monotype Sorts" charset="2"/>
              <a:buAutoNum type="arabicPeriod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Odd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first left, then right</a:t>
            </a:r>
          </a:p>
          <a:p>
            <a:pPr marL="514350" indent="-514350">
              <a:buFont typeface="Monotype Sorts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even  first right, then left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Problems with 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Correct use of semaphore operations: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signal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 ….  wait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wait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 …  wait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Omitting  of wait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or signal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(or both)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876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Monitors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906"/>
            <a:ext cx="10515600" cy="493205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mechanism for process synchronization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Only one process may be active within the monitor at a time</a:t>
            </a:r>
          </a:p>
          <a:p>
            <a:pPr lvl="2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monitor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monitor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-name</a:t>
            </a: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// shared variable declarations</a:t>
            </a: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procedure P1 (…) { …. }</a:t>
            </a: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…</a:t>
            </a: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procedure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(…) {……}</a:t>
            </a:r>
          </a:p>
          <a:p>
            <a:pPr lvl="2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Initialization code ( ….) { … }</a:t>
            </a: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…</a:t>
            </a:r>
          </a:p>
          <a:p>
            <a:pPr lvl="2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Schematic view of a Monitor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21412" y="1825625"/>
            <a:ext cx="4549176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832"/>
          </a:xfrm>
        </p:spPr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Monitor Implementation (using semaphores)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007"/>
            <a:ext cx="10515600" cy="486595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Need mutual exclusion semaphore </a:t>
            </a:r>
            <a:r>
              <a:rPr lang="en-US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(init to 1)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 that only one process is active within monitor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Need  a semaphore 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next 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(next to exit)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the signaling process to suspend itself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initialized to 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zero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next_count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number of processes blocked on next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Before exiting a procedure, process must either: 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Signal other waiting processes in monitor 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(next)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before exiting, or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Signal </a:t>
            </a:r>
            <a:r>
              <a:rPr lang="en-US" sz="2800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exit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791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Monitor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4395"/>
            <a:ext cx="10515600" cy="461256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Since only one task may be active in a monitor there must be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protecting each method.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also need to account for sending signals within a monitor – that is, guard against having more than one active task within the monitor.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Our implementation uses semaphores for both mutual exclusion (initialized to 1 for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and counting the number of tasks waiting to be resumed within the monitor (initialized to 0 – counting semaphore)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4804</TotalTime>
  <Words>2545</Words>
  <Application>Microsoft Office PowerPoint</Application>
  <PresentationFormat>Widescreen</PresentationFormat>
  <Paragraphs>409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Monotype Sorts</vt:lpstr>
      <vt:lpstr>MT Extra</vt:lpstr>
      <vt:lpstr>Times New Roman</vt:lpstr>
      <vt:lpstr>Verdana</vt:lpstr>
      <vt:lpstr>Office Theme</vt:lpstr>
      <vt:lpstr>Process Synchronization</vt:lpstr>
      <vt:lpstr>Producer </vt:lpstr>
      <vt:lpstr>Consumer</vt:lpstr>
      <vt:lpstr>Race Condition</vt:lpstr>
      <vt:lpstr>Race Condition</vt:lpstr>
      <vt:lpstr>Critical section problem</vt:lpstr>
      <vt:lpstr>Critical section problem</vt:lpstr>
      <vt:lpstr>Solution to Critical-Section Problem</vt:lpstr>
      <vt:lpstr>PowerPoint Presentation</vt:lpstr>
      <vt:lpstr>Peterson’s Solution</vt:lpstr>
      <vt:lpstr>Algorithm for Process Pi</vt:lpstr>
      <vt:lpstr>1. How mutual exclusion is preserved?</vt:lpstr>
      <vt:lpstr>2. How progress requirement and bounded waiting requirements are satisfied?</vt:lpstr>
      <vt:lpstr>Synchronization Hardware</vt:lpstr>
      <vt:lpstr>TestAndSet Instruction </vt:lpstr>
      <vt:lpstr>Swap  Instruction</vt:lpstr>
      <vt:lpstr>Solution using Swap</vt:lpstr>
      <vt:lpstr>Bounded-waiting Mutual Exclusion with TestandTet()</vt:lpstr>
      <vt:lpstr>Deadlock and Starvation in synchronization</vt:lpstr>
      <vt:lpstr>PowerPoint Presentation</vt:lpstr>
      <vt:lpstr>PowerPoint Presentation</vt:lpstr>
      <vt:lpstr>Semaphore</vt:lpstr>
      <vt:lpstr>Semaphore as General Synchronization Tool</vt:lpstr>
      <vt:lpstr>Semaphore Implementation</vt:lpstr>
      <vt:lpstr>Semaphore Implementation with no Busy waiting </vt:lpstr>
      <vt:lpstr>Semaphore Implementation with no Busy waiting (Cont.)</vt:lpstr>
      <vt:lpstr>Classical Problems of Synchronization</vt:lpstr>
      <vt:lpstr>Bounded-Buffer Problem  Solution Using Semaphore</vt:lpstr>
      <vt:lpstr>Bounded Buffer Problem (Cont.)</vt:lpstr>
      <vt:lpstr>Readers-Writers Problem</vt:lpstr>
      <vt:lpstr>Readers-Writers Problem (Cont.)</vt:lpstr>
      <vt:lpstr>Dining-Philosophers Problem</vt:lpstr>
      <vt:lpstr>Dining-Philosophers Problem (Cont.)</vt:lpstr>
      <vt:lpstr>Dining-Philosophers Problem (Cont.)</vt:lpstr>
      <vt:lpstr>Problems with Semaphores</vt:lpstr>
      <vt:lpstr>Monitors</vt:lpstr>
      <vt:lpstr>Schematic view of a Monitor</vt:lpstr>
      <vt:lpstr>Monitor Implementation (using semaphores)</vt:lpstr>
      <vt:lpstr>Monitor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19ECS204: OPERATING SYSTEMS</dc:title>
  <dc:creator>Manjunath</dc:creator>
  <cp:lastModifiedBy>Dr.J</cp:lastModifiedBy>
  <cp:revision>145</cp:revision>
  <dcterms:created xsi:type="dcterms:W3CDTF">2021-01-17T10:28:15Z</dcterms:created>
  <dcterms:modified xsi:type="dcterms:W3CDTF">2024-02-03T02:28:29Z</dcterms:modified>
</cp:coreProperties>
</file>