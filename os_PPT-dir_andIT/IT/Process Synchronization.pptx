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1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modh777@gmail.com" initials="p" lastIdx="1" clrIdx="0">
    <p:extLst>
      <p:ext uri="{19B8F6BF-5375-455C-9EA6-DF929625EA0E}">
        <p15:presenceInfo xmlns:p15="http://schemas.microsoft.com/office/powerpoint/2012/main" userId="51661f3c6c5ca6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0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52A83-2B58-4944-A67C-F4126BA35758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C655F-E753-45C7-A519-7471009948C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4C7FE-9E08-4A2B-BE99-31924C47C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586DD-7926-4458-82A0-790AAEDF1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2E478-1546-4CF8-86BF-DCA26E87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FBD4-0D2E-4B1F-B34A-1E80E9EF5657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CE3BF-E61E-486F-B7D4-7D4D34F4B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1DE3C-A1B2-42AF-AAFE-CEAE07ED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452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C1C7-AEFD-4060-8EF1-820294237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A7C0F-1611-46E1-89F3-072658169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D9776-76F2-428D-95C1-6063EF7D7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EAB9F-5B52-4792-96B3-207F2588B6A7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64090-2518-430C-A960-798A39B9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78A41-F7A7-4E1F-B05E-CD993B47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2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625AE-A082-4155-A675-62A4C614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684D5-0990-4B88-A3B6-F8AF5A0D3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E015E-F7AC-4447-BCCD-0C78C7CC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6700-0465-4511-9BF8-FC8E155B7A42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812CF-AB24-4E8E-ACAF-D98140EED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AFBA4-9749-47E3-B025-E23957718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49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2BCD-956E-499D-B03E-1F0916E10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2F7FD-FA5E-4F56-B2B5-B96B683A5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7E7FE-F38A-461C-8DA9-165378712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DCCC8-BD3C-4354-AE40-EF04B5C0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3B975-6F24-4FF1-9EB3-030673152D60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68653-6ECB-48DF-A84F-6481651C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11CE8-BE13-43AE-8D83-A3749189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51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79B3-3F9C-4768-8989-5367CD4D2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2286-FA99-42B9-82A1-3CE170756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35E4C-6CE9-4E88-8185-4FEE39468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896785-20AA-4978-B64E-3AB75B2C9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F442B3-83E7-4B4E-B7CD-E9E7F8BCF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18476-8D89-4A59-8BFE-09586C49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DE051-3709-43F6-85DF-376075523170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AC41F-CC5A-429E-902B-6041A73C8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D1BA28-7E53-46ED-A24F-AFEDF5E20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086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6C2B0-72A1-4EA7-80B1-01F39EB66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CAB10-B072-43F5-ADDE-ADA5313C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7FB4-0037-4F8D-9504-01433CC7E03F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B39B1-0524-458F-AFB1-DC481B0F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02509-5864-4CA3-AD56-690AE1A87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0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5518F-58B4-4E42-911D-A1BDEE82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1ED0-ED59-4373-9BE5-E5DB797E7E5A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D030FC-B946-4678-8F82-FBF70F07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31001-2B2E-4BEA-A580-5783E1F2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0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F0FB0-1F8C-47FD-A2C5-100686438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8EB29-4D43-4BE1-98FA-AA00E78AB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BA6CA-7ED7-4A02-99E0-0451A8E54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03EEF-9607-445E-9691-86015F43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6C8E-6FF6-48E6-B649-ABF41CC74418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370B5-8F30-40BC-9CA1-4C6327D2D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B5218-D4D9-489E-8320-DDD0D92CE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243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F84C4-24BC-4B16-BCDF-C3E9815CE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66BA7-4070-4F1C-9EA0-508B4BBF6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734BB-B0E3-4F98-9363-A800EA2BD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26102-1A1B-4E88-8937-AC27B479F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17A27-2EB9-4AE9-89FC-8C4E217CDD6C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0155A-1F65-4641-AB55-C61D6D59F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1F6DD-5FD7-45B6-B5A6-A447504A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21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0756-A195-4C7A-BCB2-7229000E4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BAE84-823D-498F-A0DE-D597FFCD2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C1D48-217A-4124-B273-BD7FAD2A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7F3F-5FC8-433C-A742-E53F11FA7AC7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551DB-2996-4F39-AF01-7C2C00C69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B684E-DE6F-427F-94E4-CCB35B3B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9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C65761-CE3B-4A08-A03B-5C6B9C3A6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F8C24-03CB-4254-A762-65D4C87F7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D17CC-0129-4B9C-A244-6F58BE5C5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C68E-13A1-4A4D-8970-722801422D97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09B41-1384-4413-B6BE-BDC16E66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B1F1F-DEB0-4045-B4B6-D3E3B2A5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01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AA728-E283-416C-A33F-53053984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7BBEF-3DEF-45BB-98F8-AF8AEFCBF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70CE9-9E3B-44A4-9A86-9A3F4E936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65979-65EB-458C-8A76-C8606C7C9363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0DEFB-CBD4-4544-B6C6-CED927ED5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531AC-A168-48FF-8E9E-ABAB13F5E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BA340-03B2-4718-AAF3-22E730560F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26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F676-B5C7-4BFC-A5E2-09683FE6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65125"/>
            <a:ext cx="11006328" cy="692493"/>
          </a:xfrm>
        </p:spPr>
        <p:txBody>
          <a:bodyPr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Process Synchronization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4B72C-F7CA-4104-954E-11FE16177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388124"/>
            <a:ext cx="11603736" cy="536014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Critical-Section Problem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Peterson’s Solution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Synchronization Hardware </a:t>
            </a:r>
          </a:p>
          <a:p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Mutex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Locks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Semaphores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Classic Problems of Synchronization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Monitors</a:t>
            </a:r>
          </a:p>
          <a:p>
            <a:pPr>
              <a:buNone/>
            </a:pPr>
            <a:endParaRPr lang="en-US" altLang="en-US" sz="33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2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Producer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while (true)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{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/*  produce an item and put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nextProduced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*/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  while (counter== BUFFER_SIZE)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; // do nothing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       buffer [in]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nextProduced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       in = (in + 1) % BUFFER_SIZE;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       counter++;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}   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Consume</a:t>
            </a:r>
            <a:r>
              <a:rPr lang="en-US" sz="4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while (true) 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    while (counter == 0)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        ; // do nothing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   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nextConsumed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 buffer[out];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         out = (out + 1) % BUFFER_SIZE;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              counter--;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/*  consume the item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nextConsumed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Race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counter++ could be implemented as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register1 = counter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register1 = register1 + 1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counter = register1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counter-- could be implemented as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register2 = counter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register2 = register2 - 1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counter = register2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Race Condition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5123" t="23729" r="19660" b="33872"/>
          <a:stretch>
            <a:fillRect/>
          </a:stretch>
        </p:blipFill>
        <p:spPr bwMode="auto">
          <a:xfrm>
            <a:off x="1363530" y="1718632"/>
            <a:ext cx="7692335" cy="4131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Critical section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Critical section – segment of code </a:t>
            </a:r>
          </a:p>
          <a:p>
            <a:pPr lvl="2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changing common variables</a:t>
            </a:r>
          </a:p>
          <a:p>
            <a:pPr lvl="2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Updating a table</a:t>
            </a:r>
          </a:p>
          <a:p>
            <a:pPr lvl="2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Writing a file etc.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Entry section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Exit section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Remainder section</a:t>
            </a:r>
          </a:p>
          <a:p>
            <a:pPr lvl="2"/>
            <a:endParaRPr lang="en-US" dirty="0">
              <a:latin typeface="Calibri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Critical section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6429"/>
            <a:ext cx="10515600" cy="4759287"/>
          </a:xfrm>
        </p:spPr>
        <p:txBody>
          <a:bodyPr>
            <a:normAutofit lnSpcReduction="10000"/>
          </a:bodyPr>
          <a:lstStyle/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do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Font typeface="Monotype Sorts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critical section</a:t>
            </a:r>
          </a:p>
          <a:p>
            <a:pPr>
              <a:buFont typeface="Monotype Sorts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remainder section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}while (TRUE);</a:t>
            </a:r>
          </a:p>
          <a:p>
            <a:pPr>
              <a:buFont typeface="Monotype Sorts" charset="2"/>
              <a:buNone/>
            </a:pPr>
            <a:endParaRPr lang="en-US" dirty="0">
              <a:latin typeface="Calibri" pitchFamily="34" charset="0"/>
            </a:endParaRPr>
          </a:p>
          <a:p>
            <a:pPr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Figure: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General structure of a typical process 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i</a:t>
            </a:r>
          </a:p>
          <a:p>
            <a:pPr>
              <a:buFont typeface="Monotype Sorts" charset="2"/>
              <a:buNone/>
            </a:pPr>
            <a:endParaRPr lang="en-US" dirty="0">
              <a:latin typeface="Calibri" pitchFamily="34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1731085" y="2237707"/>
            <a:ext cx="2235318" cy="45978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2000" dirty="0">
                <a:solidFill>
                  <a:schemeClr val="bg1"/>
                </a:solidFill>
                <a:latin typeface="Verdana" charset="0"/>
              </a:rPr>
              <a:t>Entry section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760863" y="3454743"/>
            <a:ext cx="2244725" cy="5095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2000" dirty="0">
                <a:solidFill>
                  <a:schemeClr val="bg1"/>
                </a:solidFill>
                <a:latin typeface="Verdana" charset="0"/>
              </a:rPr>
              <a:t>Exit section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876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Solution to Critical-Section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5243"/>
            <a:ext cx="10515600" cy="471172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Mutual Exclusion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 If process 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executing in its critical section,      then no other processes can be executing in their critical sections</a:t>
            </a:r>
          </a:p>
          <a:p>
            <a:pPr marL="457200" indent="-457200">
              <a:buFont typeface="Monotype Sorts" charset="2"/>
              <a:buAutoNum type="arabicPeriod" startAt="2"/>
              <a:defRPr/>
            </a:pP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Progress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- If no process -critical section </a:t>
            </a:r>
          </a:p>
          <a:p>
            <a:pPr marL="457200" indent="-457200">
              <a:buFont typeface="Monotype Sorts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some process - enter their critical section, </a:t>
            </a:r>
          </a:p>
          <a:p>
            <a:pPr marL="457200" indent="-457200">
              <a:buFont typeface="Monotype Sorts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selection cannot be postponed indefinitely</a:t>
            </a:r>
          </a:p>
          <a:p>
            <a:pPr>
              <a:buFont typeface="Monotype Sorts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Bounded Waiting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  A bound must exist on the number of times that other processes are allowed to enter their critical sections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82198"/>
            <a:ext cx="10515600" cy="5394765"/>
          </a:xfrm>
        </p:spPr>
        <p:txBody>
          <a:bodyPr/>
          <a:lstStyle/>
          <a:p>
            <a:pPr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Ex:</a:t>
            </a:r>
          </a:p>
          <a:p>
            <a:pPr lvl="1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Kernel – maintaining list of open files</a:t>
            </a:r>
          </a:p>
          <a:p>
            <a:pPr lvl="1">
              <a:buFont typeface="Monotype Sorts" charset="2"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Approaches to handle critical section in OS: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Preemptive kernels: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allows a process to be preempted while it is running in kernel mode</a:t>
            </a:r>
          </a:p>
          <a:p>
            <a:pPr marL="1657350" lvl="3" indent="-514350">
              <a:buFontTx/>
              <a:buNone/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Ex: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Linux 2.6 kernel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Nonpreemptive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kernels: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does not allow a process running in kernel mode to be preempted </a:t>
            </a:r>
          </a:p>
          <a:p>
            <a:pPr marL="1657350" lvl="3" indent="-514350">
              <a:buFontTx/>
              <a:buNone/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Ex: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Windows XP, Windows 2000</a:t>
            </a:r>
          </a:p>
          <a:p>
            <a:pPr marL="971550" lvl="1" indent="-514350">
              <a:buFont typeface="+mj-lt"/>
              <a:buAutoNum type="arabicPeriod"/>
              <a:defRPr/>
            </a:pPr>
            <a:endParaRPr lang="en-US" dirty="0">
              <a:latin typeface="Calibri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Peterson’s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s/w based solution to critical-section problem</a:t>
            </a:r>
          </a:p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Two process solution – 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two processes share two variables:</a:t>
            </a:r>
          </a:p>
          <a:p>
            <a:pPr lvl="1"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turn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; 	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indicates whose turn it is to enter the critical section. </a:t>
            </a:r>
          </a:p>
          <a:p>
            <a:pPr lvl="1"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boolean 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flag[2]	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indicates if a process is ready to enter the critical 						      section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flag[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true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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process 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ready!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Algorithm for Process P</a:t>
            </a:r>
            <a:r>
              <a:rPr lang="en-US" sz="4000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en-US" sz="4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do {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flag[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= TRUE;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turn = j;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while (flag[j] &amp;&amp; turn == j);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critical section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 flag[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= FALSE;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remainder section </a:t>
            </a:r>
          </a:p>
          <a:p>
            <a:pPr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} while (TRUE); 	</a:t>
            </a:r>
          </a:p>
          <a:p>
            <a:pPr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Figure: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Structure of process in P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Peterson’s solution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1. How mutual exclusion is preserved?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charset="0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enter into critical section: 	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flag[j]=0</a:t>
            </a:r>
          </a:p>
          <a:p>
            <a:pPr marL="514350" indent="-514350">
              <a:buFont typeface="Monotype Sorts" charset="2"/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					turn=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2. If both 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execute critical section at same time:</a:t>
            </a:r>
          </a:p>
          <a:p>
            <a:pPr marL="514350" indent="-514350"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flag[0] = flag[1] = 1</a:t>
            </a:r>
          </a:p>
          <a:p>
            <a:pPr marL="514350" indent="-514350"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turn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or j	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only one is possible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Monotype Sorts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2. How progress requirement and bounded waiting requirements are satisfied?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can be prevented from entering critical section if :</a:t>
            </a:r>
          </a:p>
          <a:p>
            <a:pPr algn="ctr">
              <a:buFont typeface="Monotype Sorts" charset="2"/>
              <a:buNone/>
            </a:pP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flag[j] = 1 &amp; turn = j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not ready to enter the critical section, then</a:t>
            </a:r>
          </a:p>
          <a:p>
            <a:pPr algn="ctr">
              <a:buFont typeface="Monotype Sorts" charset="2"/>
              <a:buNone/>
            </a:pP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flag[j] = 0</a:t>
            </a:r>
          </a:p>
          <a:p>
            <a:pPr algn="ctr">
              <a:buFont typeface="Monotype Sorts" charset="2"/>
              <a:buNone/>
            </a:pP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can enter into critical section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has set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flag[j] = 1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&amp; executing remainder section, then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turn =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or turn = 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If turn =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 P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will enter critical section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If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turn = j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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Pj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will enter critical section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83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Synchronization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964" y="1340882"/>
            <a:ext cx="10515600" cy="4498057"/>
          </a:xfrm>
        </p:spPr>
        <p:txBody>
          <a:bodyPr>
            <a:noAutofit/>
          </a:bodyPr>
          <a:lstStyle/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Solution to critical section problem requires a tool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lock</a:t>
            </a:r>
          </a:p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Critical regions protected by locks -&gt; prevents race conditions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do 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critical section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remainder section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} while (TRUE);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907200" y="3894979"/>
            <a:ext cx="1758950" cy="4635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acquire lock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74244" y="4846274"/>
            <a:ext cx="1757363" cy="4635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release 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5476" y="3302344"/>
            <a:ext cx="5567324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Uniprocessors : prevent interrupts from   occurring while modifying shared variable.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Won’t work in multiprocessor environment because disabling interrupts is time consuming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TestAndSet Instruction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D33E986-ACFC-0555-2563-B3A698C81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85FB10-F62F-11D8-D233-BF6D4BAA5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67" y="898940"/>
            <a:ext cx="10784633" cy="55180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Swap  Instruction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6918" y="1760311"/>
            <a:ext cx="6514322" cy="3707428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Definition:</a:t>
            </a:r>
          </a:p>
          <a:p>
            <a:pPr>
              <a:tabLst>
                <a:tab pos="744538" algn="l"/>
                <a:tab pos="1025525" algn="l"/>
                <a:tab pos="1260475" algn="l"/>
              </a:tabLst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void Swap (boolean *a, boolean *b)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{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boolean temp = *a;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*a = *b;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*b = temp: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}</a:t>
            </a:r>
          </a:p>
          <a:p>
            <a:pPr>
              <a:buNone/>
              <a:tabLst>
                <a:tab pos="744538" algn="l"/>
                <a:tab pos="1025525" algn="l"/>
                <a:tab pos="1260475" algn="l"/>
              </a:tabLst>
            </a:pPr>
            <a:endParaRPr lang="en-US" dirty="0">
              <a:solidFill>
                <a:srgbClr val="0000FF"/>
              </a:solidFill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462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Solution using Swap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311" y="957925"/>
            <a:ext cx="10515600" cy="5280254"/>
          </a:xfrm>
        </p:spPr>
        <p:txBody>
          <a:bodyPr>
            <a:normAutofit/>
          </a:bodyPr>
          <a:lstStyle/>
          <a:p>
            <a:pPr>
              <a:tabLst>
                <a:tab pos="744538" algn="l"/>
                <a:tab pos="1025525" algn="l"/>
                <a:tab pos="1260475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Shared Boolean variable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lock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initialized to FALSE; Each process has a local Boolean variable key</a:t>
            </a:r>
          </a:p>
          <a:p>
            <a:endParaRPr lang="en-US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B3E296-7173-6332-DF2C-68360F9D8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83" y="1677686"/>
            <a:ext cx="9204237" cy="51803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588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Bounded-waiting Mutual Exclusion with </a:t>
            </a:r>
            <a:r>
              <a:rPr lang="en-US" sz="4000" b="1" dirty="0" err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TestandTet</a:t>
            </a:r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210"/>
            <a:ext cx="10515600" cy="5414789"/>
          </a:xfrm>
        </p:spPr>
        <p:txBody>
          <a:bodyPr>
            <a:normAutofit fontScale="55000" lnSpcReduction="20000"/>
          </a:bodyPr>
          <a:lstStyle/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do {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waiting[</a:t>
            </a:r>
            <a:r>
              <a:rPr lang="en-US" sz="3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] = TRUE;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key = TRUE;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while (waiting[</a:t>
            </a:r>
            <a:r>
              <a:rPr lang="en-US" sz="3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] &amp;&amp; key)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	key = TestAndSet(&amp;lock);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waiting[</a:t>
            </a:r>
            <a:r>
              <a:rPr lang="en-US" sz="3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] = FALSE;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// critical section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j = (</a:t>
            </a:r>
            <a:r>
              <a:rPr lang="en-US" sz="3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 + 1) % n;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while ((j != </a:t>
            </a:r>
            <a:r>
              <a:rPr lang="en-US" sz="3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) &amp;&amp; !waiting[j])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	j = (j + 1) % n;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if (j == </a:t>
            </a:r>
            <a:r>
              <a:rPr lang="en-US" sz="3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	lock = FALSE;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else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	waiting[j] = FALSE;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// remainder section </a:t>
            </a:r>
          </a:p>
          <a:p>
            <a:pPr>
              <a:buFont typeface="Monotype Sorts" charset="2"/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} while (TRUE);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Semaphore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0065" y="1395967"/>
            <a:ext cx="10515600" cy="5037884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Synchronization tool that does not require busy waiting </a:t>
            </a:r>
            <a:endParaRPr lang="en-US" sz="2400" b="1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Semaphore 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integer variable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Two standard operations modify 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S: wait()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signal()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Originally called </a:t>
            </a:r>
            <a:r>
              <a:rPr lang="en-US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P()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V()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Less complicated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Can only be accessed via two indivisible (atomic) operations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156273" y="4179295"/>
            <a:ext cx="3131261" cy="212876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/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wait (S) 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{ </a:t>
            </a:r>
          </a:p>
          <a:p>
            <a:pPr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      while S &lt;= 0</a:t>
            </a:r>
          </a:p>
          <a:p>
            <a:pPr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        ; 		// no-op</a:t>
            </a:r>
          </a:p>
          <a:p>
            <a:pPr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       S--;</a:t>
            </a:r>
          </a:p>
          <a:p>
            <a:pPr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 }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5902019" y="4355755"/>
            <a:ext cx="1498600" cy="14747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/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signal (S) 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{ </a:t>
            </a:r>
          </a:p>
          <a:p>
            <a:pPr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     S++;</a:t>
            </a:r>
          </a:p>
          <a:p>
            <a:pPr>
              <a:lnSpc>
                <a:spcPct val="90000"/>
              </a:lnSpc>
              <a:buFont typeface="Monotype Sorts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charset="2"/>
              </a:rPr>
              <a:t> 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215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Semaphore as General Synchronization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0234" y="1649356"/>
            <a:ext cx="10515600" cy="4843518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2005013" algn="ctr"/>
                <a:tab pos="4518025" algn="ctr"/>
              </a:tabLst>
            </a:pPr>
            <a:r>
              <a:rPr lang="en-US" sz="2200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Counting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semaphore – integer value can range over an unrestricted domain</a:t>
            </a:r>
          </a:p>
          <a:p>
            <a:pPr>
              <a:tabLst>
                <a:tab pos="2005013" algn="ctr"/>
                <a:tab pos="4518025" algn="ctr"/>
              </a:tabLst>
            </a:pPr>
            <a:r>
              <a:rPr lang="en-US" sz="2200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Binary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semaphore – integer value can range only between 0  and 1; can be simpler to implement</a:t>
            </a:r>
          </a:p>
          <a:p>
            <a:pPr lvl="1">
              <a:tabLst>
                <a:tab pos="2005013" algn="ctr"/>
                <a:tab pos="4518025" algn="ctr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MT Extra" charset="0"/>
              </a:rPr>
              <a:t>Also known as </a:t>
            </a:r>
            <a:r>
              <a:rPr lang="en-US" sz="2000" dirty="0" err="1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mutex</a:t>
            </a:r>
            <a:r>
              <a:rPr lang="en-US" sz="2000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 locks</a:t>
            </a:r>
            <a:endParaRPr lang="en-US" sz="2000" dirty="0">
              <a:solidFill>
                <a:srgbClr val="3366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2005013" algn="ctr"/>
                <a:tab pos="4518025" algn="ctr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 implement a counting semaphore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as a binary semaphore</a:t>
            </a:r>
          </a:p>
          <a:p>
            <a:pPr>
              <a:tabLst>
                <a:tab pos="2005013" algn="ctr"/>
                <a:tab pos="4518025" algn="ctr"/>
              </a:tabLst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Provides mutual exclusion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semaphore </a:t>
            </a:r>
            <a:r>
              <a:rPr lang="en-US" sz="3000" b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mutex</a:t>
            </a:r>
            <a:r>
              <a:rPr lang="en-US" sz="3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;    //  </a:t>
            </a:r>
            <a:r>
              <a:rPr 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initialized to 1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do {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	wait (</a:t>
            </a:r>
            <a:r>
              <a:rPr lang="en-US" sz="30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mutex</a:t>
            </a: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);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         // Critical section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     signal (</a:t>
            </a:r>
            <a:r>
              <a:rPr lang="en-US" sz="30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mutex</a:t>
            </a: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);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		// remainder section</a:t>
            </a:r>
          </a:p>
          <a:p>
            <a:pPr lvl="1">
              <a:buFont typeface="Monotype Sorts" charset="2"/>
              <a:buNone/>
              <a:tabLst>
                <a:tab pos="2005013" algn="ctr"/>
                <a:tab pos="4518025" algn="ctr"/>
              </a:tabLst>
            </a:pPr>
            <a:r>
              <a:rPr lang="en-US" sz="3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MT Extra" charset="0"/>
              </a:rPr>
              <a:t>} while (TRUE);</a:t>
            </a:r>
          </a:p>
          <a:p>
            <a:pPr>
              <a:buFont typeface="Monotype Sorts" charset="2"/>
              <a:buNone/>
              <a:tabLst>
                <a:tab pos="2005013" algn="ctr"/>
                <a:tab pos="4518025" algn="ctr"/>
              </a:tabLst>
            </a:pPr>
            <a:endParaRPr lang="en-US" sz="1900" dirty="0">
              <a:solidFill>
                <a:srgbClr val="0000FF"/>
              </a:solidFill>
              <a:sym typeface="MT Extra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Semaphore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Must guarantee that no two processes can execute 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wait ()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signal ()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on the same semaphore at the same time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Thus, implementation becomes the critical section problem where the wait and signal code are placed in the critical section.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Could now have </a:t>
            </a:r>
            <a:r>
              <a:rPr lang="en-US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busy waiting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critical section implementation</a:t>
            </a:r>
          </a:p>
          <a:p>
            <a:pPr lvl="2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But implementation code is short</a:t>
            </a:r>
          </a:p>
          <a:p>
            <a:pPr lvl="2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Little busy waiting if critical section rarely occupied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Note that applications may spend lots of time in critical sections and therefore this is not a good solution.</a:t>
            </a:r>
          </a:p>
          <a:p>
            <a:pPr>
              <a:buFont typeface="Monotype Sorts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Semaphore Implementation with no Busy waiting</a:t>
            </a:r>
            <a:r>
              <a:rPr lang="en-US" sz="48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With each semaphore there is an associated waiting queue. Each entry in a waiting queue has two data items: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value (of type integer)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pointer to next record in the list</a:t>
            </a:r>
          </a:p>
          <a:p>
            <a:pPr lvl="1">
              <a:buFont typeface="Monotype Sorts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Two operations:</a:t>
            </a:r>
          </a:p>
          <a:p>
            <a:pPr lvl="1"/>
            <a:r>
              <a:rPr lang="en-US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block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place the process invoking the operation on the      appropriate waiting queue.</a:t>
            </a:r>
          </a:p>
          <a:p>
            <a:pPr lvl="1"/>
            <a:r>
              <a:rPr lang="en-US" dirty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wakeup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remove one of processes in the waiting queue and place it in the ready queue.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9950" y="2268978"/>
            <a:ext cx="2803028" cy="16004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typedef struct {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int value;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struct process *list;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}semaphore;</a:t>
            </a:r>
          </a:p>
          <a:p>
            <a:pPr>
              <a:defRPr/>
            </a:pPr>
            <a:r>
              <a:rPr lang="en-US" dirty="0"/>
              <a:t>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580" y="0"/>
            <a:ext cx="10515600" cy="967916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Semaphore Implementation with no Busy waiting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579" y="1130205"/>
            <a:ext cx="10515600" cy="566248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Implementation of wait: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       wait(semaphore *S) {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S-&gt;value--;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if (S-&gt;value &lt; 0) {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	add this process to S-&gt;list;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	block();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}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}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sz="20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Implementation of signal: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signal(semaphore *S) {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S-&gt;value++;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if (S-&gt;value &lt;= 0) {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	remove a process P from S-&gt;list;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	wakeup(P);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	}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	} </a:t>
            </a:r>
          </a:p>
          <a:p>
            <a:endParaRPr lang="en-US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BA340-03B2-4718-AAF3-22E730560F77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3325</TotalTime>
  <Words>1471</Words>
  <Application>Microsoft Office PowerPoint</Application>
  <PresentationFormat>Widescreen</PresentationFormat>
  <Paragraphs>238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Monotype Sorts</vt:lpstr>
      <vt:lpstr>MT Extra</vt:lpstr>
      <vt:lpstr>Times New Roman</vt:lpstr>
      <vt:lpstr>Verdana</vt:lpstr>
      <vt:lpstr>Office Theme</vt:lpstr>
      <vt:lpstr>Process Synchronization</vt:lpstr>
      <vt:lpstr>Producer </vt:lpstr>
      <vt:lpstr>Consumer</vt:lpstr>
      <vt:lpstr>Race Condition</vt:lpstr>
      <vt:lpstr>Race Condition</vt:lpstr>
      <vt:lpstr>Critical section problem</vt:lpstr>
      <vt:lpstr>Critical section problem</vt:lpstr>
      <vt:lpstr>Solution to Critical-Section Problem</vt:lpstr>
      <vt:lpstr>PowerPoint Presentation</vt:lpstr>
      <vt:lpstr>Peterson’s Solution</vt:lpstr>
      <vt:lpstr>Algorithm for Process Pi</vt:lpstr>
      <vt:lpstr>1. How mutual exclusion is preserved?</vt:lpstr>
      <vt:lpstr>2. How progress requirement and bounded waiting requirements are satisfied?</vt:lpstr>
      <vt:lpstr>Synchronization Hardware</vt:lpstr>
      <vt:lpstr>TestAndSet Instruction </vt:lpstr>
      <vt:lpstr>Swap  Instruction</vt:lpstr>
      <vt:lpstr>Solution using Swap</vt:lpstr>
      <vt:lpstr>Bounded-waiting Mutual Exclusion with TestandTet()</vt:lpstr>
      <vt:lpstr>Semaphore</vt:lpstr>
      <vt:lpstr>Semaphore as General Synchronization Tool</vt:lpstr>
      <vt:lpstr>Semaphore Implementation</vt:lpstr>
      <vt:lpstr>Semaphore Implementation with no Busy waiting </vt:lpstr>
      <vt:lpstr>Semaphore Implementation with no Busy waiting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19ECS204: OPERATING SYSTEMS</dc:title>
  <dc:creator>Manjunath</dc:creator>
  <cp:lastModifiedBy>Dr.J</cp:lastModifiedBy>
  <cp:revision>133</cp:revision>
  <dcterms:created xsi:type="dcterms:W3CDTF">2021-01-17T10:28:15Z</dcterms:created>
  <dcterms:modified xsi:type="dcterms:W3CDTF">2024-02-01T11:05:48Z</dcterms:modified>
</cp:coreProperties>
</file>