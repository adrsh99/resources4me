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03" r:id="rId4"/>
    <p:sldId id="304" r:id="rId5"/>
    <p:sldId id="305" r:id="rId6"/>
    <p:sldId id="306" r:id="rId7"/>
    <p:sldId id="308" r:id="rId8"/>
    <p:sldId id="307" r:id="rId9"/>
    <p:sldId id="309" r:id="rId10"/>
    <p:sldId id="310" r:id="rId11"/>
    <p:sldId id="322" r:id="rId12"/>
    <p:sldId id="257" r:id="rId13"/>
    <p:sldId id="323" r:id="rId14"/>
    <p:sldId id="325" r:id="rId15"/>
    <p:sldId id="324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4" r:id="rId24"/>
    <p:sldId id="333" r:id="rId25"/>
    <p:sldId id="33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19B4-B688-F785-C201-0D4809E39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6F78D-6FE2-FE22-26F5-8A33AD99B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E66BD-1394-F47B-46C8-E885E91A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DF7DE-A3AB-DF42-15D0-1190568C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42795-89DB-C115-ACBD-F6D7C9FF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629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963F-51C9-834F-3669-20660753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9CB31-F30D-6E80-27C8-6D422E942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A700-E582-36CF-6F76-671E7E56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EF1D4-C187-639D-B6F7-CEB1A317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AE5A-1B04-B548-CA6E-3626DC9E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05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263B-F826-4783-D7DF-4B1D6F9C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4F63D-1048-81B9-3308-5CFDB6B0A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92F0-871C-D953-0C65-07801842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1A79C-0FF9-280A-C43C-CE3F9C238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59F0A-0B0C-FAE3-7B73-8D387A83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0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08C6-D2E3-B23C-3DCD-7F6EFC6C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742DF-A18B-66CA-B69D-F4D904BAC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8FE67-2D9F-CA9E-5337-1ECD3B80B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D1C98-7577-C662-83DA-6B9038D8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F0CA8-7935-3580-75E3-05F7A67D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7CEF4-7C7F-3AE0-391A-4C9AF1FF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0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DE10-635A-0682-9067-C364B9920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98BC8-0429-4DEF-52DA-03C0D88BE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3592C-3500-0B8C-6B11-A2B1B92FC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A3B2E-4AE6-5706-55ED-AC908EB24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5493A-61E0-6D4E-F2EE-931622873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26A56-E624-164E-87F8-D120D37E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4FE9D-0FEC-3C38-672F-22093699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7CC2C-AFDB-27E3-4640-79D9F76C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9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18CA-36F4-2CB1-66F9-7327D002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0DB7C-DCD6-5B24-AB68-0348A3C9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5002F-FEAB-C11D-3CB2-00FD8B8B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CE2F6-41B5-6E82-AD9C-7EB39BA9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17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4AE4C6-9698-A98F-1F72-2221F252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EC77D-8FEE-F4C4-8CEC-256A085D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018B1-2682-A768-86BA-202E68ED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04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7492-3548-994D-12F8-222E9F55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75EE9-B609-673A-7D58-D51C1023F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16D87-0BA3-CA23-C0A8-6DEC56215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520B0-DA40-F0B9-8E62-5DD7A6C6A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16BC0-D8AB-FE7B-C7F1-40A74B78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395E9-53A3-DD69-39BA-C36F6634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6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35AD-FEBE-BBB0-2E52-F9C6477E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71E9D-6645-4341-045D-96C61DF9A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40C0A-E9A6-EFA4-DB1C-FD217E5DE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93332-53A2-2290-FF00-4BF6385B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1EF6-9A9E-1221-8516-7E97BBAA7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37495-065C-75A9-1122-58D5D539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54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D070-74B5-7D10-6AF3-09F43318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1E486-D0C3-A928-B53D-43E8889A4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013E9-FFB2-825E-247D-151CE0DD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0BF2B-5E3A-57F6-F2B2-8BBFCF74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801C1-B8E9-27AC-A9A3-A1FAD8FA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29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CC24E-6AA8-E8AB-C1C0-47E3EA2F66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98C28-6D50-0C03-1C1D-A6787EAF4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5888-4328-9B6F-5036-63F56171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AF440-2F31-4960-83F3-3D754ABC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35FC-0C90-E356-B8B9-A7305FD7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788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A84C4C-3689-1F5D-7BA2-90ED22864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E4220-1410-474F-BB16-B32786A90A8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709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ED1EA3-E6FE-3724-8ABA-9FC5F8059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EB3C3-E550-4740-9844-909838E5D0B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96579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 L University Logo">
            <a:extLst>
              <a:ext uri="{FF2B5EF4-FFF2-40B4-BE49-F238E27FC236}">
                <a16:creationId xmlns:a16="http://schemas.microsoft.com/office/drawing/2014/main" id="{0CAD4102-3B9F-505D-AB8C-2254F0DB74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207963"/>
            <a:ext cx="468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DBB65-6D6C-B0CA-7F92-C443DBC837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1850" y="6356350"/>
            <a:ext cx="915987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5D24C-79FE-276B-2925-D223A1760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112C83-02F7-4C10-8EB0-F0EE701921B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6866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 L University Logo">
            <a:extLst>
              <a:ext uri="{FF2B5EF4-FFF2-40B4-BE49-F238E27FC236}">
                <a16:creationId xmlns:a16="http://schemas.microsoft.com/office/drawing/2014/main" id="{5CF67A85-1459-5BFB-DCE4-21B496241E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76"/>
          <a:stretch>
            <a:fillRect/>
          </a:stretch>
        </p:blipFill>
        <p:spPr bwMode="auto">
          <a:xfrm>
            <a:off x="11131550" y="0"/>
            <a:ext cx="10604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0284"/>
            <a:ext cx="5181600" cy="49466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6187"/>
            <a:ext cx="5181600" cy="4930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107403A-9997-BA8E-8D45-1CAF7152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239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76401C8-4797-3C07-7073-F0C46C80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  <a:endParaRPr lang="en-AU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D66373F-4A47-8FB9-E563-8ECAB9F5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A7187-B9C5-4E25-84D2-A2E80E440B0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804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K L University Logo">
            <a:extLst>
              <a:ext uri="{FF2B5EF4-FFF2-40B4-BE49-F238E27FC236}">
                <a16:creationId xmlns:a16="http://schemas.microsoft.com/office/drawing/2014/main" id="{B15B3880-D679-1C0A-0306-96D8ED9B0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0759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98190"/>
            <a:ext cx="5157787" cy="4091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0759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98190"/>
            <a:ext cx="5183188" cy="4091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9C32D-2B24-FF14-423A-F1A2C16DD5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788" y="6356350"/>
            <a:ext cx="9151937" cy="365125"/>
          </a:xfrm>
        </p:spPr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724D4-3097-DE1C-D3D4-C9889E5971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B3980-8605-4601-B25B-1DE801235DB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6321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 L University Logo">
            <a:extLst>
              <a:ext uri="{FF2B5EF4-FFF2-40B4-BE49-F238E27FC236}">
                <a16:creationId xmlns:a16="http://schemas.microsoft.com/office/drawing/2014/main" id="{AD82C56A-8D1E-4D6C-B3ED-0ECB372A98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180AE-D6AF-4C61-8012-CA664B6130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FF500-4E58-1438-E668-4BBB37136F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EDA24A-81AA-402B-AA48-4C45D24DFA9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853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00AF713-DAD5-0B35-C6A7-2865CECFD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34349-2B96-4DE1-9224-B6EC361ACCA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54816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 L University Logo">
            <a:extLst>
              <a:ext uri="{FF2B5EF4-FFF2-40B4-BE49-F238E27FC236}">
                <a16:creationId xmlns:a16="http://schemas.microsoft.com/office/drawing/2014/main" id="{9F294E84-7DC1-5404-8045-5D31D1B22A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F9723-D7E1-675F-D226-79123D3F0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788" y="6356350"/>
            <a:ext cx="9151937" cy="365125"/>
          </a:xfrm>
        </p:spPr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336A6-7C88-3FAB-B249-08D5CEDFA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A18A0-7983-4A63-A679-07BE9262731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8304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 L University Logo">
            <a:extLst>
              <a:ext uri="{FF2B5EF4-FFF2-40B4-BE49-F238E27FC236}">
                <a16:creationId xmlns:a16="http://schemas.microsoft.com/office/drawing/2014/main" id="{E50AFDC0-8F3D-1FE2-5634-2F4B9D27C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1803E-104C-24A6-B8C2-0B2C296BC2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788" y="6356350"/>
            <a:ext cx="9151937" cy="365125"/>
          </a:xfrm>
        </p:spPr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DA31E-9668-5CC8-00B3-2EE064559A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FA215-D90D-4F58-881D-9424F78F146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142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 L University Logo">
            <a:extLst>
              <a:ext uri="{FF2B5EF4-FFF2-40B4-BE49-F238E27FC236}">
                <a16:creationId xmlns:a16="http://schemas.microsoft.com/office/drawing/2014/main" id="{25C38C7C-570A-18C0-099E-106B52EC7B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81"/>
          <a:stretch>
            <a:fillRect/>
          </a:stretch>
        </p:blipFill>
        <p:spPr bwMode="auto">
          <a:xfrm>
            <a:off x="11125200" y="0"/>
            <a:ext cx="1066800" cy="106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BF06-2093-0DC1-578E-CFE7044D91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C3FE0-5ECA-FFA1-386D-6949D7682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93328-287D-472A-8A08-195FB2A2FBAD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7407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 L University Logo">
            <a:extLst>
              <a:ext uri="{FF2B5EF4-FFF2-40B4-BE49-F238E27FC236}">
                <a16:creationId xmlns:a16="http://schemas.microsoft.com/office/drawing/2014/main" id="{5526432F-BEE9-4A80-F7CC-30474DE89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81"/>
          <a:stretch>
            <a:fillRect/>
          </a:stretch>
        </p:blipFill>
        <p:spPr bwMode="auto">
          <a:xfrm>
            <a:off x="11125200" y="-58738"/>
            <a:ext cx="1066800" cy="106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C25CB-430C-ABB1-585E-F0E2A528C2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C87FC-3725-2667-4E76-7A4438CC03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A27D0-221D-4B35-BE5F-2AD2AF8DCB89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7839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 L University Logo">
            <a:extLst>
              <a:ext uri="{FF2B5EF4-FFF2-40B4-BE49-F238E27FC236}">
                <a16:creationId xmlns:a16="http://schemas.microsoft.com/office/drawing/2014/main" id="{A87F3DC8-5AA6-FDB6-69F6-338B607118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838200" y="1238596"/>
            <a:ext cx="10515599" cy="5012575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0A0CD22-410D-7356-E69E-30E703FE70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074365-E47B-A60A-EE1A-B44F95C230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4418-3F2C-4967-9322-FC9972AB7E0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3988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6DD2D-C503-92CC-2DA7-4C2D627F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092DD-7C2E-42DC-C5D1-324C8F073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05CA-9EB4-6F0B-6E9E-52829902A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E20D6-DBBA-4DB4-B7CE-4AB6F8E5E056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09C8-93AF-8335-E48A-4647E34C2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52B66-C4DA-1ACE-4B82-D4C80CF04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01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0E9255-3F2A-37B6-24E6-CD4830B211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U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947FC24-5BE1-1F88-F956-CD430A3A9B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155700"/>
            <a:ext cx="10515600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ED650-F41D-08F6-AD29-599888854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1535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2D63-31F1-C147-A057-BAB2D0BFA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48950" y="6356350"/>
            <a:ext cx="7048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5D098CB-D913-4D0F-A87D-5022087E528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4748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6CBA-FC45-E483-21C2-ED7FFA3C0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System call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266FD-47FA-DFE6-BEBE-0A65D8C3F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09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94C1E331-52F5-F6A1-D19D-0742A5B8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>
                <a:latin typeface="Calisto MT" panose="02040603050505030304" pitchFamily="18" charset="0"/>
              </a:rPr>
              <a:t>System call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0B991D56-A0E3-7A78-B619-9D1C073F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5410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A </a:t>
            </a:r>
            <a:r>
              <a:rPr lang="en-US" altLang="en-US" sz="2400" b="1">
                <a:latin typeface="Calisto MT" panose="02040603050505030304" pitchFamily="18" charset="0"/>
              </a:rPr>
              <a:t>system call</a:t>
            </a:r>
            <a:r>
              <a:rPr lang="en-US" altLang="en-US" sz="2400">
                <a:latin typeface="Calisto MT" panose="02040603050505030304" pitchFamily="18" charset="0"/>
              </a:rPr>
              <a:t> is a mechanism that provides the interface between a process and the operating system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A system call is a way for programs to </a:t>
            </a:r>
            <a:r>
              <a:rPr lang="en-US" altLang="en-US" sz="2400" b="1">
                <a:latin typeface="Calisto MT" panose="02040603050505030304" pitchFamily="18" charset="0"/>
              </a:rPr>
              <a:t>interact with the operating system</a:t>
            </a:r>
            <a:r>
              <a:rPr lang="en-US" altLang="en-US" sz="2400">
                <a:latin typeface="Calisto MT" panose="0204060305050503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A computer program makes a system call when it makes a request to the operating system’s kernel.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System call </a:t>
            </a:r>
            <a:r>
              <a:rPr lang="en-US" altLang="en-US" sz="2400" b="1">
                <a:latin typeface="Calisto MT" panose="02040603050505030304" pitchFamily="18" charset="0"/>
              </a:rPr>
              <a:t>provides</a:t>
            </a:r>
            <a:r>
              <a:rPr lang="en-US" altLang="en-US" sz="2400">
                <a:latin typeface="Calisto MT" panose="02040603050505030304" pitchFamily="18" charset="0"/>
              </a:rPr>
              <a:t> the services of the operating system to the user programs via Application Program Interface(API)</a:t>
            </a:r>
            <a:endParaRPr lang="en-IN" altLang="en-US" sz="240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AE151AB6-A4A0-88AE-5645-EF762F16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>
                <a:latin typeface="Calisto MT" panose="02040603050505030304" pitchFamily="18" charset="0"/>
              </a:rPr>
              <a:t>Why do we need System Calls?</a:t>
            </a:r>
            <a:endParaRPr lang="en-IN" altLang="en-US" sz="320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7F303-1926-5E0B-7149-6B8CC467E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410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Following are situations which need system calls in OS: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Reading and writing from files demand system calls.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If a file system wants to create or delete files, system calls are required.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System calls are used for the creation and management of new processes.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Network connections need system calls for sending and receiving packets.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Access to hardware devices like scanner, printer, need a system call.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05AC82F0-AC86-12CC-F4C4-2D69E5B0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>
                <a:latin typeface="Calisto MT" panose="02040603050505030304" pitchFamily="18" charset="0"/>
              </a:rPr>
              <a:t>Types of 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CDA1-BBD1-D247-DF6F-AFBE65F3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Here are the various types of system calls used in OS: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Process Control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File Management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Device Management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Information Maintenance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Communications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Protection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9824-3BBF-DAF1-6D47-0D0F6F883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304800"/>
            <a:ext cx="10471150" cy="6096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Process Control: </a:t>
            </a:r>
            <a:r>
              <a:rPr lang="en-US" sz="2400" dirty="0">
                <a:latin typeface="Calisto MT" panose="02040603050505030304" pitchFamily="18" charset="0"/>
              </a:rPr>
              <a:t>This system calls perform the task of process creation, process termination, etc.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End and Abort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Load and Execute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Create Process and Terminate Process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Wait and Signed Event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Allocate and free memory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400" dirty="0">
                <a:latin typeface="Calisto MT" panose="02040603050505030304" pitchFamily="18" charset="0"/>
              </a:rPr>
              <a:t>Debugger for determining bugs, single step execution.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400" dirty="0">
                <a:latin typeface="Calisto MT" panose="02040603050505030304" pitchFamily="18" charset="0"/>
              </a:rPr>
              <a:t> </a:t>
            </a:r>
            <a:r>
              <a:rPr lang="en-US" sz="2400" dirty="0">
                <a:latin typeface="Calisto MT" panose="02040603050505030304" pitchFamily="18" charset="0"/>
              </a:rPr>
              <a:t>Locks for managing access to shared data between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21011-EDCB-6836-9408-0BA8BA092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457200"/>
            <a:ext cx="10450513" cy="60198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File Management</a:t>
            </a:r>
          </a:p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File management system calls handle file manipulation jobs like creating a file, reading, and writing, etc.</a:t>
            </a:r>
          </a:p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Create a file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Delete file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Open and close file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Read, write, and reposition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and set file attributes</a:t>
            </a: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74D3D-80F6-EBBA-1382-14464783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341313"/>
            <a:ext cx="10461625" cy="55260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Device Management: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Device management does the job of device manipulation like reading from device buffers, writing into device buffers, etc.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Request and release device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Logically attach/ detach devices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and Set device attributes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CD587-E733-D47F-7A74-86B31763D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238" y="304800"/>
            <a:ext cx="10429875" cy="58213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Information Maintenance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It handles information and its transfer between the OS and the user program.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or set time and date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system data, set system data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process and device attributes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FF2C3-4368-4C42-C4AA-DF441DCF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238" y="322263"/>
            <a:ext cx="10440987" cy="607853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Communication: </a:t>
            </a:r>
            <a:r>
              <a:rPr lang="en-US" sz="2400" dirty="0">
                <a:latin typeface="Calisto MT" panose="02040603050505030304" pitchFamily="18" charset="0"/>
              </a:rPr>
              <a:t>These types of system calls are specially used for inter-process communications.</a:t>
            </a:r>
          </a:p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Create, delete communications connections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Send, receive message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Help OS to transfer status information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Attach or detach remote devices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IN" sz="2400" b="1" dirty="0">
                <a:latin typeface="Calisto MT" panose="02040603050505030304" pitchFamily="18" charset="0"/>
              </a:rPr>
              <a:t>Protection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Control access to resources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and set permissions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Allow and deny user access</a:t>
            </a: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Content Placeholder 1">
            <a:extLst>
              <a:ext uri="{FF2B5EF4-FFF2-40B4-BE49-F238E27FC236}">
                <a16:creationId xmlns:a16="http://schemas.microsoft.com/office/drawing/2014/main" id="{83922F3E-7F72-33DF-DF93-8BC93A9A75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6775" y="842963"/>
            <a:ext cx="5513388" cy="5346700"/>
          </a:xfrm>
        </p:spPr>
      </p:pic>
      <p:sp>
        <p:nvSpPr>
          <p:cNvPr id="45059" name="TextBox 4">
            <a:extLst>
              <a:ext uri="{FF2B5EF4-FFF2-40B4-BE49-F238E27FC236}">
                <a16:creationId xmlns:a16="http://schemas.microsoft.com/office/drawing/2014/main" id="{8FA14F35-69EA-1FDA-BE7A-C22AD6C25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238125"/>
            <a:ext cx="864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59B"/>
                </a:solidFill>
                <a:effectLst/>
                <a:uLnTx/>
                <a:uFillTx/>
                <a:latin typeface="Arial-BoldMT"/>
                <a:ea typeface="+mn-ea"/>
                <a:cs typeface="Arial" panose="020B0604020202020204" pitchFamily="34" charset="0"/>
              </a:rPr>
              <a:t>Examples of Windows and Unix System Calls</a:t>
            </a:r>
            <a:endParaRPr kumimoji="0" lang="en-I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060" name="TextBox 6">
            <a:extLst>
              <a:ext uri="{FF2B5EF4-FFF2-40B4-BE49-F238E27FC236}">
                <a16:creationId xmlns:a16="http://schemas.microsoft.com/office/drawing/2014/main" id="{598EFD86-570C-6477-8D7D-4E5750586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842963"/>
            <a:ext cx="4765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659B"/>
                </a:solidFill>
                <a:effectLst/>
                <a:uLnTx/>
                <a:uFillTx/>
                <a:latin typeface="Arial-BoldMT"/>
                <a:ea typeface="+mn-ea"/>
                <a:cs typeface="Arial" panose="020B0604020202020204" pitchFamily="34" charset="0"/>
              </a:rPr>
              <a:t>Standard C Library Example</a:t>
            </a:r>
            <a:endParaRPr kumimoji="0" lang="en-I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5061" name="Picture 7">
            <a:extLst>
              <a:ext uri="{FF2B5EF4-FFF2-40B4-BE49-F238E27FC236}">
                <a16:creationId xmlns:a16="http://schemas.microsoft.com/office/drawing/2014/main" id="{76D97871-1C61-6F28-30AE-F9445A266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75" y="1354138"/>
            <a:ext cx="4298950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9">
            <a:extLst>
              <a:ext uri="{FF2B5EF4-FFF2-40B4-BE49-F238E27FC236}">
                <a16:creationId xmlns:a16="http://schemas.microsoft.com/office/drawing/2014/main" id="{458AE56E-6940-C537-CD09-B53EACCD8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5689600"/>
            <a:ext cx="55133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MT"/>
                <a:ea typeface="+mn-ea"/>
                <a:cs typeface="Arial" panose="020B0604020202020204" pitchFamily="34" charset="0"/>
              </a:rPr>
              <a:t>C program invoking printf() library call, which calls write() system call</a:t>
            </a:r>
            <a:endParaRPr kumimoji="0" lang="en-I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070735-8899-3B42-8892-C98A52902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System call for process management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AF07C16-F385-A211-E67B-1EC33FA79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Process creation, Termination, Waiting</a:t>
            </a:r>
          </a:p>
        </p:txBody>
      </p:sp>
    </p:spTree>
    <p:extLst>
      <p:ext uri="{BB962C8B-B14F-4D97-AF65-F5344CB8AC3E}">
        <p14:creationId xmlns:p14="http://schemas.microsoft.com/office/powerpoint/2010/main" val="2786267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3BAE-42C5-4D33-8B91-D162B31E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System call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9C0AB-A41E-F768-C6C7-601543375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898" y="1950244"/>
            <a:ext cx="2295477" cy="3437724"/>
          </a:xfrm>
        </p:spPr>
      </p:pic>
    </p:spTree>
    <p:extLst>
      <p:ext uri="{BB962C8B-B14F-4D97-AF65-F5344CB8AC3E}">
        <p14:creationId xmlns:p14="http://schemas.microsoft.com/office/powerpoint/2010/main" val="2148214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BC5F-FCAE-487F-0611-13A3A2DE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fork()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1CB2-8AEA-419A-922A-C55CE0E6E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spawn a new child process which is an identical process to the parent except that has a new system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copied in memory from the parent and a new process structure is assigned by the kernel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89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4B4EF-464E-5C40-7EF4-D2FC45C5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fork 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24B2-ED07-0377-56B0-E91D778E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System call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is used to create processes.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It takes no arguments and returns a process ID. The purpose of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is to create a </a:t>
            </a:r>
            <a:r>
              <a:rPr lang="en-US" b="1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new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process, which becomes the </a:t>
            </a:r>
            <a:r>
              <a:rPr lang="en-US" b="0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child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process of the caller.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After a new child process is created, </a:t>
            </a:r>
            <a:r>
              <a:rPr lang="en-US" b="1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both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processes will execute the next instruction following the </a:t>
            </a:r>
            <a:r>
              <a:rPr lang="en-US" b="1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system call.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Therefore, we have to distinguish the parent from the child.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This can be done by testing the returned value of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: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 The return value to the parent process will be the Process ID (PID) of the child, whilst the child will get a return value of 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86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DE51-EB60-4ABB-ABF4-63F46183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B2DDA-BB0C-FA3F-FAC7-AB674816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If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returns a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negative value, the creation of a child process was unsuccessful.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 returns a zero to the newly created child process.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returns a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positive value, the </a:t>
            </a:r>
            <a:r>
              <a:rPr lang="en-US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process ID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 of the child process, to the parent. 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The returned process ID is of type </a:t>
            </a:r>
            <a:r>
              <a:rPr lang="en-US" b="1" i="0" dirty="0" err="1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pid_t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defined in </a:t>
            </a:r>
            <a:r>
              <a:rPr lang="en-US" b="1" i="0" dirty="0">
                <a:solidFill>
                  <a:srgbClr val="0A0AFF"/>
                </a:solidFill>
                <a:effectLst/>
                <a:latin typeface="Helvetica" panose="020B0604020202020204" pitchFamily="34" charset="0"/>
              </a:rPr>
              <a:t>sys/</a:t>
            </a:r>
            <a:r>
              <a:rPr lang="en-US" b="1" i="0" dirty="0" err="1">
                <a:solidFill>
                  <a:srgbClr val="0A0AFF"/>
                </a:solidFill>
                <a:effectLst/>
                <a:latin typeface="Helvetica" panose="020B0604020202020204" pitchFamily="34" charset="0"/>
              </a:rPr>
              <a:t>types.h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. Normally, the process ID is an integer. Moreover, a process can use function </a:t>
            </a:r>
            <a:r>
              <a:rPr lang="en-US" b="1" i="0" dirty="0" err="1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getpid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to retrieve the process ID assigned to this process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081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47B35C-EA19-3F47-96AE-54CE753E5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341" y="364066"/>
            <a:ext cx="9022540" cy="622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7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7F3848-E607-DD5A-0EFA-1C1CD7B2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95" y="396501"/>
            <a:ext cx="8711609" cy="567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94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D845-C1F1-9113-2E22-2F883EA0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821CF-D113-1DA8-0214-971D0269D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A3E030-3B5C-0D56-365F-8E0D1D78F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65" y="893796"/>
            <a:ext cx="7257569" cy="442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A79F9-4B2C-0EF7-364C-4DBD60AD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19" y="981647"/>
            <a:ext cx="7917066" cy="489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83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D385A4-DC6F-A41E-F57A-2CC4D80CC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12" y="835321"/>
            <a:ext cx="8503348" cy="43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87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A1B56-B141-327A-E445-665EDF374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790" y="354563"/>
            <a:ext cx="8407602" cy="5682013"/>
          </a:xfrm>
        </p:spPr>
      </p:pic>
    </p:spTree>
    <p:extLst>
      <p:ext uri="{BB962C8B-B14F-4D97-AF65-F5344CB8AC3E}">
        <p14:creationId xmlns:p14="http://schemas.microsoft.com/office/powerpoint/2010/main" val="2354742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29E2C4-2A01-2F15-EB6F-4BD9FEA3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96" y="1472722"/>
            <a:ext cx="7787555" cy="5296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95FD84-5812-E85F-DAB2-1112703A62F3}"/>
              </a:ext>
            </a:extLst>
          </p:cNvPr>
          <p:cNvSpPr txBox="1"/>
          <p:nvPr/>
        </p:nvSpPr>
        <p:spPr>
          <a:xfrm>
            <a:off x="473529" y="253586"/>
            <a:ext cx="11077769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solidFill>
                  <a:srgbClr val="0070C0"/>
                </a:solidFill>
                <a:latin typeface="Open Sans" panose="020B0606030504020204" pitchFamily="34" charset="0"/>
              </a:rPr>
              <a:t>A</a:t>
            </a:r>
            <a:r>
              <a:rPr lang="en-US" sz="2000" b="0" i="1" dirty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n </a:t>
            </a:r>
            <a:r>
              <a:rPr lang="en-US" sz="2000" b="1" i="1" dirty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orphan </a:t>
            </a:r>
            <a:r>
              <a:rPr lang="en-US" sz="2000" b="0" i="1" dirty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is a child process that continues to execute after its parent has finished execution (or died) to avoid this problem, the parent should execute a wait system call</a:t>
            </a:r>
            <a:endParaRPr lang="en-IN" sz="20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02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8A1E74-CE3E-E1EB-8DE8-B03A11F77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98" y="609589"/>
            <a:ext cx="8444204" cy="563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28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90CBA2-5538-D314-D175-26577280E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90" y="395450"/>
            <a:ext cx="8724122" cy="578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735</Words>
  <Application>Microsoft Office PowerPoint</Application>
  <PresentationFormat>Widescreen</PresentationFormat>
  <Paragraphs>81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Arial-BoldMT</vt:lpstr>
      <vt:lpstr>ArialMT</vt:lpstr>
      <vt:lpstr>Calibri</vt:lpstr>
      <vt:lpstr>Calibri Light</vt:lpstr>
      <vt:lpstr>Calisto MT</vt:lpstr>
      <vt:lpstr>Helvetica</vt:lpstr>
      <vt:lpstr>Open Sans</vt:lpstr>
      <vt:lpstr>Times New Roman</vt:lpstr>
      <vt:lpstr>Wingdings</vt:lpstr>
      <vt:lpstr>Office Theme</vt:lpstr>
      <vt:lpstr>1_Office Theme</vt:lpstr>
      <vt:lpstr>System call</vt:lpstr>
      <vt:lpstr>System call</vt:lpstr>
      <vt:lpstr>Why do we need System Calls?</vt:lpstr>
      <vt:lpstr>Types of System calls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call for process management</vt:lpstr>
      <vt:lpstr>Process System call</vt:lpstr>
      <vt:lpstr>fork()</vt:lpstr>
      <vt:lpstr>fork 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</dc:title>
  <dc:creator>Dr.J</dc:creator>
  <cp:lastModifiedBy>Dr.J</cp:lastModifiedBy>
  <cp:revision>8</cp:revision>
  <dcterms:created xsi:type="dcterms:W3CDTF">2024-01-23T02:18:35Z</dcterms:created>
  <dcterms:modified xsi:type="dcterms:W3CDTF">2024-01-24T08:24:42Z</dcterms:modified>
</cp:coreProperties>
</file>