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61"/>
  </p:notesMasterIdLst>
  <p:sldIdLst>
    <p:sldId id="329" r:id="rId2"/>
    <p:sldId id="258" r:id="rId3"/>
    <p:sldId id="330" r:id="rId4"/>
    <p:sldId id="260" r:id="rId5"/>
    <p:sldId id="261" r:id="rId6"/>
    <p:sldId id="262" r:id="rId7"/>
    <p:sldId id="263" r:id="rId8"/>
    <p:sldId id="291" r:id="rId9"/>
    <p:sldId id="265" r:id="rId10"/>
    <p:sldId id="266" r:id="rId11"/>
    <p:sldId id="292" r:id="rId12"/>
    <p:sldId id="331" r:id="rId13"/>
    <p:sldId id="268" r:id="rId14"/>
    <p:sldId id="332" r:id="rId15"/>
    <p:sldId id="269" r:id="rId16"/>
    <p:sldId id="270" r:id="rId17"/>
    <p:sldId id="299" r:id="rId18"/>
    <p:sldId id="271" r:id="rId19"/>
    <p:sldId id="272" r:id="rId20"/>
    <p:sldId id="273" r:id="rId21"/>
    <p:sldId id="274" r:id="rId22"/>
    <p:sldId id="275" r:id="rId23"/>
    <p:sldId id="276" r:id="rId24"/>
    <p:sldId id="277" r:id="rId25"/>
    <p:sldId id="286" r:id="rId26"/>
    <p:sldId id="300" r:id="rId27"/>
    <p:sldId id="301" r:id="rId28"/>
    <p:sldId id="295" r:id="rId29"/>
    <p:sldId id="288" r:id="rId30"/>
    <p:sldId id="296" r:id="rId31"/>
    <p:sldId id="302" r:id="rId32"/>
    <p:sldId id="303" r:id="rId33"/>
    <p:sldId id="304" r:id="rId34"/>
    <p:sldId id="306" r:id="rId35"/>
    <p:sldId id="307" r:id="rId36"/>
    <p:sldId id="308" r:id="rId37"/>
    <p:sldId id="309" r:id="rId38"/>
    <p:sldId id="310" r:id="rId39"/>
    <p:sldId id="311" r:id="rId40"/>
    <p:sldId id="312" r:id="rId41"/>
    <p:sldId id="313" r:id="rId42"/>
    <p:sldId id="315" r:id="rId43"/>
    <p:sldId id="316" r:id="rId44"/>
    <p:sldId id="318" r:id="rId45"/>
    <p:sldId id="319" r:id="rId46"/>
    <p:sldId id="321" r:id="rId47"/>
    <p:sldId id="322" r:id="rId48"/>
    <p:sldId id="323" r:id="rId49"/>
    <p:sldId id="324" r:id="rId50"/>
    <p:sldId id="325" r:id="rId51"/>
    <p:sldId id="327" r:id="rId52"/>
    <p:sldId id="278" r:id="rId53"/>
    <p:sldId id="298" r:id="rId54"/>
    <p:sldId id="293" r:id="rId55"/>
    <p:sldId id="280" r:id="rId56"/>
    <p:sldId id="282" r:id="rId57"/>
    <p:sldId id="281" r:id="rId58"/>
    <p:sldId id="285" r:id="rId59"/>
    <p:sldId id="32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48" autoAdjust="0"/>
    <p:restoredTop sz="95256" autoAdjust="0"/>
  </p:normalViewPr>
  <p:slideViewPr>
    <p:cSldViewPr snapToGrid="0">
      <p:cViewPr varScale="1">
        <p:scale>
          <a:sx n="111" d="100"/>
          <a:sy n="111" d="100"/>
        </p:scale>
        <p:origin x="7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11907C-1F99-4964-93BC-57F6BC78E6D7}" type="datetimeFigureOut">
              <a:rPr lang="en-IN" smtClean="0"/>
              <a:t>01-04-2025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34548-8E25-4135-8E8D-118BB5EEB788}" type="slidenum">
              <a:rPr lang="en-IN" smtClean="0"/>
              <a:t>‹#›</a:t>
            </a:fld>
            <a:endParaRPr lang="en-IN"/>
          </a:p>
        </p:txBody>
      </p:sp>
    </p:spTree>
    <p:extLst>
      <p:ext uri="{BB962C8B-B14F-4D97-AF65-F5344CB8AC3E}">
        <p14:creationId xmlns:p14="http://schemas.microsoft.com/office/powerpoint/2010/main" val="3366330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1C374-B738-4FC7-B302-0E4E92F687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FF5527-DA15-414B-80DF-0F1EB7E024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5EB4DB-58C1-4556-BE86-5D65B44FEBD4}"/>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5" name="Footer Placeholder 4">
            <a:extLst>
              <a:ext uri="{FF2B5EF4-FFF2-40B4-BE49-F238E27FC236}">
                <a16:creationId xmlns:a16="http://schemas.microsoft.com/office/drawing/2014/main" id="{A95F4570-200D-4595-A910-8B556D820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CD427-D04D-4CFF-ADDE-6D5B8CA7D526}"/>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246839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7072A-77E5-4227-88AC-AEA21D3990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88AB74-5E4A-468D-AD8E-77F37BF03A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413BA0-A8C1-4A30-A0B7-9FF18F9A1BA0}"/>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5" name="Footer Placeholder 4">
            <a:extLst>
              <a:ext uri="{FF2B5EF4-FFF2-40B4-BE49-F238E27FC236}">
                <a16:creationId xmlns:a16="http://schemas.microsoft.com/office/drawing/2014/main" id="{AC3F2208-E16F-4B97-8172-37367BB56B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8E2CD-A0EC-4303-BE28-BFDB0E02ED36}"/>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336384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1201F-B32C-4317-A25A-E8C591DBCB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F63E83-04B1-45C8-8FCC-2901BF94A6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87DB97-B8DA-4BD3-A130-B8482C54ADF2}"/>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5" name="Footer Placeholder 4">
            <a:extLst>
              <a:ext uri="{FF2B5EF4-FFF2-40B4-BE49-F238E27FC236}">
                <a16:creationId xmlns:a16="http://schemas.microsoft.com/office/drawing/2014/main" id="{4BA47843-2201-4B88-9271-DC7B782D2B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7CF585-138A-412C-BFF2-EA727F06473C}"/>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99294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7210-A1AF-4B0A-A4C4-427A7D3FB7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C97923-AE4A-41CF-811D-4DD51E4D83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1EA964-E82E-4302-8A23-B096BB4FE1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4F05C7-B0B4-480B-B6F8-2A3865404693}"/>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6" name="Footer Placeholder 5">
            <a:extLst>
              <a:ext uri="{FF2B5EF4-FFF2-40B4-BE49-F238E27FC236}">
                <a16:creationId xmlns:a16="http://schemas.microsoft.com/office/drawing/2014/main" id="{2A3085D1-03DD-44CB-BFB0-B89372805B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773335-6D87-4921-99E0-29C34767AAA4}"/>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3317116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49C46-8F33-461D-8363-6537324ECA5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8C4667-5DB2-454D-9141-9CB229DB4D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AB50F1-37E6-4B7D-AA51-2552E6E5C7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74508F-E421-4039-8656-DABA9C8BFF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3D538E-95CE-4993-A389-39BB49334A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024F04-FC5A-4892-91AF-72E443189649}"/>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8" name="Footer Placeholder 7">
            <a:extLst>
              <a:ext uri="{FF2B5EF4-FFF2-40B4-BE49-F238E27FC236}">
                <a16:creationId xmlns:a16="http://schemas.microsoft.com/office/drawing/2014/main" id="{3704D9D4-7753-477A-97B5-AB0D970674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91B9BE-F92D-468D-9B5E-C9F2AC5FEBDA}"/>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1916489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91D9-2601-46D5-AC23-3F84DDD254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EFB409-4027-4F6E-B8C5-A56B20DDA779}"/>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4" name="Footer Placeholder 3">
            <a:extLst>
              <a:ext uri="{FF2B5EF4-FFF2-40B4-BE49-F238E27FC236}">
                <a16:creationId xmlns:a16="http://schemas.microsoft.com/office/drawing/2014/main" id="{75564F0B-B542-4786-A62E-71C5DA2254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751B89-C247-4D27-B570-B9D47F4224D9}"/>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1300047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DE9404-7F45-46A4-92F7-40649E094C49}"/>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3" name="Footer Placeholder 2">
            <a:extLst>
              <a:ext uri="{FF2B5EF4-FFF2-40B4-BE49-F238E27FC236}">
                <a16:creationId xmlns:a16="http://schemas.microsoft.com/office/drawing/2014/main" id="{93F3A1D5-08A5-45C2-B643-3DD35D24F3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5C886B-54D6-4657-8DA7-2A63B4CA032A}"/>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4237731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B9ADE-A000-491F-8B72-3E9811A989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D4B904-7A78-4321-AEDA-FC1FCDB77E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5EDE3DD-5FFA-466A-AD4D-F908EB3A2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552EF-DBB8-4C6E-95FB-A1ECD940005D}"/>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6" name="Footer Placeholder 5">
            <a:extLst>
              <a:ext uri="{FF2B5EF4-FFF2-40B4-BE49-F238E27FC236}">
                <a16:creationId xmlns:a16="http://schemas.microsoft.com/office/drawing/2014/main" id="{956AFAD8-93A4-4642-9D20-74639C31C6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BA3D0C-90A1-4513-B869-08EECFC11CD2}"/>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3930724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208A-3C66-4406-B406-9F93FE0E6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C5B93E-FD8E-4C1E-8B75-D78D435585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71C41D-3A07-4FAE-94A1-DDFA7422CE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1A2BEB-9B46-4F81-9D0B-AE448C9055D5}"/>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6" name="Footer Placeholder 5">
            <a:extLst>
              <a:ext uri="{FF2B5EF4-FFF2-40B4-BE49-F238E27FC236}">
                <a16:creationId xmlns:a16="http://schemas.microsoft.com/office/drawing/2014/main" id="{62608F55-7A9C-45EC-8D54-02B2311645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7903BD-C4BD-4106-8934-B3AF259B785B}"/>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870016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7A73-38BD-437B-A123-924A01EA6E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ECEB97-AA6B-42C2-B75C-9D549276EC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B9804A-C9EF-40D8-81AE-6D55B0242572}"/>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5" name="Footer Placeholder 4">
            <a:extLst>
              <a:ext uri="{FF2B5EF4-FFF2-40B4-BE49-F238E27FC236}">
                <a16:creationId xmlns:a16="http://schemas.microsoft.com/office/drawing/2014/main" id="{357A4BA0-CC08-43D6-B4E6-9E2C38F6E1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40A48D-7001-4B07-984C-0BF4C291501A}"/>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3383017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93BCC-8B2F-4DE6-AD49-0D6B1B741D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ABE4DC-5896-4180-A6D6-77A1882D03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97B22-DB42-4083-8C8D-9B13C049C6BF}"/>
              </a:ext>
            </a:extLst>
          </p:cNvPr>
          <p:cNvSpPr>
            <a:spLocks noGrp="1"/>
          </p:cNvSpPr>
          <p:nvPr>
            <p:ph type="dt" sz="half" idx="10"/>
          </p:nvPr>
        </p:nvSpPr>
        <p:spPr/>
        <p:txBody>
          <a:bodyPr/>
          <a:lstStyle/>
          <a:p>
            <a:fld id="{BF2A2E2A-A725-4B36-A746-801C5DE8D525}" type="datetimeFigureOut">
              <a:rPr lang="en-US" smtClean="0"/>
              <a:t>4/1/2025</a:t>
            </a:fld>
            <a:endParaRPr lang="en-US"/>
          </a:p>
        </p:txBody>
      </p:sp>
      <p:sp>
        <p:nvSpPr>
          <p:cNvPr id="5" name="Footer Placeholder 4">
            <a:extLst>
              <a:ext uri="{FF2B5EF4-FFF2-40B4-BE49-F238E27FC236}">
                <a16:creationId xmlns:a16="http://schemas.microsoft.com/office/drawing/2014/main" id="{2E90934E-03D7-4822-AED6-6E551087C3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3180A-2B22-439D-8A8A-443A71A088E9}"/>
              </a:ext>
            </a:extLst>
          </p:cNvPr>
          <p:cNvSpPr>
            <a:spLocks noGrp="1"/>
          </p:cNvSpPr>
          <p:nvPr>
            <p:ph type="sldNum" sz="quarter" idx="12"/>
          </p:nvPr>
        </p:nvSpPr>
        <p:spPr/>
        <p:txBody>
          <a:bodyPr/>
          <a:lstStyle/>
          <a:p>
            <a:fld id="{31DF6E2F-8291-44FE-896F-3F8FC1094E4F}" type="slidenum">
              <a:rPr lang="en-US" smtClean="0"/>
              <a:t>‹#›</a:t>
            </a:fld>
            <a:endParaRPr lang="en-US"/>
          </a:p>
        </p:txBody>
      </p:sp>
    </p:spTree>
    <p:extLst>
      <p:ext uri="{BB962C8B-B14F-4D97-AF65-F5344CB8AC3E}">
        <p14:creationId xmlns:p14="http://schemas.microsoft.com/office/powerpoint/2010/main" val="2293847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FF8A2-939C-4577-8E83-D2DF88E4E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4C4A28-EF1A-497F-8835-165E79AD43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B1993B-63C1-429C-85A4-696AAEF29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2A2E2A-A725-4B36-A746-801C5DE8D525}" type="datetimeFigureOut">
              <a:rPr lang="en-US" smtClean="0"/>
              <a:t>4/1/2025</a:t>
            </a:fld>
            <a:endParaRPr lang="en-US"/>
          </a:p>
        </p:txBody>
      </p:sp>
      <p:sp>
        <p:nvSpPr>
          <p:cNvPr id="5" name="Footer Placeholder 4">
            <a:extLst>
              <a:ext uri="{FF2B5EF4-FFF2-40B4-BE49-F238E27FC236}">
                <a16:creationId xmlns:a16="http://schemas.microsoft.com/office/drawing/2014/main" id="{4410519A-F6D3-4CFB-BB7C-0A7D28805E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C37F86-F3D2-4D6A-8C37-22154F3C5B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DF6E2F-8291-44FE-896F-3F8FC1094E4F}" type="slidenum">
              <a:rPr lang="en-US" smtClean="0"/>
              <a:t>‹#›</a:t>
            </a:fld>
            <a:endParaRPr lang="en-US"/>
          </a:p>
        </p:txBody>
      </p:sp>
    </p:spTree>
    <p:extLst>
      <p:ext uri="{BB962C8B-B14F-4D97-AF65-F5344CB8AC3E}">
        <p14:creationId xmlns:p14="http://schemas.microsoft.com/office/powerpoint/2010/main" val="386013519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A2187-9BBF-5D42-8F52-AB01D5B9E54A}"/>
              </a:ext>
            </a:extLst>
          </p:cNvPr>
          <p:cNvSpPr>
            <a:spLocks noGrp="1"/>
          </p:cNvSpPr>
          <p:nvPr>
            <p:ph type="ctrTitle"/>
          </p:nvPr>
        </p:nvSpPr>
        <p:spPr/>
        <p:txBody>
          <a:bodyPr>
            <a:normAutofit/>
          </a:bodyPr>
          <a:lstStyle/>
          <a:p>
            <a:r>
              <a:rPr lang="en-IN" sz="5400" b="1" dirty="0">
                <a:solidFill>
                  <a:srgbClr val="002060"/>
                </a:solidFill>
                <a:latin typeface="Arial" panose="020B0604020202020204" pitchFamily="34" charset="0"/>
                <a:cs typeface="Arial" panose="020B0604020202020204" pitchFamily="34" charset="0"/>
              </a:rPr>
              <a:t>Memory Management</a:t>
            </a:r>
          </a:p>
        </p:txBody>
      </p:sp>
      <p:sp>
        <p:nvSpPr>
          <p:cNvPr id="3" name="Subtitle 2">
            <a:extLst>
              <a:ext uri="{FF2B5EF4-FFF2-40B4-BE49-F238E27FC236}">
                <a16:creationId xmlns:a16="http://schemas.microsoft.com/office/drawing/2014/main" id="{C73B903F-77D4-CB3F-EC62-B716C3178F3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2602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AB832-5062-469F-804C-1F9B79092FAC}"/>
              </a:ext>
            </a:extLst>
          </p:cNvPr>
          <p:cNvSpPr>
            <a:spLocks noGrp="1"/>
          </p:cNvSpPr>
          <p:nvPr>
            <p:ph type="title"/>
          </p:nvPr>
        </p:nvSpPr>
        <p:spPr>
          <a:xfrm>
            <a:off x="331304" y="365125"/>
            <a:ext cx="11022496" cy="824483"/>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Background</a:t>
            </a:r>
          </a:p>
        </p:txBody>
      </p:sp>
      <p:sp>
        <p:nvSpPr>
          <p:cNvPr id="3" name="Content Placeholder 2">
            <a:extLst>
              <a:ext uri="{FF2B5EF4-FFF2-40B4-BE49-F238E27FC236}">
                <a16:creationId xmlns:a16="http://schemas.microsoft.com/office/drawing/2014/main" id="{B6463056-64F2-40C2-BB5D-A896B2897789}"/>
              </a:ext>
            </a:extLst>
          </p:cNvPr>
          <p:cNvSpPr>
            <a:spLocks noGrp="1"/>
          </p:cNvSpPr>
          <p:nvPr>
            <p:ph idx="1"/>
          </p:nvPr>
        </p:nvSpPr>
        <p:spPr>
          <a:xfrm>
            <a:off x="256659" y="1517715"/>
            <a:ext cx="11022496" cy="4826966"/>
          </a:xfrm>
        </p:spPr>
        <p:txBody>
          <a:bodyPr>
            <a:normAutofit/>
          </a:bodyPr>
          <a:lstStyle/>
          <a:p>
            <a:pPr algn="just">
              <a:lnSpc>
                <a:spcPct val="100000"/>
              </a:lnSpc>
            </a:pPr>
            <a:r>
              <a:rPr lang="en-US" dirty="0">
                <a:latin typeface="Times New Roman" panose="02020603050405020304" pitchFamily="18" charset="0"/>
                <a:cs typeface="Times New Roman" panose="02020603050405020304" pitchFamily="18" charset="0"/>
              </a:rPr>
              <a:t>Program must be brought (from disk) into memory and placed within a process for it to be run </a:t>
            </a:r>
          </a:p>
          <a:p>
            <a:pPr algn="just">
              <a:lnSpc>
                <a:spcPct val="100000"/>
              </a:lnSpc>
            </a:pPr>
            <a:r>
              <a:rPr lang="en-US" dirty="0">
                <a:latin typeface="Times New Roman" panose="02020603050405020304" pitchFamily="18" charset="0"/>
                <a:cs typeface="Times New Roman" panose="02020603050405020304" pitchFamily="18" charset="0"/>
              </a:rPr>
              <a:t>Main memory and registers are only storage CPU can access directly</a:t>
            </a:r>
          </a:p>
          <a:p>
            <a:pPr algn="just"/>
            <a:r>
              <a:rPr lang="en-US" dirty="0">
                <a:latin typeface="Times New Roman" panose="02020603050405020304" pitchFamily="18" charset="0"/>
                <a:cs typeface="Times New Roman" panose="02020603050405020304" pitchFamily="18" charset="0"/>
              </a:rPr>
              <a:t>CPU fetches instructions from memory according to the value of the </a:t>
            </a:r>
            <a:r>
              <a:rPr lang="en-US" dirty="0">
                <a:solidFill>
                  <a:srgbClr val="FF0000"/>
                </a:solidFill>
                <a:latin typeface="Times New Roman" panose="02020603050405020304" pitchFamily="18" charset="0"/>
                <a:cs typeface="Times New Roman" panose="02020603050405020304" pitchFamily="18" charset="0"/>
              </a:rPr>
              <a:t>program counter. </a:t>
            </a:r>
          </a:p>
          <a:p>
            <a:pPr algn="just"/>
            <a:r>
              <a:rPr lang="en-US" dirty="0">
                <a:solidFill>
                  <a:srgbClr val="FF0000"/>
                </a:solidFill>
                <a:latin typeface="Times New Roman" panose="02020603050405020304" pitchFamily="18" charset="0"/>
                <a:cs typeface="Times New Roman" panose="02020603050405020304" pitchFamily="18" charset="0"/>
              </a:rPr>
              <a:t>Instruction-execution cycle</a:t>
            </a:r>
          </a:p>
          <a:p>
            <a:r>
              <a:rPr lang="en-US" sz="2400" dirty="0">
                <a:latin typeface="Times New Roman" panose="02020603050405020304" pitchFamily="18" charset="0"/>
                <a:cs typeface="Times New Roman" panose="02020603050405020304" pitchFamily="18" charset="0"/>
              </a:rPr>
              <a:t>Registers that are built into the CPU are generally accessible within one cycle of the CPU clock. Most CPU scan decode instructions and perform simple operations on register contents at the rate of one or more operations per clock tick.</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91771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F1B99E-13EC-497E-6630-D6E9FBDD5AA3}"/>
              </a:ext>
            </a:extLst>
          </p:cNvPr>
          <p:cNvSpPr>
            <a:spLocks noGrp="1"/>
          </p:cNvSpPr>
          <p:nvPr>
            <p:ph idx="1"/>
          </p:nvPr>
        </p:nvSpPr>
        <p:spPr>
          <a:xfrm>
            <a:off x="838200" y="475861"/>
            <a:ext cx="10515600" cy="5701102"/>
          </a:xfrm>
        </p:spPr>
        <p:txBody>
          <a:bodyPr>
            <a:normAutofit fontScale="925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For proper system operation we must protect the operating system from access by user processes.</a:t>
            </a:r>
          </a:p>
          <a:p>
            <a:pPr algn="just">
              <a:lnSpc>
                <a:spcPct val="150000"/>
              </a:lnSpc>
            </a:pPr>
            <a:r>
              <a:rPr lang="en-US" dirty="0">
                <a:latin typeface="Times New Roman" panose="02020603050405020304" pitchFamily="18" charset="0"/>
                <a:cs typeface="Times New Roman" panose="02020603050405020304" pitchFamily="18" charset="0"/>
              </a:rPr>
              <a:t>On multiuser systems, we must additionally protect user processes from one another.</a:t>
            </a:r>
          </a:p>
          <a:p>
            <a:pPr algn="just">
              <a:lnSpc>
                <a:spcPct val="150000"/>
              </a:lnSpc>
            </a:pPr>
            <a:r>
              <a:rPr lang="en-US" dirty="0">
                <a:latin typeface="Times New Roman" panose="02020603050405020304" pitchFamily="18" charset="0"/>
                <a:cs typeface="Times New Roman" panose="02020603050405020304" pitchFamily="18" charset="0"/>
              </a:rPr>
              <a:t>We first need to make sure that each process has a separate memory space.</a:t>
            </a:r>
          </a:p>
          <a:p>
            <a:pPr algn="just">
              <a:lnSpc>
                <a:spcPct val="150000"/>
              </a:lnSpc>
            </a:pPr>
            <a:r>
              <a:rPr lang="en-US" dirty="0">
                <a:latin typeface="Times New Roman" panose="02020603050405020304" pitchFamily="18" charset="0"/>
                <a:cs typeface="Times New Roman" panose="02020603050405020304" pitchFamily="18" charset="0"/>
              </a:rPr>
              <a:t>To separate memory spaces, we need the ability to </a:t>
            </a:r>
            <a:r>
              <a:rPr lang="en-US" b="1" dirty="0">
                <a:latin typeface="Times New Roman" panose="02020603050405020304" pitchFamily="18" charset="0"/>
                <a:cs typeface="Times New Roman" panose="02020603050405020304" pitchFamily="18" charset="0"/>
              </a:rPr>
              <a:t>determine the range of legal addresses that the process may access</a:t>
            </a:r>
            <a:r>
              <a:rPr lang="en-US" dirty="0">
                <a:latin typeface="Times New Roman" panose="02020603050405020304" pitchFamily="18" charset="0"/>
                <a:cs typeface="Times New Roman" panose="02020603050405020304" pitchFamily="18" charset="0"/>
              </a:rPr>
              <a:t> and to ensure that the process can access only these legal addresses.</a:t>
            </a:r>
          </a:p>
          <a:p>
            <a:pPr lvl="1" algn="just">
              <a:lnSpc>
                <a:spcPct val="150000"/>
              </a:lnSpc>
            </a:pPr>
            <a:r>
              <a:rPr lang="en-US" b="1" dirty="0">
                <a:solidFill>
                  <a:srgbClr val="FF0000"/>
                </a:solidFill>
                <a:latin typeface="Times New Roman" panose="02020603050405020304" pitchFamily="18" charset="0"/>
                <a:cs typeface="Times New Roman" panose="02020603050405020304" pitchFamily="18" charset="0"/>
              </a:rPr>
              <a:t>Base Registers</a:t>
            </a:r>
          </a:p>
          <a:p>
            <a:pPr lvl="1" algn="just">
              <a:lnSpc>
                <a:spcPct val="150000"/>
              </a:lnSpc>
            </a:pPr>
            <a:r>
              <a:rPr lang="en-US" b="1" dirty="0">
                <a:solidFill>
                  <a:srgbClr val="FF0000"/>
                </a:solidFill>
                <a:latin typeface="Times New Roman" panose="02020603050405020304" pitchFamily="18" charset="0"/>
                <a:cs typeface="Times New Roman" panose="02020603050405020304" pitchFamily="18" charset="0"/>
              </a:rPr>
              <a:t>Limit Registers</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589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340B0-F24D-4285-A264-9FF6F336044D}"/>
              </a:ext>
            </a:extLst>
          </p:cNvPr>
          <p:cNvSpPr>
            <a:spLocks noGrp="1"/>
          </p:cNvSpPr>
          <p:nvPr>
            <p:ph type="title"/>
          </p:nvPr>
        </p:nvSpPr>
        <p:spPr>
          <a:xfrm>
            <a:off x="238539" y="365126"/>
            <a:ext cx="11115261" cy="642040"/>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Base and Limit Registers </a:t>
            </a:r>
          </a:p>
        </p:txBody>
      </p:sp>
      <p:sp>
        <p:nvSpPr>
          <p:cNvPr id="3" name="Content Placeholder 2">
            <a:extLst>
              <a:ext uri="{FF2B5EF4-FFF2-40B4-BE49-F238E27FC236}">
                <a16:creationId xmlns:a16="http://schemas.microsoft.com/office/drawing/2014/main" id="{9857FBC7-6E4C-4D2E-9D9D-3F41F70745D2}"/>
              </a:ext>
            </a:extLst>
          </p:cNvPr>
          <p:cNvSpPr>
            <a:spLocks noGrp="1"/>
          </p:cNvSpPr>
          <p:nvPr>
            <p:ph idx="1"/>
          </p:nvPr>
        </p:nvSpPr>
        <p:spPr>
          <a:xfrm>
            <a:off x="92766" y="1926454"/>
            <a:ext cx="7542030" cy="4685690"/>
          </a:xfrm>
        </p:spPr>
        <p:txBody>
          <a:bodyPr>
            <a:normAutofit/>
          </a:bodyPr>
          <a:lstStyle/>
          <a:p>
            <a:pPr algn="just">
              <a:lnSpc>
                <a:spcPct val="100000"/>
              </a:lnSpc>
            </a:pPr>
            <a:r>
              <a:rPr lang="en-US" dirty="0">
                <a:latin typeface="Times New Roman" panose="02020603050405020304" pitchFamily="18" charset="0"/>
                <a:cs typeface="Times New Roman" panose="02020603050405020304" pitchFamily="18" charset="0"/>
              </a:rPr>
              <a:t>A pair of </a:t>
            </a:r>
            <a:r>
              <a:rPr lang="en-US" b="1" dirty="0">
                <a:solidFill>
                  <a:srgbClr val="00B050"/>
                </a:solidFill>
                <a:latin typeface="Times New Roman" panose="02020603050405020304" pitchFamily="18" charset="0"/>
                <a:cs typeface="Times New Roman" panose="02020603050405020304" pitchFamily="18" charset="0"/>
              </a:rPr>
              <a:t>base and limit registers </a:t>
            </a:r>
            <a:r>
              <a:rPr lang="en-US" dirty="0">
                <a:latin typeface="Times New Roman" panose="02020603050405020304" pitchFamily="18" charset="0"/>
                <a:cs typeface="Times New Roman" panose="02020603050405020304" pitchFamily="18" charset="0"/>
              </a:rPr>
              <a:t>define the logical address space .</a:t>
            </a:r>
          </a:p>
          <a:p>
            <a:pPr algn="just">
              <a:lnSpc>
                <a:spcPct val="10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base register-&gt;</a:t>
            </a:r>
            <a:r>
              <a:rPr lang="en-US" dirty="0">
                <a:latin typeface="Times New Roman" panose="02020603050405020304" pitchFamily="18" charset="0"/>
                <a:cs typeface="Times New Roman" panose="02020603050405020304" pitchFamily="18" charset="0"/>
              </a:rPr>
              <a:t>holds the smallest legal physical memory address</a:t>
            </a:r>
          </a:p>
          <a:p>
            <a:pPr algn="just">
              <a:lnSpc>
                <a:spcPct val="10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limit register-&gt; </a:t>
            </a:r>
            <a:r>
              <a:rPr lang="en-US" dirty="0">
                <a:latin typeface="Times New Roman" panose="02020603050405020304" pitchFamily="18" charset="0"/>
                <a:cs typeface="Times New Roman" panose="02020603050405020304" pitchFamily="18" charset="0"/>
              </a:rPr>
              <a:t>specifies the size of the range.</a:t>
            </a:r>
          </a:p>
          <a:p>
            <a:pPr marL="0" indent="0" algn="just">
              <a:buNone/>
            </a:pPr>
            <a:endParaRPr lang="en-US" dirty="0"/>
          </a:p>
        </p:txBody>
      </p:sp>
      <p:pic>
        <p:nvPicPr>
          <p:cNvPr id="5" name="Picture 4">
            <a:extLst>
              <a:ext uri="{FF2B5EF4-FFF2-40B4-BE49-F238E27FC236}">
                <a16:creationId xmlns:a16="http://schemas.microsoft.com/office/drawing/2014/main" id="{94F6D58D-2087-4D23-916A-FEF77447A1A6}"/>
              </a:ext>
            </a:extLst>
          </p:cNvPr>
          <p:cNvPicPr>
            <a:picLocks noChangeAspect="1"/>
          </p:cNvPicPr>
          <p:nvPr/>
        </p:nvPicPr>
        <p:blipFill>
          <a:blip r:embed="rId2"/>
          <a:stretch>
            <a:fillRect/>
          </a:stretch>
        </p:blipFill>
        <p:spPr>
          <a:xfrm>
            <a:off x="8321744" y="887896"/>
            <a:ext cx="3552825" cy="5604978"/>
          </a:xfrm>
          <a:prstGeom prst="rect">
            <a:avLst/>
          </a:prstGeom>
        </p:spPr>
      </p:pic>
    </p:spTree>
    <p:extLst>
      <p:ext uri="{BB962C8B-B14F-4D97-AF65-F5344CB8AC3E}">
        <p14:creationId xmlns:p14="http://schemas.microsoft.com/office/powerpoint/2010/main" val="1823247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80CC-597B-4D24-9B2D-8593B8E31DAB}"/>
              </a:ext>
            </a:extLst>
          </p:cNvPr>
          <p:cNvSpPr>
            <a:spLocks noGrp="1"/>
          </p:cNvSpPr>
          <p:nvPr>
            <p:ph type="title"/>
          </p:nvPr>
        </p:nvSpPr>
        <p:spPr>
          <a:xfrm>
            <a:off x="225287" y="365125"/>
            <a:ext cx="11128513" cy="575779"/>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Hardware Address Protection</a:t>
            </a:r>
          </a:p>
        </p:txBody>
      </p:sp>
      <p:sp>
        <p:nvSpPr>
          <p:cNvPr id="3" name="Content Placeholder 2">
            <a:extLst>
              <a:ext uri="{FF2B5EF4-FFF2-40B4-BE49-F238E27FC236}">
                <a16:creationId xmlns:a16="http://schemas.microsoft.com/office/drawing/2014/main" id="{1F778C32-0072-4F8F-B0E5-C4E08CB74385}"/>
              </a:ext>
            </a:extLst>
          </p:cNvPr>
          <p:cNvSpPr>
            <a:spLocks noGrp="1"/>
          </p:cNvSpPr>
          <p:nvPr>
            <p:ph idx="1"/>
          </p:nvPr>
        </p:nvSpPr>
        <p:spPr>
          <a:xfrm>
            <a:off x="225287" y="1811044"/>
            <a:ext cx="6814705" cy="2610035"/>
          </a:xfrm>
        </p:spPr>
        <p:txBody>
          <a:bodyPr>
            <a:normAutofit/>
          </a:bodyPr>
          <a:lstStyle/>
          <a:p>
            <a:pPr algn="just"/>
            <a:r>
              <a:rPr lang="en-US" dirty="0">
                <a:latin typeface="Times New Roman" panose="02020603050405020304" pitchFamily="18" charset="0"/>
                <a:cs typeface="Times New Roman" panose="02020603050405020304" pitchFamily="18" charset="0"/>
              </a:rPr>
              <a:t>Protection of memory space-&gt;accomplished by having the </a:t>
            </a:r>
            <a:r>
              <a:rPr lang="en-US" b="1" dirty="0">
                <a:solidFill>
                  <a:srgbClr val="FF0000"/>
                </a:solidFill>
                <a:latin typeface="Times New Roman" panose="02020603050405020304" pitchFamily="18" charset="0"/>
                <a:cs typeface="Times New Roman" panose="02020603050405020304" pitchFamily="18" charset="0"/>
              </a:rPr>
              <a:t>CPU hardware compare every address generated in user mode with the registers.</a:t>
            </a:r>
          </a:p>
        </p:txBody>
      </p:sp>
      <p:pic>
        <p:nvPicPr>
          <p:cNvPr id="7" name="Picture 6">
            <a:extLst>
              <a:ext uri="{FF2B5EF4-FFF2-40B4-BE49-F238E27FC236}">
                <a16:creationId xmlns:a16="http://schemas.microsoft.com/office/drawing/2014/main" id="{028A846B-C79C-4541-A490-A47FE86342DC}"/>
              </a:ext>
            </a:extLst>
          </p:cNvPr>
          <p:cNvPicPr>
            <a:picLocks noChangeAspect="1"/>
          </p:cNvPicPr>
          <p:nvPr/>
        </p:nvPicPr>
        <p:blipFill>
          <a:blip r:embed="rId2"/>
          <a:stretch>
            <a:fillRect/>
          </a:stretch>
        </p:blipFill>
        <p:spPr>
          <a:xfrm>
            <a:off x="7306322" y="388315"/>
            <a:ext cx="4514617" cy="4214191"/>
          </a:xfrm>
          <a:prstGeom prst="rect">
            <a:avLst/>
          </a:prstGeom>
        </p:spPr>
      </p:pic>
      <p:sp>
        <p:nvSpPr>
          <p:cNvPr id="8" name="Rectangle 7">
            <a:extLst>
              <a:ext uri="{FF2B5EF4-FFF2-40B4-BE49-F238E27FC236}">
                <a16:creationId xmlns:a16="http://schemas.microsoft.com/office/drawing/2014/main" id="{81D43236-4ADD-4394-BA22-04AA5AB59143}"/>
              </a:ext>
            </a:extLst>
          </p:cNvPr>
          <p:cNvSpPr/>
          <p:nvPr/>
        </p:nvSpPr>
        <p:spPr>
          <a:xfrm>
            <a:off x="1374913" y="4625696"/>
            <a:ext cx="9442174" cy="17618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Privileged instructions can be executed only in kernel mode</a:t>
            </a:r>
          </a:p>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since only the operating system executes in kernel mode</a:t>
            </a:r>
          </a:p>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only the operating system can load the base and limit registers.</a:t>
            </a:r>
            <a:endParaRPr lang="en-US" sz="2400" dirty="0"/>
          </a:p>
        </p:txBody>
      </p:sp>
    </p:spTree>
    <p:extLst>
      <p:ext uri="{BB962C8B-B14F-4D97-AF65-F5344CB8AC3E}">
        <p14:creationId xmlns:p14="http://schemas.microsoft.com/office/powerpoint/2010/main" val="2357720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E0134-1872-4DF8-A757-63F07C20DB27}"/>
              </a:ext>
            </a:extLst>
          </p:cNvPr>
          <p:cNvSpPr>
            <a:spLocks noGrp="1"/>
          </p:cNvSpPr>
          <p:nvPr>
            <p:ph type="title"/>
          </p:nvPr>
        </p:nvSpPr>
        <p:spPr>
          <a:xfrm>
            <a:off x="172278" y="365126"/>
            <a:ext cx="11181522" cy="443258"/>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Address Binding</a:t>
            </a:r>
          </a:p>
        </p:txBody>
      </p:sp>
      <p:sp>
        <p:nvSpPr>
          <p:cNvPr id="3" name="Content Placeholder 2">
            <a:extLst>
              <a:ext uri="{FF2B5EF4-FFF2-40B4-BE49-F238E27FC236}">
                <a16:creationId xmlns:a16="http://schemas.microsoft.com/office/drawing/2014/main" id="{9C265B37-162F-4E76-ACD3-3A23EBA4030F}"/>
              </a:ext>
            </a:extLst>
          </p:cNvPr>
          <p:cNvSpPr>
            <a:spLocks noGrp="1"/>
          </p:cNvSpPr>
          <p:nvPr>
            <p:ph idx="1"/>
          </p:nvPr>
        </p:nvSpPr>
        <p:spPr>
          <a:xfrm>
            <a:off x="172278" y="2032987"/>
            <a:ext cx="11635409" cy="1944210"/>
          </a:xfrm>
        </p:spPr>
        <p:txBody>
          <a:bodyPr/>
          <a:lstStyle/>
          <a:p>
            <a:pPr algn="just"/>
            <a:r>
              <a:rPr lang="en-US" dirty="0">
                <a:latin typeface="Times New Roman" panose="02020603050405020304" pitchFamily="18" charset="0"/>
                <a:cs typeface="Times New Roman" panose="02020603050405020304" pitchFamily="18" charset="0"/>
              </a:rPr>
              <a:t>Address binding is a technique of generating addresses to the instruction of programs.  </a:t>
            </a:r>
          </a:p>
          <a:p>
            <a:pPr algn="just"/>
            <a:r>
              <a:rPr lang="en-US" dirty="0">
                <a:latin typeface="Times New Roman" panose="02020603050405020304" pitchFamily="18" charset="0"/>
                <a:cs typeface="Times New Roman" panose="02020603050405020304" pitchFamily="18" charset="0"/>
              </a:rPr>
              <a:t>Further, addresses represented in different ways at different stages of a program’s life </a:t>
            </a:r>
          </a:p>
        </p:txBody>
      </p:sp>
    </p:spTree>
    <p:extLst>
      <p:ext uri="{BB962C8B-B14F-4D97-AF65-F5344CB8AC3E}">
        <p14:creationId xmlns:p14="http://schemas.microsoft.com/office/powerpoint/2010/main" val="1176191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58E74-DA07-4822-AAB6-F4EE9EB101D3}"/>
              </a:ext>
            </a:extLst>
          </p:cNvPr>
          <p:cNvSpPr>
            <a:spLocks noGrp="1"/>
          </p:cNvSpPr>
          <p:nvPr>
            <p:ph type="title"/>
          </p:nvPr>
        </p:nvSpPr>
        <p:spPr>
          <a:xfrm>
            <a:off x="159026" y="365125"/>
            <a:ext cx="11194774" cy="681797"/>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Binding of Instructions and Data to Memory</a:t>
            </a:r>
          </a:p>
        </p:txBody>
      </p:sp>
      <p:sp>
        <p:nvSpPr>
          <p:cNvPr id="3" name="Content Placeholder 2">
            <a:extLst>
              <a:ext uri="{FF2B5EF4-FFF2-40B4-BE49-F238E27FC236}">
                <a16:creationId xmlns:a16="http://schemas.microsoft.com/office/drawing/2014/main" id="{D45C7DAD-8F78-4955-8E61-892ACF96D24A}"/>
              </a:ext>
            </a:extLst>
          </p:cNvPr>
          <p:cNvSpPr>
            <a:spLocks noGrp="1"/>
          </p:cNvSpPr>
          <p:nvPr>
            <p:ph idx="1"/>
          </p:nvPr>
        </p:nvSpPr>
        <p:spPr>
          <a:xfrm>
            <a:off x="159025" y="1287262"/>
            <a:ext cx="11873949" cy="5405086"/>
          </a:xfrm>
        </p:spPr>
        <p:txBody>
          <a:bodyPr/>
          <a:lstStyle/>
          <a:p>
            <a:pPr algn="just"/>
            <a:r>
              <a:rPr lang="en-US" dirty="0">
                <a:latin typeface="Times New Roman" panose="02020603050405020304" pitchFamily="18" charset="0"/>
                <a:cs typeface="Times New Roman" panose="02020603050405020304" pitchFamily="18" charset="0"/>
              </a:rPr>
              <a:t>Address binding of instructions and data to memory addresses can happen at three different stages </a:t>
            </a:r>
          </a:p>
          <a:p>
            <a:pPr marL="514350" indent="-514350" algn="just">
              <a:buFont typeface="+mj-lt"/>
              <a:buAutoNum type="arabicPeriod"/>
            </a:pPr>
            <a:r>
              <a:rPr lang="en-US" b="1" dirty="0">
                <a:solidFill>
                  <a:srgbClr val="00B050"/>
                </a:solidFill>
                <a:latin typeface="Times New Roman" panose="02020603050405020304" pitchFamily="18" charset="0"/>
                <a:cs typeface="Times New Roman" panose="02020603050405020304" pitchFamily="18" charset="0"/>
              </a:rPr>
              <a:t>Compile time</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b="1" dirty="0">
                <a:solidFill>
                  <a:srgbClr val="00B050"/>
                </a:solidFill>
                <a:latin typeface="Times New Roman" panose="02020603050405020304" pitchFamily="18" charset="0"/>
                <a:cs typeface="Times New Roman" panose="02020603050405020304" pitchFamily="18" charset="0"/>
              </a:rPr>
              <a:t>Load time</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b="1" dirty="0">
                <a:solidFill>
                  <a:srgbClr val="00B050"/>
                </a:solidFill>
                <a:latin typeface="Times New Roman" panose="02020603050405020304" pitchFamily="18" charset="0"/>
                <a:cs typeface="Times New Roman" panose="02020603050405020304" pitchFamily="18" charset="0"/>
              </a:rPr>
              <a:t>Execution time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468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68FED-6B50-4643-8DCE-D8FD4A9E8857}"/>
              </a:ext>
            </a:extLst>
          </p:cNvPr>
          <p:cNvSpPr>
            <a:spLocks noGrp="1"/>
          </p:cNvSpPr>
          <p:nvPr>
            <p:ph type="title"/>
          </p:nvPr>
        </p:nvSpPr>
        <p:spPr>
          <a:xfrm>
            <a:off x="111334" y="0"/>
            <a:ext cx="7922324" cy="754602"/>
          </a:xfrm>
        </p:spPr>
        <p:txBody>
          <a:bodyPr>
            <a:normAutofit/>
          </a:bodyPr>
          <a:lstStyle/>
          <a:p>
            <a:r>
              <a:rPr lang="en-US" sz="3200" b="1" dirty="0">
                <a:solidFill>
                  <a:srgbClr val="00B050"/>
                </a:solidFill>
                <a:latin typeface="Times New Roman" panose="02020603050405020304" pitchFamily="18" charset="0"/>
                <a:cs typeface="Times New Roman" panose="02020603050405020304" pitchFamily="18" charset="0"/>
              </a:rPr>
              <a:t>Multistep Processing of a User Program</a:t>
            </a:r>
            <a:endParaRPr lang="en-IN" sz="3200" dirty="0"/>
          </a:p>
        </p:txBody>
      </p:sp>
      <p:pic>
        <p:nvPicPr>
          <p:cNvPr id="6" name="Picture 5">
            <a:extLst>
              <a:ext uri="{FF2B5EF4-FFF2-40B4-BE49-F238E27FC236}">
                <a16:creationId xmlns:a16="http://schemas.microsoft.com/office/drawing/2014/main" id="{56AD149B-A1C5-857E-4F36-C66107CF0FB4}"/>
              </a:ext>
            </a:extLst>
          </p:cNvPr>
          <p:cNvPicPr>
            <a:picLocks noChangeAspect="1"/>
          </p:cNvPicPr>
          <p:nvPr/>
        </p:nvPicPr>
        <p:blipFill>
          <a:blip r:embed="rId2"/>
          <a:stretch>
            <a:fillRect/>
          </a:stretch>
        </p:blipFill>
        <p:spPr>
          <a:xfrm>
            <a:off x="3237723" y="517907"/>
            <a:ext cx="5514392" cy="6265448"/>
          </a:xfrm>
          <a:prstGeom prst="rect">
            <a:avLst/>
          </a:prstGeom>
        </p:spPr>
      </p:pic>
    </p:spTree>
    <p:extLst>
      <p:ext uri="{BB962C8B-B14F-4D97-AF65-F5344CB8AC3E}">
        <p14:creationId xmlns:p14="http://schemas.microsoft.com/office/powerpoint/2010/main" val="562505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2BBE-CE80-4073-BC25-C48CC48FA4C7}"/>
              </a:ext>
            </a:extLst>
          </p:cNvPr>
          <p:cNvSpPr>
            <a:spLocks noGrp="1"/>
          </p:cNvSpPr>
          <p:nvPr>
            <p:ph type="title"/>
          </p:nvPr>
        </p:nvSpPr>
        <p:spPr>
          <a:xfrm>
            <a:off x="172278" y="365126"/>
            <a:ext cx="11181522" cy="589032"/>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Logical vs. Physical Address Space</a:t>
            </a:r>
          </a:p>
        </p:txBody>
      </p:sp>
      <p:sp>
        <p:nvSpPr>
          <p:cNvPr id="3" name="Content Placeholder 2">
            <a:extLst>
              <a:ext uri="{FF2B5EF4-FFF2-40B4-BE49-F238E27FC236}">
                <a16:creationId xmlns:a16="http://schemas.microsoft.com/office/drawing/2014/main" id="{8A658DE4-32AC-42BA-9C9B-76A305E71B83}"/>
              </a:ext>
            </a:extLst>
          </p:cNvPr>
          <p:cNvSpPr>
            <a:spLocks noGrp="1"/>
          </p:cNvSpPr>
          <p:nvPr>
            <p:ph idx="1"/>
          </p:nvPr>
        </p:nvSpPr>
        <p:spPr>
          <a:xfrm>
            <a:off x="172278" y="1099929"/>
            <a:ext cx="11569148" cy="5645427"/>
          </a:xfrm>
        </p:spPr>
        <p:txBody>
          <a:bodyPr>
            <a:normAutofit/>
          </a:bodyPr>
          <a:lstStyle/>
          <a:p>
            <a:pPr algn="just"/>
            <a:r>
              <a:rPr lang="en-US" sz="2800" b="1" dirty="0">
                <a:solidFill>
                  <a:srgbClr val="00B050"/>
                </a:solidFill>
                <a:latin typeface="Times New Roman" panose="02020603050405020304" pitchFamily="18" charset="0"/>
                <a:cs typeface="Times New Roman" panose="02020603050405020304" pitchFamily="18" charset="0"/>
              </a:rPr>
              <a:t>Logical address :</a:t>
            </a:r>
          </a:p>
          <a:p>
            <a:pPr marL="0" indent="0" algn="just">
              <a:buNone/>
            </a:pPr>
            <a:r>
              <a:rPr lang="en-US" b="1" dirty="0">
                <a:solidFill>
                  <a:srgbClr val="00B05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t>
            </a:r>
            <a:r>
              <a:rPr lang="en-US" sz="2800" dirty="0">
                <a:latin typeface="Times New Roman" panose="02020603050405020304" pitchFamily="18" charset="0"/>
                <a:cs typeface="Times New Roman" panose="02020603050405020304" pitchFamily="18" charset="0"/>
              </a:rPr>
              <a:t>y the CPU; also referred to as virtual address</a:t>
            </a:r>
          </a:p>
          <a:p>
            <a:pPr marL="0" indent="0" algn="just">
              <a:buNone/>
            </a:pPr>
            <a:endParaRPr lang="en-US" sz="2800" dirty="0">
              <a:latin typeface="Times New Roman" panose="02020603050405020304" pitchFamily="18" charset="0"/>
              <a:cs typeface="Times New Roman" panose="02020603050405020304" pitchFamily="18" charset="0"/>
            </a:endParaRPr>
          </a:p>
          <a:p>
            <a:pPr algn="just"/>
            <a:r>
              <a:rPr lang="en-US" sz="2800" b="1" dirty="0">
                <a:solidFill>
                  <a:srgbClr val="00B050"/>
                </a:solidFill>
                <a:latin typeface="Times New Roman" panose="02020603050405020304" pitchFamily="18" charset="0"/>
                <a:cs typeface="Times New Roman" panose="02020603050405020304" pitchFamily="18" charset="0"/>
              </a:rPr>
              <a:t>Physical address:</a:t>
            </a:r>
          </a:p>
          <a:p>
            <a:pPr marL="0" indent="0" algn="just">
              <a:buNone/>
            </a:pPr>
            <a:r>
              <a:rPr lang="en-US" dirty="0">
                <a:latin typeface="Times New Roman" panose="02020603050405020304" pitchFamily="18" charset="0"/>
                <a:cs typeface="Times New Roman" panose="02020603050405020304" pitchFamily="18" charset="0"/>
              </a:rPr>
              <a:t>   A</a:t>
            </a:r>
            <a:r>
              <a:rPr lang="en-US" sz="2800" dirty="0">
                <a:latin typeface="Times New Roman" panose="02020603050405020304" pitchFamily="18" charset="0"/>
                <a:cs typeface="Times New Roman" panose="02020603050405020304" pitchFamily="18" charset="0"/>
              </a:rPr>
              <a:t>ddress seen by the memory unit</a:t>
            </a:r>
          </a:p>
          <a:p>
            <a:pPr algn="just"/>
            <a:r>
              <a:rPr lang="en-US" b="1" dirty="0">
                <a:solidFill>
                  <a:srgbClr val="00B050"/>
                </a:solidFill>
                <a:latin typeface="Times New Roman" panose="02020603050405020304" pitchFamily="18" charset="0"/>
                <a:cs typeface="Times New Roman" panose="02020603050405020304" pitchFamily="18" charset="0"/>
              </a:rPr>
              <a:t>Logical address space: </a:t>
            </a:r>
          </a:p>
          <a:p>
            <a:pPr marL="0" indent="0" algn="just">
              <a:buNone/>
            </a:pPr>
            <a:r>
              <a:rPr lang="en-US" b="1" dirty="0">
                <a:solidFill>
                  <a:srgbClr val="00B05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set of all logical addresses generated by a program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solidFill>
                  <a:srgbClr val="00B050"/>
                </a:solidFill>
                <a:latin typeface="Times New Roman" panose="02020603050405020304" pitchFamily="18" charset="0"/>
                <a:cs typeface="Times New Roman" panose="02020603050405020304" pitchFamily="18" charset="0"/>
              </a:rPr>
              <a:t>Physical address space:</a:t>
            </a:r>
          </a:p>
          <a:p>
            <a:pPr marL="0" indent="0" algn="just">
              <a:buNone/>
            </a:pPr>
            <a:r>
              <a:rPr lang="en-US" b="1" dirty="0">
                <a:solidFill>
                  <a:srgbClr val="00B05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set of all physical addresses generated by a program</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839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A8B57-72A5-4215-A65F-A81E8F0AE6DE}"/>
              </a:ext>
            </a:extLst>
          </p:cNvPr>
          <p:cNvSpPr>
            <a:spLocks noGrp="1"/>
          </p:cNvSpPr>
          <p:nvPr>
            <p:ph type="title"/>
          </p:nvPr>
        </p:nvSpPr>
        <p:spPr>
          <a:xfrm>
            <a:off x="172278" y="365126"/>
            <a:ext cx="11181522" cy="483014"/>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Memory-Management Unit (MMU)</a:t>
            </a:r>
          </a:p>
        </p:txBody>
      </p:sp>
      <p:sp>
        <p:nvSpPr>
          <p:cNvPr id="3" name="Content Placeholder 2">
            <a:extLst>
              <a:ext uri="{FF2B5EF4-FFF2-40B4-BE49-F238E27FC236}">
                <a16:creationId xmlns:a16="http://schemas.microsoft.com/office/drawing/2014/main" id="{63DB137A-7A62-4409-9F3B-44E09440BD08}"/>
              </a:ext>
            </a:extLst>
          </p:cNvPr>
          <p:cNvSpPr>
            <a:spLocks noGrp="1"/>
          </p:cNvSpPr>
          <p:nvPr>
            <p:ph idx="1"/>
          </p:nvPr>
        </p:nvSpPr>
        <p:spPr>
          <a:xfrm>
            <a:off x="477078" y="1006760"/>
            <a:ext cx="11714922" cy="5244750"/>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Hardware device that at run time </a:t>
            </a:r>
            <a:r>
              <a:rPr lang="en-US" sz="2400" b="1" dirty="0">
                <a:solidFill>
                  <a:srgbClr val="00B050"/>
                </a:solidFill>
                <a:latin typeface="Times New Roman" panose="02020603050405020304" pitchFamily="18" charset="0"/>
                <a:cs typeface="Times New Roman" panose="02020603050405020304" pitchFamily="18" charset="0"/>
              </a:rPr>
              <a:t>maps virtual to physical address are </a:t>
            </a:r>
          </a:p>
          <a:p>
            <a:pPr algn="just">
              <a:lnSpc>
                <a:spcPct val="150000"/>
              </a:lnSpc>
            </a:pPr>
            <a:r>
              <a:rPr lang="en-US" sz="2400" dirty="0">
                <a:latin typeface="Times New Roman" panose="02020603050405020304" pitchFamily="18" charset="0"/>
                <a:cs typeface="Times New Roman" panose="02020603050405020304" pitchFamily="18" charset="0"/>
              </a:rPr>
              <a:t>For simplicity, </a:t>
            </a:r>
            <a:r>
              <a:rPr lang="en-US" sz="2400" b="1" dirty="0">
                <a:solidFill>
                  <a:srgbClr val="00B050"/>
                </a:solidFill>
                <a:latin typeface="Times New Roman" panose="02020603050405020304" pitchFamily="18" charset="0"/>
                <a:cs typeface="Times New Roman" panose="02020603050405020304" pitchFamily="18" charset="0"/>
              </a:rPr>
              <a:t>Base register </a:t>
            </a:r>
            <a:r>
              <a:rPr lang="en-US" sz="2400" dirty="0">
                <a:latin typeface="Times New Roman" panose="02020603050405020304" pitchFamily="18" charset="0"/>
                <a:cs typeface="Times New Roman" panose="02020603050405020304" pitchFamily="18" charset="0"/>
              </a:rPr>
              <a:t>now called relocation register </a:t>
            </a:r>
          </a:p>
          <a:p>
            <a:pPr algn="just">
              <a:lnSpc>
                <a:spcPct val="150000"/>
              </a:lnSpc>
            </a:pPr>
            <a:r>
              <a:rPr lang="en-US" sz="2400" dirty="0">
                <a:latin typeface="Times New Roman" panose="02020603050405020304" pitchFamily="18" charset="0"/>
                <a:cs typeface="Times New Roman" panose="02020603050405020304" pitchFamily="18" charset="0"/>
              </a:rPr>
              <a:t>The value in the relocation register is added to every address generated by a user process at the time the address is sent to memory</a:t>
            </a:r>
          </a:p>
          <a:p>
            <a:pPr algn="just">
              <a:lnSpc>
                <a:spcPct val="150000"/>
              </a:lnSpc>
            </a:pPr>
            <a:r>
              <a:rPr lang="en-US" sz="2400" dirty="0">
                <a:latin typeface="Times New Roman" panose="02020603050405020304" pitchFamily="18" charset="0"/>
                <a:cs typeface="Times New Roman" panose="02020603050405020304" pitchFamily="18" charset="0"/>
              </a:rPr>
              <a:t>The user program deals with logical addresses; it never sees the real physical addresses </a:t>
            </a:r>
          </a:p>
          <a:p>
            <a:pPr algn="just">
              <a:lnSpc>
                <a:spcPct val="150000"/>
              </a:lnSpc>
            </a:pPr>
            <a:r>
              <a:rPr lang="en-US" sz="2400" dirty="0">
                <a:latin typeface="Times New Roman" panose="02020603050405020304" pitchFamily="18" charset="0"/>
                <a:cs typeface="Times New Roman" panose="02020603050405020304" pitchFamily="18" charset="0"/>
              </a:rPr>
              <a:t>The memory-mapping hardware converts logical addresses into physical addresses. </a:t>
            </a:r>
          </a:p>
          <a:p>
            <a:pPr lvl="1" algn="just">
              <a:lnSpc>
                <a:spcPct val="150000"/>
              </a:lnSpc>
            </a:pPr>
            <a:r>
              <a:rPr lang="en-US" dirty="0">
                <a:solidFill>
                  <a:srgbClr val="FF0000"/>
                </a:solidFill>
                <a:latin typeface="Times New Roman" panose="02020603050405020304" pitchFamily="18" charset="0"/>
                <a:cs typeface="Times New Roman" panose="02020603050405020304" pitchFamily="18" charset="0"/>
              </a:rPr>
              <a:t>Execution-time binding </a:t>
            </a:r>
            <a:r>
              <a:rPr lang="en-US" dirty="0">
                <a:latin typeface="Times New Roman" panose="02020603050405020304" pitchFamily="18" charset="0"/>
                <a:cs typeface="Times New Roman" panose="02020603050405020304" pitchFamily="18" charset="0"/>
              </a:rPr>
              <a:t>occurs when reference is made to location in memory </a:t>
            </a:r>
          </a:p>
          <a:p>
            <a:pPr lvl="1" algn="just">
              <a:lnSpc>
                <a:spcPct val="150000"/>
              </a:lnSpc>
            </a:pPr>
            <a:r>
              <a:rPr lang="en-US" b="1" dirty="0">
                <a:solidFill>
                  <a:srgbClr val="00B050"/>
                </a:solidFill>
                <a:latin typeface="Times New Roman" panose="02020603050405020304" pitchFamily="18" charset="0"/>
                <a:cs typeface="Times New Roman" panose="02020603050405020304" pitchFamily="18" charset="0"/>
              </a:rPr>
              <a:t>Logical address </a:t>
            </a:r>
            <a:r>
              <a:rPr lang="en-US" dirty="0">
                <a:latin typeface="Times New Roman" panose="02020603050405020304" pitchFamily="18" charset="0"/>
                <a:cs typeface="Times New Roman" panose="02020603050405020304" pitchFamily="18" charset="0"/>
              </a:rPr>
              <a:t>bound to physical addresses</a:t>
            </a:r>
          </a:p>
        </p:txBody>
      </p:sp>
    </p:spTree>
    <p:extLst>
      <p:ext uri="{BB962C8B-B14F-4D97-AF65-F5344CB8AC3E}">
        <p14:creationId xmlns:p14="http://schemas.microsoft.com/office/powerpoint/2010/main" val="1796135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13CC-4B3D-403E-85F5-7AB17D244187}"/>
              </a:ext>
            </a:extLst>
          </p:cNvPr>
          <p:cNvSpPr>
            <a:spLocks noGrp="1"/>
          </p:cNvSpPr>
          <p:nvPr>
            <p:ph type="title"/>
          </p:nvPr>
        </p:nvSpPr>
        <p:spPr>
          <a:xfrm>
            <a:off x="195309" y="365126"/>
            <a:ext cx="11158491" cy="682440"/>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Dynamic relocation using a relocation register</a:t>
            </a:r>
            <a:endParaRPr lang="en-IN" sz="4000" dirty="0"/>
          </a:p>
        </p:txBody>
      </p:sp>
      <p:pic>
        <p:nvPicPr>
          <p:cNvPr id="3" name="Picture 2">
            <a:extLst>
              <a:ext uri="{FF2B5EF4-FFF2-40B4-BE49-F238E27FC236}">
                <a16:creationId xmlns:a16="http://schemas.microsoft.com/office/drawing/2014/main" id="{8D86232F-8B76-4474-8726-14B70F319EA6}"/>
              </a:ext>
            </a:extLst>
          </p:cNvPr>
          <p:cNvPicPr>
            <a:picLocks noChangeAspect="1"/>
          </p:cNvPicPr>
          <p:nvPr/>
        </p:nvPicPr>
        <p:blipFill>
          <a:blip r:embed="rId2"/>
          <a:stretch>
            <a:fillRect/>
          </a:stretch>
        </p:blipFill>
        <p:spPr>
          <a:xfrm>
            <a:off x="2478607" y="1120003"/>
            <a:ext cx="5968587" cy="4426226"/>
          </a:xfrm>
          <a:prstGeom prst="rect">
            <a:avLst/>
          </a:prstGeom>
        </p:spPr>
      </p:pic>
    </p:spTree>
    <p:extLst>
      <p:ext uri="{BB962C8B-B14F-4D97-AF65-F5344CB8AC3E}">
        <p14:creationId xmlns:p14="http://schemas.microsoft.com/office/powerpoint/2010/main" val="2835429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F05D6F5-61B4-5F85-DB8C-EE4294763176}"/>
              </a:ext>
            </a:extLst>
          </p:cNvPr>
          <p:cNvSpPr>
            <a:spLocks noGrp="1"/>
          </p:cNvSpPr>
          <p:nvPr>
            <p:ph idx="1"/>
          </p:nvPr>
        </p:nvSpPr>
        <p:spPr>
          <a:xfrm>
            <a:off x="838200" y="718457"/>
            <a:ext cx="10515600" cy="5458506"/>
          </a:xfrm>
        </p:spPr>
        <p:txBody>
          <a:bodyPr/>
          <a:lstStyle/>
          <a:p>
            <a:pPr>
              <a:lnSpc>
                <a:spcPct val="150000"/>
              </a:lnSpc>
            </a:pPr>
            <a:r>
              <a:rPr lang="en-US" dirty="0">
                <a:latin typeface="Times New Roman" panose="02020603050405020304" pitchFamily="18" charset="0"/>
                <a:cs typeface="Times New Roman" panose="02020603050405020304" pitchFamily="18" charset="0"/>
              </a:rPr>
              <a:t>We now have two different types of addresses: logical addresses (in the range 0 to max) and physical addresses(in the range R +0 to R +max for a base value R). </a:t>
            </a:r>
          </a:p>
          <a:p>
            <a:pPr>
              <a:lnSpc>
                <a:spcPct val="150000"/>
              </a:lnSpc>
            </a:pPr>
            <a:r>
              <a:rPr lang="en-US" dirty="0">
                <a:latin typeface="Times New Roman" panose="02020603050405020304" pitchFamily="18" charset="0"/>
                <a:cs typeface="Times New Roman" panose="02020603050405020304" pitchFamily="18" charset="0"/>
              </a:rPr>
              <a:t>The user program generates only logical addresses and thinks that the process runs in locations 0 to max. However, these logical addresses must be mapped to physical addresses before they are used.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522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E2B0E-A4A9-4A96-9976-1684AB6A6437}"/>
              </a:ext>
            </a:extLst>
          </p:cNvPr>
          <p:cNvSpPr>
            <a:spLocks noGrp="1"/>
          </p:cNvSpPr>
          <p:nvPr>
            <p:ph type="title"/>
          </p:nvPr>
        </p:nvSpPr>
        <p:spPr>
          <a:xfrm>
            <a:off x="186431" y="365125"/>
            <a:ext cx="11167369" cy="496009"/>
          </a:xfrm>
        </p:spPr>
        <p:txBody>
          <a:bodyPr>
            <a:normAutofit fontScale="90000"/>
          </a:bodyPr>
          <a:lstStyle/>
          <a:p>
            <a:r>
              <a:rPr lang="en-US" sz="4000" b="1" dirty="0">
                <a:solidFill>
                  <a:srgbClr val="00B050"/>
                </a:solidFill>
                <a:latin typeface="Times New Roman" panose="02020603050405020304" pitchFamily="18" charset="0"/>
                <a:cs typeface="Times New Roman" panose="02020603050405020304" pitchFamily="18" charset="0"/>
              </a:rPr>
              <a:t>Dynamic Loading</a:t>
            </a:r>
          </a:p>
        </p:txBody>
      </p:sp>
      <p:sp>
        <p:nvSpPr>
          <p:cNvPr id="3" name="Content Placeholder 2">
            <a:extLst>
              <a:ext uri="{FF2B5EF4-FFF2-40B4-BE49-F238E27FC236}">
                <a16:creationId xmlns:a16="http://schemas.microsoft.com/office/drawing/2014/main" id="{DC1837B0-5ED0-4689-B5B4-B79420AAC00B}"/>
              </a:ext>
            </a:extLst>
          </p:cNvPr>
          <p:cNvSpPr>
            <a:spLocks noGrp="1"/>
          </p:cNvSpPr>
          <p:nvPr>
            <p:ph idx="1"/>
          </p:nvPr>
        </p:nvSpPr>
        <p:spPr>
          <a:xfrm>
            <a:off x="186431" y="1282551"/>
            <a:ext cx="11532093" cy="5143130"/>
          </a:xfrm>
        </p:spPr>
        <p:txBody>
          <a:bodyPr>
            <a:normAutofit lnSpcReduction="10000"/>
          </a:bodyPr>
          <a:lstStyle/>
          <a:p>
            <a:pPr algn="just">
              <a:lnSpc>
                <a:spcPct val="100000"/>
              </a:lnSpc>
            </a:pPr>
            <a:r>
              <a:rPr lang="en-US" sz="2600" dirty="0">
                <a:latin typeface="Times New Roman" panose="02020603050405020304" pitchFamily="18" charset="0"/>
                <a:cs typeface="Times New Roman" panose="02020603050405020304" pitchFamily="18" charset="0"/>
              </a:rPr>
              <a:t>The size of a process has thus been limited to the size of physical memory. To obtain better memory-space utilization, we can use dynamic loading.</a:t>
            </a:r>
          </a:p>
          <a:p>
            <a:pPr algn="just">
              <a:lnSpc>
                <a:spcPct val="100000"/>
              </a:lnSpc>
            </a:pPr>
            <a:r>
              <a:rPr lang="en-US" sz="2600" dirty="0">
                <a:latin typeface="Times New Roman" panose="02020603050405020304" pitchFamily="18" charset="0"/>
                <a:cs typeface="Times New Roman" panose="02020603050405020304" pitchFamily="18" charset="0"/>
              </a:rPr>
              <a:t>With dynamic loading, a routine is not loaded until it is called.</a:t>
            </a:r>
          </a:p>
          <a:p>
            <a:pPr algn="just">
              <a:lnSpc>
                <a:spcPct val="100000"/>
              </a:lnSpc>
            </a:pPr>
            <a:r>
              <a:rPr lang="en-US" sz="2600" dirty="0">
                <a:latin typeface="Times New Roman" panose="02020603050405020304" pitchFamily="18" charset="0"/>
                <a:cs typeface="Times New Roman" panose="02020603050405020304" pitchFamily="18" charset="0"/>
              </a:rPr>
              <a:t>All routines are kept on disk in a relocatable load format. </a:t>
            </a:r>
            <a:endParaRPr lang="en-US" sz="2600" b="1" dirty="0">
              <a:solidFill>
                <a:srgbClr val="00B050"/>
              </a:solidFill>
              <a:latin typeface="Times New Roman" panose="02020603050405020304" pitchFamily="18" charset="0"/>
              <a:cs typeface="Times New Roman" panose="02020603050405020304" pitchFamily="18" charset="0"/>
            </a:endParaRPr>
          </a:p>
          <a:p>
            <a:pPr marL="0" indent="0">
              <a:lnSpc>
                <a:spcPct val="100000"/>
              </a:lnSpc>
              <a:buNone/>
            </a:pPr>
            <a:r>
              <a:rPr lang="en-US" sz="4000" b="1" dirty="0">
                <a:solidFill>
                  <a:srgbClr val="FF0000"/>
                </a:solidFill>
              </a:rPr>
              <a:t>Dynamic</a:t>
            </a:r>
            <a:r>
              <a:rPr lang="en-US" sz="3600" b="1" dirty="0">
                <a:solidFill>
                  <a:srgbClr val="FF0000"/>
                </a:solidFill>
              </a:rPr>
              <a:t> Linking and Shared Libraries</a:t>
            </a:r>
          </a:p>
          <a:p>
            <a:pPr marL="0" indent="0">
              <a:lnSpc>
                <a:spcPct val="100000"/>
              </a:lnSpc>
              <a:buNone/>
            </a:pPr>
            <a:r>
              <a:rPr lang="en-US" sz="2400" dirty="0">
                <a:latin typeface="Times New Roman" panose="02020603050405020304" pitchFamily="18" charset="0"/>
                <a:cs typeface="Times New Roman" panose="02020603050405020304" pitchFamily="18" charset="0"/>
              </a:rPr>
              <a:t>Dynamically linked libraries are system libraries that are linked to user programs when the programs are run</a:t>
            </a:r>
          </a:p>
          <a:p>
            <a:pPr>
              <a:lnSpc>
                <a:spcPct val="100000"/>
              </a:lnSpc>
              <a:buFont typeface="Wingdings" panose="05000000000000000000" pitchFamily="2" charset="2"/>
              <a:buChar char="ü"/>
            </a:pPr>
            <a:r>
              <a:rPr lang="en-US" b="1" dirty="0">
                <a:solidFill>
                  <a:srgbClr val="00B050"/>
                </a:solidFill>
                <a:latin typeface="Times New Roman" panose="02020603050405020304" pitchFamily="18" charset="0"/>
                <a:cs typeface="Times New Roman" panose="02020603050405020304" pitchFamily="18" charset="0"/>
              </a:rPr>
              <a:t>Static linking </a:t>
            </a:r>
            <a:r>
              <a:rPr lang="en-US" dirty="0">
                <a:latin typeface="Times New Roman" panose="02020603050405020304" pitchFamily="18" charset="0"/>
                <a:cs typeface="Times New Roman" panose="02020603050405020304" pitchFamily="18" charset="0"/>
              </a:rPr>
              <a:t>– system libraries and program code combined by the linker &amp; loader into the binary program image </a:t>
            </a:r>
          </a:p>
          <a:p>
            <a:pPr>
              <a:lnSpc>
                <a:spcPct val="100000"/>
              </a:lnSpc>
              <a:buFont typeface="Wingdings" panose="05000000000000000000" pitchFamily="2" charset="2"/>
              <a:buChar char="ü"/>
            </a:pPr>
            <a:r>
              <a:rPr lang="en-US" b="1" dirty="0">
                <a:solidFill>
                  <a:srgbClr val="00B050"/>
                </a:solidFill>
                <a:latin typeface="Times New Roman" panose="02020603050405020304" pitchFamily="18" charset="0"/>
                <a:cs typeface="Times New Roman" panose="02020603050405020304" pitchFamily="18" charset="0"/>
              </a:rPr>
              <a:t>Dynamic linking </a:t>
            </a:r>
            <a:r>
              <a:rPr lang="en-US" dirty="0">
                <a:latin typeface="Times New Roman" panose="02020603050405020304" pitchFamily="18" charset="0"/>
                <a:cs typeface="Times New Roman" panose="02020603050405020304" pitchFamily="18" charset="0"/>
              </a:rPr>
              <a:t>–linking postponed until execution time. This feature is usually used with system libraries, such as language subroutine libraries. </a:t>
            </a:r>
          </a:p>
        </p:txBody>
      </p:sp>
    </p:spTree>
    <p:extLst>
      <p:ext uri="{BB962C8B-B14F-4D97-AF65-F5344CB8AC3E}">
        <p14:creationId xmlns:p14="http://schemas.microsoft.com/office/powerpoint/2010/main" val="1755421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1FA34-D7DE-7691-A2C6-64538DC36F74}"/>
              </a:ext>
            </a:extLst>
          </p:cNvPr>
          <p:cNvSpPr>
            <a:spLocks noGrp="1"/>
          </p:cNvSpPr>
          <p:nvPr>
            <p:ph idx="1"/>
          </p:nvPr>
        </p:nvSpPr>
        <p:spPr>
          <a:xfrm>
            <a:off x="838200" y="475861"/>
            <a:ext cx="10515600" cy="5701102"/>
          </a:xfrm>
        </p:spPr>
        <p:txBody>
          <a:bodyPr/>
          <a:lstStyle/>
          <a:p>
            <a:pPr>
              <a:lnSpc>
                <a:spcPct val="150000"/>
              </a:lnSpc>
            </a:pPr>
            <a:r>
              <a:rPr lang="en-US" dirty="0">
                <a:latin typeface="Times New Roman" panose="02020603050405020304" pitchFamily="18" charset="0"/>
                <a:cs typeface="Times New Roman" panose="02020603050405020304" pitchFamily="18" charset="0"/>
              </a:rPr>
              <a:t>With dynamic linking, a </a:t>
            </a:r>
            <a:r>
              <a:rPr lang="en-US" b="1" dirty="0">
                <a:latin typeface="Times New Roman" panose="02020603050405020304" pitchFamily="18" charset="0"/>
                <a:cs typeface="Times New Roman" panose="02020603050405020304" pitchFamily="18" charset="0"/>
              </a:rPr>
              <a:t>stub</a:t>
            </a:r>
            <a:r>
              <a:rPr lang="en-US" dirty="0">
                <a:latin typeface="Times New Roman" panose="02020603050405020304" pitchFamily="18" charset="0"/>
                <a:cs typeface="Times New Roman" panose="02020603050405020304" pitchFamily="18" charset="0"/>
              </a:rPr>
              <a:t> is included in the image for each library routine reference. The stub is a small piece of code that indicates how to locate the appropriate memory-resident library routine or how to load the library if the routine is not already present.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7006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351A-DFBC-47DA-A643-0E3B3D508E81}"/>
              </a:ext>
            </a:extLst>
          </p:cNvPr>
          <p:cNvSpPr>
            <a:spLocks noGrp="1"/>
          </p:cNvSpPr>
          <p:nvPr>
            <p:ph type="title"/>
          </p:nvPr>
        </p:nvSpPr>
        <p:spPr>
          <a:xfrm>
            <a:off x="142043" y="177553"/>
            <a:ext cx="11211757" cy="503485"/>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Swapping</a:t>
            </a:r>
          </a:p>
        </p:txBody>
      </p:sp>
      <p:sp>
        <p:nvSpPr>
          <p:cNvPr id="3" name="Content Placeholder 2">
            <a:extLst>
              <a:ext uri="{FF2B5EF4-FFF2-40B4-BE49-F238E27FC236}">
                <a16:creationId xmlns:a16="http://schemas.microsoft.com/office/drawing/2014/main" id="{90362BCD-FD6D-49BA-A339-7822C831FB1D}"/>
              </a:ext>
            </a:extLst>
          </p:cNvPr>
          <p:cNvSpPr>
            <a:spLocks noGrp="1"/>
          </p:cNvSpPr>
          <p:nvPr>
            <p:ph idx="1"/>
          </p:nvPr>
        </p:nvSpPr>
        <p:spPr>
          <a:xfrm>
            <a:off x="238539" y="1455938"/>
            <a:ext cx="11595652" cy="5402061"/>
          </a:xfrm>
        </p:spPr>
        <p:txBody>
          <a:bodyPr/>
          <a:lstStyle/>
          <a:p>
            <a:pPr algn="just">
              <a:lnSpc>
                <a:spcPct val="100000"/>
              </a:lnSpc>
            </a:pPr>
            <a:r>
              <a:rPr lang="en-US" dirty="0">
                <a:latin typeface="Times New Roman" panose="02020603050405020304" pitchFamily="18" charset="0"/>
                <a:cs typeface="Times New Roman" panose="02020603050405020304" pitchFamily="18" charset="0"/>
              </a:rPr>
              <a:t>A process can be swapped </a:t>
            </a:r>
            <a:r>
              <a:rPr lang="en-US" dirty="0">
                <a:solidFill>
                  <a:srgbClr val="C00000"/>
                </a:solidFill>
                <a:latin typeface="Times New Roman" panose="02020603050405020304" pitchFamily="18" charset="0"/>
                <a:cs typeface="Times New Roman" panose="02020603050405020304" pitchFamily="18" charset="0"/>
              </a:rPr>
              <a:t>temporarily out of memory to a backing store, and then brought back into memory for continued execution </a:t>
            </a:r>
            <a:r>
              <a:rPr lang="en-US" dirty="0">
                <a:latin typeface="Times New Roman" panose="02020603050405020304" pitchFamily="18" charset="0"/>
                <a:cs typeface="Times New Roman" panose="02020603050405020304" pitchFamily="18" charset="0"/>
              </a:rPr>
              <a:t> </a:t>
            </a:r>
          </a:p>
          <a:p>
            <a:pPr algn="just">
              <a:lnSpc>
                <a:spcPct val="100000"/>
              </a:lnSpc>
            </a:pPr>
            <a:r>
              <a:rPr lang="en-US" b="1" dirty="0">
                <a:solidFill>
                  <a:srgbClr val="C00000"/>
                </a:solidFill>
                <a:latin typeface="Times New Roman" panose="02020603050405020304" pitchFamily="18" charset="0"/>
                <a:cs typeface="Times New Roman" panose="02020603050405020304" pitchFamily="18" charset="0"/>
              </a:rPr>
              <a:t>Backing store</a:t>
            </a:r>
            <a:endParaRPr lang="en-US" dirty="0">
              <a:latin typeface="Times New Roman" panose="02020603050405020304" pitchFamily="18" charset="0"/>
              <a:cs typeface="Times New Roman" panose="02020603050405020304" pitchFamily="18" charset="0"/>
            </a:endParaRPr>
          </a:p>
          <a:p>
            <a:pPr algn="just">
              <a:lnSpc>
                <a:spcPct val="100000"/>
              </a:lnSpc>
            </a:pPr>
            <a:r>
              <a:rPr lang="en-US" b="1" dirty="0">
                <a:solidFill>
                  <a:srgbClr val="C00000"/>
                </a:solidFill>
                <a:latin typeface="Times New Roman" panose="02020603050405020304" pitchFamily="18" charset="0"/>
                <a:cs typeface="Times New Roman" panose="02020603050405020304" pitchFamily="18" charset="0"/>
              </a:rPr>
              <a:t>Roll out, roll in  ( Swap out Swap in)</a:t>
            </a:r>
          </a:p>
          <a:p>
            <a:pPr algn="just">
              <a:lnSpc>
                <a:spcPct val="100000"/>
              </a:lnSpc>
            </a:pPr>
            <a:r>
              <a:rPr lang="en-US" dirty="0">
                <a:latin typeface="Times New Roman" panose="02020603050405020304" pitchFamily="18" charset="0"/>
                <a:cs typeface="Times New Roman" panose="02020603050405020304" pitchFamily="18" charset="0"/>
              </a:rPr>
              <a:t>Major part of swap time is </a:t>
            </a:r>
            <a:r>
              <a:rPr lang="en-US" b="1" dirty="0">
                <a:solidFill>
                  <a:srgbClr val="C00000"/>
                </a:solidFill>
                <a:latin typeface="Times New Roman" panose="02020603050405020304" pitchFamily="18" charset="0"/>
                <a:cs typeface="Times New Roman" panose="02020603050405020304" pitchFamily="18" charset="0"/>
              </a:rPr>
              <a:t>transfer time</a:t>
            </a:r>
            <a:r>
              <a:rPr lang="en-US" dirty="0">
                <a:latin typeface="Times New Roman" panose="02020603050405020304" pitchFamily="18" charset="0"/>
                <a:cs typeface="Times New Roman" panose="02020603050405020304" pitchFamily="18" charset="0"/>
              </a:rPr>
              <a:t>; total transfer time is </a:t>
            </a:r>
            <a:r>
              <a:rPr lang="en-US" b="1" dirty="0">
                <a:solidFill>
                  <a:srgbClr val="00B050"/>
                </a:solidFill>
                <a:latin typeface="Times New Roman" panose="02020603050405020304" pitchFamily="18" charset="0"/>
                <a:cs typeface="Times New Roman" panose="02020603050405020304" pitchFamily="18" charset="0"/>
              </a:rPr>
              <a:t>directly proportional to the amount of memory swapped  </a:t>
            </a:r>
          </a:p>
          <a:p>
            <a:pPr algn="just">
              <a:lnSpc>
                <a:spcPct val="100000"/>
              </a:lnSpc>
            </a:pPr>
            <a:r>
              <a:rPr lang="en-US" dirty="0">
                <a:latin typeface="Times New Roman" panose="02020603050405020304" pitchFamily="18" charset="0"/>
                <a:cs typeface="Times New Roman" panose="02020603050405020304" pitchFamily="18" charset="0"/>
              </a:rPr>
              <a:t>System maintains a </a:t>
            </a:r>
            <a:r>
              <a:rPr lang="en-US" b="1" dirty="0">
                <a:solidFill>
                  <a:srgbClr val="00B050"/>
                </a:solidFill>
                <a:latin typeface="Times New Roman" panose="02020603050405020304" pitchFamily="18" charset="0"/>
                <a:cs typeface="Times New Roman" panose="02020603050405020304" pitchFamily="18" charset="0"/>
              </a:rPr>
              <a:t>ready queue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7159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1EBBA-8654-4976-B391-9519129E9A00}"/>
              </a:ext>
            </a:extLst>
          </p:cNvPr>
          <p:cNvSpPr>
            <a:spLocks noGrp="1"/>
          </p:cNvSpPr>
          <p:nvPr>
            <p:ph type="title"/>
          </p:nvPr>
        </p:nvSpPr>
        <p:spPr>
          <a:xfrm>
            <a:off x="177553" y="365126"/>
            <a:ext cx="11176247" cy="589032"/>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Schematic View of Swapping</a:t>
            </a:r>
          </a:p>
        </p:txBody>
      </p:sp>
      <p:pic>
        <p:nvPicPr>
          <p:cNvPr id="5" name="Content Placeholder 4">
            <a:extLst>
              <a:ext uri="{FF2B5EF4-FFF2-40B4-BE49-F238E27FC236}">
                <a16:creationId xmlns:a16="http://schemas.microsoft.com/office/drawing/2014/main" id="{2A6B0923-4641-4DDA-8283-C0BE4C87FE56}"/>
              </a:ext>
            </a:extLst>
          </p:cNvPr>
          <p:cNvPicPr>
            <a:picLocks noGrp="1" noChangeAspect="1"/>
          </p:cNvPicPr>
          <p:nvPr>
            <p:ph idx="1"/>
          </p:nvPr>
        </p:nvPicPr>
        <p:blipFill>
          <a:blip r:embed="rId2"/>
          <a:stretch>
            <a:fillRect/>
          </a:stretch>
        </p:blipFill>
        <p:spPr>
          <a:xfrm>
            <a:off x="3043237" y="1943894"/>
            <a:ext cx="6105525" cy="4114800"/>
          </a:xfrm>
        </p:spPr>
      </p:pic>
    </p:spTree>
    <p:extLst>
      <p:ext uri="{BB962C8B-B14F-4D97-AF65-F5344CB8AC3E}">
        <p14:creationId xmlns:p14="http://schemas.microsoft.com/office/powerpoint/2010/main" val="2732056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D121-02A6-43FC-B1C7-E83EC333FE0A}"/>
              </a:ext>
            </a:extLst>
          </p:cNvPr>
          <p:cNvSpPr>
            <a:spLocks noGrp="1"/>
          </p:cNvSpPr>
          <p:nvPr>
            <p:ph type="title"/>
          </p:nvPr>
        </p:nvSpPr>
        <p:spPr>
          <a:xfrm>
            <a:off x="0" y="133165"/>
            <a:ext cx="11353800" cy="790113"/>
          </a:xfrm>
        </p:spPr>
        <p:txBody>
          <a:bodyPr>
            <a:normAutofit/>
          </a:bodyPr>
          <a:lstStyle/>
          <a:p>
            <a:r>
              <a:rPr lang="en-US" altLang="en-US" b="1" dirty="0">
                <a:solidFill>
                  <a:srgbClr val="00B050"/>
                </a:solidFill>
                <a:latin typeface="Times New Roman" panose="02020603050405020304" pitchFamily="18" charset="0"/>
                <a:cs typeface="Times New Roman" panose="02020603050405020304" pitchFamily="18" charset="0"/>
              </a:rPr>
              <a:t>Swapping on Mobile Systems</a:t>
            </a:r>
            <a:endParaRPr lang="en-IN"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357C09-5574-4316-99F4-5D8F231A9AE1}"/>
              </a:ext>
            </a:extLst>
          </p:cNvPr>
          <p:cNvSpPr>
            <a:spLocks noGrp="1"/>
          </p:cNvSpPr>
          <p:nvPr>
            <p:ph idx="1"/>
          </p:nvPr>
        </p:nvSpPr>
        <p:spPr>
          <a:xfrm>
            <a:off x="275208" y="1100830"/>
            <a:ext cx="11078592" cy="5246703"/>
          </a:xfrm>
        </p:spPr>
        <p:txBody>
          <a:bodyPr>
            <a:normAutofit fontScale="85000" lnSpcReduction="20000"/>
          </a:bodyPr>
          <a:lstStyle/>
          <a:p>
            <a:pPr>
              <a:lnSpc>
                <a:spcPct val="150000"/>
              </a:lnSpc>
            </a:pPr>
            <a:r>
              <a:rPr lang="en-US" altLang="en-US" dirty="0"/>
              <a:t>Not typically supported</a:t>
            </a:r>
          </a:p>
          <a:p>
            <a:pPr lvl="1">
              <a:lnSpc>
                <a:spcPct val="150000"/>
              </a:lnSpc>
            </a:pPr>
            <a:r>
              <a:rPr lang="en-US" altLang="en-US" dirty="0"/>
              <a:t>Flash memory based</a:t>
            </a:r>
          </a:p>
          <a:p>
            <a:pPr lvl="2">
              <a:lnSpc>
                <a:spcPct val="150000"/>
              </a:lnSpc>
            </a:pPr>
            <a:r>
              <a:rPr lang="en-US" altLang="en-US" dirty="0"/>
              <a:t>Small amount of space</a:t>
            </a:r>
          </a:p>
          <a:p>
            <a:pPr lvl="2">
              <a:lnSpc>
                <a:spcPct val="150000"/>
              </a:lnSpc>
            </a:pPr>
            <a:r>
              <a:rPr lang="en-US" altLang="en-US" dirty="0"/>
              <a:t>Limited number of write cycles</a:t>
            </a:r>
          </a:p>
          <a:p>
            <a:pPr lvl="2">
              <a:lnSpc>
                <a:spcPct val="150000"/>
              </a:lnSpc>
            </a:pPr>
            <a:r>
              <a:rPr lang="en-US" altLang="en-US" dirty="0"/>
              <a:t>Poor throughput between flash memory and CPU on mobile platform</a:t>
            </a:r>
          </a:p>
          <a:p>
            <a:pPr>
              <a:lnSpc>
                <a:spcPct val="150000"/>
              </a:lnSpc>
            </a:pPr>
            <a:r>
              <a:rPr lang="en-US" altLang="en-US" dirty="0"/>
              <a:t>Instead use other methods to free memory if low</a:t>
            </a:r>
          </a:p>
          <a:p>
            <a:pPr lvl="1">
              <a:lnSpc>
                <a:spcPct val="150000"/>
              </a:lnSpc>
            </a:pPr>
            <a:r>
              <a:rPr lang="en-US" altLang="en-US" dirty="0"/>
              <a:t>iOS </a:t>
            </a:r>
            <a:r>
              <a:rPr lang="en-US" altLang="en-US" b="1" i="1" dirty="0"/>
              <a:t>asks</a:t>
            </a:r>
            <a:r>
              <a:rPr lang="en-US" altLang="en-US" dirty="0"/>
              <a:t> apps to voluntarily relinquish allocated memory</a:t>
            </a:r>
          </a:p>
          <a:p>
            <a:pPr lvl="2">
              <a:lnSpc>
                <a:spcPct val="150000"/>
              </a:lnSpc>
            </a:pPr>
            <a:r>
              <a:rPr lang="en-US" altLang="en-US" dirty="0"/>
              <a:t>Read-only data thrown out and reloaded from flash if needed</a:t>
            </a:r>
          </a:p>
          <a:p>
            <a:pPr lvl="2">
              <a:lnSpc>
                <a:spcPct val="150000"/>
              </a:lnSpc>
            </a:pPr>
            <a:r>
              <a:rPr lang="en-US" altLang="en-US" dirty="0"/>
              <a:t>Failure to free can result in termination</a:t>
            </a:r>
          </a:p>
          <a:p>
            <a:pPr lvl="1">
              <a:lnSpc>
                <a:spcPct val="150000"/>
              </a:lnSpc>
            </a:pPr>
            <a:r>
              <a:rPr lang="en-US" altLang="en-US" dirty="0"/>
              <a:t>Android terminates apps if low free memory, but first writes </a:t>
            </a:r>
            <a:r>
              <a:rPr lang="en-US" altLang="en-US" b="1" dirty="0">
                <a:solidFill>
                  <a:srgbClr val="006699"/>
                </a:solidFill>
                <a:latin typeface="+mj-lt"/>
              </a:rPr>
              <a:t>application</a:t>
            </a:r>
            <a:r>
              <a:rPr lang="en-US" altLang="en-US" b="1" dirty="0">
                <a:solidFill>
                  <a:srgbClr val="3366FF"/>
                </a:solidFill>
              </a:rPr>
              <a:t> </a:t>
            </a:r>
            <a:r>
              <a:rPr lang="en-US" altLang="en-US" b="1" dirty="0">
                <a:solidFill>
                  <a:srgbClr val="006699"/>
                </a:solidFill>
                <a:latin typeface="+mj-lt"/>
              </a:rPr>
              <a:t>state</a:t>
            </a:r>
            <a:r>
              <a:rPr lang="en-US" altLang="en-US" dirty="0"/>
              <a:t> to flash for fast restart</a:t>
            </a:r>
          </a:p>
          <a:p>
            <a:pPr marL="0" indent="0">
              <a:buNone/>
            </a:pPr>
            <a:endParaRPr lang="en-IN" dirty="0"/>
          </a:p>
        </p:txBody>
      </p:sp>
    </p:spTree>
    <p:extLst>
      <p:ext uri="{BB962C8B-B14F-4D97-AF65-F5344CB8AC3E}">
        <p14:creationId xmlns:p14="http://schemas.microsoft.com/office/powerpoint/2010/main" val="1782059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C83B-11E0-4AD2-9EA4-3BB8623EAA94}"/>
              </a:ext>
            </a:extLst>
          </p:cNvPr>
          <p:cNvSpPr>
            <a:spLocks noGrp="1"/>
          </p:cNvSpPr>
          <p:nvPr>
            <p:ph type="title"/>
          </p:nvPr>
        </p:nvSpPr>
        <p:spPr>
          <a:xfrm>
            <a:off x="301841" y="261891"/>
            <a:ext cx="11051959" cy="679013"/>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Contiguous Allocation</a:t>
            </a:r>
          </a:p>
        </p:txBody>
      </p:sp>
      <p:sp>
        <p:nvSpPr>
          <p:cNvPr id="3" name="Content Placeholder 2">
            <a:extLst>
              <a:ext uri="{FF2B5EF4-FFF2-40B4-BE49-F238E27FC236}">
                <a16:creationId xmlns:a16="http://schemas.microsoft.com/office/drawing/2014/main" id="{25A15C2C-1EE4-4A3F-9BC2-6856ED31B294}"/>
              </a:ext>
            </a:extLst>
          </p:cNvPr>
          <p:cNvSpPr>
            <a:spLocks noGrp="1"/>
          </p:cNvSpPr>
          <p:nvPr>
            <p:ph idx="1"/>
          </p:nvPr>
        </p:nvSpPr>
        <p:spPr>
          <a:xfrm>
            <a:off x="397565" y="1340528"/>
            <a:ext cx="10956235" cy="5255581"/>
          </a:xfrm>
        </p:spPr>
        <p:txBody>
          <a:bodyPr/>
          <a:lstStyle/>
          <a:p>
            <a:pPr algn="just"/>
            <a:r>
              <a:rPr lang="en-US" dirty="0">
                <a:latin typeface="Times New Roman" panose="02020603050405020304" pitchFamily="18" charset="0"/>
                <a:cs typeface="Times New Roman" panose="02020603050405020304" pitchFamily="18" charset="0"/>
              </a:rPr>
              <a:t>Main memory must support both </a:t>
            </a:r>
            <a:r>
              <a:rPr lang="en-US" b="1" dirty="0">
                <a:latin typeface="Times New Roman" panose="02020603050405020304" pitchFamily="18" charset="0"/>
                <a:cs typeface="Times New Roman" panose="02020603050405020304" pitchFamily="18" charset="0"/>
              </a:rPr>
              <a:t>OS and user processes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Limited resource, must </a:t>
            </a:r>
            <a:r>
              <a:rPr lang="en-US" b="1" dirty="0">
                <a:solidFill>
                  <a:srgbClr val="00B050"/>
                </a:solidFill>
                <a:latin typeface="Times New Roman" panose="02020603050405020304" pitchFamily="18" charset="0"/>
                <a:cs typeface="Times New Roman" panose="02020603050405020304" pitchFamily="18" charset="0"/>
              </a:rPr>
              <a:t>allocate efficiently </a:t>
            </a:r>
          </a:p>
          <a:p>
            <a:pPr algn="just"/>
            <a:endParaRPr lang="en-US" b="1" dirty="0">
              <a:solidFill>
                <a:srgbClr val="00B050"/>
              </a:solidFill>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Contiguous allocation</a:t>
            </a:r>
            <a:r>
              <a:rPr lang="en-US" dirty="0">
                <a:latin typeface="Times New Roman" panose="02020603050405020304" pitchFamily="18" charset="0"/>
                <a:cs typeface="Times New Roman" panose="02020603050405020304" pitchFamily="18" charset="0"/>
              </a:rPr>
              <a:t> is one early method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Main memory usually into two partitions: </a:t>
            </a:r>
          </a:p>
          <a:p>
            <a:pPr lvl="1"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Resident </a:t>
            </a: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usually held in low memory with interrupt vector </a:t>
            </a:r>
          </a:p>
          <a:p>
            <a:pPr lvl="1"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User processes </a:t>
            </a:r>
            <a:r>
              <a:rPr lang="en-US" dirty="0">
                <a:latin typeface="Times New Roman" panose="02020603050405020304" pitchFamily="18" charset="0"/>
                <a:cs typeface="Times New Roman" panose="02020603050405020304" pitchFamily="18" charset="0"/>
              </a:rPr>
              <a:t>then held in high memory </a:t>
            </a:r>
          </a:p>
        </p:txBody>
      </p:sp>
    </p:spTree>
    <p:extLst>
      <p:ext uri="{BB962C8B-B14F-4D97-AF65-F5344CB8AC3E}">
        <p14:creationId xmlns:p14="http://schemas.microsoft.com/office/powerpoint/2010/main" val="338034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817D-4B21-4B89-A6B2-CC26FB6F4551}"/>
              </a:ext>
            </a:extLst>
          </p:cNvPr>
          <p:cNvSpPr>
            <a:spLocks noGrp="1"/>
          </p:cNvSpPr>
          <p:nvPr>
            <p:ph type="title"/>
          </p:nvPr>
        </p:nvSpPr>
        <p:spPr>
          <a:xfrm>
            <a:off x="212035" y="365125"/>
            <a:ext cx="11141765" cy="734805"/>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Contiguous Allocation (Cont.)</a:t>
            </a:r>
          </a:p>
        </p:txBody>
      </p:sp>
      <p:sp>
        <p:nvSpPr>
          <p:cNvPr id="3" name="Content Placeholder 2">
            <a:extLst>
              <a:ext uri="{FF2B5EF4-FFF2-40B4-BE49-F238E27FC236}">
                <a16:creationId xmlns:a16="http://schemas.microsoft.com/office/drawing/2014/main" id="{711C36A8-7999-4A07-BB67-E1A86906474D}"/>
              </a:ext>
            </a:extLst>
          </p:cNvPr>
          <p:cNvSpPr>
            <a:spLocks noGrp="1"/>
          </p:cNvSpPr>
          <p:nvPr>
            <p:ph idx="1"/>
          </p:nvPr>
        </p:nvSpPr>
        <p:spPr>
          <a:xfrm>
            <a:off x="424070" y="1322773"/>
            <a:ext cx="11555895" cy="5290062"/>
          </a:xfrm>
        </p:spPr>
        <p:txBody>
          <a:bodyPr>
            <a:normAutofit/>
          </a:bodyPr>
          <a:lstStyle/>
          <a:p>
            <a:pPr algn="just"/>
            <a:r>
              <a:rPr lang="en-US" dirty="0">
                <a:latin typeface="Times New Roman" panose="02020603050405020304" pitchFamily="18" charset="0"/>
                <a:cs typeface="Times New Roman" panose="02020603050405020304" pitchFamily="18" charset="0"/>
              </a:rPr>
              <a:t>Relocation registers used to protect user processes from each other, and </a:t>
            </a:r>
            <a:r>
              <a:rPr lang="en-US" b="1" dirty="0">
                <a:solidFill>
                  <a:srgbClr val="C00000"/>
                </a:solidFill>
                <a:latin typeface="Times New Roman" panose="02020603050405020304" pitchFamily="18" charset="0"/>
                <a:cs typeface="Times New Roman" panose="02020603050405020304" pitchFamily="18" charset="0"/>
              </a:rPr>
              <a:t>from changing operating-system code and data </a:t>
            </a:r>
          </a:p>
          <a:p>
            <a:pPr algn="just"/>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Base register</a:t>
            </a: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Limit register </a:t>
            </a: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MMU</a:t>
            </a:r>
          </a:p>
          <a:p>
            <a:pPr lvl="1" algn="just">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Can then allow actions such as kernel code being transient and kernel changing size</a:t>
            </a:r>
          </a:p>
        </p:txBody>
      </p:sp>
    </p:spTree>
    <p:extLst>
      <p:ext uri="{BB962C8B-B14F-4D97-AF65-F5344CB8AC3E}">
        <p14:creationId xmlns:p14="http://schemas.microsoft.com/office/powerpoint/2010/main" val="2974246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9D15-18A6-44D9-A9F2-AA0AE26490CA}"/>
              </a:ext>
            </a:extLst>
          </p:cNvPr>
          <p:cNvSpPr>
            <a:spLocks noGrp="1"/>
          </p:cNvSpPr>
          <p:nvPr>
            <p:ph type="title"/>
          </p:nvPr>
        </p:nvSpPr>
        <p:spPr>
          <a:xfrm>
            <a:off x="119269" y="365126"/>
            <a:ext cx="11821197" cy="469762"/>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Hardware Support for Relocation and Limit Registers</a:t>
            </a:r>
          </a:p>
        </p:txBody>
      </p:sp>
      <p:pic>
        <p:nvPicPr>
          <p:cNvPr id="5" name="Content Placeholder 4">
            <a:extLst>
              <a:ext uri="{FF2B5EF4-FFF2-40B4-BE49-F238E27FC236}">
                <a16:creationId xmlns:a16="http://schemas.microsoft.com/office/drawing/2014/main" id="{7FC7CC73-A8A0-4AC0-843F-E17FCC4A41BF}"/>
              </a:ext>
            </a:extLst>
          </p:cNvPr>
          <p:cNvPicPr>
            <a:picLocks noGrp="1" noChangeAspect="1"/>
          </p:cNvPicPr>
          <p:nvPr>
            <p:ph idx="1"/>
          </p:nvPr>
        </p:nvPicPr>
        <p:blipFill>
          <a:blip r:embed="rId2"/>
          <a:stretch>
            <a:fillRect/>
          </a:stretch>
        </p:blipFill>
        <p:spPr>
          <a:xfrm>
            <a:off x="3009900" y="2372519"/>
            <a:ext cx="6172200" cy="3257550"/>
          </a:xfrm>
        </p:spPr>
      </p:pic>
    </p:spTree>
    <p:extLst>
      <p:ext uri="{BB962C8B-B14F-4D97-AF65-F5344CB8AC3E}">
        <p14:creationId xmlns:p14="http://schemas.microsoft.com/office/powerpoint/2010/main" val="4093024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93D52-C5EE-4D42-AEE9-CA1FF94A9415}"/>
              </a:ext>
            </a:extLst>
          </p:cNvPr>
          <p:cNvSpPr>
            <a:spLocks noGrp="1"/>
          </p:cNvSpPr>
          <p:nvPr>
            <p:ph type="title"/>
          </p:nvPr>
        </p:nvSpPr>
        <p:spPr>
          <a:xfrm>
            <a:off x="172278" y="365126"/>
            <a:ext cx="11181522" cy="602284"/>
          </a:xfrm>
        </p:spPr>
        <p:txBody>
          <a:bodyPr>
            <a:no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MEMORY ALLOCATION</a:t>
            </a:r>
          </a:p>
        </p:txBody>
      </p:sp>
      <p:sp>
        <p:nvSpPr>
          <p:cNvPr id="3" name="Content Placeholder 2">
            <a:extLst>
              <a:ext uri="{FF2B5EF4-FFF2-40B4-BE49-F238E27FC236}">
                <a16:creationId xmlns:a16="http://schemas.microsoft.com/office/drawing/2014/main" id="{BD45F837-93B8-4D98-A96B-CBB6E4ABAE77}"/>
              </a:ext>
            </a:extLst>
          </p:cNvPr>
          <p:cNvSpPr>
            <a:spLocks noGrp="1"/>
          </p:cNvSpPr>
          <p:nvPr>
            <p:ph idx="1"/>
          </p:nvPr>
        </p:nvSpPr>
        <p:spPr>
          <a:xfrm>
            <a:off x="172278" y="1278384"/>
            <a:ext cx="11396870" cy="5579616"/>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One of the simplest methods for allocating memory is to divide memory into several </a:t>
            </a:r>
            <a:r>
              <a:rPr lang="en-US" b="1" dirty="0">
                <a:latin typeface="Times New Roman" panose="02020603050405020304" pitchFamily="18" charset="0"/>
                <a:cs typeface="Times New Roman" panose="02020603050405020304" pitchFamily="18" charset="0"/>
              </a:rPr>
              <a:t>fixed-sized partitions</a:t>
            </a:r>
            <a:r>
              <a:rPr lang="en-US" dirty="0">
                <a:latin typeface="Times New Roman" panose="02020603050405020304" pitchFamily="18" charset="0"/>
                <a:cs typeface="Times New Roman" panose="02020603050405020304" pitchFamily="18" charset="0"/>
              </a:rPr>
              <a:t>. </a:t>
            </a:r>
          </a:p>
          <a:p>
            <a:pPr algn="just">
              <a:lnSpc>
                <a:spcPct val="150000"/>
              </a:lnSpc>
            </a:pPr>
            <a:r>
              <a:rPr lang="en-US" dirty="0">
                <a:latin typeface="Times New Roman" panose="02020603050405020304" pitchFamily="18" charset="0"/>
                <a:cs typeface="Times New Roman" panose="02020603050405020304" pitchFamily="18" charset="0"/>
              </a:rPr>
              <a:t>Each partition may contain exactly one process - </a:t>
            </a:r>
            <a:r>
              <a:rPr lang="en-US" sz="2800" b="1" dirty="0">
                <a:solidFill>
                  <a:srgbClr val="0070C0"/>
                </a:solidFill>
                <a:latin typeface="Times New Roman" panose="02020603050405020304" pitchFamily="18" charset="0"/>
                <a:cs typeface="Times New Roman" panose="02020603050405020304" pitchFamily="18" charset="0"/>
              </a:rPr>
              <a:t>Multiple-partition allocation </a:t>
            </a:r>
          </a:p>
          <a:p>
            <a:pPr algn="just">
              <a:lnSpc>
                <a:spcPct val="150000"/>
              </a:lnSpc>
            </a:pPr>
            <a:r>
              <a:rPr lang="en-US" sz="2800" dirty="0">
                <a:solidFill>
                  <a:srgbClr val="FF0000"/>
                </a:solidFill>
                <a:latin typeface="Times New Roman" panose="02020603050405020304" pitchFamily="18" charset="0"/>
                <a:cs typeface="Times New Roman" panose="02020603050405020304" pitchFamily="18" charset="0"/>
              </a:rPr>
              <a:t>Degree of multiprogramming limited by </a:t>
            </a:r>
            <a:r>
              <a:rPr lang="en-US" sz="2800" b="1" dirty="0">
                <a:solidFill>
                  <a:srgbClr val="FF0000"/>
                </a:solidFill>
                <a:latin typeface="Times New Roman" panose="02020603050405020304" pitchFamily="18" charset="0"/>
                <a:cs typeface="Times New Roman" panose="02020603050405020304" pitchFamily="18" charset="0"/>
              </a:rPr>
              <a:t>number of partitions </a:t>
            </a:r>
          </a:p>
          <a:p>
            <a:pPr algn="just">
              <a:lnSpc>
                <a:spcPct val="150000"/>
              </a:lnSpc>
            </a:pPr>
            <a:r>
              <a:rPr lang="en-US" sz="3000" b="1" dirty="0">
                <a:solidFill>
                  <a:srgbClr val="0070C0"/>
                </a:solidFill>
                <a:latin typeface="Times New Roman" panose="02020603050405020304" pitchFamily="18" charset="0"/>
                <a:cs typeface="Times New Roman" panose="02020603050405020304" pitchFamily="18" charset="0"/>
              </a:rPr>
              <a:t>Variable-partition sizes </a:t>
            </a:r>
            <a:r>
              <a:rPr lang="en-US" sz="2800" dirty="0">
                <a:latin typeface="Times New Roman" panose="02020603050405020304" pitchFamily="18" charset="0"/>
                <a:cs typeface="Times New Roman" panose="02020603050405020304" pitchFamily="18" charset="0"/>
              </a:rPr>
              <a:t>for efficiency (sized to a given process’ needs) </a:t>
            </a:r>
          </a:p>
          <a:p>
            <a:pPr lvl="1" algn="just">
              <a:lnSpc>
                <a:spcPct val="150000"/>
              </a:lnSpc>
              <a:buFont typeface="Wingdings" panose="05000000000000000000" pitchFamily="2" charset="2"/>
              <a:buChar char="Ø"/>
            </a:pPr>
            <a:r>
              <a:rPr lang="en-US" sz="2800" b="1" dirty="0">
                <a:solidFill>
                  <a:srgbClr val="00B050"/>
                </a:solidFill>
                <a:latin typeface="Times New Roman" panose="02020603050405020304" pitchFamily="18" charset="0"/>
                <a:cs typeface="Times New Roman" panose="02020603050405020304" pitchFamily="18" charset="0"/>
              </a:rPr>
              <a:t>Hole – </a:t>
            </a:r>
            <a:r>
              <a:rPr lang="en-US" sz="2800" dirty="0">
                <a:latin typeface="Times New Roman" panose="02020603050405020304" pitchFamily="18" charset="0"/>
                <a:cs typeface="Times New Roman" panose="02020603050405020304" pitchFamily="18" charset="0"/>
              </a:rPr>
              <a:t>block of available memory; holes of various sizes are scattered throughout memory</a:t>
            </a:r>
          </a:p>
          <a:p>
            <a:pPr lvl="1"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Initially, all memory is available for user processes and is considered one large block </a:t>
            </a:r>
          </a:p>
        </p:txBody>
      </p:sp>
    </p:spTree>
    <p:extLst>
      <p:ext uri="{BB962C8B-B14F-4D97-AF65-F5344CB8AC3E}">
        <p14:creationId xmlns:p14="http://schemas.microsoft.com/office/powerpoint/2010/main" val="2255796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5A47F-0E66-4434-8749-F0FC0DBDF45A}"/>
              </a:ext>
            </a:extLst>
          </p:cNvPr>
          <p:cNvSpPr>
            <a:spLocks noGrp="1"/>
          </p:cNvSpPr>
          <p:nvPr>
            <p:ph type="title"/>
          </p:nvPr>
        </p:nvSpPr>
        <p:spPr>
          <a:xfrm>
            <a:off x="106018" y="89918"/>
            <a:ext cx="11353800" cy="774562"/>
          </a:xfrm>
        </p:spPr>
        <p:txBody>
          <a:bodyPr>
            <a:normAutofit/>
          </a:bodyPr>
          <a:lstStyle/>
          <a:p>
            <a:pPr algn="just"/>
            <a:r>
              <a:rPr lang="en-US" sz="4000" b="1" dirty="0">
                <a:solidFill>
                  <a:srgbClr val="00B050"/>
                </a:solidFill>
                <a:latin typeface="Times New Roman" panose="02020603050405020304" pitchFamily="18" charset="0"/>
                <a:cs typeface="Times New Roman" panose="02020603050405020304" pitchFamily="18" charset="0"/>
              </a:rPr>
              <a:t>Dynamic Storage-Allocation Problem</a:t>
            </a:r>
          </a:p>
        </p:txBody>
      </p:sp>
      <p:sp>
        <p:nvSpPr>
          <p:cNvPr id="3" name="Content Placeholder 2">
            <a:extLst>
              <a:ext uri="{FF2B5EF4-FFF2-40B4-BE49-F238E27FC236}">
                <a16:creationId xmlns:a16="http://schemas.microsoft.com/office/drawing/2014/main" id="{D619420C-3C20-4237-B599-4586B48F6ABA}"/>
              </a:ext>
            </a:extLst>
          </p:cNvPr>
          <p:cNvSpPr>
            <a:spLocks noGrp="1"/>
          </p:cNvSpPr>
          <p:nvPr>
            <p:ph idx="1"/>
          </p:nvPr>
        </p:nvSpPr>
        <p:spPr>
          <a:xfrm>
            <a:off x="106018" y="1139688"/>
            <a:ext cx="12085982" cy="5278867"/>
          </a:xfrm>
        </p:spPr>
        <p:txBody>
          <a:bodyPr>
            <a:normAutofit lnSpcReduction="10000"/>
          </a:bodyPr>
          <a:lstStyle/>
          <a:p>
            <a:r>
              <a:rPr lang="en-US" dirty="0">
                <a:latin typeface="Times New Roman" panose="02020603050405020304" pitchFamily="18" charset="0"/>
                <a:cs typeface="Times New Roman" panose="02020603050405020304" pitchFamily="18" charset="0"/>
              </a:rPr>
              <a:t>How to satisfy a request of size n from a list of free holes?</a:t>
            </a:r>
          </a:p>
          <a:p>
            <a:pPr marL="0" indent="0">
              <a:buNone/>
            </a:pPr>
            <a:endParaRPr lang="en-US" dirty="0">
              <a:latin typeface="Times New Roman" panose="02020603050405020304" pitchFamily="18" charset="0"/>
              <a:cs typeface="Times New Roman" panose="02020603050405020304" pitchFamily="18" charset="0"/>
            </a:endParaRPr>
          </a:p>
          <a:p>
            <a:r>
              <a:rPr lang="en-US" b="1" dirty="0">
                <a:solidFill>
                  <a:srgbClr val="00B050"/>
                </a:solidFill>
                <a:latin typeface="Times New Roman" panose="02020603050405020304" pitchFamily="18" charset="0"/>
                <a:cs typeface="Times New Roman" panose="02020603050405020304" pitchFamily="18" charset="0"/>
              </a:rPr>
              <a:t>First-fit: </a:t>
            </a:r>
            <a:r>
              <a:rPr lang="en-US" dirty="0">
                <a:latin typeface="Times New Roman" panose="02020603050405020304" pitchFamily="18" charset="0"/>
                <a:cs typeface="Times New Roman" panose="02020603050405020304" pitchFamily="18" charset="0"/>
              </a:rPr>
              <a:t>Allocate the first hole that is big enough </a:t>
            </a:r>
          </a:p>
          <a:p>
            <a:endParaRPr lang="en-US" dirty="0">
              <a:latin typeface="Times New Roman" panose="02020603050405020304" pitchFamily="18" charset="0"/>
              <a:cs typeface="Times New Roman" panose="02020603050405020304" pitchFamily="18" charset="0"/>
            </a:endParaRPr>
          </a:p>
          <a:p>
            <a:r>
              <a:rPr lang="en-US" b="1" dirty="0">
                <a:solidFill>
                  <a:srgbClr val="00B050"/>
                </a:solidFill>
                <a:latin typeface="Times New Roman" panose="02020603050405020304" pitchFamily="18" charset="0"/>
                <a:cs typeface="Times New Roman" panose="02020603050405020304" pitchFamily="18" charset="0"/>
              </a:rPr>
              <a:t>Best-fit: </a:t>
            </a:r>
            <a:r>
              <a:rPr lang="en-US" dirty="0">
                <a:latin typeface="Times New Roman" panose="02020603050405020304" pitchFamily="18" charset="0"/>
                <a:cs typeface="Times New Roman" panose="02020603050405020304" pitchFamily="18" charset="0"/>
              </a:rPr>
              <a:t>Allocate the smallest hole that is big enough</a:t>
            </a:r>
          </a:p>
          <a:p>
            <a:pPr marL="0" indent="0">
              <a:buNone/>
            </a:pPr>
            <a:endParaRPr lang="en-US" sz="2800" dirty="0">
              <a:latin typeface="Times New Roman" panose="02020603050405020304" pitchFamily="18" charset="0"/>
              <a:cs typeface="Times New Roman" panose="02020603050405020304" pitchFamily="18" charset="0"/>
            </a:endParaRPr>
          </a:p>
          <a:p>
            <a:r>
              <a:rPr lang="en-US" b="1" dirty="0">
                <a:solidFill>
                  <a:srgbClr val="00B050"/>
                </a:solidFill>
                <a:latin typeface="Times New Roman" panose="02020603050405020304" pitchFamily="18" charset="0"/>
                <a:cs typeface="Times New Roman" panose="02020603050405020304" pitchFamily="18" charset="0"/>
              </a:rPr>
              <a:t>Worst-fit: </a:t>
            </a:r>
            <a:r>
              <a:rPr lang="en-US" dirty="0">
                <a:latin typeface="Times New Roman" panose="02020603050405020304" pitchFamily="18" charset="0"/>
                <a:cs typeface="Times New Roman" panose="02020603050405020304" pitchFamily="18" charset="0"/>
              </a:rPr>
              <a:t>Allocate the largest hole.</a:t>
            </a:r>
          </a:p>
          <a:p>
            <a:pPr marL="0" indent="0">
              <a:buNone/>
            </a:pPr>
            <a:endParaRPr lang="en-US" dirty="0">
              <a:latin typeface="Times New Roman" panose="02020603050405020304" pitchFamily="18" charset="0"/>
              <a:cs typeface="Times New Roman" panose="02020603050405020304" pitchFamily="18" charset="0"/>
            </a:endParaRPr>
          </a:p>
          <a:p>
            <a:pPr marL="457200" lvl="1" indent="0">
              <a:buNone/>
            </a:pPr>
            <a:endParaRPr lang="en-US" sz="2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800" b="1" dirty="0">
                <a:solidFill>
                  <a:srgbClr val="FF0000"/>
                </a:solidFill>
                <a:latin typeface="Times New Roman" panose="02020603050405020304" pitchFamily="18" charset="0"/>
                <a:cs typeface="Times New Roman" panose="02020603050405020304" pitchFamily="18" charset="0"/>
              </a:rPr>
              <a:t>First-fit and best-fit better than worst-fit in terms of speed and storage utilization</a:t>
            </a:r>
          </a:p>
        </p:txBody>
      </p:sp>
    </p:spTree>
    <p:extLst>
      <p:ext uri="{BB962C8B-B14F-4D97-AF65-F5344CB8AC3E}">
        <p14:creationId xmlns:p14="http://schemas.microsoft.com/office/powerpoint/2010/main" val="1745657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388C-0B43-4AE8-92B1-54DFAF0A05B6}"/>
              </a:ext>
            </a:extLst>
          </p:cNvPr>
          <p:cNvSpPr>
            <a:spLocks noGrp="1"/>
          </p:cNvSpPr>
          <p:nvPr>
            <p:ph type="title"/>
          </p:nvPr>
        </p:nvSpPr>
        <p:spPr>
          <a:xfrm>
            <a:off x="177553" y="115411"/>
            <a:ext cx="11176247" cy="852256"/>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Fragmentation</a:t>
            </a:r>
          </a:p>
        </p:txBody>
      </p:sp>
      <p:sp>
        <p:nvSpPr>
          <p:cNvPr id="3" name="Content Placeholder 2">
            <a:extLst>
              <a:ext uri="{FF2B5EF4-FFF2-40B4-BE49-F238E27FC236}">
                <a16:creationId xmlns:a16="http://schemas.microsoft.com/office/drawing/2014/main" id="{D78FD709-9AA7-41C6-8CA3-FD232110ED8D}"/>
              </a:ext>
            </a:extLst>
          </p:cNvPr>
          <p:cNvSpPr>
            <a:spLocks noGrp="1"/>
          </p:cNvSpPr>
          <p:nvPr>
            <p:ph idx="1"/>
          </p:nvPr>
        </p:nvSpPr>
        <p:spPr>
          <a:xfrm>
            <a:off x="177553" y="1535837"/>
            <a:ext cx="11913833" cy="4641126"/>
          </a:xfrm>
        </p:spPr>
        <p:txBody>
          <a:bodyPr/>
          <a:lstStyle/>
          <a:p>
            <a:pPr algn="just"/>
            <a:r>
              <a:rPr lang="en-US" b="1" dirty="0">
                <a:solidFill>
                  <a:srgbClr val="FF0000"/>
                </a:solidFill>
                <a:latin typeface="Times New Roman" panose="02020603050405020304" pitchFamily="18" charset="0"/>
                <a:cs typeface="Times New Roman" panose="02020603050405020304" pitchFamily="18" charset="0"/>
              </a:rPr>
              <a:t>External Fragmentation</a:t>
            </a:r>
            <a:r>
              <a:rPr lang="en-US" dirty="0">
                <a:solidFill>
                  <a:srgbClr val="FF0000"/>
                </a:solidFill>
                <a:latin typeface="Times New Roman" panose="02020603050405020304" pitchFamily="18" charset="0"/>
                <a:cs typeface="Times New Roman" panose="02020603050405020304" pitchFamily="18" charset="0"/>
              </a:rPr>
              <a:t>: </a:t>
            </a:r>
          </a:p>
          <a:p>
            <a:pPr marL="0" indent="0" algn="just">
              <a:buNone/>
            </a:pPr>
            <a:r>
              <a:rPr lang="en-US" dirty="0">
                <a:solidFill>
                  <a:srgbClr val="00B05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Total memory space exists to satisfy a request, but it is not contiguous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Internal Fragmentation: </a:t>
            </a:r>
          </a:p>
          <a:p>
            <a:pPr marL="0" indent="0" algn="just">
              <a:buNone/>
            </a:pPr>
            <a:r>
              <a:rPr lang="en-US" dirty="0">
                <a:latin typeface="Times New Roman" panose="02020603050405020304" pitchFamily="18" charset="0"/>
                <a:cs typeface="Times New Roman" panose="02020603050405020304" pitchFamily="18" charset="0"/>
              </a:rPr>
              <a:t>    Allocated memory may be slightly larger than requested memory</a:t>
            </a:r>
          </a:p>
        </p:txBody>
      </p:sp>
    </p:spTree>
    <p:extLst>
      <p:ext uri="{BB962C8B-B14F-4D97-AF65-F5344CB8AC3E}">
        <p14:creationId xmlns:p14="http://schemas.microsoft.com/office/powerpoint/2010/main" val="4150501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871F-EA24-4DEF-8BB2-0B8BDA294199}"/>
              </a:ext>
            </a:extLst>
          </p:cNvPr>
          <p:cNvSpPr>
            <a:spLocks noGrp="1"/>
          </p:cNvSpPr>
          <p:nvPr>
            <p:ph type="title"/>
          </p:nvPr>
        </p:nvSpPr>
        <p:spPr>
          <a:xfrm>
            <a:off x="221942" y="168676"/>
            <a:ext cx="11131858" cy="630314"/>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Fragmentation (Cont.)</a:t>
            </a:r>
          </a:p>
        </p:txBody>
      </p:sp>
      <p:sp>
        <p:nvSpPr>
          <p:cNvPr id="3" name="Content Placeholder 2">
            <a:extLst>
              <a:ext uri="{FF2B5EF4-FFF2-40B4-BE49-F238E27FC236}">
                <a16:creationId xmlns:a16="http://schemas.microsoft.com/office/drawing/2014/main" id="{6CF0BC7B-9216-4286-B650-58232B0944A0}"/>
              </a:ext>
            </a:extLst>
          </p:cNvPr>
          <p:cNvSpPr>
            <a:spLocks noGrp="1"/>
          </p:cNvSpPr>
          <p:nvPr>
            <p:ph idx="1"/>
          </p:nvPr>
        </p:nvSpPr>
        <p:spPr>
          <a:xfrm>
            <a:off x="221941" y="1429305"/>
            <a:ext cx="11904955" cy="4747658"/>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Reduce </a:t>
            </a:r>
            <a:r>
              <a:rPr lang="en-US" b="1" dirty="0">
                <a:latin typeface="Times New Roman" panose="02020603050405020304" pitchFamily="18" charset="0"/>
                <a:cs typeface="Times New Roman" panose="02020603050405020304" pitchFamily="18" charset="0"/>
              </a:rPr>
              <a:t>external fragmentation </a:t>
            </a:r>
            <a:r>
              <a:rPr lang="en-US" dirty="0">
                <a:latin typeface="Times New Roman" panose="02020603050405020304" pitchFamily="18" charset="0"/>
                <a:cs typeface="Times New Roman" panose="02020603050405020304" pitchFamily="18" charset="0"/>
              </a:rPr>
              <a:t>by </a:t>
            </a:r>
            <a:r>
              <a:rPr lang="en-US" b="1" dirty="0">
                <a:latin typeface="Times New Roman" panose="02020603050405020304" pitchFamily="18" charset="0"/>
                <a:cs typeface="Times New Roman" panose="02020603050405020304" pitchFamily="18" charset="0"/>
              </a:rPr>
              <a:t>compaction</a:t>
            </a:r>
            <a:r>
              <a:rPr lang="en-US" dirty="0">
                <a:latin typeface="Times New Roman" panose="02020603050405020304" pitchFamily="18" charset="0"/>
                <a:cs typeface="Times New Roman" panose="02020603050405020304" pitchFamily="18" charset="0"/>
              </a:rPr>
              <a:t>  </a:t>
            </a:r>
          </a:p>
          <a:p>
            <a:pPr algn="just">
              <a:lnSpc>
                <a:spcPct val="150000"/>
              </a:lnSpc>
            </a:pPr>
            <a:endParaRPr lang="en-US" dirty="0">
              <a:latin typeface="Times New Roman" panose="02020603050405020304" pitchFamily="18" charset="0"/>
              <a:cs typeface="Times New Roman" panose="02020603050405020304" pitchFamily="18" charset="0"/>
            </a:endParaRPr>
          </a:p>
          <a:p>
            <a:pPr lvl="1" algn="just">
              <a:lnSpc>
                <a:spcPct val="150000"/>
              </a:lnSpc>
            </a:pPr>
            <a:r>
              <a:rPr lang="en-US" sz="2800" dirty="0">
                <a:latin typeface="Times New Roman" panose="02020603050405020304" pitchFamily="18" charset="0"/>
                <a:cs typeface="Times New Roman" panose="02020603050405020304" pitchFamily="18" charset="0"/>
              </a:rPr>
              <a:t>Shuffle memory contents to </a:t>
            </a:r>
            <a:r>
              <a:rPr lang="en-US" sz="2800" b="1" dirty="0">
                <a:solidFill>
                  <a:schemeClr val="accent2"/>
                </a:solidFill>
                <a:latin typeface="Times New Roman" panose="02020603050405020304" pitchFamily="18" charset="0"/>
                <a:cs typeface="Times New Roman" panose="02020603050405020304" pitchFamily="18" charset="0"/>
              </a:rPr>
              <a:t>place all free memory together in one large block </a:t>
            </a:r>
          </a:p>
          <a:p>
            <a:pPr lvl="1" algn="just">
              <a:lnSpc>
                <a:spcPct val="150000"/>
              </a:lnSpc>
            </a:pPr>
            <a:r>
              <a:rPr lang="en-US" sz="2800" dirty="0">
                <a:latin typeface="Times New Roman" panose="02020603050405020304" pitchFamily="18" charset="0"/>
                <a:cs typeface="Times New Roman" panose="02020603050405020304" pitchFamily="18" charset="0"/>
              </a:rPr>
              <a:t>Compaction is possible only if </a:t>
            </a:r>
            <a:r>
              <a:rPr lang="en-US" sz="2800" b="1" dirty="0">
                <a:latin typeface="Times New Roman" panose="02020603050405020304" pitchFamily="18" charset="0"/>
                <a:cs typeface="Times New Roman" panose="02020603050405020304" pitchFamily="18" charset="0"/>
              </a:rPr>
              <a:t>relocation is dynamic</a:t>
            </a:r>
            <a:r>
              <a:rPr lang="en-US" sz="2800" dirty="0">
                <a:latin typeface="Times New Roman" panose="02020603050405020304" pitchFamily="18" charset="0"/>
                <a:cs typeface="Times New Roman" panose="02020603050405020304" pitchFamily="18" charset="0"/>
              </a:rPr>
              <a:t>, and is done at execution time </a:t>
            </a:r>
          </a:p>
          <a:p>
            <a:pPr marL="457200" lvl="1" indent="0" algn="just">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8949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A52C9-F9D6-4571-92B9-335AF042940E}"/>
              </a:ext>
            </a:extLst>
          </p:cNvPr>
          <p:cNvSpPr>
            <a:spLocks noGrp="1"/>
          </p:cNvSpPr>
          <p:nvPr>
            <p:ph type="title"/>
          </p:nvPr>
        </p:nvSpPr>
        <p:spPr>
          <a:xfrm>
            <a:off x="212035" y="158266"/>
            <a:ext cx="11035748" cy="522771"/>
          </a:xfrm>
        </p:spPr>
        <p:txBody>
          <a:bodyPr>
            <a:noAutofit/>
          </a:bodyPr>
          <a:lstStyle/>
          <a:p>
            <a:pPr algn="ctr"/>
            <a:r>
              <a:rPr lang="en-US" sz="5400" b="1" dirty="0">
                <a:solidFill>
                  <a:srgbClr val="00B050"/>
                </a:solidFill>
                <a:latin typeface="Times New Roman" panose="02020603050405020304" pitchFamily="18" charset="0"/>
                <a:cs typeface="Times New Roman" panose="02020603050405020304" pitchFamily="18" charset="0"/>
              </a:rPr>
              <a:t>Paging</a:t>
            </a:r>
          </a:p>
        </p:txBody>
      </p:sp>
      <p:sp>
        <p:nvSpPr>
          <p:cNvPr id="3" name="Content Placeholder 2">
            <a:extLst>
              <a:ext uri="{FF2B5EF4-FFF2-40B4-BE49-F238E27FC236}">
                <a16:creationId xmlns:a16="http://schemas.microsoft.com/office/drawing/2014/main" id="{156325B5-D329-4336-8E0D-0E98052654C2}"/>
              </a:ext>
            </a:extLst>
          </p:cNvPr>
          <p:cNvSpPr>
            <a:spLocks noGrp="1"/>
          </p:cNvSpPr>
          <p:nvPr>
            <p:ph idx="1"/>
          </p:nvPr>
        </p:nvSpPr>
        <p:spPr>
          <a:xfrm>
            <a:off x="212035" y="1020416"/>
            <a:ext cx="11847443" cy="5837583"/>
          </a:xfrm>
        </p:spPr>
        <p:txBody>
          <a:bodyPr>
            <a:normAutofit/>
          </a:bodyPr>
          <a:lstStyle/>
          <a:p>
            <a:pPr>
              <a:lnSpc>
                <a:spcPct val="150000"/>
              </a:lnSpc>
            </a:pPr>
            <a:r>
              <a:rPr lang="en-US" altLang="en-US" sz="2400" dirty="0">
                <a:latin typeface="Times New Roman" panose="02020603050405020304" pitchFamily="18" charset="0"/>
                <a:cs typeface="Times New Roman" panose="02020603050405020304" pitchFamily="18" charset="0"/>
              </a:rPr>
              <a:t>Physical  address space of a process can be </a:t>
            </a:r>
            <a:r>
              <a:rPr lang="en-US" altLang="en-US" sz="2400" b="1" dirty="0">
                <a:latin typeface="Times New Roman" panose="02020603050405020304" pitchFamily="18" charset="0"/>
                <a:cs typeface="Times New Roman" panose="02020603050405020304" pitchFamily="18" charset="0"/>
              </a:rPr>
              <a:t>noncontiguous</a:t>
            </a:r>
            <a:r>
              <a:rPr lang="en-US" altLang="en-US" sz="2400" dirty="0">
                <a:latin typeface="Times New Roman" panose="02020603050405020304" pitchFamily="18" charset="0"/>
                <a:cs typeface="Times New Roman" panose="02020603050405020304" pitchFamily="18" charset="0"/>
              </a:rPr>
              <a:t>; process is allocated physical memory whenever the latter is available</a:t>
            </a:r>
          </a:p>
          <a:p>
            <a:pPr lvl="1">
              <a:lnSpc>
                <a:spcPct val="150000"/>
              </a:lnSpc>
            </a:pPr>
            <a:r>
              <a:rPr lang="en-US" altLang="en-US" dirty="0">
                <a:latin typeface="Times New Roman" panose="02020603050405020304" pitchFamily="18" charset="0"/>
                <a:cs typeface="Times New Roman" panose="02020603050405020304" pitchFamily="18" charset="0"/>
              </a:rPr>
              <a:t>Avoids external fragmentation</a:t>
            </a:r>
          </a:p>
          <a:p>
            <a:pPr lvl="1">
              <a:lnSpc>
                <a:spcPct val="150000"/>
              </a:lnSpc>
            </a:pPr>
            <a:r>
              <a:rPr lang="en-US" altLang="en-US" dirty="0">
                <a:latin typeface="Times New Roman" panose="02020603050405020304" pitchFamily="18" charset="0"/>
                <a:cs typeface="Times New Roman" panose="02020603050405020304" pitchFamily="18" charset="0"/>
              </a:rPr>
              <a:t>Avoids problem of varying sized memory chunks</a:t>
            </a:r>
          </a:p>
          <a:p>
            <a:pPr>
              <a:lnSpc>
                <a:spcPct val="150000"/>
              </a:lnSpc>
            </a:pPr>
            <a:r>
              <a:rPr lang="en-US" altLang="en-US" sz="2400" dirty="0">
                <a:latin typeface="Times New Roman" panose="02020603050405020304" pitchFamily="18" charset="0"/>
                <a:cs typeface="Times New Roman" panose="02020603050405020304" pitchFamily="18" charset="0"/>
              </a:rPr>
              <a:t>Divide physical memory into fixed-sized blocks called </a:t>
            </a:r>
            <a:r>
              <a:rPr lang="en-US" altLang="en-US" sz="2400" b="1" dirty="0">
                <a:solidFill>
                  <a:srgbClr val="006699"/>
                </a:solidFill>
                <a:latin typeface="Times New Roman" panose="02020603050405020304" pitchFamily="18" charset="0"/>
                <a:cs typeface="Times New Roman" panose="02020603050405020304" pitchFamily="18" charset="0"/>
              </a:rPr>
              <a:t>frames</a:t>
            </a:r>
          </a:p>
          <a:p>
            <a:pPr lvl="1">
              <a:lnSpc>
                <a:spcPct val="150000"/>
              </a:lnSpc>
            </a:pPr>
            <a:r>
              <a:rPr lang="en-US" altLang="en-US" dirty="0">
                <a:solidFill>
                  <a:srgbClr val="000000"/>
                </a:solidFill>
                <a:latin typeface="Times New Roman" panose="02020603050405020304" pitchFamily="18" charset="0"/>
                <a:cs typeface="Times New Roman" panose="02020603050405020304" pitchFamily="18" charset="0"/>
              </a:rPr>
              <a:t>Size </a:t>
            </a:r>
            <a:r>
              <a:rPr lang="en-US" altLang="en-US" dirty="0">
                <a:latin typeface="Times New Roman" panose="02020603050405020304" pitchFamily="18" charset="0"/>
                <a:cs typeface="Times New Roman" panose="02020603050405020304" pitchFamily="18" charset="0"/>
              </a:rPr>
              <a:t>is power of 2, between 512 bytes and 16 Mbytes</a:t>
            </a:r>
          </a:p>
          <a:p>
            <a:pPr>
              <a:lnSpc>
                <a:spcPct val="150000"/>
              </a:lnSpc>
            </a:pPr>
            <a:r>
              <a:rPr lang="en-US" altLang="en-US" sz="2400" dirty="0">
                <a:latin typeface="Times New Roman" panose="02020603050405020304" pitchFamily="18" charset="0"/>
                <a:cs typeface="Times New Roman" panose="02020603050405020304" pitchFamily="18" charset="0"/>
              </a:rPr>
              <a:t>Divide logical memory into blocks of same size called </a:t>
            </a:r>
            <a:r>
              <a:rPr lang="en-US" altLang="en-US" sz="2400" b="1" dirty="0">
                <a:solidFill>
                  <a:srgbClr val="006699"/>
                </a:solidFill>
                <a:latin typeface="Times New Roman" panose="02020603050405020304" pitchFamily="18" charset="0"/>
                <a:cs typeface="Times New Roman" panose="02020603050405020304" pitchFamily="18" charset="0"/>
              </a:rPr>
              <a:t>pages</a:t>
            </a:r>
          </a:p>
        </p:txBody>
      </p:sp>
    </p:spTree>
    <p:extLst>
      <p:ext uri="{BB962C8B-B14F-4D97-AF65-F5344CB8AC3E}">
        <p14:creationId xmlns:p14="http://schemas.microsoft.com/office/powerpoint/2010/main" val="3688955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03E3F-3364-4CEE-8054-DA276AFFC99C}"/>
              </a:ext>
            </a:extLst>
          </p:cNvPr>
          <p:cNvSpPr>
            <a:spLocks noGrp="1"/>
          </p:cNvSpPr>
          <p:nvPr>
            <p:ph type="title"/>
          </p:nvPr>
        </p:nvSpPr>
        <p:spPr>
          <a:xfrm>
            <a:off x="62144" y="365126"/>
            <a:ext cx="11291656" cy="558152"/>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Paging</a:t>
            </a:r>
            <a:endParaRPr lang="en-IN" dirty="0"/>
          </a:p>
        </p:txBody>
      </p:sp>
      <p:sp>
        <p:nvSpPr>
          <p:cNvPr id="3" name="Content Placeholder 2">
            <a:extLst>
              <a:ext uri="{FF2B5EF4-FFF2-40B4-BE49-F238E27FC236}">
                <a16:creationId xmlns:a16="http://schemas.microsoft.com/office/drawing/2014/main" id="{9A9DA681-9F58-459F-AF12-F3EB5510B7E7}"/>
              </a:ext>
            </a:extLst>
          </p:cNvPr>
          <p:cNvSpPr>
            <a:spLocks noGrp="1"/>
          </p:cNvSpPr>
          <p:nvPr>
            <p:ph idx="1"/>
          </p:nvPr>
        </p:nvSpPr>
        <p:spPr>
          <a:xfrm>
            <a:off x="186431" y="1615735"/>
            <a:ext cx="11167369" cy="4561227"/>
          </a:xfrm>
        </p:spPr>
        <p:txBody>
          <a:bodyPr/>
          <a:lstStyle/>
          <a:p>
            <a:pPr>
              <a:lnSpc>
                <a:spcPct val="100000"/>
              </a:lnSpc>
            </a:pPr>
            <a:r>
              <a:rPr lang="en-US" altLang="en-US" dirty="0">
                <a:latin typeface="Times New Roman" panose="02020603050405020304" pitchFamily="18" charset="0"/>
                <a:cs typeface="Times New Roman" panose="02020603050405020304" pitchFamily="18" charset="0"/>
              </a:rPr>
              <a:t>Keep track of all free frames</a:t>
            </a:r>
          </a:p>
          <a:p>
            <a:pPr>
              <a:lnSpc>
                <a:spcPct val="100000"/>
              </a:lnSpc>
            </a:pPr>
            <a:r>
              <a:rPr lang="en-US" altLang="en-US" dirty="0">
                <a:latin typeface="Times New Roman" panose="02020603050405020304" pitchFamily="18" charset="0"/>
                <a:cs typeface="Times New Roman" panose="02020603050405020304" pitchFamily="18" charset="0"/>
              </a:rPr>
              <a:t>To run a program of size </a:t>
            </a:r>
            <a:r>
              <a:rPr lang="en-US" altLang="en-US" b="1" i="1" dirty="0">
                <a:latin typeface="Times New Roman" panose="02020603050405020304" pitchFamily="18" charset="0"/>
                <a:cs typeface="Times New Roman" panose="02020603050405020304" pitchFamily="18" charset="0"/>
              </a:rPr>
              <a:t>N</a:t>
            </a:r>
            <a:r>
              <a:rPr lang="en-US" altLang="en-US" i="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pages, need to find </a:t>
            </a:r>
            <a:r>
              <a:rPr lang="en-US" altLang="en-US" b="1"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free frames and load program</a:t>
            </a:r>
          </a:p>
          <a:p>
            <a:pPr>
              <a:lnSpc>
                <a:spcPct val="100000"/>
              </a:lnSpc>
            </a:pPr>
            <a:r>
              <a:rPr lang="en-US" altLang="en-US" dirty="0">
                <a:latin typeface="Times New Roman" panose="02020603050405020304" pitchFamily="18" charset="0"/>
                <a:cs typeface="Times New Roman" panose="02020603050405020304" pitchFamily="18" charset="0"/>
              </a:rPr>
              <a:t>Set up a </a:t>
            </a:r>
            <a:r>
              <a:rPr lang="en-US" altLang="en-US" b="1" dirty="0">
                <a:solidFill>
                  <a:srgbClr val="006699"/>
                </a:solidFill>
                <a:latin typeface="Times New Roman" panose="02020603050405020304" pitchFamily="18" charset="0"/>
                <a:cs typeface="Times New Roman" panose="02020603050405020304" pitchFamily="18" charset="0"/>
              </a:rPr>
              <a:t>page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table</a:t>
            </a:r>
            <a:r>
              <a:rPr lang="en-US" altLang="en-US" dirty="0">
                <a:latin typeface="Times New Roman" panose="02020603050405020304" pitchFamily="18" charset="0"/>
                <a:cs typeface="Times New Roman" panose="02020603050405020304" pitchFamily="18" charset="0"/>
              </a:rPr>
              <a:t> to translate logical to physical addresses</a:t>
            </a:r>
          </a:p>
          <a:p>
            <a:pPr marL="0" indent="0">
              <a:buNone/>
            </a:pPr>
            <a:endParaRPr lang="en-IN" dirty="0"/>
          </a:p>
        </p:txBody>
      </p:sp>
    </p:spTree>
    <p:extLst>
      <p:ext uri="{BB962C8B-B14F-4D97-AF65-F5344CB8AC3E}">
        <p14:creationId xmlns:p14="http://schemas.microsoft.com/office/powerpoint/2010/main" val="273007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3023-4F57-4718-84F7-83BD97CCFE77}"/>
              </a:ext>
            </a:extLst>
          </p:cNvPr>
          <p:cNvSpPr>
            <a:spLocks noGrp="1"/>
          </p:cNvSpPr>
          <p:nvPr>
            <p:ph type="title"/>
          </p:nvPr>
        </p:nvSpPr>
        <p:spPr>
          <a:xfrm>
            <a:off x="177553" y="181993"/>
            <a:ext cx="11176247" cy="696897"/>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Cont..</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A685A6-2E64-47C1-A66A-FD6ABBA71859}"/>
              </a:ext>
            </a:extLst>
          </p:cNvPr>
          <p:cNvSpPr>
            <a:spLocks noGrp="1"/>
          </p:cNvSpPr>
          <p:nvPr>
            <p:ph idx="1"/>
          </p:nvPr>
        </p:nvSpPr>
        <p:spPr>
          <a:xfrm>
            <a:off x="310717" y="1012054"/>
            <a:ext cx="11780669" cy="5663953"/>
          </a:xfrm>
        </p:spPr>
        <p:txBody>
          <a:bodyPr/>
          <a:lstStyle/>
          <a:p>
            <a:pPr>
              <a:lnSpc>
                <a:spcPct val="150000"/>
              </a:lnSpc>
              <a:defRPr/>
            </a:pPr>
            <a:r>
              <a:rPr lang="en-US" altLang="en-US" sz="2400" dirty="0">
                <a:latin typeface="Times New Roman" panose="02020603050405020304" pitchFamily="18" charset="0"/>
                <a:cs typeface="Times New Roman" panose="02020603050405020304" pitchFamily="18" charset="0"/>
              </a:rPr>
              <a:t>Address generated by CPU is divided into:</a:t>
            </a:r>
          </a:p>
          <a:p>
            <a:pPr lvl="1">
              <a:lnSpc>
                <a:spcPct val="150000"/>
              </a:lnSpc>
              <a:defRPr/>
            </a:pPr>
            <a:r>
              <a:rPr lang="en-US" altLang="en-US" b="1" dirty="0">
                <a:solidFill>
                  <a:srgbClr val="006699"/>
                </a:solidFill>
                <a:latin typeface="Times New Roman" panose="02020603050405020304" pitchFamily="18" charset="0"/>
                <a:cs typeface="Times New Roman" panose="02020603050405020304" pitchFamily="18" charset="0"/>
              </a:rPr>
              <a:t>Page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number</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t>
            </a:r>
            <a:r>
              <a:rPr lang="en-US" altLang="en-US" b="1" i="1" dirty="0">
                <a:solidFill>
                  <a:srgbClr val="006699"/>
                </a:solidFill>
                <a:latin typeface="Times New Roman" panose="02020603050405020304" pitchFamily="18" charset="0"/>
                <a:cs typeface="Times New Roman" panose="02020603050405020304" pitchFamily="18" charset="0"/>
              </a:rPr>
              <a:t>p</a:t>
            </a:r>
            <a:r>
              <a:rPr lang="en-US" altLang="en-US" dirty="0">
                <a:latin typeface="Times New Roman" panose="02020603050405020304" pitchFamily="18" charset="0"/>
                <a:cs typeface="Times New Roman" panose="02020603050405020304" pitchFamily="18" charset="0"/>
              </a:rPr>
              <a:t>)</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used as an index into a </a:t>
            </a:r>
            <a:r>
              <a:rPr lang="en-US" altLang="en-US" b="1" dirty="0">
                <a:solidFill>
                  <a:srgbClr val="006699"/>
                </a:solidFill>
                <a:latin typeface="Times New Roman" panose="02020603050405020304" pitchFamily="18" charset="0"/>
                <a:cs typeface="Times New Roman" panose="02020603050405020304" pitchFamily="18" charset="0"/>
              </a:rPr>
              <a:t>page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table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which contains base address of each page in physical memory</a:t>
            </a:r>
          </a:p>
          <a:p>
            <a:pPr lvl="1">
              <a:lnSpc>
                <a:spcPct val="150000"/>
              </a:lnSpc>
              <a:defRPr/>
            </a:pPr>
            <a:r>
              <a:rPr lang="en-US" altLang="en-US" b="1" dirty="0">
                <a:solidFill>
                  <a:srgbClr val="006699"/>
                </a:solidFill>
                <a:latin typeface="Times New Roman" panose="02020603050405020304" pitchFamily="18" charset="0"/>
                <a:cs typeface="Times New Roman" panose="02020603050405020304" pitchFamily="18" charset="0"/>
              </a:rPr>
              <a:t>Page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offset</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t>
            </a:r>
            <a:r>
              <a:rPr lang="en-US" altLang="en-US" b="1" i="1" dirty="0">
                <a:solidFill>
                  <a:srgbClr val="006699"/>
                </a:solidFill>
                <a:latin typeface="Times New Roman" panose="02020603050405020304" pitchFamily="18" charset="0"/>
                <a:cs typeface="Times New Roman" panose="02020603050405020304" pitchFamily="18" charset="0"/>
              </a:rPr>
              <a:t>d</a:t>
            </a:r>
            <a:r>
              <a:rPr lang="en-US" altLang="en-US" dirty="0">
                <a:latin typeface="Times New Roman" panose="02020603050405020304" pitchFamily="18" charset="0"/>
                <a:cs typeface="Times New Roman" panose="02020603050405020304" pitchFamily="18" charset="0"/>
              </a:rPr>
              <a:t>)</a:t>
            </a:r>
            <a:r>
              <a:rPr lang="en-US" altLang="en-US"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combined with base address to define the physical memory address that is sent to the memory unit</a:t>
            </a:r>
          </a:p>
          <a:p>
            <a:pPr lvl="1">
              <a:lnSpc>
                <a:spcPct val="150000"/>
              </a:lnSpc>
              <a:defRPr/>
            </a:pPr>
            <a:endParaRPr lang="en-US" altLang="en-US" dirty="0">
              <a:latin typeface="Times New Roman" panose="02020603050405020304" pitchFamily="18" charset="0"/>
              <a:cs typeface="Times New Roman" panose="02020603050405020304" pitchFamily="18" charset="0"/>
            </a:endParaRPr>
          </a:p>
          <a:p>
            <a:pPr lvl="1">
              <a:lnSpc>
                <a:spcPct val="150000"/>
              </a:lnSpc>
              <a:defRPr/>
            </a:pPr>
            <a:r>
              <a:rPr lang="en-US" altLang="en-US" dirty="0">
                <a:latin typeface="Times New Roman" panose="02020603050405020304" pitchFamily="18" charset="0"/>
                <a:cs typeface="Times New Roman" panose="02020603050405020304" pitchFamily="18" charset="0"/>
              </a:rPr>
              <a:t>For given logical address space 2</a:t>
            </a:r>
            <a:r>
              <a:rPr lang="en-US" altLang="en-US" i="1" baseline="30000" dirty="0">
                <a:latin typeface="Times New Roman" panose="02020603050405020304" pitchFamily="18" charset="0"/>
                <a:cs typeface="Times New Roman" panose="02020603050405020304" pitchFamily="18" charset="0"/>
              </a:rPr>
              <a:t>m </a:t>
            </a:r>
            <a:r>
              <a:rPr lang="en-US" altLang="en-US" dirty="0">
                <a:latin typeface="Times New Roman" panose="02020603050405020304" pitchFamily="18" charset="0"/>
                <a:cs typeface="Times New Roman" panose="02020603050405020304" pitchFamily="18" charset="0"/>
              </a:rPr>
              <a:t>and page size</a:t>
            </a:r>
            <a:r>
              <a:rPr lang="en-US" altLang="en-US" baseline="30000"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2</a:t>
            </a:r>
            <a:r>
              <a:rPr lang="en-US" altLang="en-US" baseline="30000" dirty="0">
                <a:latin typeface="Times New Roman" panose="02020603050405020304" pitchFamily="18" charset="0"/>
                <a:cs typeface="Times New Roman" panose="02020603050405020304" pitchFamily="18" charset="0"/>
              </a:rPr>
              <a:t>n</a:t>
            </a:r>
          </a:p>
          <a:p>
            <a:pPr marL="457200" lvl="1" indent="0">
              <a:lnSpc>
                <a:spcPct val="150000"/>
              </a:lnSpc>
              <a:buNone/>
              <a:defRPr/>
            </a:pPr>
            <a:endParaRPr lang="en-US" altLang="en-US" dirty="0"/>
          </a:p>
          <a:p>
            <a:pPr marL="0" indent="0">
              <a:buNone/>
            </a:pPr>
            <a:endParaRPr lang="en-IN" dirty="0"/>
          </a:p>
        </p:txBody>
      </p:sp>
      <p:pic>
        <p:nvPicPr>
          <p:cNvPr id="4" name="Picture 3" descr="A screenshot of a social media post&#10;&#10;Description automatically generated">
            <a:extLst>
              <a:ext uri="{FF2B5EF4-FFF2-40B4-BE49-F238E27FC236}">
                <a16:creationId xmlns:a16="http://schemas.microsoft.com/office/drawing/2014/main" id="{C56BE8CA-A6C8-4BB5-8045-733A966585F0}"/>
              </a:ext>
            </a:extLst>
          </p:cNvPr>
          <p:cNvPicPr>
            <a:picLocks noChangeAspect="1"/>
          </p:cNvPicPr>
          <p:nvPr/>
        </p:nvPicPr>
        <p:blipFill>
          <a:blip r:embed="rId2"/>
          <a:stretch>
            <a:fillRect/>
          </a:stretch>
        </p:blipFill>
        <p:spPr>
          <a:xfrm>
            <a:off x="5504740" y="3844030"/>
            <a:ext cx="3382524" cy="626532"/>
          </a:xfrm>
          <a:prstGeom prst="rect">
            <a:avLst/>
          </a:prstGeom>
        </p:spPr>
      </p:pic>
      <p:pic>
        <p:nvPicPr>
          <p:cNvPr id="5" name="Picture 4">
            <a:extLst>
              <a:ext uri="{FF2B5EF4-FFF2-40B4-BE49-F238E27FC236}">
                <a16:creationId xmlns:a16="http://schemas.microsoft.com/office/drawing/2014/main" id="{431E9C04-7F08-445F-881F-E233F55F0AFA}"/>
              </a:ext>
            </a:extLst>
          </p:cNvPr>
          <p:cNvPicPr>
            <a:picLocks noChangeAspect="1"/>
          </p:cNvPicPr>
          <p:nvPr/>
        </p:nvPicPr>
        <p:blipFill>
          <a:blip r:embed="rId3"/>
          <a:stretch>
            <a:fillRect/>
          </a:stretch>
        </p:blipFill>
        <p:spPr>
          <a:xfrm>
            <a:off x="5589012" y="5725344"/>
            <a:ext cx="3382524" cy="774881"/>
          </a:xfrm>
          <a:prstGeom prst="rect">
            <a:avLst/>
          </a:prstGeom>
        </p:spPr>
      </p:pic>
    </p:spTree>
    <p:extLst>
      <p:ext uri="{BB962C8B-B14F-4D97-AF65-F5344CB8AC3E}">
        <p14:creationId xmlns:p14="http://schemas.microsoft.com/office/powerpoint/2010/main" val="3487911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9D55-1C86-43F1-A8F7-93C6E8DF2949}"/>
              </a:ext>
            </a:extLst>
          </p:cNvPr>
          <p:cNvSpPr>
            <a:spLocks noGrp="1"/>
          </p:cNvSpPr>
          <p:nvPr>
            <p:ph type="title"/>
          </p:nvPr>
        </p:nvSpPr>
        <p:spPr>
          <a:xfrm>
            <a:off x="97654" y="239698"/>
            <a:ext cx="11256146" cy="571902"/>
          </a:xfrm>
        </p:spPr>
        <p:txBody>
          <a:bodyPr>
            <a:normAutofit fontScale="90000"/>
          </a:bodyPr>
          <a:lstStyle/>
          <a:p>
            <a:r>
              <a:rPr lang="en-US" b="1" dirty="0">
                <a:solidFill>
                  <a:srgbClr val="00B050"/>
                </a:solidFill>
              </a:rPr>
              <a:t>Paging Hardware</a:t>
            </a:r>
            <a:endParaRPr lang="en-IN" dirty="0"/>
          </a:p>
        </p:txBody>
      </p:sp>
      <p:pic>
        <p:nvPicPr>
          <p:cNvPr id="3" name="Content Placeholder 4">
            <a:extLst>
              <a:ext uri="{FF2B5EF4-FFF2-40B4-BE49-F238E27FC236}">
                <a16:creationId xmlns:a16="http://schemas.microsoft.com/office/drawing/2014/main" id="{28054B50-4B82-4ECF-93F6-06F0CB4EB1CC}"/>
              </a:ext>
            </a:extLst>
          </p:cNvPr>
          <p:cNvPicPr>
            <a:picLocks noChangeAspect="1"/>
          </p:cNvPicPr>
          <p:nvPr/>
        </p:nvPicPr>
        <p:blipFill>
          <a:blip r:embed="rId2"/>
          <a:stretch>
            <a:fillRect/>
          </a:stretch>
        </p:blipFill>
        <p:spPr>
          <a:xfrm>
            <a:off x="3187148" y="939619"/>
            <a:ext cx="5817704" cy="5461181"/>
          </a:xfrm>
          <a:prstGeom prst="rect">
            <a:avLst/>
          </a:prstGeom>
        </p:spPr>
      </p:pic>
    </p:spTree>
    <p:extLst>
      <p:ext uri="{BB962C8B-B14F-4D97-AF65-F5344CB8AC3E}">
        <p14:creationId xmlns:p14="http://schemas.microsoft.com/office/powerpoint/2010/main" val="1079221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B92A-CF50-4E0A-AAF3-14603B07BF50}"/>
              </a:ext>
            </a:extLst>
          </p:cNvPr>
          <p:cNvSpPr>
            <a:spLocks noGrp="1"/>
          </p:cNvSpPr>
          <p:nvPr>
            <p:ph type="title"/>
          </p:nvPr>
        </p:nvSpPr>
        <p:spPr>
          <a:xfrm>
            <a:off x="97654" y="365125"/>
            <a:ext cx="11256146" cy="593663"/>
          </a:xfrm>
        </p:spPr>
        <p:txBody>
          <a:bodyPr>
            <a:noAutofit/>
          </a:bodyPr>
          <a:lstStyle/>
          <a:p>
            <a:r>
              <a:rPr lang="en-US" sz="4000" b="1" dirty="0">
                <a:solidFill>
                  <a:srgbClr val="00B050"/>
                </a:solidFill>
                <a:latin typeface="Times New Roman" panose="02020603050405020304" pitchFamily="18" charset="0"/>
                <a:cs typeface="Times New Roman" panose="02020603050405020304" pitchFamily="18" charset="0"/>
              </a:rPr>
              <a:t>Paging model of logical and physical memory</a:t>
            </a:r>
          </a:p>
        </p:txBody>
      </p:sp>
      <p:pic>
        <p:nvPicPr>
          <p:cNvPr id="5" name="Content Placeholder 4">
            <a:extLst>
              <a:ext uri="{FF2B5EF4-FFF2-40B4-BE49-F238E27FC236}">
                <a16:creationId xmlns:a16="http://schemas.microsoft.com/office/drawing/2014/main" id="{0E403828-C336-4768-B38A-6693A5420853}"/>
              </a:ext>
            </a:extLst>
          </p:cNvPr>
          <p:cNvPicPr>
            <a:picLocks noGrp="1" noChangeAspect="1"/>
          </p:cNvPicPr>
          <p:nvPr>
            <p:ph idx="1"/>
          </p:nvPr>
        </p:nvPicPr>
        <p:blipFill>
          <a:blip r:embed="rId2"/>
          <a:stretch>
            <a:fillRect/>
          </a:stretch>
        </p:blipFill>
        <p:spPr>
          <a:xfrm>
            <a:off x="3304725" y="1663085"/>
            <a:ext cx="5934165" cy="3209925"/>
          </a:xfrm>
        </p:spPr>
      </p:pic>
    </p:spTree>
    <p:extLst>
      <p:ext uri="{BB962C8B-B14F-4D97-AF65-F5344CB8AC3E}">
        <p14:creationId xmlns:p14="http://schemas.microsoft.com/office/powerpoint/2010/main" val="1587817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0BA35-6751-4E6D-9065-104D34805E85}"/>
              </a:ext>
            </a:extLst>
          </p:cNvPr>
          <p:cNvSpPr>
            <a:spLocks noGrp="1"/>
          </p:cNvSpPr>
          <p:nvPr>
            <p:ph type="title"/>
          </p:nvPr>
        </p:nvSpPr>
        <p:spPr>
          <a:xfrm>
            <a:off x="204186" y="133166"/>
            <a:ext cx="11149614" cy="603682"/>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Cont..</a:t>
            </a:r>
            <a:endParaRPr lang="en-IN" b="1" dirty="0">
              <a:solidFill>
                <a:srgbClr val="00B050"/>
              </a:solidFill>
              <a:latin typeface="Times New Roman" panose="02020603050405020304" pitchFamily="18" charset="0"/>
              <a:cs typeface="Times New Roman" panose="02020603050405020304" pitchFamily="18" charset="0"/>
            </a:endParaRPr>
          </a:p>
        </p:txBody>
      </p:sp>
      <p:pic>
        <p:nvPicPr>
          <p:cNvPr id="3" name="Content Placeholder 4">
            <a:extLst>
              <a:ext uri="{FF2B5EF4-FFF2-40B4-BE49-F238E27FC236}">
                <a16:creationId xmlns:a16="http://schemas.microsoft.com/office/drawing/2014/main" id="{B0E19C97-997C-4D8B-9E97-E8095E0464C8}"/>
              </a:ext>
            </a:extLst>
          </p:cNvPr>
          <p:cNvPicPr>
            <a:picLocks noChangeAspect="1"/>
          </p:cNvPicPr>
          <p:nvPr/>
        </p:nvPicPr>
        <p:blipFill>
          <a:blip r:embed="rId2"/>
          <a:stretch>
            <a:fillRect/>
          </a:stretch>
        </p:blipFill>
        <p:spPr>
          <a:xfrm>
            <a:off x="1940943" y="60385"/>
            <a:ext cx="7898795" cy="5151059"/>
          </a:xfrm>
          <a:prstGeom prst="rect">
            <a:avLst/>
          </a:prstGeom>
        </p:spPr>
      </p:pic>
      <p:sp>
        <p:nvSpPr>
          <p:cNvPr id="4" name="TextBox 3">
            <a:extLst>
              <a:ext uri="{FF2B5EF4-FFF2-40B4-BE49-F238E27FC236}">
                <a16:creationId xmlns:a16="http://schemas.microsoft.com/office/drawing/2014/main" id="{EB5336C1-0905-4A01-B901-F28654127224}"/>
              </a:ext>
            </a:extLst>
          </p:cNvPr>
          <p:cNvSpPr txBox="1"/>
          <p:nvPr/>
        </p:nvSpPr>
        <p:spPr>
          <a:xfrm>
            <a:off x="701336" y="5473682"/>
            <a:ext cx="11230252" cy="147732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Indexing into the page table, we find that page 0 is in frame 5. Thus, logical address 0 maps to physical address 20 [= (5 × 4) + 0]. Logical address 3 (page 0, offset 3) maps to physical address 23 [= (5 × 4) + 3</a:t>
            </a:r>
          </a:p>
          <a:p>
            <a:endParaRPr lang="en-IN" dirty="0"/>
          </a:p>
        </p:txBody>
      </p:sp>
    </p:spTree>
    <p:extLst>
      <p:ext uri="{BB962C8B-B14F-4D97-AF65-F5344CB8AC3E}">
        <p14:creationId xmlns:p14="http://schemas.microsoft.com/office/powerpoint/2010/main" val="2012207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89346-4C24-49B3-B293-50E6A40635EE}"/>
              </a:ext>
            </a:extLst>
          </p:cNvPr>
          <p:cNvSpPr>
            <a:spLocks noGrp="1"/>
          </p:cNvSpPr>
          <p:nvPr>
            <p:ph type="title"/>
          </p:nvPr>
        </p:nvSpPr>
        <p:spPr>
          <a:xfrm>
            <a:off x="159798" y="195310"/>
            <a:ext cx="11194001" cy="541538"/>
          </a:xfrm>
        </p:spPr>
        <p:txBody>
          <a:bodyPr>
            <a:normAutofit fontScale="90000"/>
          </a:bodyPr>
          <a:lstStyle/>
          <a:p>
            <a:r>
              <a:rPr lang="en-US" altLang="en-US" sz="4000" b="1" dirty="0">
                <a:solidFill>
                  <a:srgbClr val="00B050"/>
                </a:solidFill>
                <a:latin typeface="Times New Roman" panose="02020603050405020304" pitchFamily="18" charset="0"/>
                <a:cs typeface="Times New Roman" panose="02020603050405020304" pitchFamily="18" charset="0"/>
              </a:rPr>
              <a:t>Free Frames</a:t>
            </a:r>
            <a:endParaRPr lang="en-IN" sz="4000" dirty="0">
              <a:solidFill>
                <a:srgbClr val="00B050"/>
              </a:solidFill>
              <a:latin typeface="Times New Roman" panose="02020603050405020304" pitchFamily="18" charset="0"/>
              <a:cs typeface="Times New Roman" panose="02020603050405020304" pitchFamily="18" charset="0"/>
            </a:endParaRPr>
          </a:p>
        </p:txBody>
      </p:sp>
      <p:pic>
        <p:nvPicPr>
          <p:cNvPr id="3" name="Picture 7">
            <a:extLst>
              <a:ext uri="{FF2B5EF4-FFF2-40B4-BE49-F238E27FC236}">
                <a16:creationId xmlns:a16="http://schemas.microsoft.com/office/drawing/2014/main" id="{15292592-4BF5-4D0D-B456-FDD664AA42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4309" y="1485150"/>
            <a:ext cx="6484938" cy="478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FB090D4-40FC-400F-A3D7-5010B3F22D29}"/>
              </a:ext>
            </a:extLst>
          </p:cNvPr>
          <p:cNvSpPr txBox="1"/>
          <p:nvPr/>
        </p:nvSpPr>
        <p:spPr>
          <a:xfrm>
            <a:off x="3693692" y="6339525"/>
            <a:ext cx="1903086" cy="646331"/>
          </a:xfrm>
          <a:prstGeom prst="rect">
            <a:avLst/>
          </a:prstGeom>
          <a:noFill/>
        </p:spPr>
        <p:txBody>
          <a:bodyPr wrap="none" rtlCol="0">
            <a:spAutoFit/>
          </a:bodyPr>
          <a:lstStyle/>
          <a:p>
            <a:r>
              <a:rPr lang="en-US" altLang="en-US" dirty="0">
                <a:latin typeface="Helvetica" panose="020B0604020202020204" pitchFamily="34" charset="0"/>
              </a:rPr>
              <a:t>Before allocation</a:t>
            </a:r>
          </a:p>
          <a:p>
            <a:endParaRPr lang="en-IN" dirty="0"/>
          </a:p>
        </p:txBody>
      </p:sp>
      <p:sp>
        <p:nvSpPr>
          <p:cNvPr id="5" name="TextBox 4">
            <a:extLst>
              <a:ext uri="{FF2B5EF4-FFF2-40B4-BE49-F238E27FC236}">
                <a16:creationId xmlns:a16="http://schemas.microsoft.com/office/drawing/2014/main" id="{B5B0BC13-2360-47B7-9DF3-99F17ADED961}"/>
              </a:ext>
            </a:extLst>
          </p:cNvPr>
          <p:cNvSpPr txBox="1"/>
          <p:nvPr/>
        </p:nvSpPr>
        <p:spPr>
          <a:xfrm>
            <a:off x="6897950" y="6293358"/>
            <a:ext cx="1704513" cy="369332"/>
          </a:xfrm>
          <a:prstGeom prst="rect">
            <a:avLst/>
          </a:prstGeom>
          <a:noFill/>
        </p:spPr>
        <p:txBody>
          <a:bodyPr wrap="square" rtlCol="0">
            <a:spAutoFit/>
          </a:bodyPr>
          <a:lstStyle/>
          <a:p>
            <a:pPr algn="ctr">
              <a:spcBef>
                <a:spcPct val="50000"/>
              </a:spcBef>
            </a:pPr>
            <a:r>
              <a:rPr lang="en-US" altLang="en-US" dirty="0">
                <a:latin typeface="Helvetica" panose="020B0604020202020204" pitchFamily="34" charset="0"/>
              </a:rPr>
              <a:t>After allocation</a:t>
            </a:r>
          </a:p>
        </p:txBody>
      </p:sp>
    </p:spTree>
    <p:extLst>
      <p:ext uri="{BB962C8B-B14F-4D97-AF65-F5344CB8AC3E}">
        <p14:creationId xmlns:p14="http://schemas.microsoft.com/office/powerpoint/2010/main" val="3514784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D8B3-102E-4654-9C15-58EF6D621FD4}"/>
              </a:ext>
            </a:extLst>
          </p:cNvPr>
          <p:cNvSpPr>
            <a:spLocks noGrp="1"/>
          </p:cNvSpPr>
          <p:nvPr>
            <p:ph type="title"/>
          </p:nvPr>
        </p:nvSpPr>
        <p:spPr>
          <a:xfrm>
            <a:off x="186431" y="168677"/>
            <a:ext cx="11167369" cy="683579"/>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Hardware Implementation of Page Table</a:t>
            </a:r>
            <a:endParaRPr lang="en-IN" sz="40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B4E348-D8D0-4494-BF71-AE7E6230B585}"/>
              </a:ext>
            </a:extLst>
          </p:cNvPr>
          <p:cNvSpPr>
            <a:spLocks noGrp="1"/>
          </p:cNvSpPr>
          <p:nvPr>
            <p:ph idx="1"/>
          </p:nvPr>
        </p:nvSpPr>
        <p:spPr>
          <a:xfrm>
            <a:off x="301841" y="1748901"/>
            <a:ext cx="11594237" cy="4793941"/>
          </a:xfrm>
        </p:spPr>
        <p:txBody>
          <a:bodyPr>
            <a:normAutofit/>
          </a:bodyPr>
          <a:lstStyle/>
          <a:p>
            <a:pPr algn="just">
              <a:lnSpc>
                <a:spcPct val="150000"/>
              </a:lnSpc>
            </a:pPr>
            <a:r>
              <a:rPr lang="en-US" altLang="en-US" sz="2600" dirty="0">
                <a:latin typeface="Times New Roman" panose="02020603050405020304" pitchFamily="18" charset="0"/>
                <a:cs typeface="Times New Roman" panose="02020603050405020304" pitchFamily="18" charset="0"/>
              </a:rPr>
              <a:t>Page table is kept in main memory</a:t>
            </a:r>
          </a:p>
          <a:p>
            <a:pPr lvl="1" algn="just">
              <a:lnSpc>
                <a:spcPct val="150000"/>
              </a:lnSpc>
            </a:pPr>
            <a:r>
              <a:rPr lang="en-US" altLang="en-US" sz="2600" b="1" dirty="0">
                <a:solidFill>
                  <a:srgbClr val="006699"/>
                </a:solidFill>
                <a:latin typeface="Times New Roman" panose="02020603050405020304" pitchFamily="18" charset="0"/>
                <a:cs typeface="Times New Roman" panose="02020603050405020304" pitchFamily="18" charset="0"/>
              </a:rPr>
              <a:t>Page-table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base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register</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a:t>
            </a:r>
            <a:r>
              <a:rPr lang="en-US" altLang="en-US" sz="2600" b="1" dirty="0">
                <a:solidFill>
                  <a:srgbClr val="006699"/>
                </a:solidFill>
                <a:latin typeface="Times New Roman" panose="02020603050405020304" pitchFamily="18" charset="0"/>
                <a:cs typeface="Times New Roman" panose="02020603050405020304" pitchFamily="18" charset="0"/>
              </a:rPr>
              <a:t>PTBR</a:t>
            </a:r>
            <a:r>
              <a:rPr lang="en-US" altLang="en-US" sz="2600" dirty="0">
                <a:latin typeface="Times New Roman" panose="02020603050405020304" pitchFamily="18" charset="0"/>
                <a:cs typeface="Times New Roman" panose="02020603050405020304" pitchFamily="18" charset="0"/>
              </a:rPr>
              <a:t>)</a:t>
            </a:r>
            <a:r>
              <a:rPr lang="en-US" altLang="en-US" sz="2600"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points to the page table</a:t>
            </a:r>
          </a:p>
          <a:p>
            <a:pPr lvl="1" algn="just">
              <a:lnSpc>
                <a:spcPct val="150000"/>
              </a:lnSpc>
            </a:pPr>
            <a:r>
              <a:rPr lang="en-US" altLang="en-US" sz="2600" b="1" dirty="0">
                <a:solidFill>
                  <a:srgbClr val="006699"/>
                </a:solidFill>
                <a:latin typeface="Times New Roman" panose="02020603050405020304" pitchFamily="18" charset="0"/>
                <a:cs typeface="Times New Roman" panose="02020603050405020304" pitchFamily="18" charset="0"/>
              </a:rPr>
              <a:t>Page-table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length</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register</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a:t>
            </a:r>
            <a:r>
              <a:rPr lang="en-US" altLang="en-US" sz="2600" b="1" dirty="0">
                <a:solidFill>
                  <a:srgbClr val="006699"/>
                </a:solidFill>
                <a:latin typeface="Times New Roman" panose="02020603050405020304" pitchFamily="18" charset="0"/>
                <a:cs typeface="Times New Roman" panose="02020603050405020304" pitchFamily="18" charset="0"/>
              </a:rPr>
              <a:t>PTLR</a:t>
            </a:r>
            <a:r>
              <a:rPr lang="en-US" altLang="en-US" sz="2600" dirty="0">
                <a:latin typeface="Times New Roman" panose="02020603050405020304" pitchFamily="18" charset="0"/>
                <a:cs typeface="Times New Roman" panose="02020603050405020304" pitchFamily="18" charset="0"/>
              </a:rPr>
              <a:t>)</a:t>
            </a:r>
            <a:r>
              <a:rPr lang="en-US" altLang="en-US" sz="2600"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indicates size of the page table</a:t>
            </a:r>
          </a:p>
          <a:p>
            <a:pPr algn="just">
              <a:lnSpc>
                <a:spcPct val="150000"/>
              </a:lnSpc>
            </a:pPr>
            <a:r>
              <a:rPr lang="en-US" altLang="en-US" sz="2600" dirty="0">
                <a:latin typeface="Times New Roman" panose="02020603050405020304" pitchFamily="18" charset="0"/>
                <a:cs typeface="Times New Roman" panose="02020603050405020304" pitchFamily="18" charset="0"/>
              </a:rPr>
              <a:t>In this scheme every data/instruction access requires two memory accesses</a:t>
            </a:r>
          </a:p>
          <a:p>
            <a:pPr lvl="1" algn="just">
              <a:lnSpc>
                <a:spcPct val="150000"/>
              </a:lnSpc>
            </a:pPr>
            <a:r>
              <a:rPr lang="en-US" altLang="en-US" sz="2600" dirty="0">
                <a:latin typeface="Times New Roman" panose="02020603050405020304" pitchFamily="18" charset="0"/>
                <a:cs typeface="Times New Roman" panose="02020603050405020304" pitchFamily="18" charset="0"/>
              </a:rPr>
              <a:t>One for the page table and one for the data / instruction</a:t>
            </a:r>
          </a:p>
          <a:p>
            <a:pPr marL="0" indent="0" algn="just">
              <a:buNone/>
            </a:pPr>
            <a:endParaRPr lang="en-IN" dirty="0"/>
          </a:p>
        </p:txBody>
      </p:sp>
    </p:spTree>
    <p:extLst>
      <p:ext uri="{BB962C8B-B14F-4D97-AF65-F5344CB8AC3E}">
        <p14:creationId xmlns:p14="http://schemas.microsoft.com/office/powerpoint/2010/main" val="1921084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76CA0-2312-4FB6-A0C6-44E9079B694B}"/>
              </a:ext>
            </a:extLst>
          </p:cNvPr>
          <p:cNvSpPr>
            <a:spLocks noGrp="1"/>
          </p:cNvSpPr>
          <p:nvPr>
            <p:ph type="title"/>
          </p:nvPr>
        </p:nvSpPr>
        <p:spPr>
          <a:xfrm>
            <a:off x="168676" y="365126"/>
            <a:ext cx="11185124" cy="797850"/>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Translation Look-Aside Buffer </a:t>
            </a:r>
            <a:endParaRPr lang="en-IN" sz="40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F45127-7484-41E8-A294-C07E18806FCC}"/>
              </a:ext>
            </a:extLst>
          </p:cNvPr>
          <p:cNvSpPr>
            <a:spLocks noGrp="1"/>
          </p:cNvSpPr>
          <p:nvPr>
            <p:ph idx="1"/>
          </p:nvPr>
        </p:nvSpPr>
        <p:spPr>
          <a:xfrm>
            <a:off x="168676" y="1313894"/>
            <a:ext cx="11869444" cy="5178979"/>
          </a:xfrm>
        </p:spPr>
        <p:txBody>
          <a:bodyPr>
            <a:normAutofit lnSpcReduction="10000"/>
          </a:bodyPr>
          <a:lstStyle/>
          <a:p>
            <a:pPr>
              <a:lnSpc>
                <a:spcPct val="150000"/>
              </a:lnSpc>
            </a:pPr>
            <a:r>
              <a:rPr lang="en-US" altLang="en-US" sz="2600" dirty="0">
                <a:latin typeface="Times New Roman" panose="02020603050405020304" pitchFamily="18" charset="0"/>
                <a:cs typeface="Times New Roman" panose="02020603050405020304" pitchFamily="18" charset="0"/>
              </a:rPr>
              <a:t>The two-memory access problem can be solved by the use of a special fast-lookup hardware cache called  </a:t>
            </a:r>
            <a:r>
              <a:rPr lang="en-US" altLang="en-US" sz="2600" b="1" dirty="0">
                <a:solidFill>
                  <a:srgbClr val="006699"/>
                </a:solidFill>
                <a:latin typeface="Times New Roman" panose="02020603050405020304" pitchFamily="18" charset="0"/>
                <a:cs typeface="Times New Roman" panose="02020603050405020304" pitchFamily="18" charset="0"/>
              </a:rPr>
              <a:t>translation</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look-aside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buffers</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a:t>
            </a:r>
            <a:r>
              <a:rPr lang="en-US" altLang="en-US" sz="2600" b="1" dirty="0">
                <a:solidFill>
                  <a:srgbClr val="006699"/>
                </a:solidFill>
                <a:latin typeface="Times New Roman" panose="02020603050405020304" pitchFamily="18" charset="0"/>
                <a:cs typeface="Times New Roman" panose="02020603050405020304" pitchFamily="18" charset="0"/>
              </a:rPr>
              <a:t>TLBs</a:t>
            </a:r>
            <a:r>
              <a:rPr lang="en-US" altLang="en-US" sz="2600" dirty="0">
                <a:latin typeface="Times New Roman" panose="02020603050405020304" pitchFamily="18" charset="0"/>
                <a:cs typeface="Times New Roman" panose="02020603050405020304" pitchFamily="18" charset="0"/>
              </a:rPr>
              <a:t>) (also called </a:t>
            </a:r>
            <a:r>
              <a:rPr lang="en-US" altLang="en-US" sz="2600" b="1" dirty="0">
                <a:solidFill>
                  <a:srgbClr val="006699"/>
                </a:solidFill>
                <a:latin typeface="Times New Roman" panose="02020603050405020304" pitchFamily="18" charset="0"/>
                <a:cs typeface="Times New Roman" panose="02020603050405020304" pitchFamily="18" charset="0"/>
              </a:rPr>
              <a:t>associative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memory</a:t>
            </a:r>
            <a:r>
              <a:rPr lang="en-US" altLang="en-US" sz="2600" dirty="0">
                <a:latin typeface="Times New Roman" panose="02020603050405020304" pitchFamily="18" charset="0"/>
                <a:cs typeface="Times New Roman" panose="02020603050405020304" pitchFamily="18" charset="0"/>
              </a:rPr>
              <a:t>)</a:t>
            </a:r>
          </a:p>
          <a:p>
            <a:pPr>
              <a:lnSpc>
                <a:spcPct val="150000"/>
              </a:lnSpc>
            </a:pPr>
            <a:r>
              <a:rPr lang="en-US" altLang="en-US" sz="2600" dirty="0">
                <a:latin typeface="Times New Roman" panose="02020603050405020304" pitchFamily="18" charset="0"/>
                <a:cs typeface="Times New Roman" panose="02020603050405020304" pitchFamily="18" charset="0"/>
              </a:rPr>
              <a:t>TLBs typically small (64 to 1,024 entries)</a:t>
            </a:r>
          </a:p>
          <a:p>
            <a:pPr>
              <a:lnSpc>
                <a:spcPct val="150000"/>
              </a:lnSpc>
            </a:pPr>
            <a:r>
              <a:rPr lang="en-US" altLang="en-US" sz="2600" dirty="0">
                <a:latin typeface="Times New Roman" panose="02020603050405020304" pitchFamily="18" charset="0"/>
                <a:cs typeface="Times New Roman" panose="02020603050405020304" pitchFamily="18" charset="0"/>
              </a:rPr>
              <a:t>On a TLB miss, value is loaded into the TLB for faster access next time</a:t>
            </a:r>
          </a:p>
          <a:p>
            <a:pPr lvl="1">
              <a:lnSpc>
                <a:spcPct val="150000"/>
              </a:lnSpc>
            </a:pPr>
            <a:r>
              <a:rPr lang="en-US" altLang="en-US" sz="2600" dirty="0">
                <a:latin typeface="Times New Roman" panose="02020603050405020304" pitchFamily="18" charset="0"/>
                <a:cs typeface="Times New Roman" panose="02020603050405020304" pitchFamily="18" charset="0"/>
              </a:rPr>
              <a:t>Replacement policies must be considered</a:t>
            </a:r>
          </a:p>
          <a:p>
            <a:pPr lvl="1">
              <a:lnSpc>
                <a:spcPct val="150000"/>
              </a:lnSpc>
            </a:pPr>
            <a:r>
              <a:rPr lang="en-US" altLang="en-US" sz="2600" dirty="0">
                <a:latin typeface="Times New Roman" panose="02020603050405020304" pitchFamily="18" charset="0"/>
                <a:cs typeface="Times New Roman" panose="02020603050405020304" pitchFamily="18" charset="0"/>
              </a:rPr>
              <a:t>Some entries can be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write down</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for permanent fast access</a:t>
            </a:r>
          </a:p>
          <a:p>
            <a:pPr>
              <a:lnSpc>
                <a:spcPct val="150000"/>
              </a:lnSpc>
            </a:pPr>
            <a:r>
              <a:rPr lang="en-US" altLang="en-US" sz="2600" dirty="0">
                <a:latin typeface="Times New Roman" panose="02020603050405020304" pitchFamily="18" charset="0"/>
                <a:cs typeface="Times New Roman" panose="02020603050405020304" pitchFamily="18" charset="0"/>
              </a:rPr>
              <a:t>Some TLBs store</a:t>
            </a:r>
            <a:r>
              <a:rPr lang="en-US" altLang="en-US" sz="2600" b="1" dirty="0">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address-space</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b="1" dirty="0">
                <a:solidFill>
                  <a:srgbClr val="006699"/>
                </a:solidFill>
                <a:latin typeface="Times New Roman" panose="02020603050405020304" pitchFamily="18" charset="0"/>
                <a:cs typeface="Times New Roman" panose="02020603050405020304" pitchFamily="18" charset="0"/>
              </a:rPr>
              <a:t>identifiers</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a:t>
            </a:r>
            <a:r>
              <a:rPr lang="en-US" altLang="en-US" sz="2600" b="1" dirty="0">
                <a:solidFill>
                  <a:srgbClr val="006699"/>
                </a:solidFill>
                <a:latin typeface="Times New Roman" panose="02020603050405020304" pitchFamily="18" charset="0"/>
                <a:cs typeface="Times New Roman" panose="02020603050405020304" pitchFamily="18" charset="0"/>
              </a:rPr>
              <a:t>ASIDs</a:t>
            </a:r>
            <a:r>
              <a:rPr lang="en-US" altLang="en-US" sz="2600" dirty="0">
                <a:latin typeface="Times New Roman" panose="02020603050405020304" pitchFamily="18" charset="0"/>
                <a:cs typeface="Times New Roman" panose="02020603050405020304" pitchFamily="18" charset="0"/>
              </a:rPr>
              <a:t>)</a:t>
            </a:r>
            <a:r>
              <a:rPr lang="en-US" altLang="en-US" sz="2600" b="1" dirty="0">
                <a:solidFill>
                  <a:srgbClr val="3366FF"/>
                </a:solidFill>
                <a:latin typeface="Times New Roman" panose="02020603050405020304" pitchFamily="18" charset="0"/>
                <a:cs typeface="Times New Roman" panose="02020603050405020304" pitchFamily="18" charset="0"/>
              </a:rPr>
              <a:t> </a:t>
            </a:r>
            <a:r>
              <a:rPr lang="en-US" altLang="en-US" sz="2600" dirty="0">
                <a:latin typeface="Times New Roman" panose="02020603050405020304" pitchFamily="18" charset="0"/>
                <a:cs typeface="Times New Roman" panose="02020603050405020304" pitchFamily="18" charset="0"/>
              </a:rPr>
              <a:t>in each TLB entry</a:t>
            </a:r>
          </a:p>
          <a:p>
            <a:pPr>
              <a:lnSpc>
                <a:spcPct val="150000"/>
              </a:lnSpc>
            </a:pPr>
            <a:endParaRPr lang="en-US" altLang="en-US" sz="2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83837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77FAE-4933-49EA-A155-5033CC097192}"/>
              </a:ext>
            </a:extLst>
          </p:cNvPr>
          <p:cNvSpPr>
            <a:spLocks noGrp="1"/>
          </p:cNvSpPr>
          <p:nvPr>
            <p:ph type="title"/>
          </p:nvPr>
        </p:nvSpPr>
        <p:spPr>
          <a:xfrm>
            <a:off x="106532" y="365126"/>
            <a:ext cx="11247268" cy="851116"/>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Paging Hardware With TLB</a:t>
            </a:r>
            <a:endParaRPr lang="en-IN" sz="4000" b="1" dirty="0"/>
          </a:p>
        </p:txBody>
      </p:sp>
      <p:pic>
        <p:nvPicPr>
          <p:cNvPr id="3" name="Picture 5">
            <a:extLst>
              <a:ext uri="{FF2B5EF4-FFF2-40B4-BE49-F238E27FC236}">
                <a16:creationId xmlns:a16="http://schemas.microsoft.com/office/drawing/2014/main" id="{B67AE5DB-6259-49FE-9E82-EBF97E6516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797" y="1429814"/>
            <a:ext cx="6173024"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975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8E39-8F70-453F-91BD-CAD1A3FB04EE}"/>
              </a:ext>
            </a:extLst>
          </p:cNvPr>
          <p:cNvSpPr>
            <a:spLocks noGrp="1"/>
          </p:cNvSpPr>
          <p:nvPr>
            <p:ph type="title"/>
          </p:nvPr>
        </p:nvSpPr>
        <p:spPr>
          <a:xfrm>
            <a:off x="186431" y="365126"/>
            <a:ext cx="11167369" cy="735706"/>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Effective Access Time</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A84889-6440-40A6-A215-92C7DA57CC6F}"/>
              </a:ext>
            </a:extLst>
          </p:cNvPr>
          <p:cNvSpPr>
            <a:spLocks noGrp="1"/>
          </p:cNvSpPr>
          <p:nvPr>
            <p:ph idx="1"/>
          </p:nvPr>
        </p:nvSpPr>
        <p:spPr>
          <a:xfrm>
            <a:off x="186431" y="1269508"/>
            <a:ext cx="12005569" cy="5223366"/>
          </a:xfrm>
        </p:spPr>
        <p:txBody>
          <a:bodyPr>
            <a:normAutofit fontScale="85000" lnSpcReduction="10000"/>
          </a:bodyPr>
          <a:lstStyle/>
          <a:p>
            <a:pPr marL="342900" lvl="1" indent="-342900">
              <a:lnSpc>
                <a:spcPct val="150000"/>
              </a:lnSpc>
              <a:buClr>
                <a:srgbClr val="993300"/>
              </a:buClr>
              <a:tabLst>
                <a:tab pos="2062163" algn="l"/>
                <a:tab pos="2566988" algn="l"/>
              </a:tabLst>
              <a:defRPr/>
            </a:pPr>
            <a:r>
              <a:rPr lang="en-US" altLang="en-US" sz="2800" dirty="0">
                <a:latin typeface="Times New Roman" panose="02020603050405020304" pitchFamily="18" charset="0"/>
                <a:cs typeface="Times New Roman" panose="02020603050405020304" pitchFamily="18" charset="0"/>
                <a:sym typeface="Symbol" pitchFamily="18" charset="2"/>
              </a:rPr>
              <a:t>Hit ratio – percentage of times that a page number is found in the TLB</a:t>
            </a:r>
          </a:p>
          <a:p>
            <a:pPr>
              <a:lnSpc>
                <a:spcPct val="150000"/>
              </a:lnSpc>
              <a:tabLst>
                <a:tab pos="2062163" algn="l"/>
                <a:tab pos="2566988" algn="l"/>
              </a:tabLst>
              <a:defRPr/>
            </a:pPr>
            <a:r>
              <a:rPr lang="en-US" altLang="en-US" dirty="0">
                <a:latin typeface="Times New Roman" panose="02020603050405020304" pitchFamily="18" charset="0"/>
                <a:cs typeface="Times New Roman" panose="02020603050405020304" pitchFamily="18" charset="0"/>
              </a:rPr>
              <a:t>An </a:t>
            </a:r>
            <a:r>
              <a:rPr lang="en-US" altLang="en-US" dirty="0">
                <a:latin typeface="Times New Roman" panose="02020603050405020304" pitchFamily="18" charset="0"/>
                <a:cs typeface="Times New Roman" panose="02020603050405020304" pitchFamily="18" charset="0"/>
                <a:sym typeface="Symbol" pitchFamily="18" charset="2"/>
              </a:rPr>
              <a:t>80% hit ratio means that we find the desired  page number in the TLB 80% of the time.</a:t>
            </a:r>
            <a:endParaRPr lang="en-US" altLang="en-US" dirty="0">
              <a:latin typeface="Times New Roman" panose="02020603050405020304" pitchFamily="18" charset="0"/>
              <a:cs typeface="Times New Roman" panose="02020603050405020304" pitchFamily="18" charset="0"/>
            </a:endParaRPr>
          </a:p>
          <a:p>
            <a:pPr>
              <a:lnSpc>
                <a:spcPct val="150000"/>
              </a:lnSpc>
              <a:tabLst>
                <a:tab pos="2062163" algn="l"/>
                <a:tab pos="2566988" algn="l"/>
              </a:tabLst>
              <a:defRPr/>
            </a:pPr>
            <a:r>
              <a:rPr lang="en-US" altLang="en-US" dirty="0">
                <a:latin typeface="Times New Roman" panose="02020603050405020304" pitchFamily="18" charset="0"/>
                <a:cs typeface="Times New Roman" panose="02020603050405020304" pitchFamily="18" charset="0"/>
              </a:rPr>
              <a:t>Suppose that it takes 10 nanoseconds to access memory.  </a:t>
            </a:r>
          </a:p>
          <a:p>
            <a:pPr lvl="1">
              <a:lnSpc>
                <a:spcPct val="150000"/>
              </a:lnSpc>
              <a:tabLst>
                <a:tab pos="2062163" algn="l"/>
                <a:tab pos="2566988" algn="l"/>
              </a:tabLst>
              <a:defRPr/>
            </a:pPr>
            <a:r>
              <a:rPr lang="en-US" altLang="en-US" sz="2800" dirty="0">
                <a:latin typeface="Times New Roman" panose="02020603050405020304" pitchFamily="18" charset="0"/>
                <a:cs typeface="Times New Roman" panose="02020603050405020304" pitchFamily="18" charset="0"/>
              </a:rPr>
              <a:t>If we find the desired page in TLB then a mapped-memory access take 10 nanoseconds</a:t>
            </a:r>
          </a:p>
          <a:p>
            <a:pPr lvl="1">
              <a:lnSpc>
                <a:spcPct val="150000"/>
              </a:lnSpc>
              <a:tabLst>
                <a:tab pos="2062163" algn="l"/>
                <a:tab pos="2566988" algn="l"/>
              </a:tabLst>
              <a:defRPr/>
            </a:pPr>
            <a:r>
              <a:rPr lang="en-US" altLang="en-US" sz="2800" dirty="0">
                <a:latin typeface="Times New Roman" panose="02020603050405020304" pitchFamily="18" charset="0"/>
                <a:cs typeface="Times New Roman" panose="02020603050405020304" pitchFamily="18" charset="0"/>
              </a:rPr>
              <a:t>Otherwise we need two memory access so it is 20 nanoseconds</a:t>
            </a:r>
          </a:p>
          <a:p>
            <a:pPr>
              <a:lnSpc>
                <a:spcPct val="150000"/>
              </a:lnSpc>
              <a:tabLst>
                <a:tab pos="2062163" algn="l"/>
                <a:tab pos="2566988" algn="l"/>
              </a:tabLst>
              <a:defRPr/>
            </a:pPr>
            <a:r>
              <a:rPr lang="en-US" altLang="en-US" b="1" dirty="0">
                <a:solidFill>
                  <a:srgbClr val="006699"/>
                </a:solidFill>
                <a:latin typeface="Times New Roman" panose="02020603050405020304" pitchFamily="18" charset="0"/>
                <a:cs typeface="Times New Roman" panose="02020603050405020304" pitchFamily="18" charset="0"/>
                <a:sym typeface="Symbol" pitchFamily="18" charset="2"/>
              </a:rPr>
              <a:t>Effective</a:t>
            </a:r>
            <a:r>
              <a:rPr lang="en-US" altLang="en-US" b="1" dirty="0">
                <a:solidFill>
                  <a:srgbClr val="3366FF"/>
                </a:solidFill>
                <a:latin typeface="Times New Roman" panose="02020603050405020304" pitchFamily="18" charset="0"/>
                <a:cs typeface="Times New Roman" panose="02020603050405020304" pitchFamily="18" charset="0"/>
                <a:sym typeface="Symbol" pitchFamily="18" charset="2"/>
              </a:rPr>
              <a:t> </a:t>
            </a:r>
            <a:r>
              <a:rPr lang="en-US" altLang="en-US" b="1" dirty="0">
                <a:solidFill>
                  <a:srgbClr val="006699"/>
                </a:solidFill>
                <a:latin typeface="Times New Roman" panose="02020603050405020304" pitchFamily="18" charset="0"/>
                <a:cs typeface="Times New Roman" panose="02020603050405020304" pitchFamily="18" charset="0"/>
                <a:sym typeface="Symbol" pitchFamily="18" charset="2"/>
              </a:rPr>
              <a:t>Access</a:t>
            </a:r>
            <a:r>
              <a:rPr lang="en-US" altLang="en-US" b="1" dirty="0">
                <a:solidFill>
                  <a:srgbClr val="3366FF"/>
                </a:solidFill>
                <a:latin typeface="Times New Roman" panose="02020603050405020304" pitchFamily="18" charset="0"/>
                <a:cs typeface="Times New Roman" panose="02020603050405020304" pitchFamily="18" charset="0"/>
                <a:sym typeface="Symbol" pitchFamily="18" charset="2"/>
              </a:rPr>
              <a:t> </a:t>
            </a:r>
            <a:r>
              <a:rPr lang="en-US" altLang="en-US" b="1" dirty="0">
                <a:solidFill>
                  <a:srgbClr val="006699"/>
                </a:solidFill>
                <a:latin typeface="Times New Roman" panose="02020603050405020304" pitchFamily="18" charset="0"/>
                <a:cs typeface="Times New Roman" panose="02020603050405020304" pitchFamily="18" charset="0"/>
                <a:sym typeface="Symbol" pitchFamily="18" charset="2"/>
              </a:rPr>
              <a:t>Time</a:t>
            </a:r>
            <a:r>
              <a:rPr lang="en-US" altLang="en-US" dirty="0">
                <a:solidFill>
                  <a:srgbClr val="3366FF"/>
                </a:solidFill>
                <a:latin typeface="Times New Roman" panose="02020603050405020304" pitchFamily="18" charset="0"/>
                <a:cs typeface="Times New Roman" panose="02020603050405020304" pitchFamily="18" charset="0"/>
                <a:sym typeface="Symbol" pitchFamily="18" charset="2"/>
              </a:rPr>
              <a:t> </a:t>
            </a:r>
            <a:r>
              <a:rPr lang="en-US" altLang="en-US" dirty="0">
                <a:latin typeface="Times New Roman" panose="02020603050405020304" pitchFamily="18" charset="0"/>
                <a:cs typeface="Times New Roman" panose="02020603050405020304" pitchFamily="18" charset="0"/>
                <a:sym typeface="Symbol" pitchFamily="18" charset="2"/>
              </a:rPr>
              <a:t>(</a:t>
            </a:r>
            <a:r>
              <a:rPr lang="en-US" altLang="en-US" b="1" dirty="0">
                <a:solidFill>
                  <a:srgbClr val="006699"/>
                </a:solidFill>
                <a:latin typeface="Times New Roman" panose="02020603050405020304" pitchFamily="18" charset="0"/>
                <a:cs typeface="Times New Roman" panose="02020603050405020304" pitchFamily="18" charset="0"/>
                <a:sym typeface="Symbol" pitchFamily="18" charset="2"/>
              </a:rPr>
              <a:t>EAT</a:t>
            </a:r>
            <a:r>
              <a:rPr lang="en-US" altLang="en-US" dirty="0">
                <a:latin typeface="Times New Roman" panose="02020603050405020304" pitchFamily="18" charset="0"/>
                <a:cs typeface="Times New Roman" panose="02020603050405020304" pitchFamily="18" charset="0"/>
                <a:sym typeface="Symbol" pitchFamily="18" charset="2"/>
              </a:rPr>
              <a:t>)</a:t>
            </a:r>
          </a:p>
          <a:p>
            <a:pPr>
              <a:lnSpc>
                <a:spcPct val="150000"/>
              </a:lnSpc>
              <a:buFont typeface="Monotype Sorts" pitchFamily="-84" charset="2"/>
              <a:buNone/>
              <a:tabLst>
                <a:tab pos="2062163" algn="l"/>
                <a:tab pos="2566988" algn="l"/>
              </a:tabLst>
              <a:defRPr/>
            </a:pPr>
            <a:r>
              <a:rPr lang="en-US" altLang="en-US" dirty="0">
                <a:latin typeface="Times New Roman" panose="02020603050405020304" pitchFamily="18" charset="0"/>
                <a:cs typeface="Times New Roman" panose="02020603050405020304" pitchFamily="18" charset="0"/>
              </a:rPr>
              <a:t>	               EAT = </a:t>
            </a:r>
            <a:r>
              <a:rPr lang="en-US" altLang="en-US" dirty="0">
                <a:latin typeface="Times New Roman" panose="02020603050405020304" pitchFamily="18" charset="0"/>
                <a:cs typeface="Times New Roman" panose="02020603050405020304" pitchFamily="18" charset="0"/>
                <a:sym typeface="Symbol" pitchFamily="18" charset="2"/>
              </a:rPr>
              <a:t>0.80 x 10 + 0.20 x 20 = 12 </a:t>
            </a:r>
            <a:r>
              <a:rPr lang="en-US" altLang="en-US" dirty="0">
                <a:latin typeface="Times New Roman" panose="02020603050405020304" pitchFamily="18" charset="0"/>
                <a:cs typeface="Times New Roman" panose="02020603050405020304" pitchFamily="18" charset="0"/>
              </a:rPr>
              <a:t>nanoseconds</a:t>
            </a:r>
          </a:p>
          <a:p>
            <a:pPr>
              <a:lnSpc>
                <a:spcPct val="150000"/>
              </a:lnSpc>
              <a:buFont typeface="Monotype Sorts" pitchFamily="-84" charset="2"/>
              <a:buNone/>
              <a:tabLst>
                <a:tab pos="2062163" algn="l"/>
                <a:tab pos="2566988" algn="l"/>
              </a:tabLst>
              <a:defRPr/>
            </a:pPr>
            <a:r>
              <a:rPr lang="en-US" altLang="en-US" dirty="0">
                <a:latin typeface="Times New Roman" panose="02020603050405020304" pitchFamily="18" charset="0"/>
                <a:cs typeface="Times New Roman" panose="02020603050405020304" pitchFamily="18" charset="0"/>
              </a:rPr>
              <a:t>       implying 20% slowdown in access time</a:t>
            </a:r>
          </a:p>
          <a:p>
            <a:endParaRPr lang="en-IN" dirty="0"/>
          </a:p>
        </p:txBody>
      </p:sp>
    </p:spTree>
    <p:extLst>
      <p:ext uri="{BB962C8B-B14F-4D97-AF65-F5344CB8AC3E}">
        <p14:creationId xmlns:p14="http://schemas.microsoft.com/office/powerpoint/2010/main" val="2346336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1936-DFB5-4D0A-936E-5EE1E0306DFD}"/>
              </a:ext>
            </a:extLst>
          </p:cNvPr>
          <p:cNvSpPr>
            <a:spLocks noGrp="1"/>
          </p:cNvSpPr>
          <p:nvPr>
            <p:ph type="title"/>
          </p:nvPr>
        </p:nvSpPr>
        <p:spPr>
          <a:xfrm>
            <a:off x="62144" y="-142042"/>
            <a:ext cx="11353800" cy="1020932"/>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Memory Protection</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99D3E1-7400-43FD-AFEC-D157C51CB088}"/>
              </a:ext>
            </a:extLst>
          </p:cNvPr>
          <p:cNvSpPr>
            <a:spLocks noGrp="1"/>
          </p:cNvSpPr>
          <p:nvPr>
            <p:ph idx="1"/>
          </p:nvPr>
        </p:nvSpPr>
        <p:spPr>
          <a:xfrm>
            <a:off x="62144" y="1322773"/>
            <a:ext cx="12129856" cy="4854190"/>
          </a:xfrm>
        </p:spPr>
        <p:txBody>
          <a:bodyPr>
            <a:normAutofit/>
          </a:bodyPr>
          <a:lstStyle/>
          <a:p>
            <a:pPr>
              <a:lnSpc>
                <a:spcPct val="150000"/>
              </a:lnSpc>
            </a:pPr>
            <a:r>
              <a:rPr lang="en-US" altLang="en-US" sz="2400" dirty="0">
                <a:latin typeface="Times New Roman" panose="02020603050405020304" pitchFamily="18" charset="0"/>
                <a:cs typeface="Times New Roman" panose="02020603050405020304" pitchFamily="18" charset="0"/>
              </a:rPr>
              <a:t>Memory protection implemented by associating protection bit with each frame to indicate if access is allowed</a:t>
            </a:r>
          </a:p>
          <a:p>
            <a:pPr>
              <a:lnSpc>
                <a:spcPct val="150000"/>
              </a:lnSpc>
            </a:pPr>
            <a:r>
              <a:rPr lang="en-US" altLang="en-US" sz="2400" b="1" dirty="0">
                <a:solidFill>
                  <a:srgbClr val="006699"/>
                </a:solidFill>
                <a:latin typeface="Times New Roman" panose="02020603050405020304" pitchFamily="18" charset="0"/>
                <a:cs typeface="Times New Roman" panose="02020603050405020304" pitchFamily="18" charset="0"/>
              </a:rPr>
              <a:t>Valid-invalid</a:t>
            </a:r>
            <a:r>
              <a:rPr lang="en-US" altLang="en-US" sz="2400" dirty="0">
                <a:solidFill>
                  <a:srgbClr val="3366FF"/>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bit attached to each entry in the page table:</a:t>
            </a:r>
          </a:p>
          <a:p>
            <a:pPr lvl="1">
              <a:lnSpc>
                <a:spcPct val="150000"/>
              </a:lnSpc>
            </a:pP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valid</a:t>
            </a: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indicates that the associated page is in the process</a:t>
            </a: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logical address space, and is thus a legal page</a:t>
            </a:r>
          </a:p>
          <a:p>
            <a:pPr lvl="1">
              <a:lnSpc>
                <a:spcPct val="150000"/>
              </a:lnSpc>
            </a:pP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invalid</a:t>
            </a: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indicates that the page is not in the process</a:t>
            </a: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logical address space</a:t>
            </a:r>
          </a:p>
          <a:p>
            <a:pPr lvl="1">
              <a:lnSpc>
                <a:spcPct val="150000"/>
              </a:lnSpc>
            </a:pPr>
            <a:r>
              <a:rPr lang="en-US" altLang="en-US" dirty="0">
                <a:latin typeface="Times New Roman" panose="02020603050405020304" pitchFamily="18" charset="0"/>
                <a:cs typeface="Times New Roman" panose="02020603050405020304" pitchFamily="18" charset="0"/>
              </a:rPr>
              <a:t>Or use </a:t>
            </a:r>
            <a:r>
              <a:rPr lang="en-US" altLang="en-US" b="1" dirty="0">
                <a:solidFill>
                  <a:srgbClr val="006699"/>
                </a:solidFill>
                <a:latin typeface="Times New Roman" panose="02020603050405020304" pitchFamily="18" charset="0"/>
                <a:cs typeface="Times New Roman" panose="02020603050405020304" pitchFamily="18" charset="0"/>
              </a:rPr>
              <a:t>page-table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length</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register</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a:t>
            </a:r>
            <a:r>
              <a:rPr lang="en-US" altLang="en-US" b="1" dirty="0">
                <a:solidFill>
                  <a:srgbClr val="006699"/>
                </a:solidFill>
                <a:latin typeface="Times New Roman" panose="02020603050405020304" pitchFamily="18" charset="0"/>
                <a:cs typeface="Times New Roman" panose="02020603050405020304" pitchFamily="18" charset="0"/>
              </a:rPr>
              <a:t>PTLR</a:t>
            </a:r>
            <a:r>
              <a:rPr lang="en-US" alt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0491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35BA-19EE-4551-909A-81EF588849C5}"/>
              </a:ext>
            </a:extLst>
          </p:cNvPr>
          <p:cNvSpPr>
            <a:spLocks noGrp="1"/>
          </p:cNvSpPr>
          <p:nvPr>
            <p:ph type="title"/>
          </p:nvPr>
        </p:nvSpPr>
        <p:spPr>
          <a:xfrm>
            <a:off x="284085" y="365125"/>
            <a:ext cx="11069715" cy="753461"/>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Valid (v) or Invalid (</a:t>
            </a:r>
            <a:r>
              <a:rPr lang="en-US" altLang="en-US" sz="4000" b="1" dirty="0" err="1">
                <a:solidFill>
                  <a:srgbClr val="00B050"/>
                </a:solidFill>
                <a:latin typeface="Times New Roman" panose="02020603050405020304" pitchFamily="18" charset="0"/>
                <a:cs typeface="Times New Roman" panose="02020603050405020304" pitchFamily="18" charset="0"/>
              </a:rPr>
              <a:t>i</a:t>
            </a:r>
            <a:r>
              <a:rPr lang="en-US" altLang="en-US" sz="4000" b="1" dirty="0">
                <a:solidFill>
                  <a:srgbClr val="00B050"/>
                </a:solidFill>
                <a:latin typeface="Times New Roman" panose="02020603050405020304" pitchFamily="18" charset="0"/>
                <a:cs typeface="Times New Roman" panose="02020603050405020304" pitchFamily="18" charset="0"/>
              </a:rPr>
              <a:t>) Bit In A Page Table</a:t>
            </a:r>
            <a:endParaRPr lang="en-IN" sz="4000" b="1" dirty="0">
              <a:solidFill>
                <a:srgbClr val="00B050"/>
              </a:solidFill>
              <a:latin typeface="Times New Roman" panose="02020603050405020304" pitchFamily="18" charset="0"/>
              <a:cs typeface="Times New Roman" panose="02020603050405020304" pitchFamily="18" charset="0"/>
            </a:endParaRPr>
          </a:p>
        </p:txBody>
      </p:sp>
      <p:pic>
        <p:nvPicPr>
          <p:cNvPr id="3" name="Picture 5">
            <a:extLst>
              <a:ext uri="{FF2B5EF4-FFF2-40B4-BE49-F238E27FC236}">
                <a16:creationId xmlns:a16="http://schemas.microsoft.com/office/drawing/2014/main" id="{58956A8A-DC77-4E32-8632-B6C3DD98A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584" y="1324431"/>
            <a:ext cx="8901427" cy="494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8210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9A18-2D01-4DD4-BB0B-015292509456}"/>
              </a:ext>
            </a:extLst>
          </p:cNvPr>
          <p:cNvSpPr>
            <a:spLocks noGrp="1"/>
          </p:cNvSpPr>
          <p:nvPr>
            <p:ph type="title"/>
          </p:nvPr>
        </p:nvSpPr>
        <p:spPr>
          <a:xfrm>
            <a:off x="239697" y="365125"/>
            <a:ext cx="11114103" cy="709073"/>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Shared Pages</a:t>
            </a:r>
            <a:endParaRPr lang="en-IN" sz="40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E751A1-9DD0-4AB8-982F-9BB1B7E2D9BA}"/>
              </a:ext>
            </a:extLst>
          </p:cNvPr>
          <p:cNvSpPr>
            <a:spLocks noGrp="1"/>
          </p:cNvSpPr>
          <p:nvPr>
            <p:ph idx="1"/>
          </p:nvPr>
        </p:nvSpPr>
        <p:spPr>
          <a:xfrm>
            <a:off x="239697" y="1296140"/>
            <a:ext cx="11665258" cy="5196735"/>
          </a:xfrm>
        </p:spPr>
        <p:txBody>
          <a:bodyPr>
            <a:normAutofit/>
          </a:bodyPr>
          <a:lstStyle/>
          <a:p>
            <a:pPr>
              <a:lnSpc>
                <a:spcPct val="150000"/>
              </a:lnSpc>
            </a:pPr>
            <a:r>
              <a:rPr lang="en-US" altLang="en-US" b="1" dirty="0">
                <a:solidFill>
                  <a:srgbClr val="006699"/>
                </a:solidFill>
                <a:latin typeface="Times New Roman" panose="02020603050405020304" pitchFamily="18" charset="0"/>
                <a:cs typeface="Times New Roman" panose="02020603050405020304" pitchFamily="18" charset="0"/>
              </a:rPr>
              <a:t>Shared</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code</a:t>
            </a:r>
          </a:p>
          <a:p>
            <a:pPr lvl="1">
              <a:lnSpc>
                <a:spcPct val="150000"/>
              </a:lnSpc>
            </a:pPr>
            <a:r>
              <a:rPr lang="en-US" altLang="en-US" sz="2800" dirty="0">
                <a:latin typeface="Times New Roman" panose="02020603050405020304" pitchFamily="18" charset="0"/>
                <a:cs typeface="Times New Roman" panose="02020603050405020304" pitchFamily="18" charset="0"/>
              </a:rPr>
              <a:t>One copy of read-only (</a:t>
            </a:r>
            <a:r>
              <a:rPr lang="en-US" altLang="en-US" sz="2800" b="1" dirty="0">
                <a:solidFill>
                  <a:srgbClr val="006699"/>
                </a:solidFill>
                <a:latin typeface="Times New Roman" panose="02020603050405020304" pitchFamily="18" charset="0"/>
                <a:cs typeface="Times New Roman" panose="02020603050405020304" pitchFamily="18" charset="0"/>
              </a:rPr>
              <a:t>reentrant</a:t>
            </a:r>
            <a:r>
              <a:rPr lang="en-US" altLang="en-US" sz="2800" dirty="0">
                <a:latin typeface="Times New Roman" panose="02020603050405020304" pitchFamily="18" charset="0"/>
                <a:cs typeface="Times New Roman" panose="02020603050405020304" pitchFamily="18" charset="0"/>
              </a:rPr>
              <a:t>) code shared among processes (i.e., text editors, compilers, window systems)</a:t>
            </a:r>
          </a:p>
          <a:p>
            <a:pPr>
              <a:lnSpc>
                <a:spcPct val="150000"/>
              </a:lnSpc>
            </a:pPr>
            <a:r>
              <a:rPr lang="en-US" altLang="en-US" b="1" dirty="0">
                <a:solidFill>
                  <a:srgbClr val="006699"/>
                </a:solidFill>
                <a:latin typeface="Times New Roman" panose="02020603050405020304" pitchFamily="18" charset="0"/>
                <a:cs typeface="Times New Roman" panose="02020603050405020304" pitchFamily="18" charset="0"/>
              </a:rPr>
              <a:t>Private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code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and</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data</a:t>
            </a:r>
            <a:r>
              <a:rPr lang="en-US" altLang="en-US" dirty="0">
                <a:solidFill>
                  <a:srgbClr val="3366FF"/>
                </a:solidFill>
                <a:latin typeface="Times New Roman" panose="02020603050405020304" pitchFamily="18" charset="0"/>
                <a:cs typeface="Times New Roman" panose="02020603050405020304" pitchFamily="18" charset="0"/>
              </a:rPr>
              <a:t> </a:t>
            </a:r>
          </a:p>
          <a:p>
            <a:pPr lvl="1">
              <a:lnSpc>
                <a:spcPct val="150000"/>
              </a:lnSpc>
            </a:pPr>
            <a:r>
              <a:rPr lang="en-US" altLang="en-US" sz="2800" dirty="0">
                <a:latin typeface="Times New Roman" panose="02020603050405020304" pitchFamily="18" charset="0"/>
                <a:cs typeface="Times New Roman" panose="02020603050405020304" pitchFamily="18" charset="0"/>
              </a:rPr>
              <a:t>Each process keeps a separate copy of the code and data</a:t>
            </a:r>
          </a:p>
          <a:p>
            <a:pPr lvl="1">
              <a:lnSpc>
                <a:spcPct val="150000"/>
              </a:lnSpc>
            </a:pPr>
            <a:r>
              <a:rPr lang="en-US" altLang="en-US" sz="2800" dirty="0">
                <a:latin typeface="Times New Roman" panose="02020603050405020304" pitchFamily="18" charset="0"/>
                <a:cs typeface="Times New Roman" panose="02020603050405020304" pitchFamily="18" charset="0"/>
              </a:rPr>
              <a:t>The pages for the private code and data can appear anywhere in the logical address space</a:t>
            </a:r>
          </a:p>
          <a:p>
            <a:endParaRPr lang="en-IN" dirty="0"/>
          </a:p>
        </p:txBody>
      </p:sp>
    </p:spTree>
    <p:extLst>
      <p:ext uri="{BB962C8B-B14F-4D97-AF65-F5344CB8AC3E}">
        <p14:creationId xmlns:p14="http://schemas.microsoft.com/office/powerpoint/2010/main" val="3008171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BE84-D8C1-4F43-A5B0-5CD5DF99A5B6}"/>
              </a:ext>
            </a:extLst>
          </p:cNvPr>
          <p:cNvSpPr>
            <a:spLocks noGrp="1"/>
          </p:cNvSpPr>
          <p:nvPr>
            <p:ph type="title"/>
          </p:nvPr>
        </p:nvSpPr>
        <p:spPr>
          <a:xfrm>
            <a:off x="142043" y="127000"/>
            <a:ext cx="11211757" cy="805156"/>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Shared Pages Example</a:t>
            </a:r>
            <a:endParaRPr lang="en-IN" sz="4000" dirty="0">
              <a:solidFill>
                <a:srgbClr val="00B050"/>
              </a:solidFill>
              <a:latin typeface="Times New Roman" panose="02020603050405020304" pitchFamily="18" charset="0"/>
              <a:cs typeface="Times New Roman" panose="02020603050405020304" pitchFamily="18" charset="0"/>
            </a:endParaRPr>
          </a:p>
        </p:txBody>
      </p:sp>
      <p:pic>
        <p:nvPicPr>
          <p:cNvPr id="3" name="Picture 5" descr="W:\os-book\OS10\slide-dir\os-figures\9_14.jpg">
            <a:extLst>
              <a:ext uri="{FF2B5EF4-FFF2-40B4-BE49-F238E27FC236}">
                <a16:creationId xmlns:a16="http://schemas.microsoft.com/office/drawing/2014/main" id="{371EDDBB-9449-4BFA-A27C-25AF534DC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181" y="948355"/>
            <a:ext cx="6883400" cy="590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8071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56D25-247F-446B-904E-32DEBA6C071D}"/>
              </a:ext>
            </a:extLst>
          </p:cNvPr>
          <p:cNvSpPr>
            <a:spLocks noGrp="1"/>
          </p:cNvSpPr>
          <p:nvPr>
            <p:ph type="title"/>
          </p:nvPr>
        </p:nvSpPr>
        <p:spPr>
          <a:xfrm>
            <a:off x="204186" y="365125"/>
            <a:ext cx="11149614" cy="806727"/>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Structure of the Page Table</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73F242-7D72-4672-8D14-3E440F2D5678}"/>
              </a:ext>
            </a:extLst>
          </p:cNvPr>
          <p:cNvSpPr>
            <a:spLocks noGrp="1"/>
          </p:cNvSpPr>
          <p:nvPr>
            <p:ph idx="1"/>
          </p:nvPr>
        </p:nvSpPr>
        <p:spPr>
          <a:xfrm>
            <a:off x="204185" y="1411550"/>
            <a:ext cx="11825057" cy="4765413"/>
          </a:xfrm>
        </p:spPr>
        <p:txBody>
          <a:bodyPr/>
          <a:lstStyle/>
          <a:p>
            <a:pPr>
              <a:lnSpc>
                <a:spcPct val="150000"/>
              </a:lnSpc>
            </a:pPr>
            <a:r>
              <a:rPr lang="en-US" altLang="en-US" dirty="0">
                <a:latin typeface="Times New Roman" panose="02020603050405020304" pitchFamily="18" charset="0"/>
                <a:cs typeface="Times New Roman" panose="02020603050405020304" pitchFamily="18" charset="0"/>
              </a:rPr>
              <a:t>Memory structures for paging can get huge using straight-forward methods</a:t>
            </a:r>
          </a:p>
          <a:p>
            <a:pPr lvl="1">
              <a:lnSpc>
                <a:spcPct val="150000"/>
              </a:lnSpc>
            </a:pPr>
            <a:r>
              <a:rPr lang="en-US" altLang="en-US" sz="2800" dirty="0">
                <a:latin typeface="Times New Roman" panose="02020603050405020304" pitchFamily="18" charset="0"/>
                <a:cs typeface="Times New Roman" panose="02020603050405020304" pitchFamily="18" charset="0"/>
              </a:rPr>
              <a:t>Consider a 32-bit logical address space as on modern computers</a:t>
            </a:r>
          </a:p>
          <a:p>
            <a:pPr lvl="1">
              <a:lnSpc>
                <a:spcPct val="150000"/>
              </a:lnSpc>
            </a:pPr>
            <a:r>
              <a:rPr lang="en-US" altLang="en-US" sz="2800" dirty="0">
                <a:latin typeface="Times New Roman" panose="02020603050405020304" pitchFamily="18" charset="0"/>
                <a:cs typeface="Times New Roman" panose="02020603050405020304" pitchFamily="18" charset="0"/>
              </a:rPr>
              <a:t>Page size of 1 KB (2</a:t>
            </a:r>
            <a:r>
              <a:rPr lang="en-US" altLang="en-US" sz="2800" baseline="30000" dirty="0">
                <a:latin typeface="Times New Roman" panose="02020603050405020304" pitchFamily="18" charset="0"/>
                <a:cs typeface="Times New Roman" panose="02020603050405020304" pitchFamily="18" charset="0"/>
              </a:rPr>
              <a:t>10</a:t>
            </a:r>
            <a:r>
              <a:rPr lang="en-US" altLang="en-US" sz="2800" dirty="0">
                <a:latin typeface="Times New Roman" panose="02020603050405020304" pitchFamily="18" charset="0"/>
                <a:cs typeface="Times New Roman" panose="02020603050405020304" pitchFamily="18" charset="0"/>
              </a:rPr>
              <a:t>)</a:t>
            </a:r>
          </a:p>
          <a:p>
            <a:pPr lvl="1">
              <a:lnSpc>
                <a:spcPct val="150000"/>
              </a:lnSpc>
            </a:pPr>
            <a:r>
              <a:rPr lang="en-US" altLang="en-US" sz="2800" dirty="0">
                <a:latin typeface="Times New Roman" panose="02020603050405020304" pitchFamily="18" charset="0"/>
                <a:cs typeface="Times New Roman" panose="02020603050405020304" pitchFamily="18" charset="0"/>
              </a:rPr>
              <a:t>Page table would have 1 million entries (2</a:t>
            </a:r>
            <a:r>
              <a:rPr lang="en-US" altLang="en-US" sz="2800" baseline="30000" dirty="0">
                <a:latin typeface="Times New Roman" panose="02020603050405020304" pitchFamily="18" charset="0"/>
                <a:cs typeface="Times New Roman" panose="02020603050405020304" pitchFamily="18" charset="0"/>
              </a:rPr>
              <a:t>32</a:t>
            </a:r>
            <a:r>
              <a:rPr lang="en-US" altLang="en-US" sz="2800" dirty="0">
                <a:latin typeface="Times New Roman" panose="02020603050405020304" pitchFamily="18" charset="0"/>
                <a:cs typeface="Times New Roman" panose="02020603050405020304" pitchFamily="18" charset="0"/>
              </a:rPr>
              <a:t> / 2</a:t>
            </a:r>
            <a:r>
              <a:rPr lang="en-US" altLang="en-US" sz="2800" baseline="30000" dirty="0">
                <a:latin typeface="Times New Roman" panose="02020603050405020304" pitchFamily="18" charset="0"/>
                <a:cs typeface="Times New Roman" panose="02020603050405020304" pitchFamily="18" charset="0"/>
              </a:rPr>
              <a:t>10</a:t>
            </a:r>
            <a:r>
              <a:rPr lang="en-US" altLang="en-US" sz="28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0865416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D52D8-2F2E-44C1-8356-785556249DC4}"/>
              </a:ext>
            </a:extLst>
          </p:cNvPr>
          <p:cNvSpPr>
            <a:spLocks noGrp="1"/>
          </p:cNvSpPr>
          <p:nvPr>
            <p:ph type="title"/>
          </p:nvPr>
        </p:nvSpPr>
        <p:spPr>
          <a:xfrm>
            <a:off x="97654" y="365125"/>
            <a:ext cx="11256146" cy="700195"/>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Cont..</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6471D7-3954-402E-9D3A-95AE807DBC73}"/>
              </a:ext>
            </a:extLst>
          </p:cNvPr>
          <p:cNvSpPr>
            <a:spLocks noGrp="1"/>
          </p:cNvSpPr>
          <p:nvPr>
            <p:ph idx="1"/>
          </p:nvPr>
        </p:nvSpPr>
        <p:spPr>
          <a:xfrm>
            <a:off x="97654" y="1269506"/>
            <a:ext cx="11940466" cy="5131293"/>
          </a:xfrm>
        </p:spPr>
        <p:txBody>
          <a:bodyPr>
            <a:normAutofit/>
          </a:bodyPr>
          <a:lstStyle/>
          <a:p>
            <a:pPr lvl="1">
              <a:lnSpc>
                <a:spcPct val="150000"/>
              </a:lnSpc>
            </a:pPr>
            <a:r>
              <a:rPr lang="en-US" altLang="en-US" sz="2800" dirty="0">
                <a:latin typeface="Times New Roman" panose="02020603050405020304" pitchFamily="18" charset="0"/>
                <a:cs typeface="Times New Roman" panose="02020603050405020304" pitchFamily="18" charset="0"/>
              </a:rPr>
              <a:t>If each entry is 4 bytes </a:t>
            </a:r>
            <a:r>
              <a:rPr lang="en-US" altLang="en-US" sz="28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dirty="0">
                <a:latin typeface="Times New Roman" panose="02020603050405020304" pitchFamily="18" charset="0"/>
                <a:cs typeface="Times New Roman" panose="02020603050405020304" pitchFamily="18" charset="0"/>
              </a:rPr>
              <a:t> each process requires 16 MB of physical address space for the  page table alone</a:t>
            </a:r>
          </a:p>
          <a:p>
            <a:pPr lvl="2">
              <a:lnSpc>
                <a:spcPct val="150000"/>
              </a:lnSpc>
            </a:pPr>
            <a:r>
              <a:rPr lang="en-US" altLang="en-US" sz="2800" dirty="0">
                <a:latin typeface="Times New Roman" panose="02020603050405020304" pitchFamily="18" charset="0"/>
                <a:cs typeface="Times New Roman" panose="02020603050405020304" pitchFamily="18" charset="0"/>
              </a:rPr>
              <a:t>Don</a:t>
            </a:r>
            <a:r>
              <a:rPr lang="ja-JP" altLang="en-US" sz="2800" dirty="0">
                <a:latin typeface="Times New Roman" panose="02020603050405020304" pitchFamily="18" charset="0"/>
                <a:cs typeface="Times New Roman" panose="02020603050405020304" pitchFamily="18" charset="0"/>
              </a:rPr>
              <a:t>’</a:t>
            </a:r>
            <a:r>
              <a:rPr lang="en-US" altLang="ja-JP" sz="2800" dirty="0">
                <a:latin typeface="Times New Roman" panose="02020603050405020304" pitchFamily="18" charset="0"/>
                <a:cs typeface="Times New Roman" panose="02020603050405020304" pitchFamily="18" charset="0"/>
              </a:rPr>
              <a:t>t want to allocate that contiguously in main memory</a:t>
            </a:r>
          </a:p>
          <a:p>
            <a:pPr lvl="1">
              <a:lnSpc>
                <a:spcPct val="150000"/>
              </a:lnSpc>
            </a:pPr>
            <a:r>
              <a:rPr lang="en-US" altLang="en-US" sz="2800" dirty="0">
                <a:latin typeface="Times New Roman" panose="02020603050405020304" pitchFamily="18" charset="0"/>
                <a:cs typeface="Times New Roman" panose="02020603050405020304" pitchFamily="18" charset="0"/>
              </a:rPr>
              <a:t>One simple solution is to divide the page table into smaller units</a:t>
            </a:r>
          </a:p>
          <a:p>
            <a:pPr lvl="2">
              <a:lnSpc>
                <a:spcPct val="150000"/>
              </a:lnSpc>
            </a:pPr>
            <a:r>
              <a:rPr lang="en-US" altLang="en-US" sz="2800" dirty="0">
                <a:latin typeface="Times New Roman" panose="02020603050405020304" pitchFamily="18" charset="0"/>
                <a:cs typeface="Times New Roman" panose="02020603050405020304" pitchFamily="18" charset="0"/>
              </a:rPr>
              <a:t>Hierarchical Paging</a:t>
            </a:r>
          </a:p>
          <a:p>
            <a:pPr lvl="2">
              <a:lnSpc>
                <a:spcPct val="150000"/>
              </a:lnSpc>
            </a:pPr>
            <a:r>
              <a:rPr lang="en-US" altLang="en-US" sz="2800" dirty="0">
                <a:latin typeface="Times New Roman" panose="02020603050405020304" pitchFamily="18" charset="0"/>
                <a:cs typeface="Times New Roman" panose="02020603050405020304" pitchFamily="18" charset="0"/>
              </a:rPr>
              <a:t>Hashed Page Tables</a:t>
            </a:r>
          </a:p>
          <a:p>
            <a:pPr lvl="2">
              <a:lnSpc>
                <a:spcPct val="150000"/>
              </a:lnSpc>
            </a:pPr>
            <a:r>
              <a:rPr lang="en-US" altLang="en-US" sz="2800" dirty="0">
                <a:latin typeface="Times New Roman" panose="02020603050405020304" pitchFamily="18" charset="0"/>
                <a:cs typeface="Times New Roman" panose="02020603050405020304" pitchFamily="18" charset="0"/>
              </a:rPr>
              <a:t>Inverted Page Tables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14417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A5D99-2960-4750-AE12-EA4533B31678}"/>
              </a:ext>
            </a:extLst>
          </p:cNvPr>
          <p:cNvSpPr>
            <a:spLocks noGrp="1"/>
          </p:cNvSpPr>
          <p:nvPr>
            <p:ph type="title"/>
          </p:nvPr>
        </p:nvSpPr>
        <p:spPr>
          <a:xfrm>
            <a:off x="168676" y="365125"/>
            <a:ext cx="11185124" cy="806727"/>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Hierarchical Page Tables</a:t>
            </a:r>
            <a:endParaRPr lang="en-IN" sz="4000" b="1" dirty="0">
              <a:solidFill>
                <a:srgbClr val="00B050"/>
              </a:solidFill>
              <a:latin typeface="Times New Roman" panose="02020603050405020304" pitchFamily="18" charset="0"/>
              <a:cs typeface="Times New Roman" panose="02020603050405020304" pitchFamily="18" charset="0"/>
            </a:endParaRPr>
          </a:p>
        </p:txBody>
      </p:sp>
      <p:pic>
        <p:nvPicPr>
          <p:cNvPr id="3" name="Picture 4" descr="8">
            <a:extLst>
              <a:ext uri="{FF2B5EF4-FFF2-40B4-BE49-F238E27FC236}">
                <a16:creationId xmlns:a16="http://schemas.microsoft.com/office/drawing/2014/main" id="{ADE16A85-ED89-4B1A-8FAF-985D5136FC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327" y="1686507"/>
            <a:ext cx="7643673" cy="4474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32379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9BBD-DCCF-4CB5-8213-396295CEEBF4}"/>
              </a:ext>
            </a:extLst>
          </p:cNvPr>
          <p:cNvSpPr>
            <a:spLocks noGrp="1"/>
          </p:cNvSpPr>
          <p:nvPr>
            <p:ph type="title"/>
          </p:nvPr>
        </p:nvSpPr>
        <p:spPr>
          <a:xfrm>
            <a:off x="204186" y="79899"/>
            <a:ext cx="11149614" cy="710214"/>
          </a:xfrm>
        </p:spPr>
        <p:txBody>
          <a:bodyPr>
            <a:normAutofit/>
          </a:bodyPr>
          <a:lstStyle/>
          <a:p>
            <a:r>
              <a:rPr lang="en-US" altLang="en-US" b="1" dirty="0">
                <a:solidFill>
                  <a:srgbClr val="00B050"/>
                </a:solidFill>
                <a:latin typeface="Times New Roman" panose="02020603050405020304" pitchFamily="18" charset="0"/>
                <a:cs typeface="Times New Roman" panose="02020603050405020304" pitchFamily="18" charset="0"/>
              </a:rPr>
              <a:t>Two-Level Paging Example</a:t>
            </a:r>
            <a:endParaRPr lang="en-IN"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3CA295-4BC0-4182-A529-BB28E5C8DF70}"/>
              </a:ext>
            </a:extLst>
          </p:cNvPr>
          <p:cNvSpPr>
            <a:spLocks noGrp="1"/>
          </p:cNvSpPr>
          <p:nvPr>
            <p:ph idx="1"/>
          </p:nvPr>
        </p:nvSpPr>
        <p:spPr>
          <a:xfrm>
            <a:off x="204186" y="790113"/>
            <a:ext cx="11149614" cy="6445188"/>
          </a:xfrm>
        </p:spPr>
        <p:txBody>
          <a:bodyPr>
            <a:normAutofit fontScale="25000" lnSpcReduction="20000"/>
          </a:bodyPr>
          <a:lstStyle/>
          <a:p>
            <a:pPr>
              <a:lnSpc>
                <a:spcPct val="150000"/>
              </a:lnSpc>
            </a:pPr>
            <a:r>
              <a:rPr lang="en-US" altLang="en-US" sz="9600" dirty="0">
                <a:latin typeface="Times New Roman" panose="02020603050405020304" pitchFamily="18" charset="0"/>
                <a:cs typeface="Times New Roman" panose="02020603050405020304" pitchFamily="18" charset="0"/>
              </a:rPr>
              <a:t>A logical address (on 32-bit machine with 1K page size) is divided into:</a:t>
            </a:r>
          </a:p>
          <a:p>
            <a:pPr marL="627063" lvl="1">
              <a:lnSpc>
                <a:spcPct val="150000"/>
              </a:lnSpc>
            </a:pPr>
            <a:r>
              <a:rPr lang="en-US" altLang="en-US" sz="9600" dirty="0">
                <a:latin typeface="Times New Roman" panose="02020603050405020304" pitchFamily="18" charset="0"/>
                <a:cs typeface="Times New Roman" panose="02020603050405020304" pitchFamily="18" charset="0"/>
              </a:rPr>
              <a:t>a page number consisting of 22 bits</a:t>
            </a:r>
          </a:p>
          <a:p>
            <a:pPr marL="627063" lvl="1">
              <a:lnSpc>
                <a:spcPct val="150000"/>
              </a:lnSpc>
            </a:pPr>
            <a:r>
              <a:rPr lang="en-US" altLang="en-US" sz="9600" dirty="0">
                <a:latin typeface="Times New Roman" panose="02020603050405020304" pitchFamily="18" charset="0"/>
                <a:cs typeface="Times New Roman" panose="02020603050405020304" pitchFamily="18" charset="0"/>
              </a:rPr>
              <a:t>a page offset consisting of 10 bits</a:t>
            </a:r>
          </a:p>
          <a:p>
            <a:pPr marL="627063" lvl="1">
              <a:lnSpc>
                <a:spcPct val="150000"/>
              </a:lnSpc>
            </a:pPr>
            <a:endParaRPr lang="en-US" altLang="en-US" sz="9600" dirty="0">
              <a:latin typeface="Times New Roman" panose="02020603050405020304" pitchFamily="18" charset="0"/>
              <a:cs typeface="Times New Roman" panose="02020603050405020304" pitchFamily="18" charset="0"/>
            </a:endParaRPr>
          </a:p>
          <a:p>
            <a:pPr>
              <a:lnSpc>
                <a:spcPct val="150000"/>
              </a:lnSpc>
            </a:pPr>
            <a:r>
              <a:rPr lang="en-US" altLang="en-US" sz="9600" dirty="0">
                <a:latin typeface="Times New Roman" panose="02020603050405020304" pitchFamily="18" charset="0"/>
                <a:cs typeface="Times New Roman" panose="02020603050405020304" pitchFamily="18" charset="0"/>
              </a:rPr>
              <a:t>Since the page table is paged, the page number is further divided into:</a:t>
            </a:r>
          </a:p>
          <a:p>
            <a:pPr marL="627063" lvl="1">
              <a:lnSpc>
                <a:spcPct val="150000"/>
              </a:lnSpc>
            </a:pPr>
            <a:r>
              <a:rPr lang="en-US" altLang="en-US" sz="9600" dirty="0">
                <a:latin typeface="Times New Roman" panose="02020603050405020304" pitchFamily="18" charset="0"/>
                <a:cs typeface="Times New Roman" panose="02020603050405020304" pitchFamily="18" charset="0"/>
              </a:rPr>
              <a:t>a 12-bit page number </a:t>
            </a:r>
          </a:p>
          <a:p>
            <a:pPr marL="627063" lvl="1">
              <a:lnSpc>
                <a:spcPct val="150000"/>
              </a:lnSpc>
            </a:pPr>
            <a:r>
              <a:rPr lang="en-US" altLang="en-US" sz="9600" dirty="0">
                <a:latin typeface="Times New Roman" panose="02020603050405020304" pitchFamily="18" charset="0"/>
                <a:cs typeface="Times New Roman" panose="02020603050405020304" pitchFamily="18" charset="0"/>
              </a:rPr>
              <a:t>a 10-bit page offset</a:t>
            </a:r>
          </a:p>
          <a:p>
            <a:pPr marL="627063" lvl="1">
              <a:lnSpc>
                <a:spcPct val="150000"/>
              </a:lnSpc>
            </a:pPr>
            <a:endParaRPr lang="en-US" altLang="en-US" sz="9600" dirty="0">
              <a:latin typeface="Times New Roman" panose="02020603050405020304" pitchFamily="18" charset="0"/>
              <a:cs typeface="Times New Roman" panose="02020603050405020304" pitchFamily="18" charset="0"/>
            </a:endParaRPr>
          </a:p>
          <a:p>
            <a:pPr>
              <a:lnSpc>
                <a:spcPct val="150000"/>
              </a:lnSpc>
            </a:pPr>
            <a:r>
              <a:rPr lang="en-US" altLang="en-US" sz="9600" dirty="0">
                <a:latin typeface="Times New Roman" panose="02020603050405020304" pitchFamily="18" charset="0"/>
                <a:cs typeface="Times New Roman" panose="02020603050405020304" pitchFamily="18" charset="0"/>
              </a:rPr>
              <a:t>Thus, a logical address is as follows:</a:t>
            </a:r>
            <a:br>
              <a:rPr lang="en-US" altLang="en-US" sz="9600" dirty="0">
                <a:latin typeface="Times New Roman" panose="02020603050405020304" pitchFamily="18" charset="0"/>
                <a:cs typeface="Times New Roman" panose="02020603050405020304" pitchFamily="18" charset="0"/>
              </a:rPr>
            </a:br>
            <a:br>
              <a:rPr lang="en-US" altLang="en-US" sz="9600" dirty="0">
                <a:latin typeface="Times New Roman" panose="02020603050405020304" pitchFamily="18" charset="0"/>
                <a:cs typeface="Times New Roman" panose="02020603050405020304" pitchFamily="18" charset="0"/>
              </a:rPr>
            </a:br>
            <a:br>
              <a:rPr lang="en-US" altLang="en-US" sz="9600" dirty="0">
                <a:latin typeface="Times New Roman" panose="02020603050405020304" pitchFamily="18" charset="0"/>
                <a:cs typeface="Times New Roman" panose="02020603050405020304" pitchFamily="18" charset="0"/>
              </a:rPr>
            </a:br>
            <a:br>
              <a:rPr lang="en-US" altLang="en-US" sz="9600" dirty="0">
                <a:latin typeface="Times New Roman" panose="02020603050405020304" pitchFamily="18" charset="0"/>
                <a:cs typeface="Times New Roman" panose="02020603050405020304" pitchFamily="18" charset="0"/>
              </a:rPr>
            </a:br>
            <a:br>
              <a:rPr lang="en-US" altLang="en-US" sz="9600" dirty="0">
                <a:latin typeface="Times New Roman" panose="02020603050405020304" pitchFamily="18" charset="0"/>
                <a:cs typeface="Times New Roman" panose="02020603050405020304" pitchFamily="18" charset="0"/>
              </a:rPr>
            </a:br>
            <a:br>
              <a:rPr lang="en-US" altLang="en-US" sz="9600" dirty="0">
                <a:latin typeface="Times New Roman" panose="02020603050405020304" pitchFamily="18" charset="0"/>
                <a:cs typeface="Times New Roman" panose="02020603050405020304" pitchFamily="18" charset="0"/>
              </a:rPr>
            </a:br>
            <a:endParaRPr lang="en-US" altLang="en-US" sz="9600" dirty="0">
              <a:latin typeface="Times New Roman" panose="02020603050405020304" pitchFamily="18" charset="0"/>
              <a:cs typeface="Times New Roman" panose="02020603050405020304" pitchFamily="18" charset="0"/>
            </a:endParaRPr>
          </a:p>
          <a:p>
            <a:pPr>
              <a:lnSpc>
                <a:spcPct val="150000"/>
              </a:lnSpc>
            </a:pPr>
            <a:r>
              <a:rPr lang="en-US" altLang="en-US" sz="9600" dirty="0">
                <a:latin typeface="Times New Roman" panose="02020603050405020304" pitchFamily="18" charset="0"/>
                <a:cs typeface="Times New Roman" panose="02020603050405020304" pitchFamily="18" charset="0"/>
              </a:rPr>
              <a:t>where</a:t>
            </a:r>
            <a:r>
              <a:rPr lang="en-US" altLang="en-US" sz="9600" i="1" dirty="0">
                <a:latin typeface="Times New Roman" panose="02020603050405020304" pitchFamily="18" charset="0"/>
                <a:cs typeface="Times New Roman" panose="02020603050405020304" pitchFamily="18" charset="0"/>
              </a:rPr>
              <a:t> p</a:t>
            </a:r>
            <a:r>
              <a:rPr lang="en-US" altLang="en-US" sz="9600" i="1" baseline="-25000" dirty="0">
                <a:latin typeface="Times New Roman" panose="02020603050405020304" pitchFamily="18" charset="0"/>
                <a:cs typeface="Times New Roman" panose="02020603050405020304" pitchFamily="18" charset="0"/>
              </a:rPr>
              <a:t>1</a:t>
            </a:r>
            <a:r>
              <a:rPr lang="en-US" altLang="en-US" sz="9600" dirty="0">
                <a:latin typeface="Times New Roman" panose="02020603050405020304" pitchFamily="18" charset="0"/>
                <a:cs typeface="Times New Roman" panose="02020603050405020304" pitchFamily="18" charset="0"/>
              </a:rPr>
              <a:t> is an index into the outer page table, and </a:t>
            </a:r>
            <a:r>
              <a:rPr lang="en-US" altLang="en-US" sz="9600" i="1" dirty="0">
                <a:latin typeface="Times New Roman" panose="02020603050405020304" pitchFamily="18" charset="0"/>
                <a:cs typeface="Times New Roman" panose="02020603050405020304" pitchFamily="18" charset="0"/>
              </a:rPr>
              <a:t>p</a:t>
            </a:r>
            <a:r>
              <a:rPr lang="en-US" altLang="en-US" sz="9600" i="1" baseline="-25000" dirty="0">
                <a:latin typeface="Times New Roman" panose="02020603050405020304" pitchFamily="18" charset="0"/>
                <a:cs typeface="Times New Roman" panose="02020603050405020304" pitchFamily="18" charset="0"/>
              </a:rPr>
              <a:t>2</a:t>
            </a:r>
            <a:r>
              <a:rPr lang="en-US" altLang="en-US" sz="9600" dirty="0">
                <a:latin typeface="Times New Roman" panose="02020603050405020304" pitchFamily="18" charset="0"/>
                <a:cs typeface="Times New Roman" panose="02020603050405020304" pitchFamily="18" charset="0"/>
              </a:rPr>
              <a:t> is the displacement within the page of the inner page table</a:t>
            </a:r>
          </a:p>
          <a:p>
            <a:pPr>
              <a:lnSpc>
                <a:spcPct val="150000"/>
              </a:lnSpc>
            </a:pPr>
            <a:r>
              <a:rPr lang="en-US" altLang="en-US" sz="9600" dirty="0">
                <a:latin typeface="Times New Roman" panose="02020603050405020304" pitchFamily="18" charset="0"/>
                <a:cs typeface="Times New Roman" panose="02020603050405020304" pitchFamily="18" charset="0"/>
              </a:rPr>
              <a:t>Known as </a:t>
            </a:r>
            <a:r>
              <a:rPr lang="en-US" altLang="en-US" sz="9600" b="1" dirty="0">
                <a:solidFill>
                  <a:srgbClr val="3366FF"/>
                </a:solidFill>
                <a:latin typeface="Times New Roman" panose="02020603050405020304" pitchFamily="18" charset="0"/>
                <a:cs typeface="Times New Roman" panose="02020603050405020304" pitchFamily="18" charset="0"/>
              </a:rPr>
              <a:t>forward-mapped page table</a:t>
            </a:r>
          </a:p>
          <a:p>
            <a:endParaRPr lang="en-IN" dirty="0"/>
          </a:p>
        </p:txBody>
      </p:sp>
      <p:pic>
        <p:nvPicPr>
          <p:cNvPr id="4" name="Picture 4">
            <a:extLst>
              <a:ext uri="{FF2B5EF4-FFF2-40B4-BE49-F238E27FC236}">
                <a16:creationId xmlns:a16="http://schemas.microsoft.com/office/drawing/2014/main" id="{CE72D834-6AF4-4CF5-974D-FA57F1364D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57079" y="5655453"/>
            <a:ext cx="3711714"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7557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0E658-44E2-41B5-A679-067D5552EFA5}"/>
              </a:ext>
            </a:extLst>
          </p:cNvPr>
          <p:cNvSpPr>
            <a:spLocks noGrp="1"/>
          </p:cNvSpPr>
          <p:nvPr>
            <p:ph type="title"/>
          </p:nvPr>
        </p:nvSpPr>
        <p:spPr>
          <a:xfrm>
            <a:off x="0" y="221942"/>
            <a:ext cx="11353800" cy="541538"/>
          </a:xfrm>
        </p:spPr>
        <p:txBody>
          <a:bodyPr>
            <a:normAutofit fontScale="90000"/>
          </a:bodyPr>
          <a:lstStyle/>
          <a:p>
            <a:r>
              <a:rPr lang="en-US" altLang="en-US" b="1" dirty="0">
                <a:solidFill>
                  <a:srgbClr val="00B050"/>
                </a:solidFill>
                <a:latin typeface="Times New Roman" panose="02020603050405020304" pitchFamily="18" charset="0"/>
                <a:cs typeface="Times New Roman" panose="02020603050405020304" pitchFamily="18" charset="0"/>
              </a:rPr>
              <a:t>Address-Translation Scheme</a:t>
            </a:r>
            <a:endParaRPr lang="en-IN" dirty="0">
              <a:solidFill>
                <a:srgbClr val="00B050"/>
              </a:solidFill>
              <a:latin typeface="Times New Roman" panose="02020603050405020304" pitchFamily="18" charset="0"/>
              <a:cs typeface="Times New Roman" panose="02020603050405020304" pitchFamily="18" charset="0"/>
            </a:endParaRPr>
          </a:p>
        </p:txBody>
      </p:sp>
      <p:pic>
        <p:nvPicPr>
          <p:cNvPr id="3" name="Picture 1035">
            <a:extLst>
              <a:ext uri="{FF2B5EF4-FFF2-40B4-BE49-F238E27FC236}">
                <a16:creationId xmlns:a16="http://schemas.microsoft.com/office/drawing/2014/main" id="{B23648BF-7E8A-4E39-BD2A-E89E23D6C6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349" y="1637651"/>
            <a:ext cx="9733333" cy="4416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369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DFC9E-5EAD-4305-A1BD-FE604D04E0AB}"/>
              </a:ext>
            </a:extLst>
          </p:cNvPr>
          <p:cNvSpPr>
            <a:spLocks noGrp="1"/>
          </p:cNvSpPr>
          <p:nvPr>
            <p:ph type="title"/>
          </p:nvPr>
        </p:nvSpPr>
        <p:spPr>
          <a:xfrm>
            <a:off x="275208" y="-71020"/>
            <a:ext cx="11078592" cy="852256"/>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64-bit Logical Address Space</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E292A6-B858-4994-8080-185A2165E43E}"/>
              </a:ext>
            </a:extLst>
          </p:cNvPr>
          <p:cNvSpPr>
            <a:spLocks noGrp="1"/>
          </p:cNvSpPr>
          <p:nvPr>
            <p:ph idx="1"/>
          </p:nvPr>
        </p:nvSpPr>
        <p:spPr>
          <a:xfrm>
            <a:off x="275208" y="1020932"/>
            <a:ext cx="11078592" cy="5983550"/>
          </a:xfrm>
        </p:spPr>
        <p:txBody>
          <a:bodyPr>
            <a:normAutofit fontScale="62500" lnSpcReduction="20000"/>
          </a:bodyPr>
          <a:lstStyle/>
          <a:p>
            <a:pPr>
              <a:lnSpc>
                <a:spcPct val="150000"/>
              </a:lnSpc>
              <a:defRPr/>
            </a:pPr>
            <a:r>
              <a:rPr lang="en-US" altLang="en-US" sz="3400" dirty="0">
                <a:latin typeface="Times New Roman" panose="02020603050405020304" pitchFamily="18" charset="0"/>
                <a:cs typeface="Times New Roman" panose="02020603050405020304" pitchFamily="18" charset="0"/>
              </a:rPr>
              <a:t>Even two-level paging scheme not sufficient</a:t>
            </a:r>
          </a:p>
          <a:p>
            <a:pPr>
              <a:lnSpc>
                <a:spcPct val="150000"/>
              </a:lnSpc>
              <a:defRPr/>
            </a:pPr>
            <a:r>
              <a:rPr lang="en-US" altLang="en-US" sz="3400" dirty="0">
                <a:latin typeface="Times New Roman" panose="02020603050405020304" pitchFamily="18" charset="0"/>
                <a:cs typeface="Times New Roman" panose="02020603050405020304" pitchFamily="18" charset="0"/>
              </a:rPr>
              <a:t>If page size is 4 KB (2</a:t>
            </a:r>
            <a:r>
              <a:rPr lang="en-US" altLang="en-US" sz="3400" baseline="30000" dirty="0">
                <a:latin typeface="Times New Roman" panose="02020603050405020304" pitchFamily="18" charset="0"/>
                <a:cs typeface="Times New Roman" panose="02020603050405020304" pitchFamily="18" charset="0"/>
              </a:rPr>
              <a:t>12</a:t>
            </a:r>
            <a:r>
              <a:rPr lang="en-US" altLang="en-US" sz="3400" dirty="0">
                <a:latin typeface="Times New Roman" panose="02020603050405020304" pitchFamily="18" charset="0"/>
                <a:cs typeface="Times New Roman" panose="02020603050405020304" pitchFamily="18" charset="0"/>
              </a:rPr>
              <a:t>)</a:t>
            </a:r>
          </a:p>
          <a:p>
            <a:pPr lvl="1">
              <a:lnSpc>
                <a:spcPct val="150000"/>
              </a:lnSpc>
              <a:defRPr/>
            </a:pPr>
            <a:r>
              <a:rPr lang="en-US" altLang="en-US" sz="3400" dirty="0">
                <a:latin typeface="Times New Roman" panose="02020603050405020304" pitchFamily="18" charset="0"/>
                <a:cs typeface="Times New Roman" panose="02020603050405020304" pitchFamily="18" charset="0"/>
              </a:rPr>
              <a:t>Then page table has 2</a:t>
            </a:r>
            <a:r>
              <a:rPr lang="en-US" altLang="en-US" sz="3400" baseline="30000" dirty="0">
                <a:latin typeface="Times New Roman" panose="02020603050405020304" pitchFamily="18" charset="0"/>
                <a:cs typeface="Times New Roman" panose="02020603050405020304" pitchFamily="18" charset="0"/>
              </a:rPr>
              <a:t>52</a:t>
            </a:r>
            <a:r>
              <a:rPr lang="en-US" altLang="en-US" sz="3400" dirty="0">
                <a:latin typeface="Times New Roman" panose="02020603050405020304" pitchFamily="18" charset="0"/>
                <a:cs typeface="Times New Roman" panose="02020603050405020304" pitchFamily="18" charset="0"/>
              </a:rPr>
              <a:t> entries</a:t>
            </a:r>
          </a:p>
          <a:p>
            <a:pPr lvl="1">
              <a:lnSpc>
                <a:spcPct val="150000"/>
              </a:lnSpc>
              <a:defRPr/>
            </a:pPr>
            <a:r>
              <a:rPr lang="en-US" altLang="en-US" sz="3400" dirty="0">
                <a:latin typeface="Times New Roman" panose="02020603050405020304" pitchFamily="18" charset="0"/>
                <a:cs typeface="Times New Roman" panose="02020603050405020304" pitchFamily="18" charset="0"/>
              </a:rPr>
              <a:t>If two level scheme, inner page tables could be 2</a:t>
            </a:r>
            <a:r>
              <a:rPr lang="en-US" altLang="en-US" sz="3400" baseline="30000" dirty="0">
                <a:latin typeface="Times New Roman" panose="02020603050405020304" pitchFamily="18" charset="0"/>
                <a:cs typeface="Times New Roman" panose="02020603050405020304" pitchFamily="18" charset="0"/>
              </a:rPr>
              <a:t>10</a:t>
            </a:r>
            <a:r>
              <a:rPr lang="en-US" altLang="en-US" sz="3400" dirty="0">
                <a:latin typeface="Times New Roman" panose="02020603050405020304" pitchFamily="18" charset="0"/>
                <a:cs typeface="Times New Roman" panose="02020603050405020304" pitchFamily="18" charset="0"/>
              </a:rPr>
              <a:t> 4-byte entries</a:t>
            </a:r>
          </a:p>
          <a:p>
            <a:pPr lvl="1">
              <a:lnSpc>
                <a:spcPct val="150000"/>
              </a:lnSpc>
              <a:defRPr/>
            </a:pPr>
            <a:r>
              <a:rPr lang="en-US" altLang="en-US" sz="3400" dirty="0">
                <a:latin typeface="Times New Roman" panose="02020603050405020304" pitchFamily="18" charset="0"/>
                <a:cs typeface="Times New Roman" panose="02020603050405020304" pitchFamily="18" charset="0"/>
              </a:rPr>
              <a:t>Address would look like</a:t>
            </a:r>
          </a:p>
          <a:p>
            <a:pPr lvl="1">
              <a:lnSpc>
                <a:spcPct val="150000"/>
              </a:lnSpc>
              <a:defRPr/>
            </a:pPr>
            <a:endParaRPr lang="en-US" altLang="en-US" sz="3400" dirty="0">
              <a:latin typeface="Times New Roman" panose="02020603050405020304" pitchFamily="18" charset="0"/>
              <a:cs typeface="Times New Roman" panose="02020603050405020304" pitchFamily="18" charset="0"/>
            </a:endParaRPr>
          </a:p>
          <a:p>
            <a:pPr lvl="1">
              <a:lnSpc>
                <a:spcPct val="150000"/>
              </a:lnSpc>
              <a:defRPr/>
            </a:pPr>
            <a:endParaRPr lang="en-US" altLang="en-US" sz="3400" dirty="0">
              <a:latin typeface="Times New Roman" panose="02020603050405020304" pitchFamily="18" charset="0"/>
              <a:cs typeface="Times New Roman" panose="02020603050405020304" pitchFamily="18" charset="0"/>
            </a:endParaRPr>
          </a:p>
          <a:p>
            <a:pPr marL="457200" lvl="1" indent="0">
              <a:lnSpc>
                <a:spcPct val="150000"/>
              </a:lnSpc>
              <a:buFont typeface="Monotype Sorts" pitchFamily="-84" charset="2"/>
              <a:buNone/>
              <a:defRPr/>
            </a:pPr>
            <a:endParaRPr lang="en-US" altLang="en-US" sz="3400" dirty="0">
              <a:latin typeface="Times New Roman" panose="02020603050405020304" pitchFamily="18" charset="0"/>
              <a:cs typeface="Times New Roman" panose="02020603050405020304" pitchFamily="18" charset="0"/>
            </a:endParaRPr>
          </a:p>
          <a:p>
            <a:pPr lvl="1">
              <a:lnSpc>
                <a:spcPct val="150000"/>
              </a:lnSpc>
              <a:defRPr/>
            </a:pPr>
            <a:r>
              <a:rPr lang="en-US" altLang="en-US" sz="3400" dirty="0">
                <a:latin typeface="Times New Roman" panose="02020603050405020304" pitchFamily="18" charset="0"/>
                <a:cs typeface="Times New Roman" panose="02020603050405020304" pitchFamily="18" charset="0"/>
              </a:rPr>
              <a:t>Outer page table has 2</a:t>
            </a:r>
            <a:r>
              <a:rPr lang="en-US" altLang="en-US" sz="3400" baseline="30000" dirty="0">
                <a:latin typeface="Times New Roman" panose="02020603050405020304" pitchFamily="18" charset="0"/>
                <a:cs typeface="Times New Roman" panose="02020603050405020304" pitchFamily="18" charset="0"/>
              </a:rPr>
              <a:t>42</a:t>
            </a:r>
            <a:r>
              <a:rPr lang="en-US" altLang="en-US" sz="3400" dirty="0">
                <a:latin typeface="Times New Roman" panose="02020603050405020304" pitchFamily="18" charset="0"/>
                <a:cs typeface="Times New Roman" panose="02020603050405020304" pitchFamily="18" charset="0"/>
              </a:rPr>
              <a:t> entries or 2</a:t>
            </a:r>
            <a:r>
              <a:rPr lang="en-US" altLang="en-US" sz="3400" baseline="30000" dirty="0">
                <a:latin typeface="Times New Roman" panose="02020603050405020304" pitchFamily="18" charset="0"/>
                <a:cs typeface="Times New Roman" panose="02020603050405020304" pitchFamily="18" charset="0"/>
              </a:rPr>
              <a:t>44</a:t>
            </a:r>
            <a:r>
              <a:rPr lang="en-US" altLang="en-US" sz="3400" dirty="0">
                <a:latin typeface="Times New Roman" panose="02020603050405020304" pitchFamily="18" charset="0"/>
                <a:cs typeface="Times New Roman" panose="02020603050405020304" pitchFamily="18" charset="0"/>
              </a:rPr>
              <a:t> bytes</a:t>
            </a:r>
          </a:p>
          <a:p>
            <a:pPr lvl="1">
              <a:lnSpc>
                <a:spcPct val="150000"/>
              </a:lnSpc>
              <a:defRPr/>
            </a:pPr>
            <a:r>
              <a:rPr lang="en-US" altLang="en-US" sz="3400" dirty="0">
                <a:latin typeface="Times New Roman" panose="02020603050405020304" pitchFamily="18" charset="0"/>
                <a:cs typeface="Times New Roman" panose="02020603050405020304" pitchFamily="18" charset="0"/>
              </a:rPr>
              <a:t>One solution is to add a 2</a:t>
            </a:r>
            <a:r>
              <a:rPr lang="en-US" altLang="en-US" sz="3400" baseline="30000" dirty="0">
                <a:latin typeface="Times New Roman" panose="02020603050405020304" pitchFamily="18" charset="0"/>
                <a:cs typeface="Times New Roman" panose="02020603050405020304" pitchFamily="18" charset="0"/>
              </a:rPr>
              <a:t>nd</a:t>
            </a:r>
            <a:r>
              <a:rPr lang="en-US" altLang="en-US" sz="3400" dirty="0">
                <a:latin typeface="Times New Roman" panose="02020603050405020304" pitchFamily="18" charset="0"/>
                <a:cs typeface="Times New Roman" panose="02020603050405020304" pitchFamily="18" charset="0"/>
              </a:rPr>
              <a:t> outer page table</a:t>
            </a:r>
          </a:p>
          <a:p>
            <a:pPr lvl="1">
              <a:lnSpc>
                <a:spcPct val="150000"/>
              </a:lnSpc>
              <a:defRPr/>
            </a:pPr>
            <a:r>
              <a:rPr lang="en-US" altLang="en-US" sz="3400" dirty="0">
                <a:latin typeface="Times New Roman" panose="02020603050405020304" pitchFamily="18" charset="0"/>
                <a:cs typeface="Times New Roman" panose="02020603050405020304" pitchFamily="18" charset="0"/>
              </a:rPr>
              <a:t>But in the following example the 2</a:t>
            </a:r>
            <a:r>
              <a:rPr lang="en-US" altLang="en-US" sz="3400" baseline="30000" dirty="0">
                <a:latin typeface="Times New Roman" panose="02020603050405020304" pitchFamily="18" charset="0"/>
                <a:cs typeface="Times New Roman" panose="02020603050405020304" pitchFamily="18" charset="0"/>
              </a:rPr>
              <a:t>nd</a:t>
            </a:r>
            <a:r>
              <a:rPr lang="en-US" altLang="en-US" sz="3400" dirty="0">
                <a:latin typeface="Times New Roman" panose="02020603050405020304" pitchFamily="18" charset="0"/>
                <a:cs typeface="Times New Roman" panose="02020603050405020304" pitchFamily="18" charset="0"/>
              </a:rPr>
              <a:t> outer page table is still 2</a:t>
            </a:r>
            <a:r>
              <a:rPr lang="en-US" altLang="en-US" sz="3400" baseline="30000" dirty="0">
                <a:latin typeface="Times New Roman" panose="02020603050405020304" pitchFamily="18" charset="0"/>
                <a:cs typeface="Times New Roman" panose="02020603050405020304" pitchFamily="18" charset="0"/>
              </a:rPr>
              <a:t>34</a:t>
            </a:r>
            <a:r>
              <a:rPr lang="en-US" altLang="en-US" sz="3400" dirty="0">
                <a:latin typeface="Times New Roman" panose="02020603050405020304" pitchFamily="18" charset="0"/>
                <a:cs typeface="Times New Roman" panose="02020603050405020304" pitchFamily="18" charset="0"/>
              </a:rPr>
              <a:t> bytes in size</a:t>
            </a:r>
          </a:p>
          <a:p>
            <a:pPr lvl="2">
              <a:lnSpc>
                <a:spcPct val="150000"/>
              </a:lnSpc>
              <a:defRPr/>
            </a:pPr>
            <a:r>
              <a:rPr lang="en-US" altLang="en-US" sz="3400" dirty="0">
                <a:latin typeface="Times New Roman" panose="02020603050405020304" pitchFamily="18" charset="0"/>
                <a:cs typeface="Times New Roman" panose="02020603050405020304" pitchFamily="18" charset="0"/>
              </a:rPr>
              <a:t>And possibly 4 memory access to get to one physical memory location</a:t>
            </a:r>
          </a:p>
          <a:p>
            <a:endParaRPr lang="en-IN" dirty="0"/>
          </a:p>
        </p:txBody>
      </p:sp>
      <p:pic>
        <p:nvPicPr>
          <p:cNvPr id="4" name="Picture 5" descr="W:\os-book\OS10\slide-dir\os-figures\in-9_5.jpg">
            <a:extLst>
              <a:ext uri="{FF2B5EF4-FFF2-40B4-BE49-F238E27FC236}">
                <a16:creationId xmlns:a16="http://schemas.microsoft.com/office/drawing/2014/main" id="{FFB451B2-8A42-4C08-9212-064FFEC6C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1788" y="3633788"/>
            <a:ext cx="3719512" cy="1249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15602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72037-3151-4A02-A2A4-70644D04B197}"/>
              </a:ext>
            </a:extLst>
          </p:cNvPr>
          <p:cNvSpPr>
            <a:spLocks noGrp="1"/>
          </p:cNvSpPr>
          <p:nvPr>
            <p:ph type="title"/>
          </p:nvPr>
        </p:nvSpPr>
        <p:spPr>
          <a:xfrm>
            <a:off x="0" y="382880"/>
            <a:ext cx="11229513" cy="771217"/>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Three-level Paging Scheme</a:t>
            </a:r>
            <a:endParaRPr lang="en-IN" sz="4000" b="1" dirty="0">
              <a:solidFill>
                <a:srgbClr val="00B050"/>
              </a:solidFill>
              <a:latin typeface="Times New Roman" panose="02020603050405020304" pitchFamily="18" charset="0"/>
              <a:cs typeface="Times New Roman" panose="02020603050405020304" pitchFamily="18" charset="0"/>
            </a:endParaRPr>
          </a:p>
        </p:txBody>
      </p:sp>
      <p:pic>
        <p:nvPicPr>
          <p:cNvPr id="3" name="Picture 6">
            <a:extLst>
              <a:ext uri="{FF2B5EF4-FFF2-40B4-BE49-F238E27FC236}">
                <a16:creationId xmlns:a16="http://schemas.microsoft.com/office/drawing/2014/main" id="{BCDEA6DF-DDD6-4FC9-9E02-5ACDF1E51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540" y="2180825"/>
            <a:ext cx="4699770" cy="142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a:extLst>
              <a:ext uri="{FF2B5EF4-FFF2-40B4-BE49-F238E27FC236}">
                <a16:creationId xmlns:a16="http://schemas.microsoft.com/office/drawing/2014/main" id="{F3DEBDEF-DD28-4F21-8709-643F7C8E9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540" y="4451494"/>
            <a:ext cx="5186218" cy="1370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2852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4FA45-46AE-4322-A93E-5429581D1B00}"/>
              </a:ext>
            </a:extLst>
          </p:cNvPr>
          <p:cNvSpPr>
            <a:spLocks noGrp="1"/>
          </p:cNvSpPr>
          <p:nvPr>
            <p:ph type="title"/>
          </p:nvPr>
        </p:nvSpPr>
        <p:spPr>
          <a:xfrm>
            <a:off x="159798" y="365126"/>
            <a:ext cx="11194002" cy="575908"/>
          </a:xfrm>
        </p:spPr>
        <p:txBody>
          <a:bodyPr>
            <a:normAutofit fontScale="90000"/>
          </a:bodyPr>
          <a:lstStyle/>
          <a:p>
            <a:r>
              <a:rPr lang="en-US" altLang="en-US" b="1" dirty="0">
                <a:solidFill>
                  <a:srgbClr val="00B050"/>
                </a:solidFill>
                <a:latin typeface="Times New Roman" panose="02020603050405020304" pitchFamily="18" charset="0"/>
                <a:cs typeface="Times New Roman" panose="02020603050405020304" pitchFamily="18" charset="0"/>
              </a:rPr>
              <a:t>Hashed Page Tables</a:t>
            </a:r>
            <a:endParaRPr lang="en-IN"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F664EB-9243-4CE6-A53E-6D52C0836C7F}"/>
              </a:ext>
            </a:extLst>
          </p:cNvPr>
          <p:cNvSpPr>
            <a:spLocks noGrp="1"/>
          </p:cNvSpPr>
          <p:nvPr>
            <p:ph idx="1"/>
          </p:nvPr>
        </p:nvSpPr>
        <p:spPr>
          <a:xfrm>
            <a:off x="230819" y="1278384"/>
            <a:ext cx="11691892" cy="5388746"/>
          </a:xfrm>
        </p:spPr>
        <p:txBody>
          <a:bodyPr>
            <a:normAutofit fontScale="85000" lnSpcReduction="20000"/>
          </a:bodyPr>
          <a:lstStyle/>
          <a:p>
            <a:pPr>
              <a:lnSpc>
                <a:spcPct val="150000"/>
              </a:lnSpc>
            </a:pPr>
            <a:r>
              <a:rPr lang="en-US" altLang="en-US" dirty="0">
                <a:latin typeface="Times New Roman" panose="02020603050405020304" pitchFamily="18" charset="0"/>
                <a:cs typeface="Times New Roman" panose="02020603050405020304" pitchFamily="18" charset="0"/>
              </a:rPr>
              <a:t>Used in architecture with address spaces &gt; 32 bits</a:t>
            </a:r>
          </a:p>
          <a:p>
            <a:pPr>
              <a:lnSpc>
                <a:spcPct val="150000"/>
              </a:lnSpc>
            </a:pPr>
            <a:r>
              <a:rPr lang="en-US" altLang="en-US" dirty="0">
                <a:latin typeface="Times New Roman" panose="02020603050405020304" pitchFamily="18" charset="0"/>
                <a:cs typeface="Times New Roman" panose="02020603050405020304" pitchFamily="18" charset="0"/>
              </a:rPr>
              <a:t>The virtual page number is hashed into a page table</a:t>
            </a:r>
          </a:p>
          <a:p>
            <a:pPr lvl="1">
              <a:lnSpc>
                <a:spcPct val="150000"/>
              </a:lnSpc>
            </a:pPr>
            <a:r>
              <a:rPr lang="en-US" altLang="en-US" sz="2800" dirty="0">
                <a:latin typeface="Times New Roman" panose="02020603050405020304" pitchFamily="18" charset="0"/>
                <a:cs typeface="Times New Roman" panose="02020603050405020304" pitchFamily="18" charset="0"/>
              </a:rPr>
              <a:t>This page table contains a chain of elements hashing to the same location</a:t>
            </a:r>
          </a:p>
          <a:p>
            <a:pPr>
              <a:lnSpc>
                <a:spcPct val="150000"/>
              </a:lnSpc>
            </a:pPr>
            <a:r>
              <a:rPr lang="en-US" altLang="en-US" dirty="0">
                <a:latin typeface="Times New Roman" panose="02020603050405020304" pitchFamily="18" charset="0"/>
                <a:cs typeface="Times New Roman" panose="02020603050405020304" pitchFamily="18" charset="0"/>
              </a:rPr>
              <a:t>Each element contains </a:t>
            </a:r>
          </a:p>
          <a:p>
            <a:pPr marL="800100" lvl="1" indent="-342900">
              <a:lnSpc>
                <a:spcPct val="150000"/>
              </a:lnSpc>
              <a:buFont typeface="+mj-lt"/>
              <a:buAutoNum type="arabicPeriod"/>
            </a:pPr>
            <a:r>
              <a:rPr lang="en-US" altLang="en-US" sz="2800" dirty="0">
                <a:latin typeface="Times New Roman" panose="02020603050405020304" pitchFamily="18" charset="0"/>
                <a:cs typeface="Times New Roman" panose="02020603050405020304" pitchFamily="18" charset="0"/>
              </a:rPr>
              <a:t>The virtual page number </a:t>
            </a:r>
          </a:p>
          <a:p>
            <a:pPr marL="800100" lvl="1" indent="-342900">
              <a:lnSpc>
                <a:spcPct val="150000"/>
              </a:lnSpc>
              <a:buFont typeface="+mj-lt"/>
              <a:buAutoNum type="arabicPeriod"/>
            </a:pPr>
            <a:r>
              <a:rPr lang="en-US" altLang="en-US" sz="2800" dirty="0">
                <a:latin typeface="Times New Roman" panose="02020603050405020304" pitchFamily="18" charset="0"/>
                <a:cs typeface="Times New Roman" panose="02020603050405020304" pitchFamily="18" charset="0"/>
              </a:rPr>
              <a:t>The value of the mapped page frame </a:t>
            </a:r>
          </a:p>
          <a:p>
            <a:pPr marL="800100" lvl="1" indent="-342900">
              <a:lnSpc>
                <a:spcPct val="150000"/>
              </a:lnSpc>
              <a:buFont typeface="+mj-lt"/>
              <a:buAutoNum type="arabicPeriod"/>
            </a:pPr>
            <a:r>
              <a:rPr lang="en-US" altLang="en-US" sz="2800" dirty="0">
                <a:latin typeface="Times New Roman" panose="02020603050405020304" pitchFamily="18" charset="0"/>
                <a:cs typeface="Times New Roman" panose="02020603050405020304" pitchFamily="18" charset="0"/>
              </a:rPr>
              <a:t>A pointer to the next element</a:t>
            </a:r>
          </a:p>
          <a:p>
            <a:pPr>
              <a:lnSpc>
                <a:spcPct val="150000"/>
              </a:lnSpc>
            </a:pPr>
            <a:r>
              <a:rPr lang="en-US" altLang="en-US" dirty="0">
                <a:latin typeface="Times New Roman" panose="02020603050405020304" pitchFamily="18" charset="0"/>
                <a:cs typeface="Times New Roman" panose="02020603050405020304" pitchFamily="18" charset="0"/>
              </a:rPr>
              <a:t>Virtual page numbers are compared in this chain searching for a match</a:t>
            </a:r>
          </a:p>
          <a:p>
            <a:pPr lvl="1">
              <a:lnSpc>
                <a:spcPct val="150000"/>
              </a:lnSpc>
            </a:pPr>
            <a:r>
              <a:rPr lang="en-US" altLang="en-US" sz="2800" dirty="0">
                <a:latin typeface="Times New Roman" panose="02020603050405020304" pitchFamily="18" charset="0"/>
                <a:cs typeface="Times New Roman" panose="02020603050405020304" pitchFamily="18" charset="0"/>
              </a:rPr>
              <a:t>If a match is found, the corresponding physical frame is extracted</a:t>
            </a:r>
          </a:p>
          <a:p>
            <a:endParaRPr lang="en-IN" dirty="0"/>
          </a:p>
        </p:txBody>
      </p:sp>
    </p:spTree>
    <p:extLst>
      <p:ext uri="{BB962C8B-B14F-4D97-AF65-F5344CB8AC3E}">
        <p14:creationId xmlns:p14="http://schemas.microsoft.com/office/powerpoint/2010/main" val="25556926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86CD-034F-4E80-A92E-25D5739C51DC}"/>
              </a:ext>
            </a:extLst>
          </p:cNvPr>
          <p:cNvSpPr>
            <a:spLocks noGrp="1"/>
          </p:cNvSpPr>
          <p:nvPr>
            <p:ph type="title"/>
          </p:nvPr>
        </p:nvSpPr>
        <p:spPr>
          <a:xfrm>
            <a:off x="190130" y="292964"/>
            <a:ext cx="10515600" cy="710214"/>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Cont..</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E32336-79DD-4326-9C47-211C6A5745DB}"/>
              </a:ext>
            </a:extLst>
          </p:cNvPr>
          <p:cNvSpPr>
            <a:spLocks noGrp="1"/>
          </p:cNvSpPr>
          <p:nvPr>
            <p:ph idx="1"/>
          </p:nvPr>
        </p:nvSpPr>
        <p:spPr>
          <a:xfrm>
            <a:off x="190130" y="1343818"/>
            <a:ext cx="11811740" cy="4833145"/>
          </a:xfrm>
        </p:spPr>
        <p:txBody>
          <a:bodyPr/>
          <a:lstStyle/>
          <a:p>
            <a:pPr>
              <a:lnSpc>
                <a:spcPct val="150000"/>
              </a:lnSpc>
            </a:pPr>
            <a:r>
              <a:rPr lang="en-US" altLang="en-US" dirty="0">
                <a:latin typeface="Times New Roman" panose="02020603050405020304" pitchFamily="18" charset="0"/>
                <a:cs typeface="Times New Roman" panose="02020603050405020304" pitchFamily="18" charset="0"/>
              </a:rPr>
              <a:t>Variation for 64-bit addresses is </a:t>
            </a:r>
            <a:r>
              <a:rPr lang="en-US" altLang="en-US" b="1" dirty="0">
                <a:solidFill>
                  <a:srgbClr val="006699"/>
                </a:solidFill>
                <a:latin typeface="Times New Roman" panose="02020603050405020304" pitchFamily="18" charset="0"/>
                <a:cs typeface="Times New Roman" panose="02020603050405020304" pitchFamily="18" charset="0"/>
              </a:rPr>
              <a:t>clustered</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page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tables</a:t>
            </a:r>
          </a:p>
          <a:p>
            <a:pPr lvl="1">
              <a:lnSpc>
                <a:spcPct val="150000"/>
              </a:lnSpc>
            </a:pPr>
            <a:r>
              <a:rPr lang="en-US" altLang="en-US" sz="2800" dirty="0">
                <a:latin typeface="Times New Roman" panose="02020603050405020304" pitchFamily="18" charset="0"/>
                <a:cs typeface="Times New Roman" panose="02020603050405020304" pitchFamily="18" charset="0"/>
              </a:rPr>
              <a:t>Similar to hashed but each entry refers to several pages (such as 16) rather than 1</a:t>
            </a:r>
          </a:p>
          <a:p>
            <a:pPr lvl="1">
              <a:lnSpc>
                <a:spcPct val="150000"/>
              </a:lnSpc>
            </a:pPr>
            <a:r>
              <a:rPr lang="en-US" altLang="en-US" sz="2800" dirty="0">
                <a:latin typeface="Times New Roman" panose="02020603050405020304" pitchFamily="18" charset="0"/>
                <a:cs typeface="Times New Roman" panose="02020603050405020304" pitchFamily="18" charset="0"/>
              </a:rPr>
              <a:t>Especially useful for </a:t>
            </a:r>
            <a:r>
              <a:rPr lang="en-US" altLang="en-US" sz="2800" b="1" dirty="0">
                <a:solidFill>
                  <a:srgbClr val="006699"/>
                </a:solidFill>
                <a:latin typeface="Times New Roman" panose="02020603050405020304" pitchFamily="18" charset="0"/>
                <a:cs typeface="Times New Roman" panose="02020603050405020304" pitchFamily="18" charset="0"/>
              </a:rPr>
              <a:t>sparse</a:t>
            </a:r>
            <a:r>
              <a:rPr lang="en-US" altLang="en-US" sz="2800" dirty="0">
                <a:latin typeface="Times New Roman" panose="02020603050405020304" pitchFamily="18" charset="0"/>
                <a:cs typeface="Times New Roman" panose="02020603050405020304" pitchFamily="18" charset="0"/>
              </a:rPr>
              <a:t> address spaces (where memory references are non-contiguous and scattered) </a:t>
            </a:r>
          </a:p>
          <a:p>
            <a:endParaRPr lang="en-IN" dirty="0"/>
          </a:p>
        </p:txBody>
      </p:sp>
    </p:spTree>
    <p:extLst>
      <p:ext uri="{BB962C8B-B14F-4D97-AF65-F5344CB8AC3E}">
        <p14:creationId xmlns:p14="http://schemas.microsoft.com/office/powerpoint/2010/main" val="10186042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76827-3F63-4C0C-B66C-9A9CD23020CC}"/>
              </a:ext>
            </a:extLst>
          </p:cNvPr>
          <p:cNvSpPr>
            <a:spLocks noGrp="1"/>
          </p:cNvSpPr>
          <p:nvPr>
            <p:ph type="title"/>
          </p:nvPr>
        </p:nvSpPr>
        <p:spPr>
          <a:xfrm>
            <a:off x="106532" y="365126"/>
            <a:ext cx="11247268" cy="780094"/>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Hashed Page Table</a:t>
            </a:r>
            <a:endParaRPr lang="en-IN" sz="4000" dirty="0">
              <a:solidFill>
                <a:srgbClr val="00B050"/>
              </a:solidFill>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417D305E-20E0-4137-8DE5-A0BA9F955E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327310" y="1825625"/>
            <a:ext cx="7537379"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0090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7E9DC-4548-47D2-AC46-D7DFB3162451}"/>
              </a:ext>
            </a:extLst>
          </p:cNvPr>
          <p:cNvSpPr>
            <a:spLocks noGrp="1"/>
          </p:cNvSpPr>
          <p:nvPr>
            <p:ph type="title"/>
          </p:nvPr>
        </p:nvSpPr>
        <p:spPr>
          <a:xfrm>
            <a:off x="88777" y="0"/>
            <a:ext cx="11265023" cy="710214"/>
          </a:xfrm>
        </p:spPr>
        <p:txBody>
          <a:bodyPr>
            <a:normAutofit/>
          </a:bodyPr>
          <a:lstStyle/>
          <a:p>
            <a:r>
              <a:rPr lang="en-US" altLang="en-US" b="1" dirty="0">
                <a:solidFill>
                  <a:srgbClr val="00B050"/>
                </a:solidFill>
                <a:latin typeface="Times New Roman" panose="02020603050405020304" pitchFamily="18" charset="0"/>
                <a:cs typeface="Times New Roman" panose="02020603050405020304" pitchFamily="18" charset="0"/>
              </a:rPr>
              <a:t>Inverted Page Table</a:t>
            </a:r>
            <a:endParaRPr lang="en-IN"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5C9F47-A0B8-47EB-B6F4-217245094CCE}"/>
              </a:ext>
            </a:extLst>
          </p:cNvPr>
          <p:cNvSpPr>
            <a:spLocks noGrp="1"/>
          </p:cNvSpPr>
          <p:nvPr>
            <p:ph idx="1"/>
          </p:nvPr>
        </p:nvSpPr>
        <p:spPr>
          <a:xfrm>
            <a:off x="186431" y="1047565"/>
            <a:ext cx="11860567" cy="5717219"/>
          </a:xfrm>
        </p:spPr>
        <p:txBody>
          <a:bodyPr>
            <a:normAutofit fontScale="55000" lnSpcReduction="20000"/>
          </a:bodyPr>
          <a:lstStyle/>
          <a:p>
            <a:pPr>
              <a:lnSpc>
                <a:spcPct val="150000"/>
              </a:lnSpc>
            </a:pPr>
            <a:r>
              <a:rPr lang="en-US" altLang="en-US" sz="3800" dirty="0">
                <a:latin typeface="Times New Roman" panose="02020603050405020304" pitchFamily="18" charset="0"/>
                <a:cs typeface="Times New Roman" panose="02020603050405020304" pitchFamily="18" charset="0"/>
              </a:rPr>
              <a:t>Rather than having each process keep a page table and track of all possible logical pages, track all physical pages</a:t>
            </a:r>
          </a:p>
          <a:p>
            <a:pPr>
              <a:lnSpc>
                <a:spcPct val="150000"/>
              </a:lnSpc>
            </a:pPr>
            <a:r>
              <a:rPr lang="en-US" altLang="en-US" sz="3800" dirty="0">
                <a:latin typeface="Times New Roman" panose="02020603050405020304" pitchFamily="18" charset="0"/>
                <a:cs typeface="Times New Roman" panose="02020603050405020304" pitchFamily="18" charset="0"/>
              </a:rPr>
              <a:t>One entry for each real page of memory</a:t>
            </a:r>
          </a:p>
          <a:p>
            <a:pPr>
              <a:lnSpc>
                <a:spcPct val="150000"/>
              </a:lnSpc>
            </a:pPr>
            <a:r>
              <a:rPr lang="en-US" altLang="en-US" sz="3800" dirty="0">
                <a:latin typeface="Times New Roman" panose="02020603050405020304" pitchFamily="18" charset="0"/>
                <a:cs typeface="Times New Roman" panose="02020603050405020304" pitchFamily="18" charset="0"/>
              </a:rPr>
              <a:t>Entry consists of the virtual address of the page stored in that real memory location, with information about the process that owns that page</a:t>
            </a:r>
          </a:p>
          <a:p>
            <a:pPr>
              <a:lnSpc>
                <a:spcPct val="150000"/>
              </a:lnSpc>
            </a:pPr>
            <a:r>
              <a:rPr lang="en-US" altLang="en-US" sz="3800" dirty="0">
                <a:latin typeface="Times New Roman" panose="02020603050405020304" pitchFamily="18" charset="0"/>
                <a:cs typeface="Times New Roman" panose="02020603050405020304" pitchFamily="18" charset="0"/>
              </a:rPr>
              <a:t>Decreases memory needed to store each page table, but increases time needed to search the table when a page reference occurs</a:t>
            </a:r>
          </a:p>
          <a:p>
            <a:pPr>
              <a:lnSpc>
                <a:spcPct val="150000"/>
              </a:lnSpc>
            </a:pPr>
            <a:r>
              <a:rPr lang="en-US" altLang="en-US" sz="3800" dirty="0">
                <a:latin typeface="Times New Roman" panose="02020603050405020304" pitchFamily="18" charset="0"/>
                <a:cs typeface="Times New Roman" panose="02020603050405020304" pitchFamily="18" charset="0"/>
              </a:rPr>
              <a:t>Use hash table to limit the search to one (or at most a few) page-table entries</a:t>
            </a:r>
          </a:p>
          <a:p>
            <a:pPr lvl="1">
              <a:lnSpc>
                <a:spcPct val="150000"/>
              </a:lnSpc>
            </a:pPr>
            <a:r>
              <a:rPr lang="en-US" altLang="en-US" sz="3800" dirty="0">
                <a:latin typeface="Times New Roman" panose="02020603050405020304" pitchFamily="18" charset="0"/>
                <a:cs typeface="Times New Roman" panose="02020603050405020304" pitchFamily="18" charset="0"/>
              </a:rPr>
              <a:t>TLB can accelerate access</a:t>
            </a:r>
          </a:p>
          <a:p>
            <a:pPr>
              <a:lnSpc>
                <a:spcPct val="150000"/>
              </a:lnSpc>
            </a:pPr>
            <a:r>
              <a:rPr lang="en-US" altLang="en-US" sz="3800" dirty="0">
                <a:latin typeface="Times New Roman" panose="02020603050405020304" pitchFamily="18" charset="0"/>
                <a:cs typeface="Times New Roman" panose="02020603050405020304" pitchFamily="18" charset="0"/>
              </a:rPr>
              <a:t>But how to implement shared memory?</a:t>
            </a:r>
          </a:p>
          <a:p>
            <a:pPr lvl="1">
              <a:lnSpc>
                <a:spcPct val="150000"/>
              </a:lnSpc>
            </a:pPr>
            <a:r>
              <a:rPr lang="en-US" altLang="en-US" sz="3800" dirty="0">
                <a:latin typeface="Times New Roman" panose="02020603050405020304" pitchFamily="18" charset="0"/>
                <a:cs typeface="Times New Roman" panose="02020603050405020304" pitchFamily="18" charset="0"/>
              </a:rPr>
              <a:t>One mapping of a virtual address to the shared physical address</a:t>
            </a:r>
          </a:p>
          <a:p>
            <a:endParaRPr lang="en-IN" dirty="0"/>
          </a:p>
        </p:txBody>
      </p:sp>
    </p:spTree>
    <p:extLst>
      <p:ext uri="{BB962C8B-B14F-4D97-AF65-F5344CB8AC3E}">
        <p14:creationId xmlns:p14="http://schemas.microsoft.com/office/powerpoint/2010/main" val="37554846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32E2A-5AA1-444E-85CD-3C61A339A48C}"/>
              </a:ext>
            </a:extLst>
          </p:cNvPr>
          <p:cNvSpPr>
            <a:spLocks noGrp="1"/>
          </p:cNvSpPr>
          <p:nvPr>
            <p:ph type="title"/>
          </p:nvPr>
        </p:nvSpPr>
        <p:spPr>
          <a:xfrm>
            <a:off x="142043" y="187573"/>
            <a:ext cx="11353800" cy="744584"/>
          </a:xfrm>
        </p:spPr>
        <p:txBody>
          <a:bodyPr>
            <a:normAutofit/>
          </a:bodyPr>
          <a:lstStyle/>
          <a:p>
            <a:r>
              <a:rPr lang="en-US" altLang="en-US" sz="4000" b="1" dirty="0">
                <a:solidFill>
                  <a:srgbClr val="00B050"/>
                </a:solidFill>
                <a:latin typeface="Times New Roman" panose="02020603050405020304" pitchFamily="18" charset="0"/>
                <a:cs typeface="Times New Roman" panose="02020603050405020304" pitchFamily="18" charset="0"/>
              </a:rPr>
              <a:t>Inverted Page Table Architecture</a:t>
            </a:r>
            <a:endParaRPr lang="en-IN" sz="4000" dirty="0">
              <a:solidFill>
                <a:srgbClr val="00B050"/>
              </a:solidFill>
              <a:latin typeface="Times New Roman" panose="02020603050405020304" pitchFamily="18" charset="0"/>
              <a:cs typeface="Times New Roman" panose="02020603050405020304" pitchFamily="18" charset="0"/>
            </a:endParaRPr>
          </a:p>
        </p:txBody>
      </p:sp>
      <p:pic>
        <p:nvPicPr>
          <p:cNvPr id="3" name="Picture 6">
            <a:extLst>
              <a:ext uri="{FF2B5EF4-FFF2-40B4-BE49-F238E27FC236}">
                <a16:creationId xmlns:a16="http://schemas.microsoft.com/office/drawing/2014/main" id="{A6DECC1C-BE68-4F24-A4F6-3344AB90BF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414" y="1763481"/>
            <a:ext cx="7986181"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45393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A4065-254E-02FA-DE16-D8678A156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BD8E2-5755-0A13-C62C-4E3D052BC4EA}"/>
              </a:ext>
            </a:extLst>
          </p:cNvPr>
          <p:cNvSpPr>
            <a:spLocks noGrp="1"/>
          </p:cNvSpPr>
          <p:nvPr>
            <p:ph type="title"/>
          </p:nvPr>
        </p:nvSpPr>
        <p:spPr>
          <a:xfrm>
            <a:off x="195309" y="115410"/>
            <a:ext cx="11158491" cy="736846"/>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Segmentation</a:t>
            </a:r>
          </a:p>
        </p:txBody>
      </p:sp>
      <p:sp>
        <p:nvSpPr>
          <p:cNvPr id="3" name="Content Placeholder 2">
            <a:extLst>
              <a:ext uri="{FF2B5EF4-FFF2-40B4-BE49-F238E27FC236}">
                <a16:creationId xmlns:a16="http://schemas.microsoft.com/office/drawing/2014/main" id="{5F7340B9-1A4F-50DD-362D-2B3D35134A36}"/>
              </a:ext>
            </a:extLst>
          </p:cNvPr>
          <p:cNvSpPr>
            <a:spLocks noGrp="1"/>
          </p:cNvSpPr>
          <p:nvPr>
            <p:ph idx="1"/>
          </p:nvPr>
        </p:nvSpPr>
        <p:spPr>
          <a:xfrm>
            <a:off x="284085" y="1233996"/>
            <a:ext cx="11069715" cy="4942967"/>
          </a:xfrm>
        </p:spPr>
        <p:txBody>
          <a:bodyPr/>
          <a:lstStyle/>
          <a:p>
            <a:r>
              <a:rPr lang="en-US" dirty="0">
                <a:latin typeface="Times New Roman" panose="02020603050405020304" pitchFamily="18" charset="0"/>
                <a:cs typeface="Times New Roman" panose="02020603050405020304" pitchFamily="18" charset="0"/>
              </a:rPr>
              <a:t>Memory-management scheme that supports user view of memory </a:t>
            </a:r>
          </a:p>
          <a:p>
            <a:r>
              <a:rPr lang="en-US" dirty="0">
                <a:latin typeface="Times New Roman" panose="02020603050405020304" pitchFamily="18" charset="0"/>
                <a:cs typeface="Times New Roman" panose="02020603050405020304" pitchFamily="18" charset="0"/>
              </a:rPr>
              <a:t> A program is a collection of segments</a:t>
            </a:r>
          </a:p>
        </p:txBody>
      </p:sp>
      <p:pic>
        <p:nvPicPr>
          <p:cNvPr id="5" name="Picture 4">
            <a:extLst>
              <a:ext uri="{FF2B5EF4-FFF2-40B4-BE49-F238E27FC236}">
                <a16:creationId xmlns:a16="http://schemas.microsoft.com/office/drawing/2014/main" id="{A254E5C9-D526-9837-B99A-72C7A3F1DDA5}"/>
              </a:ext>
            </a:extLst>
          </p:cNvPr>
          <p:cNvPicPr>
            <a:picLocks noChangeAspect="1"/>
          </p:cNvPicPr>
          <p:nvPr/>
        </p:nvPicPr>
        <p:blipFill>
          <a:blip r:embed="rId2"/>
          <a:stretch>
            <a:fillRect/>
          </a:stretch>
        </p:blipFill>
        <p:spPr>
          <a:xfrm>
            <a:off x="2239346" y="2299943"/>
            <a:ext cx="4745234" cy="4558057"/>
          </a:xfrm>
          <a:prstGeom prst="rect">
            <a:avLst/>
          </a:prstGeom>
        </p:spPr>
      </p:pic>
    </p:spTree>
    <p:extLst>
      <p:ext uri="{BB962C8B-B14F-4D97-AF65-F5344CB8AC3E}">
        <p14:creationId xmlns:p14="http://schemas.microsoft.com/office/powerpoint/2010/main" val="27940144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1F46D-7131-A17A-1B1D-910C836E2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BB050-603D-18B8-8F8F-99E437B79F64}"/>
              </a:ext>
            </a:extLst>
          </p:cNvPr>
          <p:cNvSpPr>
            <a:spLocks noGrp="1"/>
          </p:cNvSpPr>
          <p:nvPr>
            <p:ph type="title"/>
          </p:nvPr>
        </p:nvSpPr>
        <p:spPr>
          <a:xfrm>
            <a:off x="142043" y="365126"/>
            <a:ext cx="11211757" cy="638052"/>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User’s View of a Program</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57F346-2C5D-CFAF-A80E-69DB94F3468A}"/>
              </a:ext>
            </a:extLst>
          </p:cNvPr>
          <p:cNvPicPr>
            <a:picLocks noChangeAspect="1"/>
          </p:cNvPicPr>
          <p:nvPr/>
        </p:nvPicPr>
        <p:blipFill>
          <a:blip r:embed="rId2"/>
          <a:stretch>
            <a:fillRect/>
          </a:stretch>
        </p:blipFill>
        <p:spPr>
          <a:xfrm>
            <a:off x="3060737" y="1358283"/>
            <a:ext cx="6314082" cy="5134592"/>
          </a:xfrm>
          <a:prstGeom prst="rect">
            <a:avLst/>
          </a:prstGeom>
        </p:spPr>
      </p:pic>
    </p:spTree>
    <p:extLst>
      <p:ext uri="{BB962C8B-B14F-4D97-AF65-F5344CB8AC3E}">
        <p14:creationId xmlns:p14="http://schemas.microsoft.com/office/powerpoint/2010/main" val="24099617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543A-1C5E-4B58-C777-E596EE548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F85C3-7C9B-46F8-48BC-59F51FC1FDAF}"/>
              </a:ext>
            </a:extLst>
          </p:cNvPr>
          <p:cNvSpPr>
            <a:spLocks noGrp="1"/>
          </p:cNvSpPr>
          <p:nvPr>
            <p:ph type="title"/>
          </p:nvPr>
        </p:nvSpPr>
        <p:spPr>
          <a:xfrm>
            <a:off x="106532" y="365126"/>
            <a:ext cx="11247268" cy="788972"/>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Cont..</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1EA913-686A-16D4-4FBA-FBCC156DEA25}"/>
              </a:ext>
            </a:extLst>
          </p:cNvPr>
          <p:cNvSpPr>
            <a:spLocks noGrp="1"/>
          </p:cNvSpPr>
          <p:nvPr>
            <p:ph idx="1"/>
          </p:nvPr>
        </p:nvSpPr>
        <p:spPr>
          <a:xfrm>
            <a:off x="213064" y="1473693"/>
            <a:ext cx="11878322" cy="5220070"/>
          </a:xfrm>
        </p:spPr>
        <p:txBody>
          <a:bodyPr>
            <a:normAutofit/>
          </a:bodyPr>
          <a:lstStyle/>
          <a:p>
            <a:pPr>
              <a:lnSpc>
                <a:spcPct val="100000"/>
              </a:lnSpc>
            </a:pPr>
            <a:r>
              <a:rPr lang="en-US" dirty="0">
                <a:latin typeface="Times New Roman" panose="02020603050405020304" pitchFamily="18" charset="0"/>
                <a:cs typeface="Times New Roman" panose="02020603050405020304" pitchFamily="18" charset="0"/>
              </a:rPr>
              <a:t>Elements within a segment are identified by their offset from the beginning of the segment</a:t>
            </a:r>
          </a:p>
          <a:p>
            <a:pPr>
              <a:lnSpc>
                <a:spcPct val="100000"/>
              </a:lnSpc>
            </a:pPr>
            <a:r>
              <a:rPr lang="en-US" dirty="0">
                <a:latin typeface="Times New Roman" panose="02020603050405020304" pitchFamily="18" charset="0"/>
                <a:cs typeface="Times New Roman" panose="02020603050405020304" pitchFamily="18" charset="0"/>
              </a:rPr>
              <a:t>Each segment has a </a:t>
            </a:r>
            <a:r>
              <a:rPr lang="en-US" b="1" dirty="0">
                <a:solidFill>
                  <a:srgbClr val="C00000"/>
                </a:solidFill>
                <a:latin typeface="Times New Roman" panose="02020603050405020304" pitchFamily="18" charset="0"/>
                <a:cs typeface="Times New Roman" panose="02020603050405020304" pitchFamily="18" charset="0"/>
              </a:rPr>
              <a:t>name and a length</a:t>
            </a:r>
            <a:r>
              <a:rPr lang="en-US" dirty="0">
                <a:latin typeface="Times New Roman" panose="02020603050405020304" pitchFamily="18" charset="0"/>
                <a:cs typeface="Times New Roman" panose="02020603050405020304" pitchFamily="18" charset="0"/>
              </a:rPr>
              <a:t>. </a:t>
            </a:r>
          </a:p>
          <a:p>
            <a:pPr>
              <a:lnSpc>
                <a:spcPct val="100000"/>
              </a:lnSpc>
            </a:pPr>
            <a:r>
              <a:rPr lang="en-US" dirty="0">
                <a:latin typeface="Times New Roman" panose="02020603050405020304" pitchFamily="18" charset="0"/>
                <a:cs typeface="Times New Roman" panose="02020603050405020304" pitchFamily="18" charset="0"/>
              </a:rPr>
              <a:t>The addresses specify both the </a:t>
            </a:r>
            <a:r>
              <a:rPr lang="en-US" b="1" dirty="0">
                <a:solidFill>
                  <a:srgbClr val="C00000"/>
                </a:solidFill>
                <a:latin typeface="Times New Roman" panose="02020603050405020304" pitchFamily="18" charset="0"/>
                <a:cs typeface="Times New Roman" panose="02020603050405020304" pitchFamily="18" charset="0"/>
              </a:rPr>
              <a:t>segment name and the offset </a:t>
            </a:r>
            <a:r>
              <a:rPr lang="en-US" dirty="0">
                <a:latin typeface="Times New Roman" panose="02020603050405020304" pitchFamily="18" charset="0"/>
                <a:cs typeface="Times New Roman" panose="02020603050405020304" pitchFamily="18" charset="0"/>
              </a:rPr>
              <a:t>within the segment. </a:t>
            </a:r>
          </a:p>
          <a:p>
            <a:pPr>
              <a:lnSpc>
                <a:spcPct val="100000"/>
              </a:lnSpc>
            </a:pPr>
            <a:r>
              <a:rPr lang="en-US" dirty="0">
                <a:latin typeface="Times New Roman" panose="02020603050405020304" pitchFamily="18" charset="0"/>
                <a:cs typeface="Times New Roman" panose="02020603050405020304" pitchFamily="18" charset="0"/>
              </a:rPr>
              <a:t>For simplicity of implementation, </a:t>
            </a:r>
            <a:r>
              <a:rPr lang="en-US" b="1" dirty="0">
                <a:solidFill>
                  <a:srgbClr val="C00000"/>
                </a:solidFill>
                <a:latin typeface="Times New Roman" panose="02020603050405020304" pitchFamily="18" charset="0"/>
                <a:cs typeface="Times New Roman" panose="02020603050405020304" pitchFamily="18" charset="0"/>
              </a:rPr>
              <a:t>segments are numbered and are referred to by a segment number, rather than by a segment name.</a:t>
            </a:r>
            <a:endParaRPr lang="en-IN" dirty="0"/>
          </a:p>
        </p:txBody>
      </p:sp>
    </p:spTree>
    <p:extLst>
      <p:ext uri="{BB962C8B-B14F-4D97-AF65-F5344CB8AC3E}">
        <p14:creationId xmlns:p14="http://schemas.microsoft.com/office/powerpoint/2010/main" val="19844069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6CF0C-AE7B-2AE4-5191-A68ED6267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7B275-E321-FCB3-82CA-76255000A62C}"/>
              </a:ext>
            </a:extLst>
          </p:cNvPr>
          <p:cNvSpPr>
            <a:spLocks noGrp="1"/>
          </p:cNvSpPr>
          <p:nvPr>
            <p:ph type="title"/>
          </p:nvPr>
        </p:nvSpPr>
        <p:spPr>
          <a:xfrm>
            <a:off x="177553" y="230819"/>
            <a:ext cx="11176247" cy="736847"/>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F71AE0D7-A5AD-41EF-97CC-CCBEB93D580A}"/>
              </a:ext>
            </a:extLst>
          </p:cNvPr>
          <p:cNvSpPr>
            <a:spLocks noGrp="1"/>
          </p:cNvSpPr>
          <p:nvPr>
            <p:ph idx="1"/>
          </p:nvPr>
        </p:nvSpPr>
        <p:spPr>
          <a:xfrm>
            <a:off x="177552" y="1242873"/>
            <a:ext cx="11869446" cy="5515735"/>
          </a:xfrm>
        </p:spPr>
        <p:txBody>
          <a:bodyPr>
            <a:noAutofit/>
          </a:bodyPr>
          <a:lstStyle/>
          <a:p>
            <a:endParaRPr lang="en-US" sz="2400" b="1" dirty="0">
              <a:solidFill>
                <a:srgbClr val="C0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 C compiler might create separate segments for the following: </a:t>
            </a:r>
          </a:p>
          <a:p>
            <a:pPr lvl="1"/>
            <a:r>
              <a:rPr lang="en-US" dirty="0">
                <a:latin typeface="Times New Roman" panose="02020603050405020304" pitchFamily="18" charset="0"/>
                <a:cs typeface="Times New Roman" panose="02020603050405020304" pitchFamily="18" charset="0"/>
              </a:rPr>
              <a:t>1. The code </a:t>
            </a:r>
          </a:p>
          <a:p>
            <a:pPr lvl="1"/>
            <a:r>
              <a:rPr lang="en-US" dirty="0">
                <a:latin typeface="Times New Roman" panose="02020603050405020304" pitchFamily="18" charset="0"/>
                <a:cs typeface="Times New Roman" panose="02020603050405020304" pitchFamily="18" charset="0"/>
              </a:rPr>
              <a:t>2. Global variables </a:t>
            </a:r>
          </a:p>
          <a:p>
            <a:pPr lvl="1"/>
            <a:r>
              <a:rPr lang="en-US" dirty="0">
                <a:latin typeface="Times New Roman" panose="02020603050405020304" pitchFamily="18" charset="0"/>
                <a:cs typeface="Times New Roman" panose="02020603050405020304" pitchFamily="18" charset="0"/>
              </a:rPr>
              <a:t>3. The heap, from which memory is allocated </a:t>
            </a:r>
          </a:p>
          <a:p>
            <a:pPr lvl="1"/>
            <a:r>
              <a:rPr lang="en-US" dirty="0">
                <a:latin typeface="Times New Roman" panose="02020603050405020304" pitchFamily="18" charset="0"/>
                <a:cs typeface="Times New Roman" panose="02020603050405020304" pitchFamily="18" charset="0"/>
              </a:rPr>
              <a:t>4. The stacks used by each thread </a:t>
            </a:r>
          </a:p>
          <a:p>
            <a:pPr lvl="1"/>
            <a:r>
              <a:rPr lang="en-US" dirty="0">
                <a:latin typeface="Times New Roman" panose="02020603050405020304" pitchFamily="18" charset="0"/>
                <a:cs typeface="Times New Roman" panose="02020603050405020304" pitchFamily="18" charset="0"/>
              </a:rPr>
              <a:t>5. The standard C library</a:t>
            </a:r>
          </a:p>
        </p:txBody>
      </p:sp>
    </p:spTree>
    <p:extLst>
      <p:ext uri="{BB962C8B-B14F-4D97-AF65-F5344CB8AC3E}">
        <p14:creationId xmlns:p14="http://schemas.microsoft.com/office/powerpoint/2010/main" val="3296898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F895-D61F-05C3-4749-A121DDF1F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E9599-B38B-189C-E6F5-CA3BF428F304}"/>
              </a:ext>
            </a:extLst>
          </p:cNvPr>
          <p:cNvSpPr>
            <a:spLocks noGrp="1"/>
          </p:cNvSpPr>
          <p:nvPr>
            <p:ph type="title"/>
          </p:nvPr>
        </p:nvSpPr>
        <p:spPr>
          <a:xfrm>
            <a:off x="0" y="165653"/>
            <a:ext cx="11353800" cy="735495"/>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Segmentation Architecture</a:t>
            </a:r>
          </a:p>
        </p:txBody>
      </p:sp>
      <p:sp>
        <p:nvSpPr>
          <p:cNvPr id="3" name="Content Placeholder 2">
            <a:extLst>
              <a:ext uri="{FF2B5EF4-FFF2-40B4-BE49-F238E27FC236}">
                <a16:creationId xmlns:a16="http://schemas.microsoft.com/office/drawing/2014/main" id="{816470B6-6AFC-49E4-4E25-FA713EAF4AF2}"/>
              </a:ext>
            </a:extLst>
          </p:cNvPr>
          <p:cNvSpPr>
            <a:spLocks noGrp="1"/>
          </p:cNvSpPr>
          <p:nvPr>
            <p:ph idx="1"/>
          </p:nvPr>
        </p:nvSpPr>
        <p:spPr>
          <a:xfrm>
            <a:off x="132521" y="1278384"/>
            <a:ext cx="11701669" cy="5413963"/>
          </a:xfrm>
        </p:spPr>
        <p:txBody>
          <a:bodyPr/>
          <a:lstStyle/>
          <a:p>
            <a:pPr algn="just"/>
            <a:r>
              <a:rPr lang="en-US" dirty="0">
                <a:latin typeface="Times New Roman" panose="02020603050405020304" pitchFamily="18" charset="0"/>
                <a:cs typeface="Times New Roman" panose="02020603050405020304" pitchFamily="18" charset="0"/>
              </a:rPr>
              <a:t>Logical address consists of a two tuple: </a:t>
            </a:r>
          </a:p>
          <a:p>
            <a:pPr marL="0" indent="0" algn="just">
              <a:buNone/>
            </a:pPr>
            <a:r>
              <a:rPr lang="en-US" dirty="0">
                <a:latin typeface="Times New Roman" panose="02020603050405020304" pitchFamily="18" charset="0"/>
                <a:cs typeface="Times New Roman" panose="02020603050405020304" pitchFamily="18" charset="0"/>
              </a:rPr>
              <a:t>                   &lt;segment-number, offset&gt;</a:t>
            </a:r>
          </a:p>
          <a:p>
            <a:pPr algn="just"/>
            <a:r>
              <a:rPr lang="en-US" dirty="0">
                <a:solidFill>
                  <a:srgbClr val="00B050"/>
                </a:solidFill>
                <a:latin typeface="Times New Roman" panose="02020603050405020304" pitchFamily="18" charset="0"/>
                <a:cs typeface="Times New Roman" panose="02020603050405020304" pitchFamily="18" charset="0"/>
              </a:rPr>
              <a:t>Segment table</a:t>
            </a:r>
            <a:endParaRPr lang="en-US" dirty="0">
              <a:latin typeface="Times New Roman" panose="02020603050405020304" pitchFamily="18" charset="0"/>
              <a:cs typeface="Times New Roman" panose="02020603050405020304" pitchFamily="18" charset="0"/>
            </a:endParaRPr>
          </a:p>
          <a:p>
            <a:pPr algn="just"/>
            <a:r>
              <a:rPr lang="en-US" dirty="0">
                <a:solidFill>
                  <a:srgbClr val="00B050"/>
                </a:solidFill>
                <a:latin typeface="Times New Roman" panose="02020603050405020304" pitchFamily="18" charset="0"/>
                <a:cs typeface="Times New Roman" panose="02020603050405020304" pitchFamily="18" charset="0"/>
              </a:rPr>
              <a:t>base</a:t>
            </a:r>
            <a:endParaRPr lang="en-US" dirty="0">
              <a:latin typeface="Times New Roman" panose="02020603050405020304" pitchFamily="18" charset="0"/>
              <a:cs typeface="Times New Roman" panose="02020603050405020304" pitchFamily="18" charset="0"/>
            </a:endParaRPr>
          </a:p>
          <a:p>
            <a:pPr algn="just"/>
            <a:r>
              <a:rPr lang="en-US" dirty="0">
                <a:solidFill>
                  <a:srgbClr val="00B050"/>
                </a:solidFill>
                <a:latin typeface="Times New Roman" panose="02020603050405020304" pitchFamily="18" charset="0"/>
                <a:cs typeface="Times New Roman" panose="02020603050405020304" pitchFamily="18" charset="0"/>
              </a:rPr>
              <a:t>limit</a:t>
            </a:r>
            <a:endParaRPr lang="en-US" dirty="0">
              <a:latin typeface="Times New Roman" panose="02020603050405020304" pitchFamily="18" charset="0"/>
              <a:cs typeface="Times New Roman" panose="02020603050405020304" pitchFamily="18" charset="0"/>
            </a:endParaRPr>
          </a:p>
          <a:p>
            <a:pPr algn="just"/>
            <a:r>
              <a:rPr lang="en-US" dirty="0">
                <a:solidFill>
                  <a:srgbClr val="00B050"/>
                </a:solidFill>
                <a:latin typeface="Times New Roman" panose="02020603050405020304" pitchFamily="18" charset="0"/>
                <a:cs typeface="Times New Roman" panose="02020603050405020304" pitchFamily="18" charset="0"/>
              </a:rPr>
              <a:t>Segment-table base register </a:t>
            </a:r>
            <a:r>
              <a:rPr lang="en-US" dirty="0">
                <a:latin typeface="Times New Roman" panose="02020603050405020304" pitchFamily="18" charset="0"/>
                <a:cs typeface="Times New Roman" panose="02020603050405020304" pitchFamily="18" charset="0"/>
              </a:rPr>
              <a:t>(STBR) points to the segment table’s location in memory  </a:t>
            </a:r>
          </a:p>
          <a:p>
            <a:pPr algn="just"/>
            <a:r>
              <a:rPr lang="en-US" dirty="0">
                <a:solidFill>
                  <a:srgbClr val="00B050"/>
                </a:solidFill>
                <a:latin typeface="Times New Roman" panose="02020603050405020304" pitchFamily="18" charset="0"/>
                <a:cs typeface="Times New Roman" panose="02020603050405020304" pitchFamily="18" charset="0"/>
              </a:rPr>
              <a:t>Segment-table length register </a:t>
            </a:r>
            <a:r>
              <a:rPr lang="en-US" dirty="0">
                <a:latin typeface="Times New Roman" panose="02020603050405020304" pitchFamily="18" charset="0"/>
                <a:cs typeface="Times New Roman" panose="02020603050405020304" pitchFamily="18" charset="0"/>
              </a:rPr>
              <a:t>(STLR) indicates number of segments used by a program; segment number s is legal if s &lt; STL</a:t>
            </a:r>
            <a:r>
              <a:rPr lang="en-US" dirty="0"/>
              <a:t>R</a:t>
            </a:r>
          </a:p>
        </p:txBody>
      </p:sp>
    </p:spTree>
    <p:extLst>
      <p:ext uri="{BB962C8B-B14F-4D97-AF65-F5344CB8AC3E}">
        <p14:creationId xmlns:p14="http://schemas.microsoft.com/office/powerpoint/2010/main" val="1887914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A6D5-B6A4-AADE-5C1D-88170813B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0437D-C66E-C2E6-1140-8DCA3C982417}"/>
              </a:ext>
            </a:extLst>
          </p:cNvPr>
          <p:cNvSpPr>
            <a:spLocks noGrp="1"/>
          </p:cNvSpPr>
          <p:nvPr>
            <p:ph type="title"/>
          </p:nvPr>
        </p:nvSpPr>
        <p:spPr>
          <a:xfrm>
            <a:off x="265043" y="92765"/>
            <a:ext cx="11088757" cy="967685"/>
          </a:xfrm>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Segmentation Hardware</a:t>
            </a:r>
          </a:p>
        </p:txBody>
      </p:sp>
      <p:pic>
        <p:nvPicPr>
          <p:cNvPr id="5" name="Content Placeholder 4">
            <a:extLst>
              <a:ext uri="{FF2B5EF4-FFF2-40B4-BE49-F238E27FC236}">
                <a16:creationId xmlns:a16="http://schemas.microsoft.com/office/drawing/2014/main" id="{DC73062E-6293-A1BF-7547-399953572525}"/>
              </a:ext>
            </a:extLst>
          </p:cNvPr>
          <p:cNvPicPr>
            <a:picLocks noGrp="1" noChangeAspect="1"/>
          </p:cNvPicPr>
          <p:nvPr>
            <p:ph idx="1"/>
          </p:nvPr>
        </p:nvPicPr>
        <p:blipFill>
          <a:blip r:embed="rId2"/>
          <a:stretch>
            <a:fillRect/>
          </a:stretch>
        </p:blipFill>
        <p:spPr>
          <a:xfrm>
            <a:off x="3186423" y="1825625"/>
            <a:ext cx="5819154" cy="4351338"/>
          </a:xfrm>
        </p:spPr>
      </p:pic>
    </p:spTree>
    <p:extLst>
      <p:ext uri="{BB962C8B-B14F-4D97-AF65-F5344CB8AC3E}">
        <p14:creationId xmlns:p14="http://schemas.microsoft.com/office/powerpoint/2010/main" val="40355408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E049E-0EAB-3D56-5441-2864C28EA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36905-5CE5-C790-E24F-81450AFA3B12}"/>
              </a:ext>
            </a:extLst>
          </p:cNvPr>
          <p:cNvSpPr>
            <a:spLocks noGrp="1"/>
          </p:cNvSpPr>
          <p:nvPr>
            <p:ph type="title"/>
          </p:nvPr>
        </p:nvSpPr>
        <p:spPr>
          <a:xfrm>
            <a:off x="0" y="365125"/>
            <a:ext cx="11353800" cy="549275"/>
          </a:xfrm>
        </p:spPr>
        <p:txBody>
          <a:bodyPr>
            <a:normAutofit fontScale="90000"/>
          </a:bodyPr>
          <a:lstStyle/>
          <a:p>
            <a:r>
              <a:rPr lang="en-US" b="1" dirty="0">
                <a:solidFill>
                  <a:srgbClr val="00B050"/>
                </a:solidFill>
                <a:latin typeface="Times New Roman" panose="02020603050405020304" pitchFamily="18" charset="0"/>
                <a:cs typeface="Times New Roman" panose="02020603050405020304" pitchFamily="18" charset="0"/>
              </a:rPr>
              <a:t>Example of Segmentation</a:t>
            </a:r>
          </a:p>
        </p:txBody>
      </p:sp>
      <p:sp>
        <p:nvSpPr>
          <p:cNvPr id="3" name="Content Placeholder 2">
            <a:extLst>
              <a:ext uri="{FF2B5EF4-FFF2-40B4-BE49-F238E27FC236}">
                <a16:creationId xmlns:a16="http://schemas.microsoft.com/office/drawing/2014/main" id="{4484FA19-D37B-DB26-0D96-18EFB1F7A2FB}"/>
              </a:ext>
            </a:extLst>
          </p:cNvPr>
          <p:cNvSpPr>
            <a:spLocks noGrp="1"/>
          </p:cNvSpPr>
          <p:nvPr>
            <p:ph idx="1"/>
          </p:nvPr>
        </p:nvSpPr>
        <p:spPr>
          <a:xfrm>
            <a:off x="0" y="1535837"/>
            <a:ext cx="7039992" cy="5322162"/>
          </a:xfrm>
        </p:spPr>
        <p:txBody>
          <a:bodyPr>
            <a:normAutofit/>
          </a:bodyPr>
          <a:lstStyle/>
          <a:p>
            <a:pPr algn="just">
              <a:lnSpc>
                <a:spcPct val="100000"/>
              </a:lnSpc>
            </a:pPr>
            <a:r>
              <a:rPr lang="en-US" sz="2800" dirty="0">
                <a:latin typeface="Times New Roman" panose="02020603050405020304" pitchFamily="18" charset="0"/>
                <a:cs typeface="Times New Roman" panose="02020603050405020304" pitchFamily="18" charset="0"/>
              </a:rPr>
              <a:t>Thus, a reference to byte 53 of segment 2 is mapped onto location 4300 + 53 = 4353. </a:t>
            </a:r>
          </a:p>
        </p:txBody>
      </p:sp>
      <p:pic>
        <p:nvPicPr>
          <p:cNvPr id="5" name="Picture 4">
            <a:extLst>
              <a:ext uri="{FF2B5EF4-FFF2-40B4-BE49-F238E27FC236}">
                <a16:creationId xmlns:a16="http://schemas.microsoft.com/office/drawing/2014/main" id="{901B9C7D-6462-EE1A-A873-721E616E76ED}"/>
              </a:ext>
            </a:extLst>
          </p:cNvPr>
          <p:cNvPicPr>
            <a:picLocks noChangeAspect="1"/>
          </p:cNvPicPr>
          <p:nvPr/>
        </p:nvPicPr>
        <p:blipFill>
          <a:blip r:embed="rId2"/>
          <a:stretch>
            <a:fillRect/>
          </a:stretch>
        </p:blipFill>
        <p:spPr>
          <a:xfrm>
            <a:off x="6951216" y="212035"/>
            <a:ext cx="5240784" cy="6280840"/>
          </a:xfrm>
          <a:prstGeom prst="rect">
            <a:avLst/>
          </a:prstGeom>
        </p:spPr>
      </p:pic>
    </p:spTree>
    <p:extLst>
      <p:ext uri="{BB962C8B-B14F-4D97-AF65-F5344CB8AC3E}">
        <p14:creationId xmlns:p14="http://schemas.microsoft.com/office/powerpoint/2010/main" val="22694185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BE3C6B-B0E2-4B3C-94E1-E43D223B5C14}"/>
              </a:ext>
            </a:extLst>
          </p:cNvPr>
          <p:cNvSpPr txBox="1"/>
          <p:nvPr/>
        </p:nvSpPr>
        <p:spPr>
          <a:xfrm>
            <a:off x="3135086" y="3030583"/>
            <a:ext cx="4696862" cy="923330"/>
          </a:xfrm>
          <a:prstGeom prst="rect">
            <a:avLst/>
          </a:prstGeom>
          <a:noFill/>
        </p:spPr>
        <p:txBody>
          <a:bodyPr wrap="square" rtlCol="0">
            <a:spAutoFit/>
          </a:bodyPr>
          <a:lstStyle/>
          <a:p>
            <a:pPr algn="ctr"/>
            <a:r>
              <a:rPr lang="en-US" sz="5400" dirty="0">
                <a:solidFill>
                  <a:srgbClr val="FF0000"/>
                </a:solidFill>
                <a:latin typeface="Times New Roman" panose="02020603050405020304" pitchFamily="18" charset="0"/>
                <a:cs typeface="Times New Roman" panose="02020603050405020304" pitchFamily="18" charset="0"/>
              </a:rPr>
              <a:t>Thank You</a:t>
            </a:r>
            <a:endParaRPr lang="en-IN" sz="5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9709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11498</TotalTime>
  <Words>2593</Words>
  <Application>Microsoft Office PowerPoint</Application>
  <PresentationFormat>Widescreen</PresentationFormat>
  <Paragraphs>284</Paragraphs>
  <Slides>59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Calibri</vt:lpstr>
      <vt:lpstr>Calibri Light</vt:lpstr>
      <vt:lpstr>Helvetica</vt:lpstr>
      <vt:lpstr>Monotype Sorts</vt:lpstr>
      <vt:lpstr>Times New Roman</vt:lpstr>
      <vt:lpstr>Wingdings</vt:lpstr>
      <vt:lpstr>Office Theme</vt:lpstr>
      <vt:lpstr>Memory Management</vt:lpstr>
      <vt:lpstr>Background</vt:lpstr>
      <vt:lpstr>PowerPoint Presentation</vt:lpstr>
      <vt:lpstr>Base and Limit Registers </vt:lpstr>
      <vt:lpstr>Hardware Address Protection</vt:lpstr>
      <vt:lpstr>Address Binding</vt:lpstr>
      <vt:lpstr>Binding of Instructions and Data to Memory</vt:lpstr>
      <vt:lpstr>Multistep Processing of a User Program</vt:lpstr>
      <vt:lpstr>Logical vs. Physical Address Space</vt:lpstr>
      <vt:lpstr>Memory-Management Unit (MMU)</vt:lpstr>
      <vt:lpstr>Dynamic relocation using a relocation register</vt:lpstr>
      <vt:lpstr>PowerPoint Presentation</vt:lpstr>
      <vt:lpstr>Dynamic Loading</vt:lpstr>
      <vt:lpstr>PowerPoint Presentation</vt:lpstr>
      <vt:lpstr>Swapping</vt:lpstr>
      <vt:lpstr>Schematic View of Swapping</vt:lpstr>
      <vt:lpstr>Swapping on Mobile Systems</vt:lpstr>
      <vt:lpstr>Contiguous Allocation</vt:lpstr>
      <vt:lpstr>Contiguous Allocation (Cont.)</vt:lpstr>
      <vt:lpstr>Hardware Support for Relocation and Limit Registers</vt:lpstr>
      <vt:lpstr>MEMORY ALLOCATION</vt:lpstr>
      <vt:lpstr>Dynamic Storage-Allocation Problem</vt:lpstr>
      <vt:lpstr>Fragmentation</vt:lpstr>
      <vt:lpstr>Fragmentation (Cont.)</vt:lpstr>
      <vt:lpstr>Paging</vt:lpstr>
      <vt:lpstr>Paging</vt:lpstr>
      <vt:lpstr>Cont..</vt:lpstr>
      <vt:lpstr>Paging Hardware</vt:lpstr>
      <vt:lpstr>Paging model of logical and physical memory</vt:lpstr>
      <vt:lpstr>Cont..</vt:lpstr>
      <vt:lpstr>Free Frames</vt:lpstr>
      <vt:lpstr>Hardware Implementation of Page Table</vt:lpstr>
      <vt:lpstr>Translation Look-Aside Buffer </vt:lpstr>
      <vt:lpstr>Paging Hardware With TLB</vt:lpstr>
      <vt:lpstr>Effective Access Time</vt:lpstr>
      <vt:lpstr>Memory Protection</vt:lpstr>
      <vt:lpstr>Valid (v) or Invalid (i) Bit In A Page Table</vt:lpstr>
      <vt:lpstr>Shared Pages</vt:lpstr>
      <vt:lpstr>Shared Pages Example</vt:lpstr>
      <vt:lpstr>Structure of the Page Table</vt:lpstr>
      <vt:lpstr>Cont..</vt:lpstr>
      <vt:lpstr>Hierarchical Page Tables</vt:lpstr>
      <vt:lpstr>Two-Level Paging Example</vt:lpstr>
      <vt:lpstr>Address-Translation Scheme</vt:lpstr>
      <vt:lpstr>64-bit Logical Address Space</vt:lpstr>
      <vt:lpstr>Three-level Paging Scheme</vt:lpstr>
      <vt:lpstr>Hashed Page Tables</vt:lpstr>
      <vt:lpstr>Cont..</vt:lpstr>
      <vt:lpstr>Hashed Page Table</vt:lpstr>
      <vt:lpstr>Inverted Page Table</vt:lpstr>
      <vt:lpstr>Inverted Page Table Architecture</vt:lpstr>
      <vt:lpstr>Segmentation</vt:lpstr>
      <vt:lpstr>User’s View of a Program</vt:lpstr>
      <vt:lpstr>Cont..</vt:lpstr>
      <vt:lpstr>Cont..</vt:lpstr>
      <vt:lpstr>Segmentation Architecture</vt:lpstr>
      <vt:lpstr>Segmentation Hardware</vt:lpstr>
      <vt:lpstr>Example of Segmentation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Module-4 </dc:title>
  <dc:creator>Manjunath Varchagall</dc:creator>
  <cp:lastModifiedBy>Janani T</cp:lastModifiedBy>
  <cp:revision>60</cp:revision>
  <dcterms:created xsi:type="dcterms:W3CDTF">2021-03-29T03:05:50Z</dcterms:created>
  <dcterms:modified xsi:type="dcterms:W3CDTF">2025-04-01T05:06:45Z</dcterms:modified>
</cp:coreProperties>
</file>