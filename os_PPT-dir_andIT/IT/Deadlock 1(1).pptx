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x="12192000" cy="6858000"/>
  <p:notesSz cx="6858000" cy="9144000"/>
  <p:embeddedFontLst>
    <p:embeddedFont>
      <p:font typeface="Helvetica Neue" panose="020B060402020202020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rUgq6E4T2IJmjoDJ8NQH3Pvx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5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title"/>
          </p:nvPr>
        </p:nvSpPr>
        <p:spPr>
          <a:xfrm>
            <a:off x="860233" y="2137272"/>
            <a:ext cx="10515600" cy="247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Times New Roman"/>
              <a:buNone/>
            </a:pPr>
            <a:r>
              <a:rPr lang="en-US" sz="6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</a:t>
            </a:r>
            <a:endParaRPr sz="60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7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838200" y="1244906"/>
            <a:ext cx="10515600" cy="527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711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The Deadlock Problem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System model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deadlock characterization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Methods for Handling Deadlocks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deadlock prevention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5000"/>
              <a:buChar char="•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Deadlock Avoidance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5000"/>
              <a:buChar char="•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Deadlock Detection 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5000"/>
              <a:buChar char="•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Recovery from Deadlock </a:t>
            </a:r>
            <a:endParaRPr/>
          </a:p>
          <a:p>
            <a:pPr marL="228600" lvl="0" indent="-4159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Deadlock Problem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4"/>
          <p:cNvSpPr txBox="1">
            <a:spLocks noGrp="1"/>
          </p:cNvSpPr>
          <p:nvPr>
            <p:ph type="body" idx="1"/>
          </p:nvPr>
        </p:nvSpPr>
        <p:spPr>
          <a:xfrm>
            <a:off x="849489" y="154340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set of blocked processes each holding a resource and waiting to acquire a resource held by another process in the set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System has 2 disk drives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each hold one disk drive and each needs another one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semaphores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initialized to 1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	  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574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 (A);		wait(B)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 (B);		wait(A)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 Crossing Example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8" name="Google Shape;108;p5"/>
          <p:cNvGrpSpPr/>
          <p:nvPr/>
        </p:nvGrpSpPr>
        <p:grpSpPr>
          <a:xfrm>
            <a:off x="1608464" y="1594270"/>
            <a:ext cx="7174292" cy="1721806"/>
            <a:chOff x="798" y="1008"/>
            <a:chExt cx="3954" cy="864"/>
          </a:xfrm>
        </p:grpSpPr>
        <p:grpSp>
          <p:nvGrpSpPr>
            <p:cNvPr id="109" name="Google Shape;109;p5"/>
            <p:cNvGrpSpPr/>
            <p:nvPr/>
          </p:nvGrpSpPr>
          <p:grpSpPr>
            <a:xfrm>
              <a:off x="816" y="1008"/>
              <a:ext cx="3936" cy="240"/>
              <a:chOff x="672" y="1008"/>
              <a:chExt cx="3936" cy="240"/>
            </a:xfrm>
          </p:grpSpPr>
          <p:cxnSp>
            <p:nvCxnSpPr>
              <p:cNvPr id="110" name="Google Shape;110;p5"/>
              <p:cNvCxnSpPr/>
              <p:nvPr/>
            </p:nvCxnSpPr>
            <p:spPr>
              <a:xfrm>
                <a:off x="672" y="1008"/>
                <a:ext cx="1152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>
                <a:off x="1824" y="1008"/>
                <a:ext cx="384" cy="24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>
                <a:off x="2208" y="1248"/>
                <a:ext cx="864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 rot="10800000" flipH="1">
                <a:off x="3072" y="1026"/>
                <a:ext cx="384" cy="22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>
                <a:off x="3456" y="1020"/>
                <a:ext cx="1152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5" name="Google Shape;115;p5"/>
            <p:cNvGrpSpPr/>
            <p:nvPr/>
          </p:nvGrpSpPr>
          <p:grpSpPr>
            <a:xfrm rot="10800000" flipH="1">
              <a:off x="816" y="1632"/>
              <a:ext cx="3936" cy="240"/>
              <a:chOff x="672" y="1008"/>
              <a:chExt cx="3936" cy="240"/>
            </a:xfrm>
          </p:grpSpPr>
          <p:cxnSp>
            <p:nvCxnSpPr>
              <p:cNvPr id="116" name="Google Shape;116;p5"/>
              <p:cNvCxnSpPr/>
              <p:nvPr/>
            </p:nvCxnSpPr>
            <p:spPr>
              <a:xfrm>
                <a:off x="672" y="1008"/>
                <a:ext cx="1152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5"/>
              <p:cNvCxnSpPr/>
              <p:nvPr/>
            </p:nvCxnSpPr>
            <p:spPr>
              <a:xfrm>
                <a:off x="1824" y="1008"/>
                <a:ext cx="384" cy="24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" name="Google Shape;118;p5"/>
              <p:cNvCxnSpPr/>
              <p:nvPr/>
            </p:nvCxnSpPr>
            <p:spPr>
              <a:xfrm>
                <a:off x="2208" y="1248"/>
                <a:ext cx="864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5"/>
              <p:cNvCxnSpPr/>
              <p:nvPr/>
            </p:nvCxnSpPr>
            <p:spPr>
              <a:xfrm rot="10800000" flipH="1">
                <a:off x="3072" y="1026"/>
                <a:ext cx="384" cy="22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" name="Google Shape;120;p5"/>
              <p:cNvCxnSpPr/>
              <p:nvPr/>
            </p:nvCxnSpPr>
            <p:spPr>
              <a:xfrm>
                <a:off x="3456" y="1020"/>
                <a:ext cx="1152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1" name="Google Shape;121;p5"/>
            <p:cNvGrpSpPr/>
            <p:nvPr/>
          </p:nvGrpSpPr>
          <p:grpSpPr>
            <a:xfrm>
              <a:off x="1512" y="1614"/>
              <a:ext cx="288" cy="162"/>
              <a:chOff x="1056" y="1614"/>
              <a:chExt cx="288" cy="162"/>
            </a:xfrm>
          </p:grpSpPr>
          <p:sp>
            <p:nvSpPr>
              <p:cNvPr id="122" name="Google Shape;122;p5"/>
              <p:cNvSpPr/>
              <p:nvPr/>
            </p:nvSpPr>
            <p:spPr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7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4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4" name="Google Shape;124;p5"/>
            <p:cNvCxnSpPr/>
            <p:nvPr/>
          </p:nvCxnSpPr>
          <p:spPr>
            <a:xfrm>
              <a:off x="798" y="1428"/>
              <a:ext cx="1272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3444" y="1422"/>
              <a:ext cx="1272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26" name="Google Shape;126;p5"/>
            <p:cNvGrpSpPr/>
            <p:nvPr/>
          </p:nvGrpSpPr>
          <p:grpSpPr>
            <a:xfrm>
              <a:off x="2382" y="1344"/>
              <a:ext cx="288" cy="162"/>
              <a:chOff x="1056" y="1614"/>
              <a:chExt cx="288" cy="162"/>
            </a:xfrm>
          </p:grpSpPr>
          <p:sp>
            <p:nvSpPr>
              <p:cNvPr id="127" name="Google Shape;127;p5"/>
              <p:cNvSpPr/>
              <p:nvPr/>
            </p:nvSpPr>
            <p:spPr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7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4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" name="Google Shape;129;p5"/>
            <p:cNvGrpSpPr/>
            <p:nvPr/>
          </p:nvGrpSpPr>
          <p:grpSpPr>
            <a:xfrm flipH="1">
              <a:off x="2838" y="1344"/>
              <a:ext cx="288" cy="162"/>
              <a:chOff x="1056" y="1614"/>
              <a:chExt cx="288" cy="162"/>
            </a:xfrm>
          </p:grpSpPr>
          <p:sp>
            <p:nvSpPr>
              <p:cNvPr id="130" name="Google Shape;130;p5"/>
              <p:cNvSpPr/>
              <p:nvPr/>
            </p:nvSpPr>
            <p:spPr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7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4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5"/>
            <p:cNvGrpSpPr/>
            <p:nvPr/>
          </p:nvGrpSpPr>
          <p:grpSpPr>
            <a:xfrm flipH="1">
              <a:off x="3822" y="1140"/>
              <a:ext cx="288" cy="162"/>
              <a:chOff x="1056" y="1614"/>
              <a:chExt cx="288" cy="162"/>
            </a:xfrm>
          </p:grpSpPr>
          <p:sp>
            <p:nvSpPr>
              <p:cNvPr id="133" name="Google Shape;133;p5"/>
              <p:cNvSpPr/>
              <p:nvPr/>
            </p:nvSpPr>
            <p:spPr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7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4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5"/>
            <p:cNvGrpSpPr/>
            <p:nvPr/>
          </p:nvGrpSpPr>
          <p:grpSpPr>
            <a:xfrm flipH="1">
              <a:off x="4248" y="1140"/>
              <a:ext cx="288" cy="162"/>
              <a:chOff x="1056" y="1614"/>
              <a:chExt cx="288" cy="162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7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 fontScale="40000" lnSpcReduction="20000"/>
              </a:bodyPr>
              <a:lstStyle/>
              <a:p>
                <a:pPr marL="228600" marR="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8" name="Google Shape;138;p5"/>
          <p:cNvSpPr/>
          <p:nvPr/>
        </p:nvSpPr>
        <p:spPr>
          <a:xfrm>
            <a:off x="1185333" y="3601156"/>
            <a:ext cx="8556978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only in one direction</a:t>
            </a:r>
            <a:endParaRPr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section of a bridge can be viewed as a resource</a:t>
            </a:r>
            <a:endParaRPr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a deadlock occurs, it can be resolved if one car backs up</a:t>
            </a:r>
            <a:endParaRPr/>
          </a:p>
          <a:p>
            <a:pPr marL="457200" marR="0" lvl="1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preempt resources and rollback</a:t>
            </a:r>
            <a:endParaRPr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cars may have to be backed up if a deadlock occurs</a:t>
            </a:r>
            <a:endParaRPr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Starvation is possible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Most OS do not prevent or deal with deadlocks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 Principles</a:t>
            </a:r>
            <a:br>
              <a:rPr lang="en-US" sz="4000" b="1">
                <a:solidFill>
                  <a:srgbClr val="00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6"/>
          <p:cNvSpPr txBox="1">
            <a:spLocks noGrp="1"/>
          </p:cNvSpPr>
          <p:nvPr>
            <p:ph type="body" idx="1"/>
          </p:nvPr>
        </p:nvSpPr>
        <p:spPr>
          <a:xfrm>
            <a:off x="838200" y="1299990"/>
            <a:ext cx="10515600" cy="48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5613" lvl="0" indent="-4556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A deadlock is a permanent blocking of a set of threads</a:t>
            </a:r>
            <a:endParaRPr/>
          </a:p>
          <a:p>
            <a:pPr marL="1027113" lvl="1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deadlock can happen while threads/processes are competing for system resources or communicating with each other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7555" y="2600501"/>
            <a:ext cx="6553200" cy="32877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3048000" y="6130752"/>
            <a:ext cx="39285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Illustration of a deadlock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1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1"/>
          </p:nvPr>
        </p:nvSpPr>
        <p:spPr>
          <a:xfrm>
            <a:off x="838200" y="1501422"/>
            <a:ext cx="10515600" cy="4675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Resource types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. . .,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400"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CPU cycles, memory space, I/O devices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Each resource type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has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instances.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Each process utilizes a resource as follows: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request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release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2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 Characterization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8"/>
          <p:cNvSpPr txBox="1">
            <a:spLocks noGrp="1"/>
          </p:cNvSpPr>
          <p:nvPr>
            <p:ph type="body" idx="1"/>
          </p:nvPr>
        </p:nvSpPr>
        <p:spPr>
          <a:xfrm>
            <a:off x="838200" y="1546578"/>
            <a:ext cx="10515600" cy="46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Deadlock can arise if four conditions hold </a:t>
            </a: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simultaneously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Mutual exclusion: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only one process at a time can use a resource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Hold and wait: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a process holding at least one resource is waiting to acquire additional resources held by other processes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No preemption: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a resource can be released only voluntarily by the process holding it, after that process has completed its task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Circular wait: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there exists a set {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} of waiting processes such that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is waiting for a resource that is held by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is waiting for a resource that is held by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	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lang="en-US" i="1" dirty="0" err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i="1" baseline="-25000" dirty="0" err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–1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is waiting for a resource that is held by </a:t>
            </a: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i="1" dirty="0" err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 err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is waiting for a resource that is held by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275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NECESSARY CONDITIONS</a:t>
            </a:r>
            <a:br>
              <a:rPr lang="en-US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</a:t>
            </a:r>
            <a:r>
              <a:rPr lang="en-US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these four </a:t>
            </a:r>
            <a:r>
              <a:rPr lang="en-US" sz="24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</a:t>
            </a:r>
            <a:r>
              <a:rPr lang="en-US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happen simultaneously for a deadlock to occur:</a:t>
            </a:r>
            <a:br>
              <a:rPr lang="en-US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/>
          </a:p>
        </p:txBody>
      </p:sp>
      <p:sp>
        <p:nvSpPr>
          <p:cNvPr id="164" name="Google Shape;16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Mutual exclusion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One or more than one resource must be held by a process in a non-sharable (exclusive) mode.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Hold and Wait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A process holds a resource while waiting for another resource.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No Preemption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There is only voluntary release of a resource - nobody else can make a process give up a resource.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Circular Wait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Process A waits for Process B waits for Process C .... waits for Process A.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Resource-Allocation Graph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0"/>
          <p:cNvSpPr txBox="1">
            <a:spLocks noGrp="1"/>
          </p:cNvSpPr>
          <p:nvPr>
            <p:ph type="body" idx="1"/>
          </p:nvPr>
        </p:nvSpPr>
        <p:spPr>
          <a:xfrm>
            <a:off x="804333" y="157727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set of vertices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a set of edges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 is partitioned into two types: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= {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i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}, the set consisting of all the processes in the system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= {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i="1" baseline="-25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}, the set consisting of all resource types in the system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</a:pPr>
            <a:r>
              <a:rPr lang="en-US" sz="2400">
                <a:solidFill>
                  <a:srgbClr val="336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edge 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directed edge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sz="2400" i="1"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</a:pPr>
            <a:r>
              <a:rPr lang="en-US" sz="2400">
                <a:solidFill>
                  <a:srgbClr val="336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edge 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directed edge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Resource-Allocation Graph (Cont.)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br>
              <a:rPr lang="en-US" b="1"/>
            </a:br>
            <a:br>
              <a:rPr lang="en-US" b="1"/>
            </a:br>
            <a:br>
              <a:rPr lang="en-US" b="1"/>
            </a:b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Resource Type with 4 instances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requests instance of 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is holding an instance of 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2845153" y="1811161"/>
            <a:ext cx="495300" cy="495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11"/>
          <p:cNvGrpSpPr/>
          <p:nvPr/>
        </p:nvGrpSpPr>
        <p:grpSpPr>
          <a:xfrm>
            <a:off x="5845498" y="3072334"/>
            <a:ext cx="438150" cy="419100"/>
            <a:chOff x="2666" y="1966"/>
            <a:chExt cx="276" cy="264"/>
          </a:xfrm>
        </p:grpSpPr>
        <p:sp>
          <p:nvSpPr>
            <p:cNvPr id="179" name="Google Shape;179;p11"/>
            <p:cNvSpPr/>
            <p:nvPr/>
          </p:nvSpPr>
          <p:spPr>
            <a:xfrm>
              <a:off x="2666" y="1966"/>
              <a:ext cx="276" cy="264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1"/>
          <p:cNvGrpSpPr/>
          <p:nvPr/>
        </p:nvGrpSpPr>
        <p:grpSpPr>
          <a:xfrm>
            <a:off x="6167572" y="4381980"/>
            <a:ext cx="438150" cy="419100"/>
            <a:chOff x="2666" y="1966"/>
            <a:chExt cx="276" cy="264"/>
          </a:xfrm>
        </p:grpSpPr>
        <p:sp>
          <p:nvSpPr>
            <p:cNvPr id="185" name="Google Shape;185;p11"/>
            <p:cNvSpPr/>
            <p:nvPr/>
          </p:nvSpPr>
          <p:spPr>
            <a:xfrm>
              <a:off x="2666" y="1966"/>
              <a:ext cx="276" cy="264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736" y="2026"/>
              <a:ext cx="47" cy="4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2832" y="2026"/>
              <a:ext cx="47" cy="4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2736" y="2108"/>
              <a:ext cx="47" cy="4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2832" y="2108"/>
              <a:ext cx="47" cy="4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0" name="Google Shape;190;p11"/>
          <p:cNvCxnSpPr/>
          <p:nvPr/>
        </p:nvCxnSpPr>
        <p:spPr>
          <a:xfrm>
            <a:off x="5815635" y="4608906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1" name="Google Shape;191;p11"/>
          <p:cNvSpPr/>
          <p:nvPr/>
        </p:nvSpPr>
        <p:spPr>
          <a:xfrm>
            <a:off x="5276943" y="4330916"/>
            <a:ext cx="495300" cy="495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n-US" sz="1800" i="1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1800" i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687831" y="5562736"/>
            <a:ext cx="495300" cy="495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n-US" sz="1800" i="1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3" name="Google Shape;193;p11"/>
          <p:cNvCxnSpPr/>
          <p:nvPr/>
        </p:nvCxnSpPr>
        <p:spPr>
          <a:xfrm rot="10800000">
            <a:off x="6141320" y="5717072"/>
            <a:ext cx="458694" cy="45719"/>
          </a:xfrm>
          <a:prstGeom prst="straightConnector1">
            <a:avLst/>
          </a:prstGeom>
          <a:solidFill>
            <a:srgbClr val="FF0000"/>
          </a:solidFill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arrow" w="sm" len="sm"/>
          </a:ln>
        </p:spPr>
      </p:cxnSp>
      <p:grpSp>
        <p:nvGrpSpPr>
          <p:cNvPr id="194" name="Google Shape;194;p11"/>
          <p:cNvGrpSpPr/>
          <p:nvPr/>
        </p:nvGrpSpPr>
        <p:grpSpPr>
          <a:xfrm>
            <a:off x="6615352" y="5538857"/>
            <a:ext cx="438150" cy="419100"/>
            <a:chOff x="2666" y="1966"/>
            <a:chExt cx="276" cy="264"/>
          </a:xfrm>
        </p:grpSpPr>
        <p:sp>
          <p:nvSpPr>
            <p:cNvPr id="195" name="Google Shape;195;p11"/>
            <p:cNvSpPr/>
            <p:nvPr/>
          </p:nvSpPr>
          <p:spPr>
            <a:xfrm>
              <a:off x="2666" y="1966"/>
              <a:ext cx="276" cy="264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2736" y="2026"/>
              <a:ext cx="47" cy="4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2832" y="2026"/>
              <a:ext cx="47" cy="4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2736" y="2108"/>
              <a:ext cx="47" cy="4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2832" y="2108"/>
              <a:ext cx="47" cy="47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1"/>
          <p:cNvSpPr txBox="1"/>
          <p:nvPr/>
        </p:nvSpPr>
        <p:spPr>
          <a:xfrm>
            <a:off x="5942797" y="4854222"/>
            <a:ext cx="8305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-US" sz="1400" i="1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endParaRPr sz="1400" i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6163133" y="6129867"/>
            <a:ext cx="14004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-US" sz="1400" i="1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endParaRPr sz="1400" i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a Resource Allocation Graph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5286" t="926" r="25286" b="1532"/>
          <a:stretch/>
        </p:blipFill>
        <p:spPr>
          <a:xfrm>
            <a:off x="3759200" y="1825625"/>
            <a:ext cx="380672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4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Allocation Graph With A Deadlock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467818" y="1364277"/>
            <a:ext cx="3652513" cy="3817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B8052B-1596-74FE-69B6-8D02FE4FC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890" y="5419446"/>
            <a:ext cx="6208800" cy="10734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9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With A Cycle But No Deadlock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" name="Google Shape;220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108311" y="1591732"/>
            <a:ext cx="3160747" cy="404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7388AE-22EA-F1F3-1C8E-FE34A9891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986" y="5637135"/>
            <a:ext cx="3579499" cy="8557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Facts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If graph contains no cycles ⇒ no deadlock</a:t>
            </a: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If graph contains a cycle ⇒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if only one instance per resource type, then deadlock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if several instances per resource type, possibility of deadlock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for handling deadlocks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6"/>
          <p:cNvSpPr txBox="1">
            <a:spLocks noGrp="1"/>
          </p:cNvSpPr>
          <p:nvPr>
            <p:ph type="body" idx="1"/>
          </p:nvPr>
        </p:nvSpPr>
        <p:spPr>
          <a:xfrm>
            <a:off x="804333" y="1433689"/>
            <a:ext cx="10515600" cy="457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Ensure that the system will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never enter a deadlock state.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Prevention: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Prevent any one of the 4 conditions from happening. 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Avoidance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: Allow  all deadlock conditions, but calculate cycles about to happen and stop dangerous operations.</a:t>
            </a:r>
            <a:endParaRPr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Allow the system to enter a deadlock state and then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detect and 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recover</a:t>
            </a:r>
            <a:endParaRPr dirty="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Ignore the problem and pretend that deadlocks never occur in the system; used by most OS, including UNIX.</a:t>
            </a:r>
            <a:endParaRPr dirty="0"/>
          </a:p>
          <a:p>
            <a:pPr marL="228600" lvl="0" indent="-7747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 Prevention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1"/>
          </p:nvPr>
        </p:nvSpPr>
        <p:spPr>
          <a:xfrm>
            <a:off x="838200" y="1490133"/>
            <a:ext cx="10515600" cy="468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Mutual exclusion: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Hold for non-sharable resources ex: printer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not required for sharable resources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Can’t deny mutual exclusion condition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2. Hold and wait: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lphaL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Collect all resources before execution, resource utilization is low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lphaL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Allow a process to request resources only when it has none , starvation possible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2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 Prevention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18"/>
          <p:cNvSpPr txBox="1">
            <a:spLocks noGrp="1"/>
          </p:cNvSpPr>
          <p:nvPr>
            <p:ph type="body" idx="1"/>
          </p:nvPr>
        </p:nvSpPr>
        <p:spPr>
          <a:xfrm>
            <a:off x="838200" y="1535289"/>
            <a:ext cx="10515600" cy="464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No preemption: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If a process that is holding some resources requests another resource that cannot be immediately allocated to it, then all resources currently being held are released.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Preempted resources are added to the list of resources for which the process is waiting.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Process will be restarted only </a:t>
            </a:r>
            <a:r>
              <a:rPr lang="en-US" sz="3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it can regain its old resources, as well as the new ones that it is requesting</a:t>
            </a: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000" b="1" dirty="0">
                <a:latin typeface="Times New Roman"/>
                <a:ea typeface="Times New Roman"/>
                <a:cs typeface="Times New Roman"/>
                <a:sym typeface="Times New Roman"/>
              </a:rPr>
              <a:t>4. Circular wait: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impose a total ordering of all resource types,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 each process requests resources in an increasing order</a:t>
            </a:r>
            <a:endParaRPr dirty="0"/>
          </a:p>
          <a:p>
            <a:pPr marL="228600" lvl="0" indent="-5238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5683786" cy="82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 Avoidance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5517"/>
          <a:stretch/>
        </p:blipFill>
        <p:spPr>
          <a:xfrm>
            <a:off x="324076" y="1196622"/>
            <a:ext cx="9778952" cy="510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79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 State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7543"/>
          <a:stretch/>
        </p:blipFill>
        <p:spPr>
          <a:xfrm>
            <a:off x="166897" y="1253067"/>
            <a:ext cx="8901144" cy="489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facts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3" name="Google Shape;263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6102" r="23414"/>
          <a:stretch/>
        </p:blipFill>
        <p:spPr>
          <a:xfrm>
            <a:off x="519288" y="1512711"/>
            <a:ext cx="5836355" cy="3307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35951" y="2978680"/>
            <a:ext cx="3127375" cy="30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Avoidance algorithms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118814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Single instance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of a resource type </a:t>
            </a:r>
            <a:r>
              <a:rPr lang="en-US" dirty="0"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allocation graph algorithm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Multiple instances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of a resource type</a:t>
            </a:r>
            <a:r>
              <a:rPr lang="en-US" dirty="0"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banker’s algorithm</a:t>
            </a:r>
            <a:endParaRPr dirty="0">
              <a:solidFill>
                <a:srgbClr val="FF0000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>
            <a:spLocks noGrp="1"/>
          </p:cNvSpPr>
          <p:nvPr>
            <p:ph type="title"/>
          </p:nvPr>
        </p:nvSpPr>
        <p:spPr>
          <a:xfrm>
            <a:off x="986925" y="300025"/>
            <a:ext cx="10515600" cy="574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Resource-Allocation Graph Scheme</a:t>
            </a:r>
            <a:endParaRPr sz="40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3"/>
          <p:cNvSpPr txBox="1">
            <a:spLocks noGrp="1"/>
          </p:cNvSpPr>
          <p:nvPr>
            <p:ph type="body" idx="1"/>
          </p:nvPr>
        </p:nvSpPr>
        <p:spPr>
          <a:xfrm>
            <a:off x="566530" y="1053548"/>
            <a:ext cx="10787270" cy="550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Claim edge 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Times New Roman"/>
              </a:rPr>
              <a:t>Pi 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i="1" dirty="0" err="1">
                <a:latin typeface="Times New Roman"/>
                <a:ea typeface="Times New Roman"/>
                <a:cs typeface="Times New Roman"/>
                <a:sym typeface="Times New Roman"/>
              </a:rPr>
              <a:t>Rj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Times New Roman"/>
              </a:rPr>
              <a:t> process Pi may request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resource </a:t>
            </a:r>
            <a:r>
              <a:rPr lang="en-US" sz="2400" i="1" dirty="0" err="1">
                <a:latin typeface="Times New Roman"/>
                <a:ea typeface="Times New Roman"/>
                <a:cs typeface="Times New Roman"/>
                <a:sym typeface="Times New Roman"/>
              </a:rPr>
              <a:t>Rj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Times New Roman"/>
              </a:rPr>
              <a:t> at some time in future (--&gt;).  </a:t>
            </a:r>
            <a:r>
              <a:rPr lang="en-US" sz="2400" dirty="0">
                <a:solidFill>
                  <a:srgbClr val="0070C0"/>
                </a:solidFill>
                <a:latin typeface="Times New Roman"/>
                <a:cs typeface="Times New Roman"/>
                <a:sym typeface="Times New Roman"/>
              </a:rPr>
              <a:t>Represented in a graph by dash line</a:t>
            </a:r>
            <a:endParaRPr lang="en-US" sz="24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228600" lvl="0" indent="-2286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Claim edge converted to request edge if a process requests a resource.</a:t>
            </a:r>
            <a:endParaRPr sz="2400" dirty="0"/>
          </a:p>
          <a:p>
            <a:pPr marL="228600" lvl="0" indent="-2286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Request edge converted to assignment edge when the resource is allocated to the process.</a:t>
            </a:r>
            <a:endParaRPr sz="2400" dirty="0"/>
          </a:p>
          <a:p>
            <a:pPr marL="228600" lvl="0" indent="-2286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When a resource is released by a process, assignment edge reconverts to a claim edge.</a:t>
            </a:r>
            <a:endParaRPr sz="2400" dirty="0"/>
          </a:p>
          <a:p>
            <a:pPr marL="228600" lvl="0" indent="-2286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Resources must be claimed 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Times New Roman"/>
              </a:rPr>
              <a:t>a priori in the system.</a:t>
            </a:r>
          </a:p>
          <a:p>
            <a:pPr marL="228600" lvl="0" indent="-2286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Before process Pi  starts executing, all its claim edges must already appear in the resource-allocation graph.</a:t>
            </a:r>
            <a:endParaRPr sz="2400" dirty="0">
              <a:latin typeface="Times New Roman"/>
              <a:cs typeface="Times New Roman"/>
              <a:sym typeface="Times New Roman"/>
            </a:endParaRPr>
          </a:p>
          <a:p>
            <a:pPr marL="228600" lvl="0" indent="-508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Resource-Allocation Graph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43906" y="1776677"/>
            <a:ext cx="31146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8101" y="1704622"/>
            <a:ext cx="3201810" cy="343361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/>
          <p:nvPr/>
        </p:nvSpPr>
        <p:spPr>
          <a:xfrm>
            <a:off x="2686756" y="5310200"/>
            <a:ext cx="52154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Unsafe state in resource-allocation graph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72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Resource-Allocation Graph Algorithm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5"/>
          <p:cNvSpPr txBox="1">
            <a:spLocks noGrp="1"/>
          </p:cNvSpPr>
          <p:nvPr>
            <p:ph type="body" idx="1"/>
          </p:nvPr>
        </p:nvSpPr>
        <p:spPr>
          <a:xfrm>
            <a:off x="838200" y="2148289"/>
            <a:ext cx="10515600" cy="402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i="1" dirty="0" err="1">
                <a:latin typeface="Times New Roman"/>
                <a:ea typeface="Times New Roman"/>
                <a:cs typeface="Times New Roman"/>
                <a:sym typeface="Times New Roman"/>
              </a:rPr>
              <a:t>Rj</a:t>
            </a:r>
            <a:endParaRPr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The request can be granted only if converting the request edge to an assignment edge does not result in the 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formation of a cycle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 the resource allocation graph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Banker’s Algorithm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Multiple instances.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Each process must a priori claim maximum use.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When a process requests a resource it may have to wait.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When a process gets all its resources it must return them in a finite amount of time.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for the Banker’s Algorithm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5576" t="20568"/>
          <a:stretch/>
        </p:blipFill>
        <p:spPr>
          <a:xfrm>
            <a:off x="1266940" y="1388012"/>
            <a:ext cx="9221118" cy="4743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Algorithm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733" t="19790"/>
          <a:stretch/>
        </p:blipFill>
        <p:spPr>
          <a:xfrm>
            <a:off x="793215" y="1630496"/>
            <a:ext cx="7724188" cy="4467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Resource-Request Algorithm for Process </a:t>
            </a:r>
            <a:r>
              <a:rPr lang="en-US" sz="40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If Request</a:t>
            </a:r>
            <a:r>
              <a:rPr lang="en-US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 [j] = k then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process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Pi wants k instances of resource type Rj.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1. If </a:t>
            </a:r>
            <a:r>
              <a:rPr lang="en-US" i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</a:t>
            </a:r>
            <a:r>
              <a:rPr lang="en-US" i="1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i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Need</a:t>
            </a:r>
            <a:r>
              <a:rPr lang="en-US" i="1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i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go to step 2. else, raise error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condition, since process has exceeded its maximum claim.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 If </a:t>
            </a:r>
            <a:r>
              <a:rPr lang="en-US" i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</a:t>
            </a:r>
            <a:r>
              <a:rPr lang="en-US" i="1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i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Available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, go to step 3. Otherwise Pi must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wait, since resources are not available.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 Pretend to allocate requested resources to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Pi by modifying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state as follows: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Resource-Request Algorithm for Process </a:t>
            </a:r>
            <a:r>
              <a:rPr lang="en-US" sz="40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Available = Available – Request;</a:t>
            </a:r>
            <a:endParaRPr/>
          </a:p>
          <a:p>
            <a:pPr marL="2286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Allocation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= Allocation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 + Request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marL="2286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Need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 = Need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 – Request</a:t>
            </a:r>
            <a:r>
              <a:rPr lang="en-US" b="1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marL="2286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b="1" i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 ==&gt; resources are allocated to Pi.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b="1" i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unsafe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==&gt; Pi must wait, and the old resource-allocation state is restored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Banker’s Algorithm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31"/>
          <p:cNvSpPr txBox="1">
            <a:spLocks noGrp="1"/>
          </p:cNvSpPr>
          <p:nvPr>
            <p:ph type="body" idx="1"/>
          </p:nvPr>
        </p:nvSpPr>
        <p:spPr>
          <a:xfrm>
            <a:off x="838200" y="1487277"/>
            <a:ext cx="10515600" cy="4076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 processes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P0 … P4;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 resource types: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A (10 instances), B (5), and C (7)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Snapshot at time 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T0: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7" name="Google Shape;32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785" y="3042513"/>
            <a:ext cx="4814888" cy="295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0550" y="2979739"/>
            <a:ext cx="2030413" cy="310038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 txBox="1"/>
          <p:nvPr/>
        </p:nvSpPr>
        <p:spPr>
          <a:xfrm>
            <a:off x="433388" y="6127750"/>
            <a:ext cx="844098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is in safe state -- sequence &lt; </a:t>
            </a:r>
            <a:r>
              <a:rPr lang="en-US" sz="2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P1, P3, P4, P2, P0&gt;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04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-US" sz="40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 Request (1,0,2)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2"/>
          <p:cNvSpPr txBox="1">
            <a:spLocks noGrp="1"/>
          </p:cNvSpPr>
          <p:nvPr>
            <p:ph type="body" idx="1"/>
          </p:nvPr>
        </p:nvSpPr>
        <p:spPr>
          <a:xfrm>
            <a:off x="507694" y="153918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Check that Request ≤ Available (that is, (1,0,2) ≤ (3,3,2) ==&gt; true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6" name="Google Shape;33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017" y="2116997"/>
            <a:ext cx="5116513" cy="32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/>
          <p:nvPr/>
        </p:nvSpPr>
        <p:spPr>
          <a:xfrm>
            <a:off x="1886060" y="5508424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P1, P3, P4, P0, P2&gt;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satisfies safety requirement.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request for (3,3,0) by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P4 be granted?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request for (0,2,0) by </a:t>
            </a: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P0 be granted?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Deadlock Detection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Allow system to enter deadlock state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Detection algorithm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Recovery scheme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1976661" y="3535227"/>
            <a:ext cx="3944938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instance</a:t>
            </a:r>
            <a:endParaRPr/>
          </a:p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instances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>
            <a:spLocks noGrp="1"/>
          </p:cNvSpPr>
          <p:nvPr>
            <p:ph type="title"/>
          </p:nvPr>
        </p:nvSpPr>
        <p:spPr>
          <a:xfrm>
            <a:off x="72887" y="534091"/>
            <a:ext cx="10515600" cy="31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Instance of Each Resource Type</a:t>
            </a:r>
            <a:endParaRPr sz="40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1"/>
          </p:nvPr>
        </p:nvSpPr>
        <p:spPr>
          <a:xfrm>
            <a:off x="390939" y="141812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Maintain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wait-for graph</a:t>
            </a:r>
            <a:endParaRPr dirty="0"/>
          </a:p>
          <a:p>
            <a:pPr marL="685800" lvl="1" indent="-2286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Nodes are processes.</a:t>
            </a:r>
            <a:endParaRPr sz="2800" dirty="0"/>
          </a:p>
          <a:p>
            <a:pPr marL="685800" lvl="1" indent="-2286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i="1" dirty="0"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lang="en-US" sz="2800" i="1" dirty="0"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2800" i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i="1" dirty="0" err="1">
                <a:latin typeface="Times New Roman"/>
                <a:ea typeface="Times New Roman"/>
                <a:cs typeface="Times New Roman"/>
                <a:sym typeface="Times New Roman"/>
              </a:rPr>
              <a:t>Pj</a:t>
            </a:r>
            <a:r>
              <a:rPr lang="en-US" sz="2800" i="1" dirty="0">
                <a:latin typeface="Times New Roman"/>
                <a:ea typeface="Times New Roman"/>
                <a:cs typeface="Times New Roman"/>
                <a:sym typeface="Times New Roman"/>
              </a:rPr>
              <a:t> if Pi is waiting for </a:t>
            </a:r>
            <a:r>
              <a:rPr lang="en-US" sz="2800" i="1" dirty="0" err="1">
                <a:latin typeface="Times New Roman"/>
                <a:ea typeface="Times New Roman"/>
                <a:cs typeface="Times New Roman"/>
                <a:sym typeface="Times New Roman"/>
              </a:rPr>
              <a:t>Pj</a:t>
            </a:r>
            <a:r>
              <a:rPr lang="en-US" sz="2800" i="1" dirty="0">
                <a:latin typeface="Times New Roman"/>
                <a:ea typeface="Times New Roman"/>
                <a:cs typeface="Times New Roman"/>
                <a:sym typeface="Times New Roman"/>
              </a:rPr>
              <a:t> to release the resource that Pi needs.</a:t>
            </a:r>
          </a:p>
          <a:p>
            <a:pPr marL="685800" lvl="1" indent="-2286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 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exists in a wait-for graph if and only if the corresponding resource allocation graph contains two edges Pi 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deadlocks, the system needs to maintain the wait for graph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Periodically invoke an algorithm that searches for a cycle in the graph. If there is a cycle, there exists a deadlock.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allocation Graph and Wait-for Graph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6" name="Google Shape;356;p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2644"/>
          <a:stretch/>
        </p:blipFill>
        <p:spPr>
          <a:xfrm>
            <a:off x="1531377" y="1967531"/>
            <a:ext cx="7536282" cy="4043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Instances of a Resource Type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2" name="Google Shape;362;p3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4121"/>
          <a:stretch/>
        </p:blipFill>
        <p:spPr>
          <a:xfrm>
            <a:off x="163875" y="1795749"/>
            <a:ext cx="10819169" cy="3981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>
            <a:spLocks noGrp="1"/>
          </p:cNvSpPr>
          <p:nvPr>
            <p:ph type="title"/>
          </p:nvPr>
        </p:nvSpPr>
        <p:spPr>
          <a:xfrm>
            <a:off x="838200" y="231355"/>
            <a:ext cx="10515600" cy="969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Algorithm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8" name="Google Shape;368;p3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24899"/>
          <a:stretch/>
        </p:blipFill>
        <p:spPr>
          <a:xfrm>
            <a:off x="275422" y="1215611"/>
            <a:ext cx="7886267" cy="3115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4521200"/>
            <a:ext cx="7912100" cy="18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Detection Algorithm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38"/>
          <p:cNvSpPr txBox="1">
            <a:spLocks noGrp="1"/>
          </p:cNvSpPr>
          <p:nvPr>
            <p:ph type="body" idx="1"/>
          </p:nvPr>
        </p:nvSpPr>
        <p:spPr>
          <a:xfrm>
            <a:off x="838200" y="1456267"/>
            <a:ext cx="10515600" cy="472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 processes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P0 … P4;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3 resource types: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(7 instances),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B (2), and C (6)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Snapshot at time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T0: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76" name="Google Shape;37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751" y="3013308"/>
            <a:ext cx="4463344" cy="269950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8"/>
          <p:cNvSpPr txBox="1"/>
          <p:nvPr/>
        </p:nvSpPr>
        <p:spPr>
          <a:xfrm>
            <a:off x="898525" y="5951538"/>
            <a:ext cx="502126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  &lt;</a:t>
            </a:r>
            <a:r>
              <a:rPr lang="en-US" sz="2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P0, P2, P3, P1, P4&gt;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3713922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(Cont.)</a:t>
            </a:r>
            <a:endParaRPr sz="40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97FCB-30D0-5966-23AE-0ABE93D88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892" y="1622623"/>
            <a:ext cx="2443777" cy="2561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FAC4B4-121B-FA7C-D5CE-E3D9BCB28FA1}"/>
              </a:ext>
            </a:extLst>
          </p:cNvPr>
          <p:cNvSpPr txBox="1"/>
          <p:nvPr/>
        </p:nvSpPr>
        <p:spPr>
          <a:xfrm>
            <a:off x="983972" y="954156"/>
            <a:ext cx="1032675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Suppose P2 requests an addition resource of type C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State of system?</a:t>
            </a:r>
          </a:p>
          <a:p>
            <a:r>
              <a:rPr lang="en-IN" sz="2000" dirty="0"/>
              <a:t>Can reclaim resources held by process P0 but insufficient resources to </a:t>
            </a:r>
            <a:r>
              <a:rPr lang="en-IN" sz="2000" dirty="0" err="1"/>
              <a:t>fulfill</a:t>
            </a:r>
            <a:r>
              <a:rPr lang="en-IN" sz="2000" dirty="0"/>
              <a:t> other processes request</a:t>
            </a:r>
          </a:p>
          <a:p>
            <a:r>
              <a:rPr lang="en-IN" sz="2000" dirty="0"/>
              <a:t>Deadlock exists, consisting of processes P1, P2, P3 &amp; P4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Detection-Algorithm Usage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When, and how often, to invoke depends on: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often a deadlock is likely to occur?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many processes will need to be rolled back?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one for each disjoint cycle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detection algorithm is invoked </a:t>
            </a: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arbitrarily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there may be many cycles in the resource graph and so we would not be able to tell which of the many deadlocked processes “</a:t>
            </a: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caused” the deadlock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Recovery from Deadlock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Process Termination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Resource Preemption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Termination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42"/>
          <p:cNvSpPr txBox="1">
            <a:spLocks noGrp="1"/>
          </p:cNvSpPr>
          <p:nvPr>
            <p:ph type="body" idx="1"/>
          </p:nvPr>
        </p:nvSpPr>
        <p:spPr>
          <a:xfrm>
            <a:off x="838200" y="1608463"/>
            <a:ext cx="10515600" cy="4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Abort all deadlocked processes.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Abort one process at a time until the deadlock cycle is eliminated.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In which order should we choose to abort?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what the priority of the process is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How long process has computed, and how much longer to completion.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how many &amp; what type of resources the process has used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How many more resources process needs to complete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How many processes will need to be terminated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process interactive or batch?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Preemption</a:t>
            </a:r>
            <a:endParaRPr sz="4000"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Selecting a victim – minimize cost.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Rollback – return to some safe state, restart process for that state.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Starvation – same process may always be picked as victim, include number of rollback in cost factor.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1786</Words>
  <Application>Microsoft Office PowerPoint</Application>
  <PresentationFormat>Widescreen</PresentationFormat>
  <Paragraphs>224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Arimo</vt:lpstr>
      <vt:lpstr>Helvetica Neue</vt:lpstr>
      <vt:lpstr>Times New Roman</vt:lpstr>
      <vt:lpstr>Noto Sans Symbols</vt:lpstr>
      <vt:lpstr>Arial</vt:lpstr>
      <vt:lpstr>Calibri</vt:lpstr>
      <vt:lpstr>Courier New</vt:lpstr>
      <vt:lpstr>Office Theme</vt:lpstr>
      <vt:lpstr>Deadlock</vt:lpstr>
      <vt:lpstr>Contents</vt:lpstr>
      <vt:lpstr>The Deadlock Problem</vt:lpstr>
      <vt:lpstr>Bridge Crossing Example</vt:lpstr>
      <vt:lpstr>Deadlock Principles </vt:lpstr>
      <vt:lpstr>System Model</vt:lpstr>
      <vt:lpstr>Deadlock Characterization</vt:lpstr>
      <vt:lpstr>NECESSARY CONDITIONS ALL of these four must happen simultaneously for a deadlock to occur:  </vt:lpstr>
      <vt:lpstr>Resource-Allocation Graph</vt:lpstr>
      <vt:lpstr>Resource-Allocation Graph (Cont.)</vt:lpstr>
      <vt:lpstr>Example of a Resource Allocation Graph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</vt:lpstr>
      <vt:lpstr>Deadlock Avoidance</vt:lpstr>
      <vt:lpstr>Safe State</vt:lpstr>
      <vt:lpstr>Basic facts</vt:lpstr>
      <vt:lpstr>Avoidance algorithms</vt:lpstr>
      <vt:lpstr>Resource-Allocation Graph Scheme</vt:lpstr>
      <vt:lpstr>Resource-Allocation Graph</vt:lpstr>
      <vt:lpstr>Resource-Allocation Graph Algorithm</vt:lpstr>
      <vt:lpstr>Banker’s Algorithm</vt:lpstr>
      <vt:lpstr>Data Structures for the Banker’s Algorithm</vt:lpstr>
      <vt:lpstr>Safety Algorithm</vt:lpstr>
      <vt:lpstr>Resource-Request Algorithm for Process Pi</vt:lpstr>
      <vt:lpstr>Resource-Request Algorithm for Process Pi</vt:lpstr>
      <vt:lpstr>Example of Banker’s Algorithm</vt:lpstr>
      <vt:lpstr>Example: P1 Request (1,0,2)</vt:lpstr>
      <vt:lpstr>Deadlock Detection</vt:lpstr>
      <vt:lpstr>Single Instance of Each Resource Type</vt:lpstr>
      <vt:lpstr>Resource allocation Graph and Wait-for Graph</vt:lpstr>
      <vt:lpstr>Several Instances of a Resource Type</vt:lpstr>
      <vt:lpstr>Detection Algorithm</vt:lpstr>
      <vt:lpstr>Example of Detection Algorithm</vt:lpstr>
      <vt:lpstr>Example (Cont.)</vt:lpstr>
      <vt:lpstr>Detection-Algorithm Usage</vt:lpstr>
      <vt:lpstr>Recovery from Deadlock</vt:lpstr>
      <vt:lpstr>Process Termination</vt:lpstr>
      <vt:lpstr>Resource Preemption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</dc:title>
  <dc:creator>Manjunath</dc:creator>
  <cp:lastModifiedBy>Janani T</cp:lastModifiedBy>
  <cp:revision>15</cp:revision>
  <dcterms:created xsi:type="dcterms:W3CDTF">2021-03-04T03:20:49Z</dcterms:created>
  <dcterms:modified xsi:type="dcterms:W3CDTF">2025-02-28T03:21:07Z</dcterms:modified>
</cp:coreProperties>
</file>