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3.jpg" ContentType="image/jpeg"/>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0"/>
  </p:notesMasterIdLst>
  <p:sldIdLst>
    <p:sldId id="296" r:id="rId3"/>
    <p:sldId id="257" r:id="rId4"/>
    <p:sldId id="258" r:id="rId5"/>
    <p:sldId id="259" r:id="rId6"/>
    <p:sldId id="260" r:id="rId7"/>
    <p:sldId id="261" r:id="rId8"/>
    <p:sldId id="270" r:id="rId9"/>
    <p:sldId id="273" r:id="rId10"/>
    <p:sldId id="274" r:id="rId11"/>
    <p:sldId id="262" r:id="rId12"/>
    <p:sldId id="263" r:id="rId13"/>
    <p:sldId id="264" r:id="rId14"/>
    <p:sldId id="266" r:id="rId15"/>
    <p:sldId id="267" r:id="rId16"/>
    <p:sldId id="268" r:id="rId17"/>
    <p:sldId id="269" r:id="rId18"/>
    <p:sldId id="265" r:id="rId19"/>
    <p:sldId id="276" r:id="rId20"/>
    <p:sldId id="277" r:id="rId21"/>
    <p:sldId id="278" r:id="rId22"/>
    <p:sldId id="279" r:id="rId23"/>
    <p:sldId id="280" r:id="rId24"/>
    <p:sldId id="281" r:id="rId25"/>
    <p:sldId id="282" r:id="rId26"/>
    <p:sldId id="284" r:id="rId27"/>
    <p:sldId id="285" r:id="rId28"/>
    <p:sldId id="286" r:id="rId29"/>
    <p:sldId id="287" r:id="rId30"/>
    <p:sldId id="288" r:id="rId31"/>
    <p:sldId id="289" r:id="rId32"/>
    <p:sldId id="290" r:id="rId33"/>
    <p:sldId id="291" r:id="rId34"/>
    <p:sldId id="292" r:id="rId35"/>
    <p:sldId id="293" r:id="rId36"/>
    <p:sldId id="297" r:id="rId37"/>
    <p:sldId id="294" r:id="rId38"/>
    <p:sldId id="295"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74F37D-7567-4661-ACB7-D7C3F6289A14}" type="datetimeFigureOut">
              <a:rPr lang="en-IN" smtClean="0"/>
              <a:t>10-01-2025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468E4E-6656-4491-B217-A77F1D3EFF02}" type="slidenum">
              <a:rPr lang="en-IN" smtClean="0"/>
              <a:t>‹#›</a:t>
            </a:fld>
            <a:endParaRPr lang="en-IN"/>
          </a:p>
        </p:txBody>
      </p:sp>
    </p:spTree>
    <p:extLst>
      <p:ext uri="{BB962C8B-B14F-4D97-AF65-F5344CB8AC3E}">
        <p14:creationId xmlns:p14="http://schemas.microsoft.com/office/powerpoint/2010/main" val="3376804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51" name="Google Shape;151;p2:notes"/>
          <p:cNvSpPr txBox="1">
            <a:spLocks noGrp="1"/>
          </p:cNvSpPr>
          <p:nvPr>
            <p:ph type="body" idx="1"/>
          </p:nvPr>
        </p:nvSpPr>
        <p:spPr>
          <a:xfrm>
            <a:off x="685800" y="4343400"/>
            <a:ext cx="5487987" cy="4114800"/>
          </a:xfrm>
          <a:prstGeom prst="rect">
            <a:avLst/>
          </a:prstGeom>
          <a:noFill/>
          <a:ln>
            <a:noFill/>
          </a:ln>
        </p:spPr>
        <p:txBody>
          <a:bodyPr spcFirstLastPara="1" wrap="square" lIns="91400" tIns="45700" rIns="91400"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3: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58" name="Google Shape;158;p3:notes"/>
          <p:cNvSpPr txBox="1">
            <a:spLocks noGrp="1"/>
          </p:cNvSpPr>
          <p:nvPr>
            <p:ph type="body" idx="1"/>
          </p:nvPr>
        </p:nvSpPr>
        <p:spPr>
          <a:xfrm>
            <a:off x="685800" y="4343400"/>
            <a:ext cx="5487987" cy="4114800"/>
          </a:xfrm>
          <a:prstGeom prst="rect">
            <a:avLst/>
          </a:prstGeom>
          <a:noFill/>
          <a:ln>
            <a:noFill/>
          </a:ln>
        </p:spPr>
        <p:txBody>
          <a:bodyPr spcFirstLastPara="1" wrap="square" lIns="91400" tIns="45700" rIns="91400"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73" name="Google Shape;173;p5:notes"/>
          <p:cNvSpPr txBox="1">
            <a:spLocks noGrp="1"/>
          </p:cNvSpPr>
          <p:nvPr>
            <p:ph type="body" idx="1"/>
          </p:nvPr>
        </p:nvSpPr>
        <p:spPr>
          <a:xfrm>
            <a:off x="685800" y="4343400"/>
            <a:ext cx="5487987" cy="4114800"/>
          </a:xfrm>
          <a:prstGeom prst="rect">
            <a:avLst/>
          </a:prstGeom>
          <a:noFill/>
          <a:ln>
            <a:noFill/>
          </a:ln>
        </p:spPr>
        <p:txBody>
          <a:bodyPr spcFirstLastPara="1" wrap="square" lIns="91400" tIns="45700" rIns="91400"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6: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80" name="Google Shape;180;p6:notes"/>
          <p:cNvSpPr txBox="1">
            <a:spLocks noGrp="1"/>
          </p:cNvSpPr>
          <p:nvPr>
            <p:ph type="body" idx="1"/>
          </p:nvPr>
        </p:nvSpPr>
        <p:spPr>
          <a:xfrm>
            <a:off x="685800" y="4343400"/>
            <a:ext cx="5487987" cy="4114800"/>
          </a:xfrm>
          <a:prstGeom prst="rect">
            <a:avLst/>
          </a:prstGeom>
          <a:noFill/>
          <a:ln>
            <a:noFill/>
          </a:ln>
        </p:spPr>
        <p:txBody>
          <a:bodyPr spcFirstLastPara="1" wrap="square" lIns="91400" tIns="45700" rIns="91400"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1: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17" name="Google Shape;217;p11:notes"/>
          <p:cNvSpPr txBox="1">
            <a:spLocks noGrp="1"/>
          </p:cNvSpPr>
          <p:nvPr>
            <p:ph type="body" idx="1"/>
          </p:nvPr>
        </p:nvSpPr>
        <p:spPr>
          <a:xfrm>
            <a:off x="685800" y="4343400"/>
            <a:ext cx="5487987" cy="4114800"/>
          </a:xfrm>
          <a:prstGeom prst="rect">
            <a:avLst/>
          </a:prstGeom>
          <a:noFill/>
          <a:ln>
            <a:noFill/>
          </a:ln>
        </p:spPr>
        <p:txBody>
          <a:bodyPr spcFirstLastPara="1" wrap="square" lIns="91400" tIns="45700" rIns="91400"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4656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41" name="Google Shape;241;p14:notes"/>
          <p:cNvSpPr txBox="1">
            <a:spLocks noGrp="1"/>
          </p:cNvSpPr>
          <p:nvPr>
            <p:ph type="body" idx="1"/>
          </p:nvPr>
        </p:nvSpPr>
        <p:spPr>
          <a:xfrm>
            <a:off x="685800" y="4343400"/>
            <a:ext cx="5487987" cy="4114800"/>
          </a:xfrm>
          <a:prstGeom prst="rect">
            <a:avLst/>
          </a:prstGeom>
          <a:noFill/>
          <a:ln>
            <a:noFill/>
          </a:ln>
        </p:spPr>
        <p:txBody>
          <a:bodyPr spcFirstLastPara="1" wrap="square" lIns="91400" tIns="45700" rIns="91400"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68583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5: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49" name="Google Shape;249;p15:notes"/>
          <p:cNvSpPr txBox="1">
            <a:spLocks noGrp="1"/>
          </p:cNvSpPr>
          <p:nvPr>
            <p:ph type="body" idx="1"/>
          </p:nvPr>
        </p:nvSpPr>
        <p:spPr>
          <a:xfrm>
            <a:off x="685800" y="4343400"/>
            <a:ext cx="5487987" cy="4114800"/>
          </a:xfrm>
          <a:prstGeom prst="rect">
            <a:avLst/>
          </a:prstGeom>
          <a:noFill/>
          <a:ln>
            <a:noFill/>
          </a:ln>
        </p:spPr>
        <p:txBody>
          <a:bodyPr spcFirstLastPara="1" wrap="square" lIns="91400" tIns="45700" rIns="91400"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24052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09" name="Google Shape;209;p10:notes"/>
          <p:cNvSpPr txBox="1">
            <a:spLocks noGrp="1"/>
          </p:cNvSpPr>
          <p:nvPr>
            <p:ph type="body" idx="1"/>
          </p:nvPr>
        </p:nvSpPr>
        <p:spPr>
          <a:xfrm>
            <a:off x="685800" y="4343400"/>
            <a:ext cx="5487987" cy="4114800"/>
          </a:xfrm>
          <a:prstGeom prst="rect">
            <a:avLst/>
          </a:prstGeom>
          <a:noFill/>
          <a:ln>
            <a:noFill/>
          </a:ln>
        </p:spPr>
        <p:txBody>
          <a:bodyPr spcFirstLastPara="1" wrap="square" lIns="91400" tIns="45700" rIns="91400"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67DCB-D65D-0CC9-A0B6-E53A347F4F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842A344-4F0A-CFEF-74D1-09CBBAC63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F9D21FD-7822-C133-8F0D-6AD64878CB2A}"/>
              </a:ext>
            </a:extLst>
          </p:cNvPr>
          <p:cNvSpPr>
            <a:spLocks noGrp="1"/>
          </p:cNvSpPr>
          <p:nvPr>
            <p:ph type="dt" sz="half" idx="10"/>
          </p:nvPr>
        </p:nvSpPr>
        <p:spPr/>
        <p:txBody>
          <a:bodyPr/>
          <a:lstStyle/>
          <a:p>
            <a:fld id="{B815A2DB-D2E0-40F3-97A1-99890C85F44A}" type="datetimeFigureOut">
              <a:rPr lang="en-IN" smtClean="0"/>
              <a:t>10-01-2025</a:t>
            </a:fld>
            <a:endParaRPr lang="en-IN"/>
          </a:p>
        </p:txBody>
      </p:sp>
      <p:sp>
        <p:nvSpPr>
          <p:cNvPr id="5" name="Footer Placeholder 4">
            <a:extLst>
              <a:ext uri="{FF2B5EF4-FFF2-40B4-BE49-F238E27FC236}">
                <a16:creationId xmlns:a16="http://schemas.microsoft.com/office/drawing/2014/main" id="{9D58E98A-CF61-56BE-3D1A-CB1E2825E3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6426CB-BA64-E0A3-C078-B6BEB25A2CA1}"/>
              </a:ext>
            </a:extLst>
          </p:cNvPr>
          <p:cNvSpPr>
            <a:spLocks noGrp="1"/>
          </p:cNvSpPr>
          <p:nvPr>
            <p:ph type="sldNum" sz="quarter" idx="12"/>
          </p:nvPr>
        </p:nvSpPr>
        <p:spPr/>
        <p:txBody>
          <a:bodyPr/>
          <a:lstStyle/>
          <a:p>
            <a:fld id="{439DF1DD-C6BD-461E-9135-A983D412D26C}" type="slidenum">
              <a:rPr lang="en-IN" smtClean="0"/>
              <a:t>‹#›</a:t>
            </a:fld>
            <a:endParaRPr lang="en-IN"/>
          </a:p>
        </p:txBody>
      </p:sp>
    </p:spTree>
    <p:extLst>
      <p:ext uri="{BB962C8B-B14F-4D97-AF65-F5344CB8AC3E}">
        <p14:creationId xmlns:p14="http://schemas.microsoft.com/office/powerpoint/2010/main" val="2040125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561C7-1EEE-D7A6-AB66-126B24770C2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ACC69DB-A4B3-CDB1-0621-CBA91221B0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D3C18D-83B5-1DC5-6AE7-B26CB22DFC70}"/>
              </a:ext>
            </a:extLst>
          </p:cNvPr>
          <p:cNvSpPr>
            <a:spLocks noGrp="1"/>
          </p:cNvSpPr>
          <p:nvPr>
            <p:ph type="dt" sz="half" idx="10"/>
          </p:nvPr>
        </p:nvSpPr>
        <p:spPr/>
        <p:txBody>
          <a:bodyPr/>
          <a:lstStyle/>
          <a:p>
            <a:fld id="{B815A2DB-D2E0-40F3-97A1-99890C85F44A}" type="datetimeFigureOut">
              <a:rPr lang="en-IN" smtClean="0"/>
              <a:t>10-01-2025</a:t>
            </a:fld>
            <a:endParaRPr lang="en-IN"/>
          </a:p>
        </p:txBody>
      </p:sp>
      <p:sp>
        <p:nvSpPr>
          <p:cNvPr id="5" name="Footer Placeholder 4">
            <a:extLst>
              <a:ext uri="{FF2B5EF4-FFF2-40B4-BE49-F238E27FC236}">
                <a16:creationId xmlns:a16="http://schemas.microsoft.com/office/drawing/2014/main" id="{00829E42-2E3E-D737-8167-13761445F6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7F4216-E00E-3F1C-CA97-7FD64FE5B3B0}"/>
              </a:ext>
            </a:extLst>
          </p:cNvPr>
          <p:cNvSpPr>
            <a:spLocks noGrp="1"/>
          </p:cNvSpPr>
          <p:nvPr>
            <p:ph type="sldNum" sz="quarter" idx="12"/>
          </p:nvPr>
        </p:nvSpPr>
        <p:spPr/>
        <p:txBody>
          <a:bodyPr/>
          <a:lstStyle/>
          <a:p>
            <a:fld id="{439DF1DD-C6BD-461E-9135-A983D412D26C}" type="slidenum">
              <a:rPr lang="en-IN" smtClean="0"/>
              <a:t>‹#›</a:t>
            </a:fld>
            <a:endParaRPr lang="en-IN"/>
          </a:p>
        </p:txBody>
      </p:sp>
    </p:spTree>
    <p:extLst>
      <p:ext uri="{BB962C8B-B14F-4D97-AF65-F5344CB8AC3E}">
        <p14:creationId xmlns:p14="http://schemas.microsoft.com/office/powerpoint/2010/main" val="1873766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32817-4BE3-68BF-3DB7-EC4FBC8055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9AC7843-74EC-C4E5-3F71-EBF791C09A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78B729-20DC-DD7F-F9A5-3BF5BE66C64C}"/>
              </a:ext>
            </a:extLst>
          </p:cNvPr>
          <p:cNvSpPr>
            <a:spLocks noGrp="1"/>
          </p:cNvSpPr>
          <p:nvPr>
            <p:ph type="dt" sz="half" idx="10"/>
          </p:nvPr>
        </p:nvSpPr>
        <p:spPr/>
        <p:txBody>
          <a:bodyPr/>
          <a:lstStyle/>
          <a:p>
            <a:fld id="{B815A2DB-D2E0-40F3-97A1-99890C85F44A}" type="datetimeFigureOut">
              <a:rPr lang="en-IN" smtClean="0"/>
              <a:t>10-01-2025</a:t>
            </a:fld>
            <a:endParaRPr lang="en-IN"/>
          </a:p>
        </p:txBody>
      </p:sp>
      <p:sp>
        <p:nvSpPr>
          <p:cNvPr id="5" name="Footer Placeholder 4">
            <a:extLst>
              <a:ext uri="{FF2B5EF4-FFF2-40B4-BE49-F238E27FC236}">
                <a16:creationId xmlns:a16="http://schemas.microsoft.com/office/drawing/2014/main" id="{843E9F63-039D-DC47-F4C1-1AB1287FDE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651461-3EFD-4460-43C2-DA2DDE7FFB9D}"/>
              </a:ext>
            </a:extLst>
          </p:cNvPr>
          <p:cNvSpPr>
            <a:spLocks noGrp="1"/>
          </p:cNvSpPr>
          <p:nvPr>
            <p:ph type="sldNum" sz="quarter" idx="12"/>
          </p:nvPr>
        </p:nvSpPr>
        <p:spPr/>
        <p:txBody>
          <a:bodyPr/>
          <a:lstStyle/>
          <a:p>
            <a:fld id="{439DF1DD-C6BD-461E-9135-A983D412D26C}" type="slidenum">
              <a:rPr lang="en-IN" smtClean="0"/>
              <a:t>‹#›</a:t>
            </a:fld>
            <a:endParaRPr lang="en-IN"/>
          </a:p>
        </p:txBody>
      </p:sp>
    </p:spTree>
    <p:extLst>
      <p:ext uri="{BB962C8B-B14F-4D97-AF65-F5344CB8AC3E}">
        <p14:creationId xmlns:p14="http://schemas.microsoft.com/office/powerpoint/2010/main" val="2881158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A446A-B69C-7F3E-A0A9-CD9F555625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809E6C-C3AA-5BA3-E060-7DE74D86E1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0E65AAE-9216-4C21-F445-14AFAF66FE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5B99AC6-1F78-528A-B65C-221590CD1A83}"/>
              </a:ext>
            </a:extLst>
          </p:cNvPr>
          <p:cNvSpPr>
            <a:spLocks noGrp="1"/>
          </p:cNvSpPr>
          <p:nvPr>
            <p:ph type="dt" sz="half" idx="10"/>
          </p:nvPr>
        </p:nvSpPr>
        <p:spPr/>
        <p:txBody>
          <a:bodyPr/>
          <a:lstStyle/>
          <a:p>
            <a:fld id="{B815A2DB-D2E0-40F3-97A1-99890C85F44A}" type="datetimeFigureOut">
              <a:rPr lang="en-IN" smtClean="0"/>
              <a:t>10-01-2025</a:t>
            </a:fld>
            <a:endParaRPr lang="en-IN"/>
          </a:p>
        </p:txBody>
      </p:sp>
      <p:sp>
        <p:nvSpPr>
          <p:cNvPr id="6" name="Footer Placeholder 5">
            <a:extLst>
              <a:ext uri="{FF2B5EF4-FFF2-40B4-BE49-F238E27FC236}">
                <a16:creationId xmlns:a16="http://schemas.microsoft.com/office/drawing/2014/main" id="{18A7A9FA-22BF-514C-82EB-14B56F7BBF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3E29FA-F61A-85B9-B815-A5D11F9B46C0}"/>
              </a:ext>
            </a:extLst>
          </p:cNvPr>
          <p:cNvSpPr>
            <a:spLocks noGrp="1"/>
          </p:cNvSpPr>
          <p:nvPr>
            <p:ph type="sldNum" sz="quarter" idx="12"/>
          </p:nvPr>
        </p:nvSpPr>
        <p:spPr/>
        <p:txBody>
          <a:bodyPr/>
          <a:lstStyle/>
          <a:p>
            <a:fld id="{439DF1DD-C6BD-461E-9135-A983D412D26C}" type="slidenum">
              <a:rPr lang="en-IN" smtClean="0"/>
              <a:t>‹#›</a:t>
            </a:fld>
            <a:endParaRPr lang="en-IN"/>
          </a:p>
        </p:txBody>
      </p:sp>
    </p:spTree>
    <p:extLst>
      <p:ext uri="{BB962C8B-B14F-4D97-AF65-F5344CB8AC3E}">
        <p14:creationId xmlns:p14="http://schemas.microsoft.com/office/powerpoint/2010/main" val="1792255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6E5E3-5EE5-6F66-2D9B-1C82E2AADD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8FB648D-681F-BC24-ED91-C66AEB238B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C0C920-C652-012E-B14C-77F05EB71E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EDA564B-80D8-A2D5-BD8B-B4C4F36045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BF218C-EFF1-2916-7754-AAA8A44259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DFB5AFD-41C8-582F-EF49-BFC6939B0DEB}"/>
              </a:ext>
            </a:extLst>
          </p:cNvPr>
          <p:cNvSpPr>
            <a:spLocks noGrp="1"/>
          </p:cNvSpPr>
          <p:nvPr>
            <p:ph type="dt" sz="half" idx="10"/>
          </p:nvPr>
        </p:nvSpPr>
        <p:spPr/>
        <p:txBody>
          <a:bodyPr/>
          <a:lstStyle/>
          <a:p>
            <a:fld id="{B815A2DB-D2E0-40F3-97A1-99890C85F44A}" type="datetimeFigureOut">
              <a:rPr lang="en-IN" smtClean="0"/>
              <a:t>10-01-2025</a:t>
            </a:fld>
            <a:endParaRPr lang="en-IN"/>
          </a:p>
        </p:txBody>
      </p:sp>
      <p:sp>
        <p:nvSpPr>
          <p:cNvPr id="8" name="Footer Placeholder 7">
            <a:extLst>
              <a:ext uri="{FF2B5EF4-FFF2-40B4-BE49-F238E27FC236}">
                <a16:creationId xmlns:a16="http://schemas.microsoft.com/office/drawing/2014/main" id="{A051ABA8-7637-D61D-7D91-642AF8861F1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3C1FB62-2DDE-606F-BDC6-32D89F07E1CD}"/>
              </a:ext>
            </a:extLst>
          </p:cNvPr>
          <p:cNvSpPr>
            <a:spLocks noGrp="1"/>
          </p:cNvSpPr>
          <p:nvPr>
            <p:ph type="sldNum" sz="quarter" idx="12"/>
          </p:nvPr>
        </p:nvSpPr>
        <p:spPr/>
        <p:txBody>
          <a:bodyPr/>
          <a:lstStyle/>
          <a:p>
            <a:fld id="{439DF1DD-C6BD-461E-9135-A983D412D26C}" type="slidenum">
              <a:rPr lang="en-IN" smtClean="0"/>
              <a:t>‹#›</a:t>
            </a:fld>
            <a:endParaRPr lang="en-IN"/>
          </a:p>
        </p:txBody>
      </p:sp>
    </p:spTree>
    <p:extLst>
      <p:ext uri="{BB962C8B-B14F-4D97-AF65-F5344CB8AC3E}">
        <p14:creationId xmlns:p14="http://schemas.microsoft.com/office/powerpoint/2010/main" val="2132683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D04C0-1D65-2E30-4E65-4D305168692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9FD9D9B-8C39-0619-5CBC-A8A604EA2142}"/>
              </a:ext>
            </a:extLst>
          </p:cNvPr>
          <p:cNvSpPr>
            <a:spLocks noGrp="1"/>
          </p:cNvSpPr>
          <p:nvPr>
            <p:ph type="dt" sz="half" idx="10"/>
          </p:nvPr>
        </p:nvSpPr>
        <p:spPr/>
        <p:txBody>
          <a:bodyPr/>
          <a:lstStyle/>
          <a:p>
            <a:fld id="{B815A2DB-D2E0-40F3-97A1-99890C85F44A}" type="datetimeFigureOut">
              <a:rPr lang="en-IN" smtClean="0"/>
              <a:t>10-01-2025</a:t>
            </a:fld>
            <a:endParaRPr lang="en-IN"/>
          </a:p>
        </p:txBody>
      </p:sp>
      <p:sp>
        <p:nvSpPr>
          <p:cNvPr id="4" name="Footer Placeholder 3">
            <a:extLst>
              <a:ext uri="{FF2B5EF4-FFF2-40B4-BE49-F238E27FC236}">
                <a16:creationId xmlns:a16="http://schemas.microsoft.com/office/drawing/2014/main" id="{F3B13761-AB63-AE77-D9E9-7D32912AFB2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8B88E5E-4146-F027-6823-908CB291506F}"/>
              </a:ext>
            </a:extLst>
          </p:cNvPr>
          <p:cNvSpPr>
            <a:spLocks noGrp="1"/>
          </p:cNvSpPr>
          <p:nvPr>
            <p:ph type="sldNum" sz="quarter" idx="12"/>
          </p:nvPr>
        </p:nvSpPr>
        <p:spPr/>
        <p:txBody>
          <a:bodyPr/>
          <a:lstStyle/>
          <a:p>
            <a:fld id="{439DF1DD-C6BD-461E-9135-A983D412D26C}" type="slidenum">
              <a:rPr lang="en-IN" smtClean="0"/>
              <a:t>‹#›</a:t>
            </a:fld>
            <a:endParaRPr lang="en-IN"/>
          </a:p>
        </p:txBody>
      </p:sp>
    </p:spTree>
    <p:extLst>
      <p:ext uri="{BB962C8B-B14F-4D97-AF65-F5344CB8AC3E}">
        <p14:creationId xmlns:p14="http://schemas.microsoft.com/office/powerpoint/2010/main" val="1925875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B9DCFC-DA30-9245-1BA5-4B05284022CF}"/>
              </a:ext>
            </a:extLst>
          </p:cNvPr>
          <p:cNvSpPr>
            <a:spLocks noGrp="1"/>
          </p:cNvSpPr>
          <p:nvPr>
            <p:ph type="dt" sz="half" idx="10"/>
          </p:nvPr>
        </p:nvSpPr>
        <p:spPr/>
        <p:txBody>
          <a:bodyPr/>
          <a:lstStyle/>
          <a:p>
            <a:fld id="{B815A2DB-D2E0-40F3-97A1-99890C85F44A}" type="datetimeFigureOut">
              <a:rPr lang="en-IN" smtClean="0"/>
              <a:t>10-01-2025</a:t>
            </a:fld>
            <a:endParaRPr lang="en-IN"/>
          </a:p>
        </p:txBody>
      </p:sp>
      <p:sp>
        <p:nvSpPr>
          <p:cNvPr id="3" name="Footer Placeholder 2">
            <a:extLst>
              <a:ext uri="{FF2B5EF4-FFF2-40B4-BE49-F238E27FC236}">
                <a16:creationId xmlns:a16="http://schemas.microsoft.com/office/drawing/2014/main" id="{8659C2C7-22A1-9D0F-C316-F7AB727E023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C7E5316-5E60-91DC-BFC5-1518AA286D02}"/>
              </a:ext>
            </a:extLst>
          </p:cNvPr>
          <p:cNvSpPr>
            <a:spLocks noGrp="1"/>
          </p:cNvSpPr>
          <p:nvPr>
            <p:ph type="sldNum" sz="quarter" idx="12"/>
          </p:nvPr>
        </p:nvSpPr>
        <p:spPr/>
        <p:txBody>
          <a:bodyPr/>
          <a:lstStyle/>
          <a:p>
            <a:fld id="{439DF1DD-C6BD-461E-9135-A983D412D26C}" type="slidenum">
              <a:rPr lang="en-IN" smtClean="0"/>
              <a:t>‹#›</a:t>
            </a:fld>
            <a:endParaRPr lang="en-IN"/>
          </a:p>
        </p:txBody>
      </p:sp>
    </p:spTree>
    <p:extLst>
      <p:ext uri="{BB962C8B-B14F-4D97-AF65-F5344CB8AC3E}">
        <p14:creationId xmlns:p14="http://schemas.microsoft.com/office/powerpoint/2010/main" val="2002042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7D295-CD10-A8F0-7FE6-6E8C49CE04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6DF4B58-1148-E178-F987-6D2F44B3AB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C6F370E-1BB1-9F8E-4C40-A21FBD7641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8A7390-9ED4-8B56-3254-D784C2BADA85}"/>
              </a:ext>
            </a:extLst>
          </p:cNvPr>
          <p:cNvSpPr>
            <a:spLocks noGrp="1"/>
          </p:cNvSpPr>
          <p:nvPr>
            <p:ph type="dt" sz="half" idx="10"/>
          </p:nvPr>
        </p:nvSpPr>
        <p:spPr/>
        <p:txBody>
          <a:bodyPr/>
          <a:lstStyle/>
          <a:p>
            <a:fld id="{B815A2DB-D2E0-40F3-97A1-99890C85F44A}" type="datetimeFigureOut">
              <a:rPr lang="en-IN" smtClean="0"/>
              <a:t>10-01-2025</a:t>
            </a:fld>
            <a:endParaRPr lang="en-IN"/>
          </a:p>
        </p:txBody>
      </p:sp>
      <p:sp>
        <p:nvSpPr>
          <p:cNvPr id="6" name="Footer Placeholder 5">
            <a:extLst>
              <a:ext uri="{FF2B5EF4-FFF2-40B4-BE49-F238E27FC236}">
                <a16:creationId xmlns:a16="http://schemas.microsoft.com/office/drawing/2014/main" id="{70130BD9-CF8D-C904-7ED8-A8CCA03078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FF4606-AFDD-1DAF-7D85-B0F0F047ABF2}"/>
              </a:ext>
            </a:extLst>
          </p:cNvPr>
          <p:cNvSpPr>
            <a:spLocks noGrp="1"/>
          </p:cNvSpPr>
          <p:nvPr>
            <p:ph type="sldNum" sz="quarter" idx="12"/>
          </p:nvPr>
        </p:nvSpPr>
        <p:spPr/>
        <p:txBody>
          <a:bodyPr/>
          <a:lstStyle/>
          <a:p>
            <a:fld id="{439DF1DD-C6BD-461E-9135-A983D412D26C}" type="slidenum">
              <a:rPr lang="en-IN" smtClean="0"/>
              <a:t>‹#›</a:t>
            </a:fld>
            <a:endParaRPr lang="en-IN"/>
          </a:p>
        </p:txBody>
      </p:sp>
    </p:spTree>
    <p:extLst>
      <p:ext uri="{BB962C8B-B14F-4D97-AF65-F5344CB8AC3E}">
        <p14:creationId xmlns:p14="http://schemas.microsoft.com/office/powerpoint/2010/main" val="1471752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A3BED-12E0-55E5-5A8F-DB60C8C7C9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229BB16-6574-CC0B-BB2C-9D2EA544B3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9DF18E9-95F1-5D59-6FE6-D65CAA4A21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87C6F5-CC4A-1840-9A2F-25C711B78E68}"/>
              </a:ext>
            </a:extLst>
          </p:cNvPr>
          <p:cNvSpPr>
            <a:spLocks noGrp="1"/>
          </p:cNvSpPr>
          <p:nvPr>
            <p:ph type="dt" sz="half" idx="10"/>
          </p:nvPr>
        </p:nvSpPr>
        <p:spPr/>
        <p:txBody>
          <a:bodyPr/>
          <a:lstStyle/>
          <a:p>
            <a:fld id="{B815A2DB-D2E0-40F3-97A1-99890C85F44A}" type="datetimeFigureOut">
              <a:rPr lang="en-IN" smtClean="0"/>
              <a:t>10-01-2025</a:t>
            </a:fld>
            <a:endParaRPr lang="en-IN"/>
          </a:p>
        </p:txBody>
      </p:sp>
      <p:sp>
        <p:nvSpPr>
          <p:cNvPr id="6" name="Footer Placeholder 5">
            <a:extLst>
              <a:ext uri="{FF2B5EF4-FFF2-40B4-BE49-F238E27FC236}">
                <a16:creationId xmlns:a16="http://schemas.microsoft.com/office/drawing/2014/main" id="{3159DB1D-2A2B-473F-F7EF-81391E6BD9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242D2E-966E-93C6-7318-7BC8415E9414}"/>
              </a:ext>
            </a:extLst>
          </p:cNvPr>
          <p:cNvSpPr>
            <a:spLocks noGrp="1"/>
          </p:cNvSpPr>
          <p:nvPr>
            <p:ph type="sldNum" sz="quarter" idx="12"/>
          </p:nvPr>
        </p:nvSpPr>
        <p:spPr/>
        <p:txBody>
          <a:bodyPr/>
          <a:lstStyle/>
          <a:p>
            <a:fld id="{439DF1DD-C6BD-461E-9135-A983D412D26C}" type="slidenum">
              <a:rPr lang="en-IN" smtClean="0"/>
              <a:t>‹#›</a:t>
            </a:fld>
            <a:endParaRPr lang="en-IN"/>
          </a:p>
        </p:txBody>
      </p:sp>
    </p:spTree>
    <p:extLst>
      <p:ext uri="{BB962C8B-B14F-4D97-AF65-F5344CB8AC3E}">
        <p14:creationId xmlns:p14="http://schemas.microsoft.com/office/powerpoint/2010/main" val="326297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76BA3-AED6-BA34-C43D-29088E6E160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ED79E4-2E9E-3CBC-E929-3AA2E23174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A8A1B9-7DC4-4FE1-1690-75AD495CC31A}"/>
              </a:ext>
            </a:extLst>
          </p:cNvPr>
          <p:cNvSpPr>
            <a:spLocks noGrp="1"/>
          </p:cNvSpPr>
          <p:nvPr>
            <p:ph type="dt" sz="half" idx="10"/>
          </p:nvPr>
        </p:nvSpPr>
        <p:spPr/>
        <p:txBody>
          <a:bodyPr/>
          <a:lstStyle/>
          <a:p>
            <a:fld id="{B815A2DB-D2E0-40F3-97A1-99890C85F44A}" type="datetimeFigureOut">
              <a:rPr lang="en-IN" smtClean="0"/>
              <a:t>10-01-2025</a:t>
            </a:fld>
            <a:endParaRPr lang="en-IN"/>
          </a:p>
        </p:txBody>
      </p:sp>
      <p:sp>
        <p:nvSpPr>
          <p:cNvPr id="5" name="Footer Placeholder 4">
            <a:extLst>
              <a:ext uri="{FF2B5EF4-FFF2-40B4-BE49-F238E27FC236}">
                <a16:creationId xmlns:a16="http://schemas.microsoft.com/office/drawing/2014/main" id="{FE24334C-6B69-C1C1-EEDB-73791243F2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099242-A1F4-FB4F-81A6-558F3E3F8938}"/>
              </a:ext>
            </a:extLst>
          </p:cNvPr>
          <p:cNvSpPr>
            <a:spLocks noGrp="1"/>
          </p:cNvSpPr>
          <p:nvPr>
            <p:ph type="sldNum" sz="quarter" idx="12"/>
          </p:nvPr>
        </p:nvSpPr>
        <p:spPr/>
        <p:txBody>
          <a:bodyPr/>
          <a:lstStyle/>
          <a:p>
            <a:fld id="{439DF1DD-C6BD-461E-9135-A983D412D26C}" type="slidenum">
              <a:rPr lang="en-IN" smtClean="0"/>
              <a:t>‹#›</a:t>
            </a:fld>
            <a:endParaRPr lang="en-IN"/>
          </a:p>
        </p:txBody>
      </p:sp>
    </p:spTree>
    <p:extLst>
      <p:ext uri="{BB962C8B-B14F-4D97-AF65-F5344CB8AC3E}">
        <p14:creationId xmlns:p14="http://schemas.microsoft.com/office/powerpoint/2010/main" val="2809870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69FD8B-9968-1CC7-6A17-7A8C7512CE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C7A347-FF11-6A81-EDF9-F4597A8FF0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DF575A-7112-1056-53FF-395A91C22A20}"/>
              </a:ext>
            </a:extLst>
          </p:cNvPr>
          <p:cNvSpPr>
            <a:spLocks noGrp="1"/>
          </p:cNvSpPr>
          <p:nvPr>
            <p:ph type="dt" sz="half" idx="10"/>
          </p:nvPr>
        </p:nvSpPr>
        <p:spPr/>
        <p:txBody>
          <a:bodyPr/>
          <a:lstStyle/>
          <a:p>
            <a:fld id="{B815A2DB-D2E0-40F3-97A1-99890C85F44A}" type="datetimeFigureOut">
              <a:rPr lang="en-IN" smtClean="0"/>
              <a:t>10-01-2025</a:t>
            </a:fld>
            <a:endParaRPr lang="en-IN"/>
          </a:p>
        </p:txBody>
      </p:sp>
      <p:sp>
        <p:nvSpPr>
          <p:cNvPr id="5" name="Footer Placeholder 4">
            <a:extLst>
              <a:ext uri="{FF2B5EF4-FFF2-40B4-BE49-F238E27FC236}">
                <a16:creationId xmlns:a16="http://schemas.microsoft.com/office/drawing/2014/main" id="{C8024624-0A64-B56C-9DE5-5DD46A58A7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AE8670-7EBC-24B9-F326-0AED8108FB6E}"/>
              </a:ext>
            </a:extLst>
          </p:cNvPr>
          <p:cNvSpPr>
            <a:spLocks noGrp="1"/>
          </p:cNvSpPr>
          <p:nvPr>
            <p:ph type="sldNum" sz="quarter" idx="12"/>
          </p:nvPr>
        </p:nvSpPr>
        <p:spPr/>
        <p:txBody>
          <a:bodyPr/>
          <a:lstStyle/>
          <a:p>
            <a:fld id="{439DF1DD-C6BD-461E-9135-A983D412D26C}" type="slidenum">
              <a:rPr lang="en-IN" smtClean="0"/>
              <a:t>‹#›</a:t>
            </a:fld>
            <a:endParaRPr lang="en-IN"/>
          </a:p>
        </p:txBody>
      </p:sp>
    </p:spTree>
    <p:extLst>
      <p:ext uri="{BB962C8B-B14F-4D97-AF65-F5344CB8AC3E}">
        <p14:creationId xmlns:p14="http://schemas.microsoft.com/office/powerpoint/2010/main" val="327726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907452" y="1348840"/>
            <a:ext cx="6377093" cy="609398"/>
          </a:xfrm>
          <a:prstGeom prst="rect">
            <a:avLst/>
          </a:prstGeom>
        </p:spPr>
        <p:txBody>
          <a:bodyPr wrap="square" lIns="0" tIns="0" rIns="0" bIns="0">
            <a:spAutoFit/>
          </a:bodyPr>
          <a:lstStyle>
            <a:lvl1pPr>
              <a:defRPr sz="4400" b="0" i="0">
                <a:solidFill>
                  <a:srgbClr val="0000CC"/>
                </a:solidFill>
                <a:latin typeface="Arial MT"/>
                <a:cs typeface="Arial MT"/>
              </a:defRPr>
            </a:lvl1pPr>
          </a:lstStyle>
          <a:p>
            <a:endParaRPr/>
          </a:p>
        </p:txBody>
      </p:sp>
      <p:sp>
        <p:nvSpPr>
          <p:cNvPr id="3" name="Holder 3"/>
          <p:cNvSpPr>
            <a:spLocks noGrp="1"/>
          </p:cNvSpPr>
          <p:nvPr>
            <p:ph type="subTitle" idx="4"/>
          </p:nvPr>
        </p:nvSpPr>
        <p:spPr>
          <a:xfrm>
            <a:off x="1828800" y="3840480"/>
            <a:ext cx="8534400" cy="387798"/>
          </a:xfrm>
          <a:prstGeom prst="rect">
            <a:avLst/>
          </a:prstGeom>
        </p:spPr>
        <p:txBody>
          <a:bodyPr wrap="square" lIns="0" tIns="0" rIns="0" bIns="0">
            <a:spAutoFit/>
          </a:bodyPr>
          <a:lstStyle>
            <a:lvl1pPr>
              <a:defRPr sz="2800" b="0" i="0">
                <a:solidFill>
                  <a:srgbClr val="0000CC"/>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1/10/2025</a:t>
            </a:fld>
            <a:endParaRPr lang="en-US"/>
          </a:p>
        </p:txBody>
      </p:sp>
      <p:sp>
        <p:nvSpPr>
          <p:cNvPr id="6" name="Holder 6"/>
          <p:cNvSpPr>
            <a:spLocks noGrp="1"/>
          </p:cNvSpPr>
          <p:nvPr>
            <p:ph type="sldNum" sz="quarter" idx="7"/>
          </p:nvPr>
        </p:nvSpPr>
        <p:spPr/>
        <p:txBody>
          <a:bodyPr lIns="0" tIns="0" rIns="0" bIns="0"/>
          <a:lstStyle>
            <a:lvl1pPr>
              <a:defRPr sz="1400" b="0" i="0">
                <a:solidFill>
                  <a:srgbClr val="7F7F7F"/>
                </a:solidFill>
                <a:latin typeface="Arial MT"/>
                <a:cs typeface="Arial MT"/>
              </a:defRPr>
            </a:lvl1pPr>
          </a:lstStyle>
          <a:p>
            <a:pPr marL="269875">
              <a:lnSpc>
                <a:spcPts val="1645"/>
              </a:lnSpc>
            </a:pPr>
            <a:fld id="{81D60167-4931-47E6-BA6A-407CBD079E47}" type="slidenum">
              <a:rPr lang="en-IN" spc="-50" smtClean="0"/>
              <a:pPr marL="269875">
                <a:lnSpc>
                  <a:spcPts val="1645"/>
                </a:lnSpc>
              </a:pPr>
              <a:t>‹#›</a:t>
            </a:fld>
            <a:endParaRPr lang="en-IN" spc="-50" dirty="0"/>
          </a:p>
        </p:txBody>
      </p:sp>
    </p:spTree>
    <p:extLst>
      <p:ext uri="{BB962C8B-B14F-4D97-AF65-F5344CB8AC3E}">
        <p14:creationId xmlns:p14="http://schemas.microsoft.com/office/powerpoint/2010/main" val="36940385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907452" y="1305559"/>
            <a:ext cx="6377093" cy="695960"/>
          </a:xfrm>
          <a:prstGeom prst="rect">
            <a:avLst/>
          </a:prstGeom>
        </p:spPr>
        <p:txBody>
          <a:bodyPr wrap="square" lIns="0" tIns="0" rIns="0" bIns="0">
            <a:spAutoFit/>
          </a:bodyPr>
          <a:lstStyle>
            <a:lvl1pPr>
              <a:defRPr sz="4400" b="0" i="0">
                <a:solidFill>
                  <a:srgbClr val="0000CC"/>
                </a:solidFill>
                <a:latin typeface="Arial MT"/>
                <a:cs typeface="Arial MT"/>
              </a:defRPr>
            </a:lvl1pPr>
          </a:lstStyle>
          <a:p>
            <a:endParaRPr/>
          </a:p>
        </p:txBody>
      </p:sp>
      <p:sp>
        <p:nvSpPr>
          <p:cNvPr id="3" name="Holder 3"/>
          <p:cNvSpPr>
            <a:spLocks noGrp="1"/>
          </p:cNvSpPr>
          <p:nvPr>
            <p:ph type="subTitle" idx="4"/>
          </p:nvPr>
        </p:nvSpPr>
        <p:spPr>
          <a:xfrm>
            <a:off x="1828800" y="3840480"/>
            <a:ext cx="8534400" cy="430887"/>
          </a:xfrm>
          <a:prstGeom prst="rect">
            <a:avLst/>
          </a:prstGeom>
        </p:spPr>
        <p:txBody>
          <a:bodyPr wrap="square" lIns="0" tIns="0" rIns="0" bIns="0">
            <a:spAutoFit/>
          </a:bodyPr>
          <a:lstStyle>
            <a:lvl1pPr>
              <a:defRPr sz="2800" b="0" i="0">
                <a:solidFill>
                  <a:srgbClr val="0000CC"/>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1/10/2025</a:t>
            </a:fld>
            <a:endParaRPr lang="en-US"/>
          </a:p>
        </p:txBody>
      </p:sp>
      <p:sp>
        <p:nvSpPr>
          <p:cNvPr id="6" name="Holder 6"/>
          <p:cNvSpPr>
            <a:spLocks noGrp="1"/>
          </p:cNvSpPr>
          <p:nvPr>
            <p:ph type="sldNum" sz="quarter" idx="7"/>
          </p:nvPr>
        </p:nvSpPr>
        <p:spPr/>
        <p:txBody>
          <a:bodyPr lIns="0" tIns="0" rIns="0" bIns="0"/>
          <a:lstStyle>
            <a:lvl1pPr>
              <a:defRPr sz="1400" b="0" i="0">
                <a:solidFill>
                  <a:srgbClr val="7F7F7F"/>
                </a:solidFill>
                <a:latin typeface="Arial MT"/>
                <a:cs typeface="Arial MT"/>
              </a:defRPr>
            </a:lvl1pPr>
          </a:lstStyle>
          <a:p>
            <a:pPr marL="269875">
              <a:lnSpc>
                <a:spcPts val="1645"/>
              </a:lnSpc>
            </a:pPr>
            <a:fld id="{81D60167-4931-47E6-BA6A-407CBD079E47}" type="slidenum">
              <a:rPr lang="en-IN" spc="-50" smtClean="0"/>
              <a:pPr marL="269875">
                <a:lnSpc>
                  <a:spcPts val="1645"/>
                </a:lnSpc>
              </a:pPr>
              <a:t>‹#›</a:t>
            </a:fld>
            <a:endParaRPr lang="en-IN" spc="-50" dirty="0"/>
          </a:p>
        </p:txBody>
      </p:sp>
    </p:spTree>
    <p:extLst>
      <p:ext uri="{BB962C8B-B14F-4D97-AF65-F5344CB8AC3E}">
        <p14:creationId xmlns:p14="http://schemas.microsoft.com/office/powerpoint/2010/main" val="19511698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0000CC"/>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2800" b="0" i="0">
                <a:solidFill>
                  <a:srgbClr val="0000CC"/>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1/10/2025</a:t>
            </a:fld>
            <a:endParaRPr lang="en-US"/>
          </a:p>
        </p:txBody>
      </p:sp>
      <p:sp>
        <p:nvSpPr>
          <p:cNvPr id="6" name="Holder 6"/>
          <p:cNvSpPr>
            <a:spLocks noGrp="1"/>
          </p:cNvSpPr>
          <p:nvPr>
            <p:ph type="sldNum" sz="quarter" idx="7"/>
          </p:nvPr>
        </p:nvSpPr>
        <p:spPr/>
        <p:txBody>
          <a:bodyPr lIns="0" tIns="0" rIns="0" bIns="0"/>
          <a:lstStyle>
            <a:lvl1pPr>
              <a:defRPr sz="1400" b="0" i="0">
                <a:solidFill>
                  <a:srgbClr val="7F7F7F"/>
                </a:solidFill>
                <a:latin typeface="Arial MT"/>
                <a:cs typeface="Arial MT"/>
              </a:defRPr>
            </a:lvl1pPr>
          </a:lstStyle>
          <a:p>
            <a:pPr marL="269875">
              <a:lnSpc>
                <a:spcPts val="1645"/>
              </a:lnSpc>
            </a:pPr>
            <a:fld id="{81D60167-4931-47E6-BA6A-407CBD079E47}" type="slidenum">
              <a:rPr lang="en-IN" spc="-50" smtClean="0"/>
              <a:pPr marL="269875">
                <a:lnSpc>
                  <a:spcPts val="1645"/>
                </a:lnSpc>
              </a:pPr>
              <a:t>‹#›</a:t>
            </a:fld>
            <a:endParaRPr lang="en-IN" spc="-50" dirty="0"/>
          </a:p>
        </p:txBody>
      </p:sp>
    </p:spTree>
    <p:extLst>
      <p:ext uri="{BB962C8B-B14F-4D97-AF65-F5344CB8AC3E}">
        <p14:creationId xmlns:p14="http://schemas.microsoft.com/office/powerpoint/2010/main" val="19215548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0000CC"/>
                </a:solidFill>
                <a:latin typeface="Arial MT"/>
                <a:cs typeface="Arial MT"/>
              </a:defRPr>
            </a:lvl1pPr>
          </a:lstStyle>
          <a:p>
            <a:endParaRPr/>
          </a:p>
        </p:txBody>
      </p:sp>
      <p:sp>
        <p:nvSpPr>
          <p:cNvPr id="3" name="Holder 3"/>
          <p:cNvSpPr>
            <a:spLocks noGrp="1"/>
          </p:cNvSpPr>
          <p:nvPr>
            <p:ph sz="half" idx="2"/>
          </p:nvPr>
        </p:nvSpPr>
        <p:spPr>
          <a:xfrm>
            <a:off x="609600" y="1577340"/>
            <a:ext cx="5303520" cy="43088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3088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1/10/2025</a:t>
            </a:fld>
            <a:endParaRPr lang="en-US"/>
          </a:p>
        </p:txBody>
      </p:sp>
      <p:sp>
        <p:nvSpPr>
          <p:cNvPr id="7" name="Holder 7"/>
          <p:cNvSpPr>
            <a:spLocks noGrp="1"/>
          </p:cNvSpPr>
          <p:nvPr>
            <p:ph type="sldNum" sz="quarter" idx="7"/>
          </p:nvPr>
        </p:nvSpPr>
        <p:spPr/>
        <p:txBody>
          <a:bodyPr lIns="0" tIns="0" rIns="0" bIns="0"/>
          <a:lstStyle>
            <a:lvl1pPr>
              <a:defRPr sz="1400" b="0" i="0">
                <a:solidFill>
                  <a:srgbClr val="7F7F7F"/>
                </a:solidFill>
                <a:latin typeface="Arial MT"/>
                <a:cs typeface="Arial MT"/>
              </a:defRPr>
            </a:lvl1pPr>
          </a:lstStyle>
          <a:p>
            <a:pPr marL="269875">
              <a:lnSpc>
                <a:spcPts val="1645"/>
              </a:lnSpc>
            </a:pPr>
            <a:fld id="{81D60167-4931-47E6-BA6A-407CBD079E47}" type="slidenum">
              <a:rPr lang="en-IN" spc="-50" smtClean="0"/>
              <a:pPr marL="269875">
                <a:lnSpc>
                  <a:spcPts val="1645"/>
                </a:lnSpc>
              </a:pPr>
              <a:t>‹#›</a:t>
            </a:fld>
            <a:endParaRPr lang="en-IN" spc="-50" dirty="0"/>
          </a:p>
        </p:txBody>
      </p:sp>
    </p:spTree>
    <p:extLst>
      <p:ext uri="{BB962C8B-B14F-4D97-AF65-F5344CB8AC3E}">
        <p14:creationId xmlns:p14="http://schemas.microsoft.com/office/powerpoint/2010/main" val="27596156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0000CC"/>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1/10/2025</a:t>
            </a:fld>
            <a:endParaRPr lang="en-US"/>
          </a:p>
        </p:txBody>
      </p:sp>
      <p:sp>
        <p:nvSpPr>
          <p:cNvPr id="5" name="Holder 5"/>
          <p:cNvSpPr>
            <a:spLocks noGrp="1"/>
          </p:cNvSpPr>
          <p:nvPr>
            <p:ph type="sldNum" sz="quarter" idx="7"/>
          </p:nvPr>
        </p:nvSpPr>
        <p:spPr/>
        <p:txBody>
          <a:bodyPr lIns="0" tIns="0" rIns="0" bIns="0"/>
          <a:lstStyle>
            <a:lvl1pPr>
              <a:defRPr sz="1400" b="0" i="0">
                <a:solidFill>
                  <a:srgbClr val="7F7F7F"/>
                </a:solidFill>
                <a:latin typeface="Arial MT"/>
                <a:cs typeface="Arial MT"/>
              </a:defRPr>
            </a:lvl1pPr>
          </a:lstStyle>
          <a:p>
            <a:pPr marL="269875">
              <a:lnSpc>
                <a:spcPts val="1645"/>
              </a:lnSpc>
            </a:pPr>
            <a:fld id="{81D60167-4931-47E6-BA6A-407CBD079E47}" type="slidenum">
              <a:rPr lang="en-IN" spc="-50" smtClean="0"/>
              <a:pPr marL="269875">
                <a:lnSpc>
                  <a:spcPts val="1645"/>
                </a:lnSpc>
              </a:pPr>
              <a:t>‹#›</a:t>
            </a:fld>
            <a:endParaRPr lang="en-IN" spc="-50" dirty="0"/>
          </a:p>
        </p:txBody>
      </p:sp>
    </p:spTree>
    <p:extLst>
      <p:ext uri="{BB962C8B-B14F-4D97-AF65-F5344CB8AC3E}">
        <p14:creationId xmlns:p14="http://schemas.microsoft.com/office/powerpoint/2010/main" val="36470124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1/10/2025</a:t>
            </a:fld>
            <a:endParaRPr lang="en-US"/>
          </a:p>
        </p:txBody>
      </p:sp>
      <p:sp>
        <p:nvSpPr>
          <p:cNvPr id="4" name="Holder 4"/>
          <p:cNvSpPr>
            <a:spLocks noGrp="1"/>
          </p:cNvSpPr>
          <p:nvPr>
            <p:ph type="sldNum" sz="quarter" idx="7"/>
          </p:nvPr>
        </p:nvSpPr>
        <p:spPr/>
        <p:txBody>
          <a:bodyPr lIns="0" tIns="0" rIns="0" bIns="0"/>
          <a:lstStyle>
            <a:lvl1pPr>
              <a:defRPr sz="1400" b="0" i="0">
                <a:solidFill>
                  <a:srgbClr val="7F7F7F"/>
                </a:solidFill>
                <a:latin typeface="Arial MT"/>
                <a:cs typeface="Arial MT"/>
              </a:defRPr>
            </a:lvl1pPr>
          </a:lstStyle>
          <a:p>
            <a:pPr marL="269875">
              <a:lnSpc>
                <a:spcPts val="1645"/>
              </a:lnSpc>
            </a:pPr>
            <a:fld id="{81D60167-4931-47E6-BA6A-407CBD079E47}" type="slidenum">
              <a:rPr lang="en-IN" spc="-50" smtClean="0"/>
              <a:pPr marL="269875">
                <a:lnSpc>
                  <a:spcPts val="1645"/>
                </a:lnSpc>
              </a:pPr>
              <a:t>‹#›</a:t>
            </a:fld>
            <a:endParaRPr lang="en-IN" spc="-50" dirty="0"/>
          </a:p>
        </p:txBody>
      </p:sp>
    </p:spTree>
    <p:extLst>
      <p:ext uri="{BB962C8B-B14F-4D97-AF65-F5344CB8AC3E}">
        <p14:creationId xmlns:p14="http://schemas.microsoft.com/office/powerpoint/2010/main" val="24836527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1_Blank">
    <p:spTree>
      <p:nvGrpSpPr>
        <p:cNvPr id="1" name="Shape 21"/>
        <p:cNvGrpSpPr/>
        <p:nvPr/>
      </p:nvGrpSpPr>
      <p:grpSpPr>
        <a:xfrm>
          <a:off x="0" y="0"/>
          <a:ext cx="0" cy="0"/>
          <a:chOff x="0" y="0"/>
          <a:chExt cx="0" cy="0"/>
        </a:xfrm>
      </p:grpSpPr>
      <p:sp>
        <p:nvSpPr>
          <p:cNvPr id="22" name="Google Shape;22;p35"/>
          <p:cNvSpPr txBox="1">
            <a:spLocks noGrp="1"/>
          </p:cNvSpPr>
          <p:nvPr>
            <p:ph type="sldNum" idx="12"/>
          </p:nvPr>
        </p:nvSpPr>
        <p:spPr>
          <a:xfrm>
            <a:off x="10648950" y="6356350"/>
            <a:ext cx="704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1"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1"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1"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1"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1"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1"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1"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1"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1"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96645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15.xml"/><Relationship Id="rId7"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6DDFDE-3543-CA85-B148-23A9A9D108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9466C2-6EAC-FDBD-2ABF-6ABA0D01BB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D82182-B5B7-18FC-DDD2-35F3308332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15A2DB-D2E0-40F3-97A1-99890C85F44A}" type="datetimeFigureOut">
              <a:rPr lang="en-IN" smtClean="0"/>
              <a:t>10-01-2025</a:t>
            </a:fld>
            <a:endParaRPr lang="en-IN"/>
          </a:p>
        </p:txBody>
      </p:sp>
      <p:sp>
        <p:nvSpPr>
          <p:cNvPr id="5" name="Footer Placeholder 4">
            <a:extLst>
              <a:ext uri="{FF2B5EF4-FFF2-40B4-BE49-F238E27FC236}">
                <a16:creationId xmlns:a16="http://schemas.microsoft.com/office/drawing/2014/main" id="{61238774-DD04-84AB-D7AD-6D754CA3FD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0F6F998-7F48-3B1D-0956-3FA2C370D4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9DF1DD-C6BD-461E-9135-A983D412D26C}" type="slidenum">
              <a:rPr lang="en-IN" smtClean="0"/>
              <a:t>‹#›</a:t>
            </a:fld>
            <a:endParaRPr lang="en-IN"/>
          </a:p>
        </p:txBody>
      </p:sp>
    </p:spTree>
    <p:extLst>
      <p:ext uri="{BB962C8B-B14F-4D97-AF65-F5344CB8AC3E}">
        <p14:creationId xmlns:p14="http://schemas.microsoft.com/office/powerpoint/2010/main" val="2731896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0" y="6475729"/>
            <a:ext cx="863600" cy="382270"/>
          </a:xfrm>
          <a:prstGeom prst="rect">
            <a:avLst/>
          </a:prstGeom>
        </p:spPr>
      </p:pic>
      <p:sp>
        <p:nvSpPr>
          <p:cNvPr id="2" name="Holder 2"/>
          <p:cNvSpPr>
            <a:spLocks noGrp="1"/>
          </p:cNvSpPr>
          <p:nvPr>
            <p:ph type="title"/>
          </p:nvPr>
        </p:nvSpPr>
        <p:spPr>
          <a:xfrm>
            <a:off x="1354667" y="497840"/>
            <a:ext cx="9475045" cy="695960"/>
          </a:xfrm>
          <a:prstGeom prst="rect">
            <a:avLst/>
          </a:prstGeom>
        </p:spPr>
        <p:txBody>
          <a:bodyPr wrap="square" lIns="0" tIns="0" rIns="0" bIns="0">
            <a:spAutoFit/>
          </a:bodyPr>
          <a:lstStyle>
            <a:lvl1pPr>
              <a:defRPr sz="4400" b="0" i="0">
                <a:solidFill>
                  <a:srgbClr val="0000CC"/>
                </a:solidFill>
                <a:latin typeface="Arial MT"/>
                <a:cs typeface="Arial MT"/>
              </a:defRPr>
            </a:lvl1pPr>
          </a:lstStyle>
          <a:p>
            <a:endParaRPr/>
          </a:p>
        </p:txBody>
      </p:sp>
      <p:sp>
        <p:nvSpPr>
          <p:cNvPr id="3" name="Holder 3"/>
          <p:cNvSpPr>
            <a:spLocks noGrp="1"/>
          </p:cNvSpPr>
          <p:nvPr>
            <p:ph type="body" idx="1"/>
          </p:nvPr>
        </p:nvSpPr>
        <p:spPr>
          <a:xfrm>
            <a:off x="714587" y="1544109"/>
            <a:ext cx="10073640" cy="430887"/>
          </a:xfrm>
          <a:prstGeom prst="rect">
            <a:avLst/>
          </a:prstGeom>
        </p:spPr>
        <p:txBody>
          <a:bodyPr wrap="square" lIns="0" tIns="0" rIns="0" bIns="0">
            <a:spAutoFit/>
          </a:bodyPr>
          <a:lstStyle>
            <a:lvl1pPr>
              <a:defRPr sz="2800" b="0" i="0">
                <a:solidFill>
                  <a:srgbClr val="0000CC"/>
                </a:solidFill>
                <a:latin typeface="Arial MT"/>
                <a:cs typeface="Arial MT"/>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1/10/2025</a:t>
            </a:fld>
            <a:endParaRPr lang="en-US"/>
          </a:p>
        </p:txBody>
      </p:sp>
      <p:sp>
        <p:nvSpPr>
          <p:cNvPr id="6" name="Holder 6"/>
          <p:cNvSpPr>
            <a:spLocks noGrp="1"/>
          </p:cNvSpPr>
          <p:nvPr>
            <p:ph type="sldNum" sz="quarter" idx="7"/>
          </p:nvPr>
        </p:nvSpPr>
        <p:spPr>
          <a:xfrm>
            <a:off x="11579012" y="6604333"/>
            <a:ext cx="560493" cy="205184"/>
          </a:xfrm>
          <a:prstGeom prst="rect">
            <a:avLst/>
          </a:prstGeom>
        </p:spPr>
        <p:txBody>
          <a:bodyPr wrap="square" lIns="0" tIns="0" rIns="0" bIns="0">
            <a:spAutoFit/>
          </a:bodyPr>
          <a:lstStyle>
            <a:lvl1pPr>
              <a:defRPr sz="1400" b="0" i="0">
                <a:solidFill>
                  <a:srgbClr val="7F7F7F"/>
                </a:solidFill>
                <a:latin typeface="Arial MT"/>
                <a:cs typeface="Arial MT"/>
              </a:defRPr>
            </a:lvl1pPr>
          </a:lstStyle>
          <a:p>
            <a:pPr marL="269875">
              <a:lnSpc>
                <a:spcPts val="1645"/>
              </a:lnSpc>
            </a:pPr>
            <a:fld id="{81D60167-4931-47E6-BA6A-407CBD079E47}" type="slidenum">
              <a:rPr lang="en-IN" spc="-50" smtClean="0"/>
              <a:pPr marL="269875">
                <a:lnSpc>
                  <a:spcPts val="1645"/>
                </a:lnSpc>
              </a:pPr>
              <a:t>‹#›</a:t>
            </a:fld>
            <a:endParaRPr lang="en-IN" spc="-50" dirty="0"/>
          </a:p>
        </p:txBody>
      </p:sp>
    </p:spTree>
    <p:extLst>
      <p:ext uri="{BB962C8B-B14F-4D97-AF65-F5344CB8AC3E}">
        <p14:creationId xmlns:p14="http://schemas.microsoft.com/office/powerpoint/2010/main" val="33629852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4.xml"/><Relationship Id="rId5" Type="http://schemas.openxmlformats.org/officeDocument/2006/relationships/image" Target="../media/image10.jpg"/><Relationship Id="rId4" Type="http://schemas.openxmlformats.org/officeDocument/2006/relationships/image" Target="../media/image9.jpg"/></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1F308-2CFE-8C90-8CFD-8AB3D1006FD6}"/>
              </a:ext>
            </a:extLst>
          </p:cNvPr>
          <p:cNvSpPr>
            <a:spLocks noGrp="1"/>
          </p:cNvSpPr>
          <p:nvPr>
            <p:ph type="ctrTitle"/>
          </p:nvPr>
        </p:nvSpPr>
        <p:spPr/>
        <p:txBody>
          <a:bodyPr/>
          <a:lstStyle/>
          <a:p>
            <a:r>
              <a:rPr lang="en-US" sz="6000" b="1" i="0" u="none" strike="noStrike" cap="none">
                <a:solidFill>
                  <a:srgbClr val="C00000"/>
                </a:solidFill>
                <a:latin typeface="Calibri"/>
                <a:ea typeface="Calibri"/>
                <a:cs typeface="Calibri"/>
                <a:sym typeface="Calibri"/>
              </a:rPr>
              <a:t>Operating System</a:t>
            </a:r>
            <a:endParaRPr lang="en-IN"/>
          </a:p>
        </p:txBody>
      </p:sp>
      <p:sp>
        <p:nvSpPr>
          <p:cNvPr id="3" name="Subtitle 2">
            <a:extLst>
              <a:ext uri="{FF2B5EF4-FFF2-40B4-BE49-F238E27FC236}">
                <a16:creationId xmlns:a16="http://schemas.microsoft.com/office/drawing/2014/main" id="{4092708B-6A6A-299F-97A2-6CD775D99AC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055464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
          <p:cNvSpPr txBox="1">
            <a:spLocks noGrp="1"/>
          </p:cNvSpPr>
          <p:nvPr>
            <p:ph type="title" idx="4294967295"/>
          </p:nvPr>
        </p:nvSpPr>
        <p:spPr>
          <a:xfrm>
            <a:off x="520700" y="347662"/>
            <a:ext cx="9050683" cy="5762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C00000"/>
              </a:buClr>
              <a:buSzPts val="4400"/>
              <a:buFont typeface="Calibri"/>
              <a:buNone/>
            </a:pPr>
            <a:r>
              <a:rPr lang="en-US" sz="4400" b="1" i="0" u="none" strike="noStrike" cap="none" dirty="0">
                <a:solidFill>
                  <a:srgbClr val="C00000"/>
                </a:solidFill>
                <a:latin typeface="Calibri"/>
                <a:ea typeface="Calibri"/>
                <a:cs typeface="Calibri"/>
                <a:sym typeface="Calibri"/>
              </a:rPr>
              <a:t>What is an Operating System?</a:t>
            </a:r>
            <a:endParaRPr dirty="0"/>
          </a:p>
        </p:txBody>
      </p:sp>
      <p:sp>
        <p:nvSpPr>
          <p:cNvPr id="154" name="Google Shape;154;p2"/>
          <p:cNvSpPr txBox="1">
            <a:spLocks noGrp="1"/>
          </p:cNvSpPr>
          <p:nvPr>
            <p:ph type="body" idx="4294967295"/>
          </p:nvPr>
        </p:nvSpPr>
        <p:spPr>
          <a:xfrm>
            <a:off x="684212" y="1085849"/>
            <a:ext cx="10933112" cy="5603185"/>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100000"/>
              </a:lnSpc>
              <a:spcBef>
                <a:spcPts val="0"/>
              </a:spcBef>
              <a:spcAft>
                <a:spcPts val="600"/>
              </a:spcAft>
              <a:buClr>
                <a:schemeClr val="dk1"/>
              </a:buClr>
              <a:buSzPts val="3200"/>
              <a:buFont typeface="Arial"/>
              <a:buChar char="•"/>
            </a:pPr>
            <a:r>
              <a:rPr lang="en-US" b="0" i="0" u="none" strike="noStrike" cap="none" dirty="0">
                <a:solidFill>
                  <a:schemeClr val="dk1"/>
                </a:solidFill>
                <a:latin typeface="Arial" panose="020B0604020202020204" pitchFamily="34" charset="0"/>
                <a:ea typeface="Calibri"/>
                <a:cs typeface="Arial" panose="020B0604020202020204" pitchFamily="34" charset="0"/>
                <a:sym typeface="Calibri"/>
              </a:rPr>
              <a:t>A program that acts as an intermediary between a computer user and the computer hardware.</a:t>
            </a:r>
            <a:endParaRPr sz="2400" dirty="0">
              <a:latin typeface="Arial" panose="020B0604020202020204" pitchFamily="34" charset="0"/>
              <a:cs typeface="Arial" panose="020B0604020202020204" pitchFamily="34" charset="0"/>
            </a:endParaRPr>
          </a:p>
          <a:p>
            <a:pPr marL="228600" marR="0" lvl="0" indent="-228600" algn="just" rtl="0">
              <a:lnSpc>
                <a:spcPct val="100000"/>
              </a:lnSpc>
              <a:spcBef>
                <a:spcPts val="1000"/>
              </a:spcBef>
              <a:spcAft>
                <a:spcPts val="600"/>
              </a:spcAft>
              <a:buClr>
                <a:schemeClr val="dk1"/>
              </a:buClr>
              <a:buSzPts val="3200"/>
              <a:buFont typeface="Arial"/>
              <a:buChar char="•"/>
            </a:pPr>
            <a:r>
              <a:rPr lang="en-US" b="0" i="0" u="none" strike="noStrike" cap="none" dirty="0">
                <a:solidFill>
                  <a:schemeClr val="dk1"/>
                </a:solidFill>
                <a:latin typeface="Arial" panose="020B0604020202020204" pitchFamily="34" charset="0"/>
                <a:ea typeface="Calibri"/>
                <a:cs typeface="Arial" panose="020B0604020202020204" pitchFamily="34" charset="0"/>
                <a:sym typeface="Calibri"/>
              </a:rPr>
              <a:t>Operating System can be defined as an </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interface</a:t>
            </a:r>
            <a:r>
              <a:rPr lang="en-US" b="0" i="0" u="none" strike="noStrike" cap="none" dirty="0">
                <a:solidFill>
                  <a:schemeClr val="dk1"/>
                </a:solidFill>
                <a:latin typeface="Arial" panose="020B0604020202020204" pitchFamily="34" charset="0"/>
                <a:ea typeface="Calibri"/>
                <a:cs typeface="Arial" panose="020B0604020202020204" pitchFamily="34" charset="0"/>
                <a:sym typeface="Calibri"/>
              </a:rPr>
              <a:t> between user and the hardware. It provides an environment to the user so that, the user can perform its task in a convenient and efficient way.</a:t>
            </a:r>
            <a:endParaRPr sz="2400" dirty="0">
              <a:latin typeface="Arial" panose="020B0604020202020204" pitchFamily="34" charset="0"/>
              <a:cs typeface="Arial" panose="020B0604020202020204" pitchFamily="34" charset="0"/>
            </a:endParaRPr>
          </a:p>
          <a:p>
            <a:pPr marL="228600" marR="0" lvl="0" indent="-228600" algn="just" rtl="0">
              <a:lnSpc>
                <a:spcPct val="100000"/>
              </a:lnSpc>
              <a:spcBef>
                <a:spcPts val="1000"/>
              </a:spcBef>
              <a:spcAft>
                <a:spcPts val="600"/>
              </a:spcAft>
              <a:buClr>
                <a:schemeClr val="dk1"/>
              </a:buClr>
              <a:buSzPts val="2800"/>
              <a:buFont typeface="Arial"/>
              <a:buChar char="•"/>
            </a:pPr>
            <a:r>
              <a:rPr lang="en-US" sz="2400" b="1" i="0" u="none" strike="noStrike" cap="none" dirty="0">
                <a:solidFill>
                  <a:schemeClr val="dk1"/>
                </a:solidFill>
                <a:latin typeface="Arial" panose="020B0604020202020204" pitchFamily="34" charset="0"/>
                <a:ea typeface="Calibri"/>
                <a:cs typeface="Arial" panose="020B0604020202020204" pitchFamily="34" charset="0"/>
                <a:sym typeface="Calibri"/>
              </a:rPr>
              <a:t>Operating system goals:</a:t>
            </a:r>
            <a:endParaRPr sz="2400" dirty="0">
              <a:latin typeface="Arial" panose="020B0604020202020204" pitchFamily="34" charset="0"/>
              <a:cs typeface="Arial" panose="020B0604020202020204" pitchFamily="34" charset="0"/>
            </a:endParaRPr>
          </a:p>
          <a:p>
            <a:pPr marL="685800" marR="0" lvl="1" indent="-228600" algn="just" rtl="0">
              <a:lnSpc>
                <a:spcPct val="100000"/>
              </a:lnSpc>
              <a:spcBef>
                <a:spcPts val="500"/>
              </a:spcBef>
              <a:spcAft>
                <a:spcPts val="600"/>
              </a:spcAft>
              <a:buClr>
                <a:schemeClr val="dk1"/>
              </a:buClr>
              <a:buSzPts val="3200"/>
              <a:buFont typeface="Arial"/>
              <a:buChar char="•"/>
            </a:pPr>
            <a:r>
              <a:rPr lang="en-US" sz="2800" b="0" i="0" u="none" strike="noStrike" cap="none" dirty="0">
                <a:solidFill>
                  <a:schemeClr val="dk1"/>
                </a:solidFill>
                <a:latin typeface="Arial" panose="020B0604020202020204" pitchFamily="34" charset="0"/>
                <a:ea typeface="Calibri"/>
                <a:cs typeface="Arial" panose="020B0604020202020204" pitchFamily="34" charset="0"/>
                <a:sym typeface="Calibri"/>
              </a:rPr>
              <a:t>Execute user programs and make solving user problems easier</a:t>
            </a:r>
            <a:endParaRPr sz="2000" dirty="0">
              <a:latin typeface="Arial" panose="020B0604020202020204" pitchFamily="34" charset="0"/>
              <a:cs typeface="Arial" panose="020B0604020202020204" pitchFamily="34" charset="0"/>
            </a:endParaRPr>
          </a:p>
          <a:p>
            <a:pPr marL="685800" marR="0" lvl="1" indent="-228600" algn="just" rtl="0">
              <a:lnSpc>
                <a:spcPct val="100000"/>
              </a:lnSpc>
              <a:spcBef>
                <a:spcPts val="500"/>
              </a:spcBef>
              <a:spcAft>
                <a:spcPts val="600"/>
              </a:spcAft>
              <a:buClr>
                <a:schemeClr val="dk1"/>
              </a:buClr>
              <a:buSzPts val="3200"/>
              <a:buFont typeface="Arial"/>
              <a:buChar char="•"/>
            </a:pPr>
            <a:r>
              <a:rPr lang="en-US" sz="2800" b="0" i="0" u="none" strike="noStrike" cap="none" dirty="0">
                <a:solidFill>
                  <a:schemeClr val="dk1"/>
                </a:solidFill>
                <a:latin typeface="Arial" panose="020B0604020202020204" pitchFamily="34" charset="0"/>
                <a:ea typeface="Calibri"/>
                <a:cs typeface="Arial" panose="020B0604020202020204" pitchFamily="34" charset="0"/>
                <a:sym typeface="Calibri"/>
              </a:rPr>
              <a:t>Make the computer system convenient to use</a:t>
            </a:r>
            <a:endParaRPr sz="2000" dirty="0">
              <a:latin typeface="Arial" panose="020B0604020202020204" pitchFamily="34" charset="0"/>
              <a:cs typeface="Arial" panose="020B0604020202020204" pitchFamily="34" charset="0"/>
            </a:endParaRPr>
          </a:p>
          <a:p>
            <a:pPr marL="685800" marR="0" lvl="1" indent="-228600" algn="just" rtl="0">
              <a:lnSpc>
                <a:spcPct val="100000"/>
              </a:lnSpc>
              <a:spcBef>
                <a:spcPts val="500"/>
              </a:spcBef>
              <a:spcAft>
                <a:spcPts val="600"/>
              </a:spcAft>
              <a:buClr>
                <a:schemeClr val="dk1"/>
              </a:buClr>
              <a:buSzPts val="3200"/>
              <a:buFont typeface="Arial"/>
              <a:buChar char="•"/>
            </a:pPr>
            <a:r>
              <a:rPr lang="en-US" sz="2800" b="0" i="0" u="none" strike="noStrike" cap="none" dirty="0">
                <a:solidFill>
                  <a:schemeClr val="dk1"/>
                </a:solidFill>
                <a:latin typeface="Arial" panose="020B0604020202020204" pitchFamily="34" charset="0"/>
                <a:ea typeface="Calibri"/>
                <a:cs typeface="Arial" panose="020B0604020202020204" pitchFamily="34" charset="0"/>
                <a:sym typeface="Calibri"/>
              </a:rPr>
              <a:t>Use the computer hardware in an efficient manner</a:t>
            </a:r>
            <a:endParaRPr sz="200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
          <p:cNvSpPr txBox="1">
            <a:spLocks noGrp="1"/>
          </p:cNvSpPr>
          <p:nvPr>
            <p:ph type="title" idx="4294967295"/>
          </p:nvPr>
        </p:nvSpPr>
        <p:spPr>
          <a:xfrm>
            <a:off x="520700" y="347662"/>
            <a:ext cx="9597335" cy="5762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C00000"/>
              </a:buClr>
              <a:buSzPts val="4400"/>
              <a:buFont typeface="Calibri"/>
              <a:buNone/>
            </a:pPr>
            <a:r>
              <a:rPr lang="en-US" sz="4400" b="1" i="0" u="none" strike="noStrike" cap="none" dirty="0">
                <a:solidFill>
                  <a:srgbClr val="C00000"/>
                </a:solidFill>
                <a:latin typeface="Calibri"/>
                <a:ea typeface="Calibri"/>
                <a:cs typeface="Calibri"/>
                <a:sym typeface="Calibri"/>
              </a:rPr>
              <a:t>What is an Operating System?</a:t>
            </a:r>
            <a:endParaRPr dirty="0"/>
          </a:p>
        </p:txBody>
      </p:sp>
      <p:sp>
        <p:nvSpPr>
          <p:cNvPr id="161" name="Google Shape;161;p3"/>
          <p:cNvSpPr txBox="1">
            <a:spLocks noGrp="1"/>
          </p:cNvSpPr>
          <p:nvPr>
            <p:ph type="body" idx="4294967295"/>
          </p:nvPr>
        </p:nvSpPr>
        <p:spPr>
          <a:xfrm>
            <a:off x="684212" y="1085850"/>
            <a:ext cx="10933112" cy="4633912"/>
          </a:xfrm>
          <a:prstGeom prst="rect">
            <a:avLst/>
          </a:prstGeom>
          <a:noFill/>
          <a:ln>
            <a:noFill/>
          </a:ln>
        </p:spPr>
        <p:txBody>
          <a:bodyPr spcFirstLastPara="1" wrap="square" lIns="91425" tIns="45700" rIns="91425" bIns="45700" anchor="t" anchorCtr="0">
            <a:noAutofit/>
          </a:bodyPr>
          <a:lstStyle/>
          <a:p>
            <a:pPr marL="228600" marR="0" lvl="0" indent="-25400" algn="just" rtl="0">
              <a:lnSpc>
                <a:spcPct val="90000"/>
              </a:lnSpc>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228600" marR="0" lvl="0" indent="-25400" algn="just" rtl="0">
              <a:lnSpc>
                <a:spcPct val="90000"/>
              </a:lnSpc>
              <a:spcBef>
                <a:spcPts val="100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228600" marR="0" lvl="0" indent="-25400" algn="just" rtl="0">
              <a:lnSpc>
                <a:spcPct val="90000"/>
              </a:lnSpc>
              <a:spcBef>
                <a:spcPts val="100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228600" marR="0" lvl="0" indent="-25400" algn="just" rtl="0">
              <a:lnSpc>
                <a:spcPct val="90000"/>
              </a:lnSpc>
              <a:spcBef>
                <a:spcPts val="100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228600" marR="0" lvl="0" indent="-25400" algn="just" rtl="0">
              <a:lnSpc>
                <a:spcPct val="90000"/>
              </a:lnSpc>
              <a:spcBef>
                <a:spcPts val="100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228600" marR="0" lvl="0" indent="-25400" algn="just" rtl="0">
              <a:lnSpc>
                <a:spcPct val="90000"/>
              </a:lnSpc>
              <a:spcBef>
                <a:spcPts val="100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228600" marR="0" lvl="0" indent="-228600" algn="just" rtl="0">
              <a:lnSpc>
                <a:spcPct val="90000"/>
              </a:lnSpc>
              <a:spcBef>
                <a:spcPts val="1000"/>
              </a:spcBef>
              <a:spcAft>
                <a:spcPts val="0"/>
              </a:spcAft>
              <a:buClr>
                <a:srgbClr val="333333"/>
              </a:buClr>
              <a:buSzPts val="2000"/>
              <a:buFont typeface="Arial"/>
              <a:buChar char="•"/>
            </a:pPr>
            <a:r>
              <a:rPr lang="en-US" sz="2000" b="0" i="0" u="none" strike="noStrike" cap="none">
                <a:solidFill>
                  <a:srgbClr val="333333"/>
                </a:solidFill>
                <a:latin typeface="Inter"/>
                <a:ea typeface="Inter"/>
                <a:cs typeface="Inter"/>
                <a:sym typeface="Inter"/>
              </a:rPr>
              <a:t>An </a:t>
            </a:r>
            <a:r>
              <a:rPr lang="en-US" sz="2000" b="1" i="0" u="none" strike="noStrike" cap="none">
                <a:solidFill>
                  <a:srgbClr val="333333"/>
                </a:solidFill>
                <a:latin typeface="Inter"/>
                <a:ea typeface="Inter"/>
                <a:cs typeface="Inter"/>
                <a:sym typeface="Inter"/>
              </a:rPr>
              <a:t>Operating System</a:t>
            </a:r>
            <a:r>
              <a:rPr lang="en-US" sz="2000" b="0" i="0" u="none" strike="noStrike" cap="none">
                <a:solidFill>
                  <a:srgbClr val="333333"/>
                </a:solidFill>
                <a:latin typeface="Inter"/>
                <a:ea typeface="Inter"/>
                <a:cs typeface="Inter"/>
                <a:sym typeface="Inter"/>
              </a:rPr>
              <a:t> can be defined as an </a:t>
            </a:r>
            <a:r>
              <a:rPr lang="en-US" sz="2000" b="1" i="0" u="none" strike="noStrike" cap="none">
                <a:solidFill>
                  <a:srgbClr val="333333"/>
                </a:solidFill>
                <a:latin typeface="Inter"/>
                <a:ea typeface="Inter"/>
                <a:cs typeface="Inter"/>
                <a:sym typeface="Inter"/>
              </a:rPr>
              <a:t>interface between user and hardware</a:t>
            </a:r>
            <a:r>
              <a:rPr lang="en-US" sz="2000" b="0" i="0" u="none" strike="noStrike" cap="none">
                <a:solidFill>
                  <a:srgbClr val="333333"/>
                </a:solidFill>
                <a:latin typeface="Inter"/>
                <a:ea typeface="Inter"/>
                <a:cs typeface="Inter"/>
                <a:sym typeface="Inter"/>
              </a:rPr>
              <a:t>. It is responsible for the execution of all the processes, Resource Allocation, </a:t>
            </a:r>
            <a:r>
              <a:rPr lang="en-US" sz="2000" b="0" i="0" u="none" strike="noStrike" cap="none">
                <a:solidFill>
                  <a:srgbClr val="008000"/>
                </a:solidFill>
                <a:latin typeface="Inter"/>
                <a:ea typeface="Inter"/>
                <a:cs typeface="Inter"/>
                <a:sym typeface="Inter"/>
              </a:rPr>
              <a:t>CPU</a:t>
            </a:r>
            <a:r>
              <a:rPr lang="en-US" sz="2000" b="0" i="0" u="none" strike="noStrike" cap="none">
                <a:solidFill>
                  <a:srgbClr val="333333"/>
                </a:solidFill>
                <a:latin typeface="Inter"/>
                <a:ea typeface="Inter"/>
                <a:cs typeface="Inter"/>
                <a:sym typeface="Inter"/>
              </a:rPr>
              <a:t> management, File Management and many other tasks.</a:t>
            </a:r>
            <a:endParaRPr/>
          </a:p>
          <a:p>
            <a:pPr marL="228600" marR="0" lvl="0" indent="-228600" algn="just" rtl="0">
              <a:lnSpc>
                <a:spcPct val="90000"/>
              </a:lnSpc>
              <a:spcBef>
                <a:spcPts val="1000"/>
              </a:spcBef>
              <a:spcAft>
                <a:spcPts val="0"/>
              </a:spcAft>
              <a:buClr>
                <a:srgbClr val="333333"/>
              </a:buClr>
              <a:buSzPts val="2000"/>
              <a:buFont typeface="Arial"/>
              <a:buChar char="•"/>
            </a:pPr>
            <a:r>
              <a:rPr lang="en-US" sz="2000" b="0" i="0" u="none" strike="noStrike" cap="none">
                <a:solidFill>
                  <a:srgbClr val="333333"/>
                </a:solidFill>
                <a:latin typeface="Inter"/>
                <a:ea typeface="Inter"/>
                <a:cs typeface="Inter"/>
                <a:sym typeface="Inter"/>
              </a:rPr>
              <a:t>The purpose of an operating system is to provide an environment in which a user can execute programs in convenient and efficient manner.</a:t>
            </a:r>
            <a:endParaRPr/>
          </a:p>
          <a:p>
            <a:pPr marL="228600" marR="0" lvl="0" indent="-101600" algn="l" rtl="0">
              <a:lnSpc>
                <a:spcPct val="90000"/>
              </a:lnSpc>
              <a:spcBef>
                <a:spcPts val="1000"/>
              </a:spcBef>
              <a:spcAft>
                <a:spcPts val="0"/>
              </a:spcAft>
              <a:buClr>
                <a:schemeClr val="dk1"/>
              </a:buClr>
              <a:buSzPts val="2000"/>
              <a:buFont typeface="Arial"/>
              <a:buNone/>
            </a:pPr>
            <a:endParaRPr sz="2000" b="0" i="0" u="none">
              <a:solidFill>
                <a:srgbClr val="333333"/>
              </a:solidFill>
              <a:latin typeface="Inter"/>
              <a:ea typeface="Inter"/>
              <a:cs typeface="Inter"/>
              <a:sym typeface="Inter"/>
            </a:endParaRPr>
          </a:p>
        </p:txBody>
      </p:sp>
      <p:pic>
        <p:nvPicPr>
          <p:cNvPr id="163" name="Google Shape;163;p3" descr="os Definition and functions"/>
          <p:cNvPicPr preferRelativeResize="0"/>
          <p:nvPr/>
        </p:nvPicPr>
        <p:blipFill rotWithShape="1">
          <a:blip r:embed="rId3">
            <a:alphaModFix/>
          </a:blip>
          <a:srcRect/>
          <a:stretch/>
        </p:blipFill>
        <p:spPr>
          <a:xfrm>
            <a:off x="1260475" y="1085850"/>
            <a:ext cx="4708525" cy="2943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4"/>
          <p:cNvSpPr txBox="1"/>
          <p:nvPr/>
        </p:nvSpPr>
        <p:spPr>
          <a:xfrm>
            <a:off x="10648950" y="6356350"/>
            <a:ext cx="70485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1" i="0" u="none" strike="noStrike" cap="none">
                <a:solidFill>
                  <a:srgbClr val="898989"/>
                </a:solidFill>
                <a:latin typeface="Calibri"/>
                <a:ea typeface="Calibri"/>
                <a:cs typeface="Calibri"/>
                <a:sym typeface="Calibri"/>
              </a:rPr>
              <a:t>4</a:t>
            </a:fld>
            <a:endParaRPr/>
          </a:p>
        </p:txBody>
      </p:sp>
      <p:pic>
        <p:nvPicPr>
          <p:cNvPr id="169" name="Google Shape;169;p4" descr="See the source image"/>
          <p:cNvPicPr preferRelativeResize="0"/>
          <p:nvPr/>
        </p:nvPicPr>
        <p:blipFill rotWithShape="1">
          <a:blip r:embed="rId3">
            <a:alphaModFix/>
          </a:blip>
          <a:srcRect/>
          <a:stretch/>
        </p:blipFill>
        <p:spPr>
          <a:xfrm>
            <a:off x="201612" y="298450"/>
            <a:ext cx="8751887" cy="6183312"/>
          </a:xfrm>
          <a:prstGeom prst="rect">
            <a:avLst/>
          </a:prstGeom>
          <a:noFill/>
          <a:ln>
            <a:noFill/>
          </a:ln>
        </p:spPr>
      </p:pic>
      <p:pic>
        <p:nvPicPr>
          <p:cNvPr id="170" name="Google Shape;170;p4" descr="Structure of a Computer System"/>
          <p:cNvPicPr preferRelativeResize="0"/>
          <p:nvPr/>
        </p:nvPicPr>
        <p:blipFill rotWithShape="1">
          <a:blip r:embed="rId4">
            <a:alphaModFix/>
          </a:blip>
          <a:srcRect/>
          <a:stretch/>
        </p:blipFill>
        <p:spPr>
          <a:xfrm>
            <a:off x="8048625" y="1789112"/>
            <a:ext cx="4038600" cy="405923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5"/>
          <p:cNvSpPr txBox="1">
            <a:spLocks noGrp="1"/>
          </p:cNvSpPr>
          <p:nvPr>
            <p:ph type="title" idx="4294967295"/>
          </p:nvPr>
        </p:nvSpPr>
        <p:spPr>
          <a:xfrm>
            <a:off x="1389062" y="182562"/>
            <a:ext cx="10193337" cy="5762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C00000"/>
              </a:buClr>
              <a:buSzPts val="4400"/>
              <a:buFont typeface="Calibri"/>
              <a:buNone/>
            </a:pPr>
            <a:r>
              <a:rPr lang="en-US" sz="4400" b="1" i="0" u="none" strike="noStrike" cap="none">
                <a:solidFill>
                  <a:srgbClr val="C00000"/>
                </a:solidFill>
                <a:latin typeface="Calibri"/>
                <a:ea typeface="Calibri"/>
                <a:cs typeface="Calibri"/>
                <a:sym typeface="Calibri"/>
              </a:rPr>
              <a:t>Computer System Structure</a:t>
            </a:r>
            <a:endParaRPr/>
          </a:p>
        </p:txBody>
      </p:sp>
      <p:sp>
        <p:nvSpPr>
          <p:cNvPr id="176" name="Google Shape;176;p5"/>
          <p:cNvSpPr txBox="1">
            <a:spLocks noGrp="1"/>
          </p:cNvSpPr>
          <p:nvPr>
            <p:ph type="body" idx="4294967295"/>
          </p:nvPr>
        </p:nvSpPr>
        <p:spPr>
          <a:xfrm>
            <a:off x="1389062" y="923925"/>
            <a:ext cx="10193337" cy="5265737"/>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90000"/>
              </a:lnSpc>
              <a:spcBef>
                <a:spcPts val="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Computer system can be divided into four components:</a:t>
            </a:r>
            <a:endParaRPr/>
          </a:p>
          <a:p>
            <a:pPr marL="971550" marR="0" lvl="1" indent="-514350" algn="just" rtl="0">
              <a:lnSpc>
                <a:spcPct val="90000"/>
              </a:lnSpc>
              <a:spcBef>
                <a:spcPts val="500"/>
              </a:spcBef>
              <a:spcAft>
                <a:spcPts val="0"/>
              </a:spcAft>
              <a:buClr>
                <a:srgbClr val="FF0000"/>
              </a:buClr>
              <a:buSzPts val="2800"/>
              <a:buFont typeface="Calibri"/>
              <a:buAutoNum type="arabicParenR"/>
            </a:pPr>
            <a:r>
              <a:rPr lang="en-US" sz="2800" b="0" i="0" u="none" strike="noStrike" cap="none">
                <a:solidFill>
                  <a:srgbClr val="FF0000"/>
                </a:solidFill>
                <a:latin typeface="Calibri"/>
                <a:ea typeface="Calibri"/>
                <a:cs typeface="Calibri"/>
                <a:sym typeface="Calibri"/>
              </a:rPr>
              <a:t>Hardware:</a:t>
            </a:r>
            <a:r>
              <a:rPr lang="en-US" sz="2800" b="0" i="0" u="none" strike="noStrike" cap="none">
                <a:solidFill>
                  <a:schemeClr val="dk1"/>
                </a:solidFill>
                <a:latin typeface="Calibri"/>
                <a:ea typeface="Calibri"/>
                <a:cs typeface="Calibri"/>
                <a:sym typeface="Calibri"/>
              </a:rPr>
              <a:t> provides basic computing resources CPU, memory, I/O devices, </a:t>
            </a:r>
            <a:r>
              <a:rPr lang="en-US" sz="2800" b="0" i="0" u="none" strike="noStrike" cap="none">
                <a:solidFill>
                  <a:srgbClr val="000000"/>
                </a:solidFill>
                <a:latin typeface="Inter"/>
                <a:ea typeface="Inter"/>
                <a:cs typeface="Inter"/>
                <a:sym typeface="Inter"/>
              </a:rPr>
              <a:t>disks, etc.,</a:t>
            </a:r>
            <a:endParaRPr/>
          </a:p>
          <a:p>
            <a:pPr marL="971550" marR="0" lvl="1" indent="-514350" algn="just" rtl="0">
              <a:lnSpc>
                <a:spcPct val="90000"/>
              </a:lnSpc>
              <a:spcBef>
                <a:spcPts val="500"/>
              </a:spcBef>
              <a:spcAft>
                <a:spcPts val="0"/>
              </a:spcAft>
              <a:buClr>
                <a:srgbClr val="FF0000"/>
              </a:buClr>
              <a:buSzPts val="2800"/>
              <a:buFont typeface="Calibri"/>
              <a:buAutoNum type="arabicParenR"/>
            </a:pPr>
            <a:r>
              <a:rPr lang="en-US" sz="2800" b="0" i="0" u="none" strike="noStrike" cap="none">
                <a:solidFill>
                  <a:srgbClr val="FF0000"/>
                </a:solidFill>
                <a:latin typeface="Calibri"/>
                <a:ea typeface="Calibri"/>
                <a:cs typeface="Calibri"/>
                <a:sym typeface="Calibri"/>
              </a:rPr>
              <a:t>Operating system: </a:t>
            </a:r>
            <a:r>
              <a:rPr lang="en-US" sz="2800" b="0" i="0" u="none" strike="noStrike" cap="none">
                <a:solidFill>
                  <a:schemeClr val="dk1"/>
                </a:solidFill>
                <a:latin typeface="Calibri"/>
                <a:ea typeface="Calibri"/>
                <a:cs typeface="Calibri"/>
                <a:sym typeface="Calibri"/>
              </a:rPr>
              <a:t>Controls and coordinates use of hardware among various applications and users.</a:t>
            </a:r>
            <a:endParaRPr/>
          </a:p>
          <a:p>
            <a:pPr marL="971550" marR="0" lvl="1" indent="-514350" algn="just" rtl="0">
              <a:lnSpc>
                <a:spcPct val="90000"/>
              </a:lnSpc>
              <a:spcBef>
                <a:spcPts val="500"/>
              </a:spcBef>
              <a:spcAft>
                <a:spcPts val="0"/>
              </a:spcAft>
              <a:buClr>
                <a:srgbClr val="FF0000"/>
              </a:buClr>
              <a:buSzPts val="2800"/>
              <a:buFont typeface="Calibri"/>
              <a:buAutoNum type="arabicParenR"/>
            </a:pPr>
            <a:r>
              <a:rPr lang="en-US" sz="2800" b="0" i="0" u="none" strike="noStrike" cap="none">
                <a:solidFill>
                  <a:srgbClr val="FF0000"/>
                </a:solidFill>
                <a:latin typeface="Calibri"/>
                <a:ea typeface="Calibri"/>
                <a:cs typeface="Calibri"/>
                <a:sym typeface="Calibri"/>
              </a:rPr>
              <a:t>Application programs: </a:t>
            </a:r>
            <a:r>
              <a:rPr lang="en-US" sz="2800" b="0" i="0" u="none" strike="noStrike" cap="none">
                <a:solidFill>
                  <a:schemeClr val="dk1"/>
                </a:solidFill>
                <a:latin typeface="Calibri"/>
                <a:ea typeface="Calibri"/>
                <a:cs typeface="Calibri"/>
                <a:sym typeface="Calibri"/>
              </a:rPr>
              <a:t>define the ways in which the system resources are used to solve the computing problems of the users, Word processors, compilers, web browsers, database systems, video games, etc.,</a:t>
            </a:r>
            <a:endParaRPr/>
          </a:p>
          <a:p>
            <a:pPr marL="971550" marR="0" lvl="1" indent="-514350" algn="just" rtl="0">
              <a:lnSpc>
                <a:spcPct val="90000"/>
              </a:lnSpc>
              <a:spcBef>
                <a:spcPts val="500"/>
              </a:spcBef>
              <a:spcAft>
                <a:spcPts val="0"/>
              </a:spcAft>
              <a:buClr>
                <a:srgbClr val="FF0000"/>
              </a:buClr>
              <a:buSzPts val="2800"/>
              <a:buFont typeface="Calibri"/>
              <a:buAutoNum type="arabicParenR"/>
            </a:pPr>
            <a:r>
              <a:rPr lang="en-US" sz="2800" b="0" i="0" u="none" strike="noStrike" cap="none">
                <a:solidFill>
                  <a:srgbClr val="FF0000"/>
                </a:solidFill>
                <a:latin typeface="Calibri"/>
                <a:ea typeface="Calibri"/>
                <a:cs typeface="Calibri"/>
                <a:sym typeface="Calibri"/>
              </a:rPr>
              <a:t>Users: </a:t>
            </a:r>
            <a:r>
              <a:rPr lang="en-US" sz="2800" b="0" i="0" u="none" strike="noStrike" cap="none">
                <a:solidFill>
                  <a:schemeClr val="dk1"/>
                </a:solidFill>
                <a:latin typeface="Calibri"/>
                <a:ea typeface="Calibri"/>
                <a:cs typeface="Calibri"/>
                <a:sym typeface="Calibri"/>
              </a:rPr>
              <a:t>People, machines, other computers.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6"/>
          <p:cNvSpPr txBox="1">
            <a:spLocks noGrp="1"/>
          </p:cNvSpPr>
          <p:nvPr>
            <p:ph type="title" idx="4294967295"/>
          </p:nvPr>
        </p:nvSpPr>
        <p:spPr>
          <a:xfrm>
            <a:off x="1125537" y="120650"/>
            <a:ext cx="10972800" cy="5762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C00000"/>
              </a:buClr>
              <a:buSzPts val="2800"/>
              <a:buFont typeface="Calibri"/>
              <a:buNone/>
            </a:pPr>
            <a:r>
              <a:rPr lang="en-US" sz="2800" b="0" i="0" u="none" strike="noStrike" cap="none">
                <a:solidFill>
                  <a:srgbClr val="C00000"/>
                </a:solidFill>
                <a:latin typeface="Calibri"/>
                <a:ea typeface="Calibri"/>
                <a:cs typeface="Calibri"/>
                <a:sym typeface="Calibri"/>
              </a:rPr>
              <a:t>Four Components of a Computer System</a:t>
            </a:r>
            <a:endParaRPr/>
          </a:p>
        </p:txBody>
      </p:sp>
      <p:pic>
        <p:nvPicPr>
          <p:cNvPr id="183" name="Google Shape;183;p6"/>
          <p:cNvPicPr preferRelativeResize="0"/>
          <p:nvPr/>
        </p:nvPicPr>
        <p:blipFill rotWithShape="1">
          <a:blip r:embed="rId3">
            <a:alphaModFix/>
          </a:blip>
          <a:srcRect/>
          <a:stretch/>
        </p:blipFill>
        <p:spPr>
          <a:xfrm>
            <a:off x="2603500" y="1027112"/>
            <a:ext cx="8112125" cy="484663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1"/>
          <p:cNvSpPr txBox="1">
            <a:spLocks noGrp="1"/>
          </p:cNvSpPr>
          <p:nvPr>
            <p:ph type="title" idx="4294967295"/>
          </p:nvPr>
        </p:nvSpPr>
        <p:spPr>
          <a:xfrm>
            <a:off x="1377950" y="198437"/>
            <a:ext cx="10699750" cy="5762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C00000"/>
              </a:buClr>
              <a:buSzPts val="4400"/>
              <a:buFont typeface="Calibri"/>
              <a:buNone/>
            </a:pPr>
            <a:r>
              <a:rPr lang="en-US" sz="4400" b="0" i="0" u="none" strike="noStrike" cap="none">
                <a:solidFill>
                  <a:srgbClr val="C00000"/>
                </a:solidFill>
                <a:latin typeface="Calibri"/>
                <a:ea typeface="Calibri"/>
                <a:cs typeface="Calibri"/>
                <a:sym typeface="Calibri"/>
              </a:rPr>
              <a:t> Defining Operating System</a:t>
            </a:r>
            <a:endParaRPr/>
          </a:p>
        </p:txBody>
      </p:sp>
      <p:sp>
        <p:nvSpPr>
          <p:cNvPr id="220" name="Google Shape;220;p11"/>
          <p:cNvSpPr txBox="1">
            <a:spLocks noGrp="1"/>
          </p:cNvSpPr>
          <p:nvPr>
            <p:ph type="body" idx="4294967295"/>
          </p:nvPr>
        </p:nvSpPr>
        <p:spPr>
          <a:xfrm>
            <a:off x="636104" y="1370012"/>
            <a:ext cx="10487508" cy="5045075"/>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90000"/>
              </a:lnSpc>
              <a:spcBef>
                <a:spcPts val="0"/>
              </a:spcBef>
              <a:spcAft>
                <a:spcPts val="0"/>
              </a:spcAft>
              <a:buClr>
                <a:srgbClr val="333333"/>
              </a:buClr>
              <a:buSzPts val="2800"/>
              <a:buFont typeface="Arial"/>
              <a:buChar char="•"/>
            </a:pPr>
            <a:r>
              <a:rPr lang="en-US" sz="2800" b="0" i="0" u="none" dirty="0">
                <a:solidFill>
                  <a:srgbClr val="333333"/>
                </a:solidFill>
                <a:latin typeface="Times New Roman" panose="02020603050405020304" pitchFamily="18" charset="0"/>
                <a:ea typeface="Inter"/>
                <a:cs typeface="Times New Roman" panose="02020603050405020304" pitchFamily="18" charset="0"/>
                <a:sym typeface="Inter"/>
              </a:rPr>
              <a:t>In the Computer System (comprises of Hardware and software), Hardware can only understand machine code (in the form of 0 and 1) which doesn't make any sense to a naive user.</a:t>
            </a:r>
            <a:endParaRPr dirty="0">
              <a:latin typeface="Times New Roman" panose="02020603050405020304" pitchFamily="18" charset="0"/>
              <a:cs typeface="Times New Roman" panose="02020603050405020304" pitchFamily="18" charset="0"/>
            </a:endParaRPr>
          </a:p>
          <a:p>
            <a:pPr marL="228600" marR="0" lvl="0" indent="-228600" algn="just" rtl="0">
              <a:lnSpc>
                <a:spcPct val="90000"/>
              </a:lnSpc>
              <a:spcBef>
                <a:spcPts val="1000"/>
              </a:spcBef>
              <a:spcAft>
                <a:spcPts val="0"/>
              </a:spcAft>
              <a:buClr>
                <a:srgbClr val="333333"/>
              </a:buClr>
              <a:buSzPts val="2800"/>
              <a:buFont typeface="Arial"/>
              <a:buChar char="•"/>
            </a:pPr>
            <a:r>
              <a:rPr lang="en-US" sz="2800" b="0" i="0" u="none" dirty="0">
                <a:solidFill>
                  <a:srgbClr val="333333"/>
                </a:solidFill>
                <a:latin typeface="Times New Roman" panose="02020603050405020304" pitchFamily="18" charset="0"/>
                <a:ea typeface="Inter"/>
                <a:cs typeface="Times New Roman" panose="02020603050405020304" pitchFamily="18" charset="0"/>
                <a:sym typeface="Inter"/>
              </a:rPr>
              <a:t>An </a:t>
            </a:r>
            <a:r>
              <a:rPr lang="en-US" sz="2800" b="1" i="0" u="none" dirty="0">
                <a:solidFill>
                  <a:srgbClr val="333333"/>
                </a:solidFill>
                <a:latin typeface="Times New Roman" panose="02020603050405020304" pitchFamily="18" charset="0"/>
                <a:ea typeface="Inter"/>
                <a:cs typeface="Times New Roman" panose="02020603050405020304" pitchFamily="18" charset="0"/>
                <a:sym typeface="Inter"/>
              </a:rPr>
              <a:t>Operating System</a:t>
            </a:r>
            <a:r>
              <a:rPr lang="en-US" sz="2800" b="0" i="0" u="none" dirty="0">
                <a:solidFill>
                  <a:srgbClr val="333333"/>
                </a:solidFill>
                <a:latin typeface="Times New Roman" panose="02020603050405020304" pitchFamily="18" charset="0"/>
                <a:ea typeface="Inter"/>
                <a:cs typeface="Times New Roman" panose="02020603050405020304" pitchFamily="18" charset="0"/>
                <a:sym typeface="Inter"/>
              </a:rPr>
              <a:t> can be defined as an </a:t>
            </a:r>
            <a:r>
              <a:rPr lang="en-US" sz="2800" b="1" i="0" u="none" dirty="0">
                <a:solidFill>
                  <a:srgbClr val="333333"/>
                </a:solidFill>
                <a:latin typeface="Times New Roman" panose="02020603050405020304" pitchFamily="18" charset="0"/>
                <a:ea typeface="Inter"/>
                <a:cs typeface="Times New Roman" panose="02020603050405020304" pitchFamily="18" charset="0"/>
                <a:sym typeface="Inter"/>
              </a:rPr>
              <a:t>interface between user and hardware</a:t>
            </a:r>
            <a:r>
              <a:rPr lang="en-US" sz="2800" b="0" i="0" u="none" dirty="0">
                <a:solidFill>
                  <a:srgbClr val="333333"/>
                </a:solidFill>
                <a:latin typeface="Times New Roman" panose="02020603050405020304" pitchFamily="18" charset="0"/>
                <a:ea typeface="Inter"/>
                <a:cs typeface="Times New Roman" panose="02020603050405020304" pitchFamily="18" charset="0"/>
                <a:sym typeface="Inter"/>
              </a:rPr>
              <a:t>. It is responsible for the execution of all the processes, Resource Allocation, </a:t>
            </a:r>
            <a:r>
              <a:rPr lang="en-US" sz="2800" b="0" i="0" u="none" dirty="0">
                <a:solidFill>
                  <a:srgbClr val="008000"/>
                </a:solidFill>
                <a:latin typeface="Times New Roman" panose="02020603050405020304" pitchFamily="18" charset="0"/>
                <a:ea typeface="Inter"/>
                <a:cs typeface="Times New Roman" panose="02020603050405020304" pitchFamily="18" charset="0"/>
                <a:sym typeface="Inter"/>
              </a:rPr>
              <a:t>CPU</a:t>
            </a:r>
            <a:r>
              <a:rPr lang="en-US" sz="2800" b="0" i="0" u="none" dirty="0">
                <a:solidFill>
                  <a:srgbClr val="333333"/>
                </a:solidFill>
                <a:latin typeface="Times New Roman" panose="02020603050405020304" pitchFamily="18" charset="0"/>
                <a:ea typeface="Inter"/>
                <a:cs typeface="Times New Roman" panose="02020603050405020304" pitchFamily="18" charset="0"/>
                <a:sym typeface="Inter"/>
              </a:rPr>
              <a:t> management, File Management and many other tasks.</a:t>
            </a:r>
            <a:endParaRPr dirty="0">
              <a:latin typeface="Times New Roman" panose="02020603050405020304" pitchFamily="18" charset="0"/>
              <a:cs typeface="Times New Roman" panose="02020603050405020304" pitchFamily="18" charset="0"/>
            </a:endParaRPr>
          </a:p>
          <a:p>
            <a:pPr marL="228600" marR="0" lvl="0" indent="-228600" algn="just" rtl="0">
              <a:lnSpc>
                <a:spcPct val="90000"/>
              </a:lnSpc>
              <a:spcBef>
                <a:spcPts val="1000"/>
              </a:spcBef>
              <a:spcAft>
                <a:spcPts val="0"/>
              </a:spcAft>
              <a:buClr>
                <a:srgbClr val="333333"/>
              </a:buClr>
              <a:buSzPts val="2800"/>
              <a:buFont typeface="Arial"/>
              <a:buChar char="•"/>
            </a:pPr>
            <a:r>
              <a:rPr lang="en-US" sz="2800" b="0" i="0" u="none" dirty="0">
                <a:solidFill>
                  <a:srgbClr val="333333"/>
                </a:solidFill>
                <a:latin typeface="Times New Roman" panose="02020603050405020304" pitchFamily="18" charset="0"/>
                <a:ea typeface="Inter"/>
                <a:cs typeface="Times New Roman" panose="02020603050405020304" pitchFamily="18" charset="0"/>
                <a:sym typeface="Inter"/>
              </a:rPr>
              <a:t>The purpose of an operating system is to provide an </a:t>
            </a:r>
            <a:r>
              <a:rPr lang="en-US" sz="2800" b="0" i="1" u="none" dirty="0">
                <a:solidFill>
                  <a:srgbClr val="FF0000"/>
                </a:solidFill>
                <a:latin typeface="Times New Roman" panose="02020603050405020304" pitchFamily="18" charset="0"/>
                <a:ea typeface="Inter"/>
                <a:cs typeface="Times New Roman" panose="02020603050405020304" pitchFamily="18" charset="0"/>
                <a:sym typeface="Inter"/>
              </a:rPr>
              <a:t>environment</a:t>
            </a:r>
            <a:r>
              <a:rPr lang="en-US" sz="2800" b="0" i="0" u="none" dirty="0">
                <a:solidFill>
                  <a:srgbClr val="333333"/>
                </a:solidFill>
                <a:latin typeface="Times New Roman" panose="02020603050405020304" pitchFamily="18" charset="0"/>
                <a:ea typeface="Inter"/>
                <a:cs typeface="Times New Roman" panose="02020603050405020304" pitchFamily="18" charset="0"/>
                <a:sym typeface="Inter"/>
              </a:rPr>
              <a:t> in which a user can execute programs in convenient and efficient manner.</a:t>
            </a:r>
            <a:endParaRPr dirty="0">
              <a:latin typeface="Times New Roman" panose="02020603050405020304" pitchFamily="18" charset="0"/>
              <a:cs typeface="Times New Roman" panose="02020603050405020304" pitchFamily="18" charset="0"/>
            </a:endParaRPr>
          </a:p>
        </p:txBody>
      </p:sp>
      <p:sp>
        <p:nvSpPr>
          <p:cNvPr id="221" name="Google Shape;221;p11"/>
          <p:cNvSpPr txBox="1"/>
          <p:nvPr/>
        </p:nvSpPr>
        <p:spPr>
          <a:xfrm>
            <a:off x="1436687" y="908050"/>
            <a:ext cx="9386887" cy="461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strike="noStrike" cap="none">
                <a:solidFill>
                  <a:schemeClr val="dk1"/>
                </a:solidFill>
                <a:latin typeface="Arial"/>
                <a:ea typeface="Arial"/>
                <a:cs typeface="Arial"/>
                <a:sym typeface="Arial"/>
              </a:rPr>
              <a:t>No universally accepted definition of </a:t>
            </a:r>
            <a:r>
              <a:rPr lang="en-US" sz="2400" b="1" i="0" u="none" strike="noStrike" cap="none">
                <a:solidFill>
                  <a:schemeClr val="dk1"/>
                </a:solidFill>
                <a:latin typeface="Arial"/>
                <a:ea typeface="Arial"/>
                <a:cs typeface="Arial"/>
                <a:sym typeface="Arial"/>
              </a:rPr>
              <a:t>what</a:t>
            </a:r>
            <a:r>
              <a:rPr lang="en-US" sz="2400" b="0" i="0" u="none" strike="noStrike" cap="none">
                <a:solidFill>
                  <a:schemeClr val="dk1"/>
                </a:solidFill>
                <a:latin typeface="Arial"/>
                <a:ea typeface="Arial"/>
                <a:cs typeface="Arial"/>
                <a:sym typeface="Arial"/>
              </a:rPr>
              <a:t> an OS:</a:t>
            </a:r>
            <a:endParaRPr/>
          </a:p>
        </p:txBody>
      </p:sp>
    </p:spTree>
    <p:extLst>
      <p:ext uri="{BB962C8B-B14F-4D97-AF65-F5344CB8AC3E}">
        <p14:creationId xmlns:p14="http://schemas.microsoft.com/office/powerpoint/2010/main" val="2934093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4"/>
          <p:cNvSpPr txBox="1">
            <a:spLocks noGrp="1"/>
          </p:cNvSpPr>
          <p:nvPr>
            <p:ph type="title" idx="4294967295"/>
          </p:nvPr>
        </p:nvSpPr>
        <p:spPr>
          <a:xfrm>
            <a:off x="1377950" y="198437"/>
            <a:ext cx="10699750" cy="5762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C00000"/>
              </a:buClr>
              <a:buSzPts val="4400"/>
              <a:buFont typeface="Calibri"/>
              <a:buNone/>
            </a:pPr>
            <a:r>
              <a:rPr lang="en-US" sz="2000" b="0" i="0" u="none" strike="noStrike" cap="none">
                <a:solidFill>
                  <a:srgbClr val="C00000"/>
                </a:solidFill>
                <a:latin typeface="Times New Roman" panose="02020603050405020304" pitchFamily="18" charset="0"/>
                <a:cs typeface="Times New Roman" panose="02020603050405020304" pitchFamily="18" charset="0"/>
                <a:sym typeface="Calibri"/>
              </a:rPr>
              <a:t> Defining Operating System (Cont.) </a:t>
            </a:r>
            <a:endParaRPr sz="2000">
              <a:latin typeface="Times New Roman" panose="02020603050405020304" pitchFamily="18" charset="0"/>
              <a:cs typeface="Times New Roman" panose="02020603050405020304" pitchFamily="18" charset="0"/>
            </a:endParaRPr>
          </a:p>
        </p:txBody>
      </p:sp>
      <p:sp>
        <p:nvSpPr>
          <p:cNvPr id="244" name="Google Shape;244;p14"/>
          <p:cNvSpPr txBox="1">
            <a:spLocks noGrp="1"/>
          </p:cNvSpPr>
          <p:nvPr>
            <p:ph type="body" idx="4294967295"/>
          </p:nvPr>
        </p:nvSpPr>
        <p:spPr>
          <a:xfrm>
            <a:off x="1123122" y="1528693"/>
            <a:ext cx="10511803" cy="4545012"/>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90000"/>
              </a:lnSpc>
              <a:spcBef>
                <a:spcPts val="0"/>
              </a:spcBef>
              <a:spcAft>
                <a:spcPts val="0"/>
              </a:spcAft>
              <a:buClr>
                <a:schemeClr val="dk1"/>
              </a:buClr>
              <a:buSzPts val="2400"/>
              <a:buFont typeface="Arial"/>
              <a:buChar char="•"/>
            </a:pPr>
            <a:r>
              <a:rPr lang="en-US" sz="2400" b="0" i="0" u="none" dirty="0">
                <a:solidFill>
                  <a:schemeClr val="dk1"/>
                </a:solidFill>
                <a:latin typeface="Times New Roman" panose="02020603050405020304" pitchFamily="18" charset="0"/>
                <a:ea typeface="Verdana"/>
                <a:cs typeface="Times New Roman" panose="02020603050405020304" pitchFamily="18" charset="0"/>
                <a:sym typeface="Verdana"/>
              </a:rPr>
              <a:t>A more common definition, and the one that we usually follow, is that the operating system is the </a:t>
            </a:r>
            <a:r>
              <a:rPr lang="en-US" sz="2400" b="0" i="0" u="none" dirty="0">
                <a:solidFill>
                  <a:srgbClr val="FF0000"/>
                </a:solidFill>
                <a:latin typeface="Times New Roman" panose="02020603050405020304" pitchFamily="18" charset="0"/>
                <a:ea typeface="Verdana"/>
                <a:cs typeface="Times New Roman" panose="02020603050405020304" pitchFamily="18" charset="0"/>
                <a:sym typeface="Verdana"/>
              </a:rPr>
              <a:t>one program running at all times</a:t>
            </a:r>
            <a:r>
              <a:rPr lang="en-US" sz="2400" b="0" i="0" u="none" dirty="0">
                <a:solidFill>
                  <a:schemeClr val="dk1"/>
                </a:solidFill>
                <a:latin typeface="Times New Roman" panose="02020603050405020304" pitchFamily="18" charset="0"/>
                <a:ea typeface="Verdana"/>
                <a:cs typeface="Times New Roman" panose="02020603050405020304" pitchFamily="18" charset="0"/>
                <a:sym typeface="Verdana"/>
              </a:rPr>
              <a:t> on the computer -- usually called the </a:t>
            </a:r>
            <a:r>
              <a:rPr lang="en-US" sz="2400" b="1" i="0" u="none" dirty="0">
                <a:solidFill>
                  <a:schemeClr val="dk1"/>
                </a:solidFill>
                <a:latin typeface="Times New Roman" panose="02020603050405020304" pitchFamily="18" charset="0"/>
                <a:ea typeface="Verdana"/>
                <a:cs typeface="Times New Roman" panose="02020603050405020304" pitchFamily="18" charset="0"/>
                <a:sym typeface="Verdana"/>
              </a:rPr>
              <a:t>kernel</a:t>
            </a:r>
            <a:r>
              <a:rPr lang="en-US" sz="2400" b="0" i="0" u="none" dirty="0">
                <a:solidFill>
                  <a:schemeClr val="dk1"/>
                </a:solidFill>
                <a:latin typeface="Times New Roman" panose="02020603050405020304" pitchFamily="18" charset="0"/>
                <a:ea typeface="Verdana"/>
                <a:cs typeface="Times New Roman" panose="02020603050405020304" pitchFamily="18" charset="0"/>
                <a:sym typeface="Verdana"/>
              </a:rPr>
              <a:t>. (</a:t>
            </a:r>
            <a:r>
              <a:rPr lang="en-US" sz="2400" b="1" i="0" u="none" dirty="0">
                <a:solidFill>
                  <a:schemeClr val="dk1"/>
                </a:solidFill>
                <a:latin typeface="Times New Roman" panose="02020603050405020304" pitchFamily="18" charset="0"/>
                <a:cs typeface="Times New Roman" panose="02020603050405020304" pitchFamily="18" charset="0"/>
                <a:sym typeface="Calibri"/>
              </a:rPr>
              <a:t>Kernel</a:t>
            </a:r>
            <a:r>
              <a:rPr lang="en-US" sz="2400" b="0" i="0" u="none" dirty="0">
                <a:solidFill>
                  <a:schemeClr val="dk1"/>
                </a:solidFill>
                <a:latin typeface="Times New Roman" panose="02020603050405020304" pitchFamily="18" charset="0"/>
                <a:cs typeface="Times New Roman" panose="02020603050405020304" pitchFamily="18" charset="0"/>
                <a:sym typeface="Calibri"/>
              </a:rPr>
              <a:t> is the core part of an </a:t>
            </a:r>
            <a:r>
              <a:rPr lang="en-US" sz="2400" b="1" i="0" u="none" dirty="0">
                <a:solidFill>
                  <a:schemeClr val="dk1"/>
                </a:solidFill>
                <a:latin typeface="Times New Roman" panose="02020603050405020304" pitchFamily="18" charset="0"/>
                <a:cs typeface="Times New Roman" panose="02020603050405020304" pitchFamily="18" charset="0"/>
                <a:sym typeface="Calibri"/>
              </a:rPr>
              <a:t>operating system</a:t>
            </a:r>
            <a:r>
              <a:rPr lang="en-US" sz="2400" b="0" i="0" u="none" dirty="0">
                <a:solidFill>
                  <a:schemeClr val="dk1"/>
                </a:solidFill>
                <a:latin typeface="Times New Roman" panose="02020603050405020304" pitchFamily="18" charset="0"/>
                <a:cs typeface="Times New Roman" panose="02020603050405020304" pitchFamily="18" charset="0"/>
                <a:sym typeface="Calibri"/>
              </a:rPr>
              <a:t> which manages system resources. It also acts like a bridge between application and hardware of the </a:t>
            </a:r>
            <a:r>
              <a:rPr lang="en-US" sz="2400" b="1" i="0" u="none" dirty="0">
                <a:solidFill>
                  <a:schemeClr val="dk1"/>
                </a:solidFill>
                <a:latin typeface="Times New Roman" panose="02020603050405020304" pitchFamily="18" charset="0"/>
                <a:cs typeface="Times New Roman" panose="02020603050405020304" pitchFamily="18" charset="0"/>
                <a:sym typeface="Calibri"/>
              </a:rPr>
              <a:t>computer</a:t>
            </a:r>
            <a:r>
              <a:rPr lang="en-US" sz="2400" b="0" i="0" u="none" dirty="0">
                <a:solidFill>
                  <a:schemeClr val="dk1"/>
                </a:solidFill>
                <a:latin typeface="Times New Roman" panose="02020603050405020304" pitchFamily="18" charset="0"/>
                <a:cs typeface="Times New Roman" panose="02020603050405020304" pitchFamily="18" charset="0"/>
                <a:sym typeface="Calibri"/>
              </a:rPr>
              <a:t>.)</a:t>
            </a:r>
            <a:endParaRPr sz="2400" dirty="0">
              <a:latin typeface="Times New Roman" panose="02020603050405020304" pitchFamily="18" charset="0"/>
              <a:cs typeface="Times New Roman" panose="02020603050405020304" pitchFamily="18" charset="0"/>
            </a:endParaRPr>
          </a:p>
          <a:p>
            <a:pPr marL="228600" marR="0" lvl="0" indent="-228600" algn="just" rtl="0">
              <a:lnSpc>
                <a:spcPct val="90000"/>
              </a:lnSpc>
              <a:spcBef>
                <a:spcPts val="1000"/>
              </a:spcBef>
              <a:spcAft>
                <a:spcPts val="0"/>
              </a:spcAft>
              <a:buClr>
                <a:schemeClr val="dk1"/>
              </a:buClr>
              <a:buSzPts val="2400"/>
              <a:buFont typeface="Arial"/>
              <a:buChar char="•"/>
            </a:pPr>
            <a:r>
              <a:rPr lang="en-US" sz="2400" b="0" i="0" u="none" dirty="0">
                <a:solidFill>
                  <a:schemeClr val="dk1"/>
                </a:solidFill>
                <a:latin typeface="Times New Roman" panose="02020603050405020304" pitchFamily="18" charset="0"/>
                <a:ea typeface="Verdana"/>
                <a:cs typeface="Times New Roman" panose="02020603050405020304" pitchFamily="18" charset="0"/>
                <a:sym typeface="Verdana"/>
              </a:rPr>
              <a:t>Along with the kernel, there are two other types of programs: </a:t>
            </a:r>
            <a:endParaRPr sz="2400" dirty="0">
              <a:latin typeface="Times New Roman" panose="02020603050405020304" pitchFamily="18" charset="0"/>
              <a:cs typeface="Times New Roman" panose="02020603050405020304" pitchFamily="18" charset="0"/>
            </a:endParaRPr>
          </a:p>
          <a:p>
            <a:pPr marL="685800" marR="0" lvl="1" indent="-228600" algn="just" rtl="0">
              <a:lnSpc>
                <a:spcPct val="90000"/>
              </a:lnSpc>
              <a:spcBef>
                <a:spcPts val="500"/>
              </a:spcBef>
              <a:spcAft>
                <a:spcPts val="0"/>
              </a:spcAft>
              <a:buClr>
                <a:schemeClr val="dk1"/>
              </a:buClr>
              <a:buSzPts val="2400"/>
              <a:buFont typeface="Noto Sans Symbols"/>
              <a:buChar char="⮚"/>
            </a:pPr>
            <a:r>
              <a:rPr lang="en-US" b="0" i="0" u="none" strike="noStrike" cap="none" dirty="0">
                <a:solidFill>
                  <a:schemeClr val="dk1"/>
                </a:solidFill>
                <a:latin typeface="Times New Roman" panose="02020603050405020304" pitchFamily="18" charset="0"/>
                <a:ea typeface="Verdana"/>
                <a:cs typeface="Times New Roman" panose="02020603050405020304" pitchFamily="18" charset="0"/>
                <a:sym typeface="Verdana"/>
              </a:rPr>
              <a:t>System programs, which are associated with the operating system but are not necessarily part of the kernel.</a:t>
            </a:r>
            <a:endParaRPr dirty="0">
              <a:latin typeface="Times New Roman" panose="02020603050405020304" pitchFamily="18" charset="0"/>
              <a:cs typeface="Times New Roman" panose="02020603050405020304" pitchFamily="18" charset="0"/>
            </a:endParaRPr>
          </a:p>
          <a:p>
            <a:pPr marL="685800" marR="0" lvl="1" indent="-228600" algn="just" rtl="0">
              <a:lnSpc>
                <a:spcPct val="90000"/>
              </a:lnSpc>
              <a:spcBef>
                <a:spcPts val="500"/>
              </a:spcBef>
              <a:spcAft>
                <a:spcPts val="0"/>
              </a:spcAft>
              <a:buClr>
                <a:schemeClr val="dk1"/>
              </a:buClr>
              <a:buSzPts val="2400"/>
              <a:buFont typeface="Noto Sans Symbols"/>
              <a:buChar char="⮚"/>
            </a:pPr>
            <a:r>
              <a:rPr lang="en-US" b="0" i="0" u="none" strike="noStrike" cap="none" dirty="0">
                <a:solidFill>
                  <a:schemeClr val="dk1"/>
                </a:solidFill>
                <a:latin typeface="Times New Roman" panose="02020603050405020304" pitchFamily="18" charset="0"/>
                <a:ea typeface="Verdana"/>
                <a:cs typeface="Times New Roman" panose="02020603050405020304" pitchFamily="18" charset="0"/>
                <a:sym typeface="Verdana"/>
              </a:rPr>
              <a:t>Application programs, which include all programs not associated with the operation system.</a:t>
            </a:r>
            <a:endParaRPr dirty="0">
              <a:latin typeface="Times New Roman" panose="02020603050405020304" pitchFamily="18" charset="0"/>
              <a:cs typeface="Times New Roman" panose="02020603050405020304" pitchFamily="18" charset="0"/>
            </a:endParaRPr>
          </a:p>
          <a:p>
            <a:pPr marL="228600" marR="0" lvl="0" indent="-76200" algn="l" rtl="0">
              <a:lnSpc>
                <a:spcPct val="90000"/>
              </a:lnSpc>
              <a:spcBef>
                <a:spcPts val="1000"/>
              </a:spcBef>
              <a:spcAft>
                <a:spcPts val="0"/>
              </a:spcAft>
              <a:buClr>
                <a:schemeClr val="dk1"/>
              </a:buClr>
              <a:buSzPts val="2400"/>
              <a:buFont typeface="Arial"/>
              <a:buNone/>
            </a:pPr>
            <a:endParaRPr sz="2000" b="0" i="0" u="none" strike="noStrike" cap="none" dirty="0">
              <a:solidFill>
                <a:schemeClr val="dk1"/>
              </a:solidFill>
              <a:latin typeface="Times New Roman" panose="02020603050405020304" pitchFamily="18" charset="0"/>
              <a:ea typeface="Verdana"/>
              <a:cs typeface="Times New Roman" panose="02020603050405020304" pitchFamily="18" charset="0"/>
              <a:sym typeface="Verdana"/>
            </a:endParaRPr>
          </a:p>
        </p:txBody>
      </p:sp>
      <p:sp>
        <p:nvSpPr>
          <p:cNvPr id="245" name="Google Shape;245;p14"/>
          <p:cNvSpPr txBox="1"/>
          <p:nvPr/>
        </p:nvSpPr>
        <p:spPr>
          <a:xfrm>
            <a:off x="1506537" y="1050925"/>
            <a:ext cx="9593262"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US" sz="2000" b="0" i="0" u="none" strike="noStrike" cap="none">
                <a:solidFill>
                  <a:schemeClr val="dk1"/>
                </a:solidFill>
                <a:latin typeface="Times New Roman" panose="02020603050405020304" pitchFamily="18" charset="0"/>
                <a:cs typeface="Times New Roman" panose="02020603050405020304" pitchFamily="18" charset="0"/>
                <a:sym typeface="Arial"/>
              </a:rPr>
              <a:t>No universally accepted definition of what is </a:t>
            </a:r>
            <a:r>
              <a:rPr lang="en-US" sz="2000" b="1" i="0" u="none" strike="noStrike" cap="none">
                <a:solidFill>
                  <a:schemeClr val="dk1"/>
                </a:solidFill>
                <a:latin typeface="Times New Roman" panose="02020603050405020304" pitchFamily="18" charset="0"/>
                <a:cs typeface="Times New Roman" panose="02020603050405020304" pitchFamily="18" charset="0"/>
                <a:sym typeface="Arial"/>
              </a:rPr>
              <a:t>part</a:t>
            </a:r>
            <a:r>
              <a:rPr lang="en-US" sz="2000" b="0" i="0" u="none" strike="noStrike" cap="none">
                <a:solidFill>
                  <a:schemeClr val="dk1"/>
                </a:solidFill>
                <a:latin typeface="Times New Roman" panose="02020603050405020304" pitchFamily="18" charset="0"/>
                <a:cs typeface="Times New Roman" panose="02020603050405020304" pitchFamily="18" charset="0"/>
                <a:sym typeface="Arial"/>
              </a:rPr>
              <a:t> of the OS:</a:t>
            </a:r>
            <a:endParaRPr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2127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5"/>
          <p:cNvSpPr txBox="1">
            <a:spLocks noGrp="1"/>
          </p:cNvSpPr>
          <p:nvPr>
            <p:ph type="title" idx="4294967295"/>
          </p:nvPr>
        </p:nvSpPr>
        <p:spPr>
          <a:xfrm>
            <a:off x="1377950" y="198437"/>
            <a:ext cx="10699750" cy="5762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C00000"/>
              </a:buClr>
              <a:buSzPts val="4400"/>
              <a:buFont typeface="Calibri"/>
              <a:buNone/>
            </a:pPr>
            <a:r>
              <a:rPr lang="en-US" sz="4400" b="0" i="0" u="none" strike="noStrike" cap="none">
                <a:solidFill>
                  <a:srgbClr val="C00000"/>
                </a:solidFill>
                <a:latin typeface="Calibri"/>
                <a:ea typeface="Calibri"/>
                <a:cs typeface="Calibri"/>
                <a:sym typeface="Calibri"/>
              </a:rPr>
              <a:t> Defining Operating System (Cont.) </a:t>
            </a:r>
            <a:endParaRPr/>
          </a:p>
        </p:txBody>
      </p:sp>
      <p:sp>
        <p:nvSpPr>
          <p:cNvPr id="252" name="Google Shape;252;p15"/>
          <p:cNvSpPr txBox="1">
            <a:spLocks noGrp="1"/>
          </p:cNvSpPr>
          <p:nvPr>
            <p:ph type="body" idx="4294967295"/>
          </p:nvPr>
        </p:nvSpPr>
        <p:spPr>
          <a:xfrm>
            <a:off x="278296" y="1357312"/>
            <a:ext cx="11397766" cy="4545012"/>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90000"/>
              </a:lnSpc>
              <a:spcBef>
                <a:spcPts val="0"/>
              </a:spcBef>
              <a:spcAft>
                <a:spcPts val="600"/>
              </a:spcAft>
              <a:buClr>
                <a:schemeClr val="dk1"/>
              </a:buClr>
              <a:buSzPts val="2000"/>
              <a:buFont typeface="Arial"/>
              <a:buChar char="•"/>
            </a:pPr>
            <a:r>
              <a:rPr lang="en-US" sz="2000" b="1" i="0" u="none" dirty="0">
                <a:solidFill>
                  <a:schemeClr val="dk1"/>
                </a:solidFill>
                <a:latin typeface="Verdana"/>
                <a:ea typeface="Verdana"/>
                <a:cs typeface="Verdana"/>
                <a:sym typeface="Verdana"/>
              </a:rPr>
              <a:t>A kernel </a:t>
            </a:r>
            <a:r>
              <a:rPr lang="en-US" sz="2000" b="0" i="0" u="none" dirty="0">
                <a:solidFill>
                  <a:schemeClr val="dk1"/>
                </a:solidFill>
                <a:latin typeface="Verdana"/>
                <a:ea typeface="Verdana"/>
                <a:cs typeface="Verdana"/>
                <a:sym typeface="Verdana"/>
              </a:rPr>
              <a:t>is the central component of an operating system. It manages the system’s resources and provides common services for computer programs.</a:t>
            </a:r>
            <a:endParaRPr dirty="0"/>
          </a:p>
          <a:p>
            <a:pPr marL="228600" marR="0" lvl="0" indent="-228600" algn="just" rtl="0">
              <a:lnSpc>
                <a:spcPct val="90000"/>
              </a:lnSpc>
              <a:spcBef>
                <a:spcPts val="1000"/>
              </a:spcBef>
              <a:spcAft>
                <a:spcPts val="600"/>
              </a:spcAft>
              <a:buClr>
                <a:schemeClr val="dk1"/>
              </a:buClr>
              <a:buSzPts val="2000"/>
              <a:buFont typeface="Arial"/>
              <a:buChar char="•"/>
            </a:pPr>
            <a:r>
              <a:rPr lang="en-US" sz="2000" b="0" i="0" u="none" dirty="0">
                <a:solidFill>
                  <a:schemeClr val="dk1"/>
                </a:solidFill>
                <a:latin typeface="Verdana"/>
                <a:ea typeface="Verdana"/>
                <a:cs typeface="Verdana"/>
                <a:sym typeface="Verdana"/>
              </a:rPr>
              <a:t>The only job performed by the </a:t>
            </a:r>
            <a:r>
              <a:rPr lang="en-US" sz="2000" b="1" i="0" u="none" dirty="0">
                <a:solidFill>
                  <a:schemeClr val="dk1"/>
                </a:solidFill>
                <a:latin typeface="Verdana"/>
                <a:ea typeface="Verdana"/>
                <a:cs typeface="Verdana"/>
                <a:sym typeface="Verdana"/>
              </a:rPr>
              <a:t>kernel</a:t>
            </a:r>
            <a:r>
              <a:rPr lang="en-US" sz="2000" b="0" i="0" u="none" dirty="0">
                <a:solidFill>
                  <a:schemeClr val="dk1"/>
                </a:solidFill>
                <a:latin typeface="Verdana"/>
                <a:ea typeface="Verdana"/>
                <a:cs typeface="Verdana"/>
                <a:sym typeface="Verdana"/>
              </a:rPr>
              <a:t> is to the manage the communication between the software and the hardware.</a:t>
            </a:r>
            <a:endParaRPr dirty="0"/>
          </a:p>
          <a:p>
            <a:pPr marL="228600" marR="0" lvl="0" indent="-228600" algn="just" rtl="0">
              <a:lnSpc>
                <a:spcPct val="90000"/>
              </a:lnSpc>
              <a:spcBef>
                <a:spcPts val="1000"/>
              </a:spcBef>
              <a:spcAft>
                <a:spcPts val="600"/>
              </a:spcAft>
              <a:buClr>
                <a:schemeClr val="dk1"/>
              </a:buClr>
              <a:buSzPts val="2000"/>
              <a:buFont typeface="Arial"/>
              <a:buChar char="•"/>
            </a:pPr>
            <a:r>
              <a:rPr lang="en-US" sz="2000" b="1" i="0" u="none" dirty="0">
                <a:solidFill>
                  <a:schemeClr val="dk1"/>
                </a:solidFill>
                <a:latin typeface="Verdana"/>
                <a:ea typeface="Verdana"/>
                <a:cs typeface="Verdana"/>
                <a:sym typeface="Verdana"/>
              </a:rPr>
              <a:t>Functions of kernel</a:t>
            </a:r>
            <a:endParaRPr dirty="0"/>
          </a:p>
          <a:p>
            <a:pPr lvl="1" algn="just">
              <a:lnSpc>
                <a:spcPct val="100000"/>
              </a:lnSpc>
              <a:spcBef>
                <a:spcPts val="1000"/>
              </a:spcBef>
              <a:spcAft>
                <a:spcPts val="600"/>
              </a:spcAft>
              <a:buClr>
                <a:schemeClr val="dk1"/>
              </a:buClr>
              <a:buSzPts val="2000"/>
              <a:buFont typeface="Arial"/>
              <a:buChar char="•"/>
            </a:pPr>
            <a:r>
              <a:rPr lang="en-US" sz="1800" b="0" i="0" u="none" dirty="0">
                <a:solidFill>
                  <a:srgbClr val="C00000"/>
                </a:solidFill>
                <a:latin typeface="Verdana"/>
                <a:ea typeface="Verdana"/>
                <a:cs typeface="Verdana"/>
                <a:sym typeface="Verdana"/>
              </a:rPr>
              <a:t>The kernel is the core component of an operating system which acts as an interface between applications, and the data is processed at the </a:t>
            </a:r>
            <a:r>
              <a:rPr lang="en-US" sz="1800" b="1" i="0" u="none" dirty="0">
                <a:solidFill>
                  <a:srgbClr val="C00000"/>
                </a:solidFill>
                <a:latin typeface="Verdana"/>
                <a:ea typeface="Verdana"/>
                <a:cs typeface="Verdana"/>
                <a:sym typeface="Verdana"/>
              </a:rPr>
              <a:t>hardware level</a:t>
            </a:r>
            <a:r>
              <a:rPr lang="en-US" sz="1800" b="0" i="0" u="none" dirty="0">
                <a:solidFill>
                  <a:srgbClr val="C00000"/>
                </a:solidFill>
                <a:latin typeface="Verdana"/>
                <a:ea typeface="Verdana"/>
                <a:cs typeface="Verdana"/>
                <a:sym typeface="Verdana"/>
              </a:rPr>
              <a:t>.</a:t>
            </a:r>
            <a:endParaRPr sz="2800" dirty="0">
              <a:solidFill>
                <a:srgbClr val="C00000"/>
              </a:solidFill>
            </a:endParaRPr>
          </a:p>
          <a:p>
            <a:pPr lvl="1" algn="just">
              <a:lnSpc>
                <a:spcPct val="100000"/>
              </a:lnSpc>
              <a:spcBef>
                <a:spcPts val="1000"/>
              </a:spcBef>
              <a:spcAft>
                <a:spcPts val="600"/>
              </a:spcAft>
              <a:buClr>
                <a:schemeClr val="dk1"/>
              </a:buClr>
              <a:buSzPts val="2000"/>
              <a:buFont typeface="Arial"/>
              <a:buChar char="•"/>
            </a:pPr>
            <a:r>
              <a:rPr lang="en-US" sz="1800" b="0" i="0" u="none" dirty="0">
                <a:solidFill>
                  <a:srgbClr val="0070C0"/>
                </a:solidFill>
                <a:latin typeface="Verdana"/>
                <a:ea typeface="Verdana"/>
                <a:cs typeface="Verdana"/>
                <a:sym typeface="Verdana"/>
              </a:rPr>
              <a:t>When an OS is loaded into memory, the kernel is loaded first and remains in memory until the OS is shut down. </a:t>
            </a:r>
            <a:endParaRPr sz="2800" dirty="0">
              <a:solidFill>
                <a:srgbClr val="0070C0"/>
              </a:solidFill>
            </a:endParaRPr>
          </a:p>
          <a:p>
            <a:pPr lvl="1" algn="just">
              <a:lnSpc>
                <a:spcPct val="100000"/>
              </a:lnSpc>
              <a:spcBef>
                <a:spcPts val="1000"/>
              </a:spcBef>
              <a:spcAft>
                <a:spcPts val="600"/>
              </a:spcAft>
              <a:buClr>
                <a:schemeClr val="dk1"/>
              </a:buClr>
              <a:buSzPts val="2000"/>
              <a:buFont typeface="Arial"/>
              <a:buChar char="•"/>
            </a:pPr>
            <a:r>
              <a:rPr lang="en-US" sz="1800" dirty="0">
                <a:solidFill>
                  <a:srgbClr val="C00000"/>
                </a:solidFill>
                <a:latin typeface="Verdana"/>
                <a:ea typeface="Verdana"/>
                <a:sym typeface="Verdana"/>
              </a:rPr>
              <a:t>After that, the kernel provides and manages the computer resources and allows other programs to run and use these resources. </a:t>
            </a:r>
            <a:endParaRPr sz="1800" dirty="0">
              <a:solidFill>
                <a:srgbClr val="C00000"/>
              </a:solidFill>
              <a:latin typeface="Verdana"/>
              <a:ea typeface="Verdana"/>
            </a:endParaRPr>
          </a:p>
          <a:p>
            <a:pPr lvl="1" algn="just">
              <a:lnSpc>
                <a:spcPct val="100000"/>
              </a:lnSpc>
              <a:spcBef>
                <a:spcPts val="1000"/>
              </a:spcBef>
              <a:spcAft>
                <a:spcPts val="600"/>
              </a:spcAft>
              <a:buClr>
                <a:schemeClr val="dk1"/>
              </a:buClr>
              <a:buSzPts val="2000"/>
              <a:buFont typeface="Arial"/>
              <a:buChar char="•"/>
            </a:pPr>
            <a:r>
              <a:rPr lang="en-US" sz="1800" dirty="0">
                <a:solidFill>
                  <a:srgbClr val="0070C0"/>
                </a:solidFill>
                <a:latin typeface="Verdana"/>
                <a:ea typeface="Verdana"/>
                <a:sym typeface="Verdana"/>
              </a:rPr>
              <a:t>The kernel also sets up the memory address space for applications, loads the files with application code into memory, and sets up the </a:t>
            </a:r>
            <a:r>
              <a:rPr lang="en-US" sz="1800" b="1" i="1" dirty="0">
                <a:solidFill>
                  <a:srgbClr val="C00000"/>
                </a:solidFill>
                <a:latin typeface="Verdana"/>
                <a:ea typeface="Verdana"/>
                <a:sym typeface="Verdana"/>
              </a:rPr>
              <a:t>execution stack </a:t>
            </a:r>
            <a:r>
              <a:rPr lang="en-US" sz="1800" dirty="0">
                <a:solidFill>
                  <a:srgbClr val="0070C0"/>
                </a:solidFill>
                <a:latin typeface="Verdana"/>
                <a:ea typeface="Verdana"/>
                <a:sym typeface="Verdana"/>
              </a:rPr>
              <a:t>for programs.</a:t>
            </a:r>
            <a:endParaRPr sz="1800" dirty="0">
              <a:solidFill>
                <a:srgbClr val="0070C0"/>
              </a:solidFill>
              <a:latin typeface="Verdana"/>
              <a:ea typeface="Verdana"/>
            </a:endParaRPr>
          </a:p>
          <a:p>
            <a:pPr marL="228600" marR="0" lvl="0" indent="-101600" algn="l" rtl="0">
              <a:lnSpc>
                <a:spcPct val="90000"/>
              </a:lnSpc>
              <a:spcBef>
                <a:spcPts val="1000"/>
              </a:spcBef>
              <a:spcAft>
                <a:spcPts val="600"/>
              </a:spcAft>
              <a:buClr>
                <a:schemeClr val="dk1"/>
              </a:buClr>
              <a:buSzPts val="2000"/>
              <a:buFont typeface="Arial"/>
              <a:buNone/>
            </a:pPr>
            <a:endParaRPr sz="2000" b="0" i="0" u="none" dirty="0">
              <a:solidFill>
                <a:schemeClr val="dk1"/>
              </a:solidFill>
              <a:latin typeface="Verdana"/>
              <a:ea typeface="Verdana"/>
              <a:cs typeface="Verdana"/>
              <a:sym typeface="Verdana"/>
            </a:endParaRPr>
          </a:p>
        </p:txBody>
      </p:sp>
      <p:sp>
        <p:nvSpPr>
          <p:cNvPr id="253" name="Google Shape;253;p15"/>
          <p:cNvSpPr txBox="1"/>
          <p:nvPr/>
        </p:nvSpPr>
        <p:spPr>
          <a:xfrm>
            <a:off x="1506537" y="839787"/>
            <a:ext cx="9593262" cy="461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strike="noStrike" cap="none">
                <a:solidFill>
                  <a:schemeClr val="dk1"/>
                </a:solidFill>
                <a:latin typeface="Arial"/>
                <a:ea typeface="Arial"/>
                <a:cs typeface="Arial"/>
                <a:sym typeface="Arial"/>
              </a:rPr>
              <a:t>No universally accepted definition of what is </a:t>
            </a:r>
            <a:r>
              <a:rPr lang="en-US" sz="2400" b="1" i="0" u="none" strike="noStrike" cap="none">
                <a:solidFill>
                  <a:schemeClr val="dk1"/>
                </a:solidFill>
                <a:latin typeface="Arial"/>
                <a:ea typeface="Arial"/>
                <a:cs typeface="Arial"/>
                <a:sym typeface="Arial"/>
              </a:rPr>
              <a:t>part</a:t>
            </a:r>
            <a:r>
              <a:rPr lang="en-US" sz="2400" b="0" i="0" u="none" strike="noStrike" cap="none">
                <a:solidFill>
                  <a:schemeClr val="dk1"/>
                </a:solidFill>
                <a:latin typeface="Arial"/>
                <a:ea typeface="Arial"/>
                <a:cs typeface="Arial"/>
                <a:sym typeface="Arial"/>
              </a:rPr>
              <a:t> of the OS:</a:t>
            </a:r>
            <a:endParaRPr/>
          </a:p>
        </p:txBody>
      </p:sp>
    </p:spTree>
    <p:extLst>
      <p:ext uri="{BB962C8B-B14F-4D97-AF65-F5344CB8AC3E}">
        <p14:creationId xmlns:p14="http://schemas.microsoft.com/office/powerpoint/2010/main" val="4125121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301750">
              <a:spcBef>
                <a:spcPts val="100"/>
              </a:spcBef>
            </a:pPr>
            <a:r>
              <a:rPr dirty="0"/>
              <a:t>A</a:t>
            </a:r>
            <a:r>
              <a:rPr spc="-310" dirty="0"/>
              <a:t> </a:t>
            </a:r>
            <a:r>
              <a:rPr dirty="0"/>
              <a:t>Simple</a:t>
            </a:r>
            <a:r>
              <a:rPr spc="-125" dirty="0"/>
              <a:t> </a:t>
            </a:r>
            <a:r>
              <a:rPr spc="-10" dirty="0"/>
              <a:t>Program</a:t>
            </a:r>
          </a:p>
        </p:txBody>
      </p:sp>
      <p:sp>
        <p:nvSpPr>
          <p:cNvPr id="3" name="object 3"/>
          <p:cNvSpPr txBox="1"/>
          <p:nvPr/>
        </p:nvSpPr>
        <p:spPr>
          <a:xfrm>
            <a:off x="2059940" y="1635759"/>
            <a:ext cx="7981950" cy="513080"/>
          </a:xfrm>
          <a:prstGeom prst="rect">
            <a:avLst/>
          </a:prstGeom>
        </p:spPr>
        <p:txBody>
          <a:bodyPr vert="horz" wrap="square" lIns="0" tIns="12700" rIns="0" bIns="0" rtlCol="0">
            <a:spAutoFit/>
          </a:bodyPr>
          <a:lstStyle/>
          <a:p>
            <a:pPr marL="12700">
              <a:spcBef>
                <a:spcPts val="100"/>
              </a:spcBef>
            </a:pPr>
            <a:r>
              <a:rPr sz="3200" kern="0" dirty="0">
                <a:solidFill>
                  <a:sysClr val="windowText" lastClr="000000"/>
                </a:solidFill>
                <a:latin typeface="Arial MT"/>
                <a:cs typeface="Arial MT"/>
              </a:rPr>
              <a:t>What</a:t>
            </a:r>
            <a:r>
              <a:rPr sz="3200" kern="0" spc="-15" dirty="0">
                <a:solidFill>
                  <a:sysClr val="windowText" lastClr="000000"/>
                </a:solidFill>
                <a:latin typeface="Arial MT"/>
                <a:cs typeface="Arial MT"/>
              </a:rPr>
              <a:t> </a:t>
            </a:r>
            <a:r>
              <a:rPr sz="3200" kern="0" dirty="0">
                <a:solidFill>
                  <a:sysClr val="windowText" lastClr="000000"/>
                </a:solidFill>
                <a:latin typeface="Arial MT"/>
                <a:cs typeface="Arial MT"/>
              </a:rPr>
              <a:t>is</a:t>
            </a:r>
            <a:r>
              <a:rPr sz="3200" kern="0" spc="-10" dirty="0">
                <a:solidFill>
                  <a:sysClr val="windowText" lastClr="000000"/>
                </a:solidFill>
                <a:latin typeface="Arial MT"/>
                <a:cs typeface="Arial MT"/>
              </a:rPr>
              <a:t> </a:t>
            </a:r>
            <a:r>
              <a:rPr sz="3200" kern="0" dirty="0">
                <a:solidFill>
                  <a:sysClr val="windowText" lastClr="000000"/>
                </a:solidFill>
                <a:latin typeface="Arial MT"/>
                <a:cs typeface="Arial MT"/>
              </a:rPr>
              <a:t>the</a:t>
            </a:r>
            <a:r>
              <a:rPr sz="3200" kern="0" spc="-10" dirty="0">
                <a:solidFill>
                  <a:sysClr val="windowText" lastClr="000000"/>
                </a:solidFill>
                <a:latin typeface="Arial MT"/>
                <a:cs typeface="Arial MT"/>
              </a:rPr>
              <a:t> </a:t>
            </a:r>
            <a:r>
              <a:rPr sz="3200" kern="0" dirty="0">
                <a:solidFill>
                  <a:sysClr val="windowText" lastClr="000000"/>
                </a:solidFill>
                <a:latin typeface="Arial MT"/>
                <a:cs typeface="Arial MT"/>
              </a:rPr>
              <a:t>output</a:t>
            </a:r>
            <a:r>
              <a:rPr sz="3200" kern="0" spc="-15" dirty="0">
                <a:solidFill>
                  <a:sysClr val="windowText" lastClr="000000"/>
                </a:solidFill>
                <a:latin typeface="Arial MT"/>
                <a:cs typeface="Arial MT"/>
              </a:rPr>
              <a:t> </a:t>
            </a:r>
            <a:r>
              <a:rPr sz="3200" kern="0" dirty="0">
                <a:solidFill>
                  <a:sysClr val="windowText" lastClr="000000"/>
                </a:solidFill>
                <a:latin typeface="Arial MT"/>
                <a:cs typeface="Arial MT"/>
              </a:rPr>
              <a:t>of</a:t>
            </a:r>
            <a:r>
              <a:rPr sz="3200" kern="0" spc="-15" dirty="0">
                <a:solidFill>
                  <a:sysClr val="windowText" lastClr="000000"/>
                </a:solidFill>
                <a:latin typeface="Arial MT"/>
                <a:cs typeface="Arial MT"/>
              </a:rPr>
              <a:t> </a:t>
            </a:r>
            <a:r>
              <a:rPr sz="3200" kern="0" dirty="0">
                <a:solidFill>
                  <a:sysClr val="windowText" lastClr="000000"/>
                </a:solidFill>
                <a:latin typeface="Arial MT"/>
                <a:cs typeface="Arial MT"/>
              </a:rPr>
              <a:t>the</a:t>
            </a:r>
            <a:r>
              <a:rPr sz="3200" kern="0" spc="-10" dirty="0">
                <a:solidFill>
                  <a:sysClr val="windowText" lastClr="000000"/>
                </a:solidFill>
                <a:latin typeface="Arial MT"/>
                <a:cs typeface="Arial MT"/>
              </a:rPr>
              <a:t> </a:t>
            </a:r>
            <a:r>
              <a:rPr sz="3200" kern="0" dirty="0">
                <a:solidFill>
                  <a:sysClr val="windowText" lastClr="000000"/>
                </a:solidFill>
                <a:latin typeface="Arial MT"/>
                <a:cs typeface="Arial MT"/>
              </a:rPr>
              <a:t>following</a:t>
            </a:r>
            <a:r>
              <a:rPr sz="3200" kern="0" spc="-5" dirty="0">
                <a:solidFill>
                  <a:sysClr val="windowText" lastClr="000000"/>
                </a:solidFill>
                <a:latin typeface="Arial MT"/>
                <a:cs typeface="Arial MT"/>
              </a:rPr>
              <a:t> </a:t>
            </a:r>
            <a:r>
              <a:rPr sz="3200" kern="0" spc="-10" dirty="0">
                <a:solidFill>
                  <a:sysClr val="windowText" lastClr="000000"/>
                </a:solidFill>
                <a:latin typeface="Arial MT"/>
                <a:cs typeface="Arial MT"/>
              </a:rPr>
              <a:t>program?</a:t>
            </a:r>
            <a:endParaRPr sz="3200" kern="0">
              <a:solidFill>
                <a:sysClr val="windowText" lastClr="000000"/>
              </a:solidFill>
              <a:latin typeface="Arial MT"/>
              <a:cs typeface="Arial MT"/>
            </a:endParaRPr>
          </a:p>
        </p:txBody>
      </p:sp>
      <p:sp>
        <p:nvSpPr>
          <p:cNvPr id="4" name="object 4"/>
          <p:cNvSpPr txBox="1"/>
          <p:nvPr/>
        </p:nvSpPr>
        <p:spPr>
          <a:xfrm>
            <a:off x="2059941" y="4594859"/>
            <a:ext cx="7670165" cy="513080"/>
          </a:xfrm>
          <a:prstGeom prst="rect">
            <a:avLst/>
          </a:prstGeom>
        </p:spPr>
        <p:txBody>
          <a:bodyPr vert="horz" wrap="square" lIns="0" tIns="12700" rIns="0" bIns="0" rtlCol="0">
            <a:spAutoFit/>
          </a:bodyPr>
          <a:lstStyle/>
          <a:p>
            <a:pPr marL="12700">
              <a:spcBef>
                <a:spcPts val="100"/>
              </a:spcBef>
            </a:pPr>
            <a:r>
              <a:rPr sz="3200" kern="0" dirty="0">
                <a:solidFill>
                  <a:sysClr val="windowText" lastClr="000000"/>
                </a:solidFill>
                <a:latin typeface="Arial MT"/>
                <a:cs typeface="Arial MT"/>
              </a:rPr>
              <a:t>How</a:t>
            </a:r>
            <a:r>
              <a:rPr sz="3200" kern="0" spc="-10" dirty="0">
                <a:solidFill>
                  <a:sysClr val="windowText" lastClr="000000"/>
                </a:solidFill>
                <a:latin typeface="Arial MT"/>
                <a:cs typeface="Arial MT"/>
              </a:rPr>
              <a:t> </a:t>
            </a:r>
            <a:r>
              <a:rPr sz="3200" kern="0" dirty="0">
                <a:solidFill>
                  <a:sysClr val="windowText" lastClr="000000"/>
                </a:solidFill>
                <a:latin typeface="Arial MT"/>
                <a:cs typeface="Arial MT"/>
              </a:rPr>
              <a:t>is</a:t>
            </a:r>
            <a:r>
              <a:rPr sz="3200" kern="0" spc="-15" dirty="0">
                <a:solidFill>
                  <a:sysClr val="windowText" lastClr="000000"/>
                </a:solidFill>
                <a:latin typeface="Arial MT"/>
                <a:cs typeface="Arial MT"/>
              </a:rPr>
              <a:t> </a:t>
            </a:r>
            <a:r>
              <a:rPr sz="3200" kern="0" dirty="0">
                <a:solidFill>
                  <a:sysClr val="windowText" lastClr="000000"/>
                </a:solidFill>
                <a:latin typeface="Arial MT"/>
                <a:cs typeface="Arial MT"/>
              </a:rPr>
              <a:t>the</a:t>
            </a:r>
            <a:r>
              <a:rPr sz="3200" kern="0" spc="-10" dirty="0">
                <a:solidFill>
                  <a:sysClr val="windowText" lastClr="000000"/>
                </a:solidFill>
                <a:latin typeface="Arial MT"/>
                <a:cs typeface="Arial MT"/>
              </a:rPr>
              <a:t> </a:t>
            </a:r>
            <a:r>
              <a:rPr sz="3200" kern="0" dirty="0">
                <a:solidFill>
                  <a:sysClr val="windowText" lastClr="000000"/>
                </a:solidFill>
                <a:latin typeface="Arial MT"/>
                <a:cs typeface="Arial MT"/>
              </a:rPr>
              <a:t>string</a:t>
            </a:r>
            <a:r>
              <a:rPr sz="3200" kern="0" spc="-10" dirty="0">
                <a:solidFill>
                  <a:sysClr val="windowText" lastClr="000000"/>
                </a:solidFill>
                <a:latin typeface="Arial MT"/>
                <a:cs typeface="Arial MT"/>
              </a:rPr>
              <a:t> </a:t>
            </a:r>
            <a:r>
              <a:rPr sz="3200" kern="0" dirty="0">
                <a:solidFill>
                  <a:sysClr val="windowText" lastClr="000000"/>
                </a:solidFill>
                <a:latin typeface="Arial MT"/>
                <a:cs typeface="Arial MT"/>
              </a:rPr>
              <a:t>displayed</a:t>
            </a:r>
            <a:r>
              <a:rPr sz="3200" kern="0" spc="-10" dirty="0">
                <a:solidFill>
                  <a:sysClr val="windowText" lastClr="000000"/>
                </a:solidFill>
                <a:latin typeface="Arial MT"/>
                <a:cs typeface="Arial MT"/>
              </a:rPr>
              <a:t> </a:t>
            </a:r>
            <a:r>
              <a:rPr sz="3200" kern="0" dirty="0">
                <a:solidFill>
                  <a:sysClr val="windowText" lastClr="000000"/>
                </a:solidFill>
                <a:latin typeface="Arial MT"/>
                <a:cs typeface="Arial MT"/>
              </a:rPr>
              <a:t>on</a:t>
            </a:r>
            <a:r>
              <a:rPr sz="3200" kern="0" spc="-10" dirty="0">
                <a:solidFill>
                  <a:sysClr val="windowText" lastClr="000000"/>
                </a:solidFill>
                <a:latin typeface="Arial MT"/>
                <a:cs typeface="Arial MT"/>
              </a:rPr>
              <a:t> </a:t>
            </a:r>
            <a:r>
              <a:rPr sz="3200" kern="0" dirty="0">
                <a:solidFill>
                  <a:sysClr val="windowText" lastClr="000000"/>
                </a:solidFill>
                <a:latin typeface="Arial MT"/>
                <a:cs typeface="Arial MT"/>
              </a:rPr>
              <a:t>the</a:t>
            </a:r>
            <a:r>
              <a:rPr sz="3200" kern="0" spc="-15" dirty="0">
                <a:solidFill>
                  <a:sysClr val="windowText" lastClr="000000"/>
                </a:solidFill>
                <a:latin typeface="Arial MT"/>
                <a:cs typeface="Arial MT"/>
              </a:rPr>
              <a:t> </a:t>
            </a:r>
            <a:r>
              <a:rPr sz="3200" kern="0" spc="-10" dirty="0">
                <a:solidFill>
                  <a:sysClr val="windowText" lastClr="000000"/>
                </a:solidFill>
                <a:latin typeface="Arial MT"/>
                <a:cs typeface="Arial MT"/>
              </a:rPr>
              <a:t>screen?</a:t>
            </a:r>
            <a:endParaRPr sz="3200" kern="0">
              <a:solidFill>
                <a:sysClr val="windowText" lastClr="000000"/>
              </a:solidFill>
              <a:latin typeface="Arial MT"/>
              <a:cs typeface="Arial MT"/>
            </a:endParaRPr>
          </a:p>
        </p:txBody>
      </p:sp>
      <p:grpSp>
        <p:nvGrpSpPr>
          <p:cNvPr id="5" name="object 5"/>
          <p:cNvGrpSpPr/>
          <p:nvPr/>
        </p:nvGrpSpPr>
        <p:grpSpPr>
          <a:xfrm>
            <a:off x="4028848" y="2428648"/>
            <a:ext cx="4210685" cy="1734185"/>
            <a:chOff x="2504847" y="2428647"/>
            <a:chExt cx="4210685" cy="1734185"/>
          </a:xfrm>
        </p:grpSpPr>
        <p:pic>
          <p:nvPicPr>
            <p:cNvPr id="6" name="object 6"/>
            <p:cNvPicPr/>
            <p:nvPr/>
          </p:nvPicPr>
          <p:blipFill>
            <a:blip r:embed="rId2" cstate="print"/>
            <a:stretch>
              <a:fillRect/>
            </a:stretch>
          </p:blipFill>
          <p:spPr>
            <a:xfrm>
              <a:off x="2578100" y="2501900"/>
              <a:ext cx="3921125" cy="1555750"/>
            </a:xfrm>
            <a:prstGeom prst="rect">
              <a:avLst/>
            </a:prstGeom>
          </p:spPr>
        </p:pic>
        <p:sp>
          <p:nvSpPr>
            <p:cNvPr id="7" name="object 7"/>
            <p:cNvSpPr/>
            <p:nvPr/>
          </p:nvSpPr>
          <p:spPr>
            <a:xfrm>
              <a:off x="2509520" y="2433320"/>
              <a:ext cx="4201160" cy="1724660"/>
            </a:xfrm>
            <a:custGeom>
              <a:avLst/>
              <a:gdLst/>
              <a:ahLst/>
              <a:cxnLst/>
              <a:rect l="l" t="t" r="r" b="b"/>
              <a:pathLst>
                <a:path w="4201159" h="1724660">
                  <a:moveTo>
                    <a:pt x="0" y="0"/>
                  </a:moveTo>
                  <a:lnTo>
                    <a:pt x="4201159" y="0"/>
                  </a:lnTo>
                  <a:lnTo>
                    <a:pt x="4201159" y="1724659"/>
                  </a:lnTo>
                  <a:lnTo>
                    <a:pt x="0" y="1724659"/>
                  </a:lnTo>
                  <a:lnTo>
                    <a:pt x="0" y="0"/>
                  </a:lnTo>
                  <a:close/>
                </a:path>
              </a:pathLst>
            </a:custGeom>
            <a:ln w="9344">
              <a:solidFill>
                <a:srgbClr val="000000"/>
              </a:solidFill>
            </a:ln>
          </p:spPr>
          <p:txBody>
            <a:bodyPr wrap="square" lIns="0" tIns="0" rIns="0" bIns="0" rtlCol="0"/>
            <a:lstStyle/>
            <a:p>
              <a:endParaRPr kern="0">
                <a:solidFill>
                  <a:sysClr val="windowText" lastClr="000000"/>
                </a:solidFil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967038" y="1900238"/>
            <a:ext cx="1152525" cy="875665"/>
            <a:chOff x="1443037" y="1900237"/>
            <a:chExt cx="1152525" cy="875665"/>
          </a:xfrm>
        </p:grpSpPr>
        <p:sp>
          <p:nvSpPr>
            <p:cNvPr id="3" name="object 3"/>
            <p:cNvSpPr/>
            <p:nvPr/>
          </p:nvSpPr>
          <p:spPr>
            <a:xfrm>
              <a:off x="1447800" y="1905000"/>
              <a:ext cx="1143000" cy="866140"/>
            </a:xfrm>
            <a:custGeom>
              <a:avLst/>
              <a:gdLst/>
              <a:ahLst/>
              <a:cxnLst/>
              <a:rect l="l" t="t" r="r" b="b"/>
              <a:pathLst>
                <a:path w="1143000" h="866139">
                  <a:moveTo>
                    <a:pt x="800100" y="0"/>
                  </a:moveTo>
                  <a:lnTo>
                    <a:pt x="800100" y="116839"/>
                  </a:lnTo>
                  <a:lnTo>
                    <a:pt x="657860" y="116839"/>
                  </a:lnTo>
                  <a:lnTo>
                    <a:pt x="597997" y="118358"/>
                  </a:lnTo>
                  <a:lnTo>
                    <a:pt x="539636" y="122825"/>
                  </a:lnTo>
                  <a:lnTo>
                    <a:pt x="483011" y="130110"/>
                  </a:lnTo>
                  <a:lnTo>
                    <a:pt x="428354" y="140079"/>
                  </a:lnTo>
                  <a:lnTo>
                    <a:pt x="375896" y="152602"/>
                  </a:lnTo>
                  <a:lnTo>
                    <a:pt x="325872" y="167545"/>
                  </a:lnTo>
                  <a:lnTo>
                    <a:pt x="278513" y="184778"/>
                  </a:lnTo>
                  <a:lnTo>
                    <a:pt x="234052" y="204168"/>
                  </a:lnTo>
                  <a:lnTo>
                    <a:pt x="192722" y="225583"/>
                  </a:lnTo>
                  <a:lnTo>
                    <a:pt x="154755" y="248892"/>
                  </a:lnTo>
                  <a:lnTo>
                    <a:pt x="120383" y="273961"/>
                  </a:lnTo>
                  <a:lnTo>
                    <a:pt x="89840" y="300660"/>
                  </a:lnTo>
                  <a:lnTo>
                    <a:pt x="63358" y="328857"/>
                  </a:lnTo>
                  <a:lnTo>
                    <a:pt x="23506" y="389213"/>
                  </a:lnTo>
                  <a:lnTo>
                    <a:pt x="2689" y="453976"/>
                  </a:lnTo>
                  <a:lnTo>
                    <a:pt x="0" y="487679"/>
                  </a:lnTo>
                  <a:lnTo>
                    <a:pt x="0" y="866139"/>
                  </a:lnTo>
                  <a:lnTo>
                    <a:pt x="341630" y="866139"/>
                  </a:lnTo>
                  <a:lnTo>
                    <a:pt x="341630" y="487679"/>
                  </a:lnTo>
                  <a:lnTo>
                    <a:pt x="348081" y="464063"/>
                  </a:lnTo>
                  <a:lnTo>
                    <a:pt x="395810" y="422247"/>
                  </a:lnTo>
                  <a:lnTo>
                    <a:pt x="434498" y="404971"/>
                  </a:lnTo>
                  <a:lnTo>
                    <a:pt x="481342" y="390730"/>
                  </a:lnTo>
                  <a:lnTo>
                    <a:pt x="535047" y="379987"/>
                  </a:lnTo>
                  <a:lnTo>
                    <a:pt x="594317" y="373203"/>
                  </a:lnTo>
                  <a:lnTo>
                    <a:pt x="657860" y="370839"/>
                  </a:lnTo>
                  <a:lnTo>
                    <a:pt x="964406" y="370839"/>
                  </a:lnTo>
                  <a:lnTo>
                    <a:pt x="1143000" y="243839"/>
                  </a:lnTo>
                  <a:lnTo>
                    <a:pt x="800100" y="0"/>
                  </a:lnTo>
                  <a:close/>
                </a:path>
                <a:path w="1143000" h="866139">
                  <a:moveTo>
                    <a:pt x="964406" y="370839"/>
                  </a:moveTo>
                  <a:lnTo>
                    <a:pt x="800100" y="370839"/>
                  </a:lnTo>
                  <a:lnTo>
                    <a:pt x="800100" y="487679"/>
                  </a:lnTo>
                  <a:lnTo>
                    <a:pt x="964406" y="370839"/>
                  </a:lnTo>
                  <a:close/>
                </a:path>
              </a:pathLst>
            </a:custGeom>
            <a:solidFill>
              <a:srgbClr val="BADFE2"/>
            </a:solidFill>
          </p:spPr>
          <p:txBody>
            <a:bodyPr wrap="square" lIns="0" tIns="0" rIns="0" bIns="0" rtlCol="0"/>
            <a:lstStyle/>
            <a:p>
              <a:endParaRPr kern="0">
                <a:solidFill>
                  <a:sysClr val="windowText" lastClr="000000"/>
                </a:solidFill>
              </a:endParaRPr>
            </a:p>
          </p:txBody>
        </p:sp>
        <p:sp>
          <p:nvSpPr>
            <p:cNvPr id="4" name="object 4"/>
            <p:cNvSpPr/>
            <p:nvPr/>
          </p:nvSpPr>
          <p:spPr>
            <a:xfrm>
              <a:off x="1447800" y="1905000"/>
              <a:ext cx="1143000" cy="866140"/>
            </a:xfrm>
            <a:custGeom>
              <a:avLst/>
              <a:gdLst/>
              <a:ahLst/>
              <a:cxnLst/>
              <a:rect l="l" t="t" r="r" b="b"/>
              <a:pathLst>
                <a:path w="1143000" h="866139">
                  <a:moveTo>
                    <a:pt x="1143000" y="243839"/>
                  </a:moveTo>
                  <a:lnTo>
                    <a:pt x="800100" y="0"/>
                  </a:lnTo>
                  <a:lnTo>
                    <a:pt x="800100" y="116839"/>
                  </a:lnTo>
                  <a:lnTo>
                    <a:pt x="657860" y="116839"/>
                  </a:lnTo>
                  <a:lnTo>
                    <a:pt x="597997" y="118358"/>
                  </a:lnTo>
                  <a:lnTo>
                    <a:pt x="539636" y="122825"/>
                  </a:lnTo>
                  <a:lnTo>
                    <a:pt x="483011" y="130110"/>
                  </a:lnTo>
                  <a:lnTo>
                    <a:pt x="428354" y="140079"/>
                  </a:lnTo>
                  <a:lnTo>
                    <a:pt x="375896" y="152602"/>
                  </a:lnTo>
                  <a:lnTo>
                    <a:pt x="325872" y="167545"/>
                  </a:lnTo>
                  <a:lnTo>
                    <a:pt x="278513" y="184778"/>
                  </a:lnTo>
                  <a:lnTo>
                    <a:pt x="234052" y="204168"/>
                  </a:lnTo>
                  <a:lnTo>
                    <a:pt x="192722" y="225583"/>
                  </a:lnTo>
                  <a:lnTo>
                    <a:pt x="154755" y="248892"/>
                  </a:lnTo>
                  <a:lnTo>
                    <a:pt x="120383" y="273961"/>
                  </a:lnTo>
                  <a:lnTo>
                    <a:pt x="89840" y="300660"/>
                  </a:lnTo>
                  <a:lnTo>
                    <a:pt x="63358" y="328857"/>
                  </a:lnTo>
                  <a:lnTo>
                    <a:pt x="23506" y="389213"/>
                  </a:lnTo>
                  <a:lnTo>
                    <a:pt x="2689" y="453976"/>
                  </a:lnTo>
                  <a:lnTo>
                    <a:pt x="0" y="487679"/>
                  </a:lnTo>
                  <a:lnTo>
                    <a:pt x="0" y="866139"/>
                  </a:lnTo>
                  <a:lnTo>
                    <a:pt x="341630" y="866139"/>
                  </a:lnTo>
                  <a:lnTo>
                    <a:pt x="341630" y="487679"/>
                  </a:lnTo>
                  <a:lnTo>
                    <a:pt x="348081" y="464063"/>
                  </a:lnTo>
                  <a:lnTo>
                    <a:pt x="395810" y="422247"/>
                  </a:lnTo>
                  <a:lnTo>
                    <a:pt x="434498" y="404971"/>
                  </a:lnTo>
                  <a:lnTo>
                    <a:pt x="481342" y="390730"/>
                  </a:lnTo>
                  <a:lnTo>
                    <a:pt x="535047" y="379987"/>
                  </a:lnTo>
                  <a:lnTo>
                    <a:pt x="594317" y="373203"/>
                  </a:lnTo>
                  <a:lnTo>
                    <a:pt x="657860" y="370839"/>
                  </a:lnTo>
                  <a:lnTo>
                    <a:pt x="800100" y="370839"/>
                  </a:lnTo>
                  <a:lnTo>
                    <a:pt x="800100" y="487679"/>
                  </a:lnTo>
                  <a:lnTo>
                    <a:pt x="1143000" y="243839"/>
                  </a:lnTo>
                  <a:close/>
                </a:path>
              </a:pathLst>
            </a:custGeom>
            <a:ln w="9344">
              <a:solidFill>
                <a:srgbClr val="000000"/>
              </a:solidFill>
            </a:ln>
          </p:spPr>
          <p:txBody>
            <a:bodyPr wrap="square" lIns="0" tIns="0" rIns="0" bIns="0" rtlCol="0"/>
            <a:lstStyle/>
            <a:p>
              <a:endParaRPr kern="0">
                <a:solidFill>
                  <a:sysClr val="windowText" lastClr="000000"/>
                </a:solidFill>
              </a:endParaRPr>
            </a:p>
          </p:txBody>
        </p:sp>
        <p:sp>
          <p:nvSpPr>
            <p:cNvPr id="5" name="object 5"/>
            <p:cNvSpPr/>
            <p:nvPr/>
          </p:nvSpPr>
          <p:spPr>
            <a:xfrm>
              <a:off x="1443126" y="1900338"/>
              <a:ext cx="1152525" cy="875665"/>
            </a:xfrm>
            <a:custGeom>
              <a:avLst/>
              <a:gdLst/>
              <a:ahLst/>
              <a:cxnLst/>
              <a:rect l="l" t="t" r="r" b="b"/>
              <a:pathLst>
                <a:path w="1152525" h="875664">
                  <a:moveTo>
                    <a:pt x="9334" y="4660"/>
                  </a:moveTo>
                  <a:lnTo>
                    <a:pt x="7975" y="1358"/>
                  </a:lnTo>
                  <a:lnTo>
                    <a:pt x="4673" y="0"/>
                  </a:lnTo>
                  <a:lnTo>
                    <a:pt x="1358" y="1358"/>
                  </a:lnTo>
                  <a:lnTo>
                    <a:pt x="0" y="4660"/>
                  </a:lnTo>
                  <a:lnTo>
                    <a:pt x="1358" y="7975"/>
                  </a:lnTo>
                  <a:lnTo>
                    <a:pt x="4673" y="9334"/>
                  </a:lnTo>
                  <a:lnTo>
                    <a:pt x="7975" y="7975"/>
                  </a:lnTo>
                  <a:lnTo>
                    <a:pt x="9334" y="4660"/>
                  </a:lnTo>
                  <a:close/>
                </a:path>
                <a:path w="1152525" h="875664">
                  <a:moveTo>
                    <a:pt x="1152334" y="870800"/>
                  </a:moveTo>
                  <a:lnTo>
                    <a:pt x="1150975" y="867498"/>
                  </a:lnTo>
                  <a:lnTo>
                    <a:pt x="1147673" y="866140"/>
                  </a:lnTo>
                  <a:lnTo>
                    <a:pt x="1144358" y="867498"/>
                  </a:lnTo>
                  <a:lnTo>
                    <a:pt x="1143000" y="870800"/>
                  </a:lnTo>
                  <a:lnTo>
                    <a:pt x="1144358" y="874115"/>
                  </a:lnTo>
                  <a:lnTo>
                    <a:pt x="1147673" y="875474"/>
                  </a:lnTo>
                  <a:lnTo>
                    <a:pt x="1150975" y="874115"/>
                  </a:lnTo>
                  <a:lnTo>
                    <a:pt x="1152334" y="870800"/>
                  </a:lnTo>
                  <a:close/>
                </a:path>
              </a:pathLst>
            </a:custGeom>
            <a:solidFill>
              <a:srgbClr val="000000"/>
            </a:solidFill>
          </p:spPr>
          <p:txBody>
            <a:bodyPr wrap="square" lIns="0" tIns="0" rIns="0" bIns="0" rtlCol="0"/>
            <a:lstStyle/>
            <a:p>
              <a:endParaRPr kern="0">
                <a:solidFill>
                  <a:sysClr val="windowText" lastClr="000000"/>
                </a:solidFill>
              </a:endParaRPr>
            </a:p>
          </p:txBody>
        </p:sp>
      </p:grpSp>
      <p:sp>
        <p:nvSpPr>
          <p:cNvPr id="6" name="object 6"/>
          <p:cNvSpPr txBox="1">
            <a:spLocks noGrp="1"/>
          </p:cNvSpPr>
          <p:nvPr>
            <p:ph type="title"/>
          </p:nvPr>
        </p:nvSpPr>
        <p:spPr>
          <a:xfrm>
            <a:off x="2973069" y="497840"/>
            <a:ext cx="6238240" cy="695960"/>
          </a:xfrm>
          <a:prstGeom prst="rect">
            <a:avLst/>
          </a:prstGeom>
        </p:spPr>
        <p:txBody>
          <a:bodyPr vert="horz" wrap="square" lIns="0" tIns="12700" rIns="0" bIns="0" rtlCol="0">
            <a:spAutoFit/>
          </a:bodyPr>
          <a:lstStyle/>
          <a:p>
            <a:pPr marL="12700">
              <a:spcBef>
                <a:spcPts val="100"/>
              </a:spcBef>
              <a:tabLst>
                <a:tab pos="4454525" algn="l"/>
              </a:tabLst>
            </a:pPr>
            <a:r>
              <a:rPr dirty="0"/>
              <a:t>Displaying</a:t>
            </a:r>
            <a:r>
              <a:rPr spc="-110" dirty="0"/>
              <a:t> </a:t>
            </a:r>
            <a:r>
              <a:rPr dirty="0"/>
              <a:t>on</a:t>
            </a:r>
            <a:r>
              <a:rPr spc="-105" dirty="0"/>
              <a:t> </a:t>
            </a:r>
            <a:r>
              <a:rPr spc="-25" dirty="0"/>
              <a:t>the</a:t>
            </a:r>
            <a:r>
              <a:rPr dirty="0"/>
              <a:t>	</a:t>
            </a:r>
            <a:r>
              <a:rPr spc="-10" dirty="0"/>
              <a:t>Screen</a:t>
            </a:r>
          </a:p>
        </p:txBody>
      </p:sp>
      <p:sp>
        <p:nvSpPr>
          <p:cNvPr id="7" name="object 7"/>
          <p:cNvSpPr txBox="1"/>
          <p:nvPr/>
        </p:nvSpPr>
        <p:spPr>
          <a:xfrm>
            <a:off x="2059941" y="4791709"/>
            <a:ext cx="106045" cy="635000"/>
          </a:xfrm>
          <a:prstGeom prst="rect">
            <a:avLst/>
          </a:prstGeom>
        </p:spPr>
        <p:txBody>
          <a:bodyPr vert="horz" wrap="square" lIns="0" tIns="43180" rIns="0" bIns="0" rtlCol="0">
            <a:spAutoFit/>
          </a:bodyPr>
          <a:lstStyle/>
          <a:p>
            <a:pPr marL="12700">
              <a:spcBef>
                <a:spcPts val="340"/>
              </a:spcBef>
            </a:pPr>
            <a:r>
              <a:rPr kern="0" spc="-50" dirty="0">
                <a:solidFill>
                  <a:sysClr val="windowText" lastClr="000000"/>
                </a:solidFill>
                <a:latin typeface="Arial MT"/>
                <a:cs typeface="Arial MT"/>
              </a:rPr>
              <a:t>•</a:t>
            </a:r>
            <a:endParaRPr kern="0">
              <a:solidFill>
                <a:sysClr val="windowText" lastClr="000000"/>
              </a:solidFill>
              <a:latin typeface="Arial MT"/>
              <a:cs typeface="Arial MT"/>
            </a:endParaRPr>
          </a:p>
          <a:p>
            <a:pPr marL="12700">
              <a:spcBef>
                <a:spcPts val="240"/>
              </a:spcBef>
            </a:pPr>
            <a:r>
              <a:rPr kern="0" spc="-50" dirty="0">
                <a:solidFill>
                  <a:sysClr val="windowText" lastClr="000000"/>
                </a:solidFill>
                <a:latin typeface="Arial MT"/>
                <a:cs typeface="Arial MT"/>
              </a:rPr>
              <a:t>•</a:t>
            </a:r>
            <a:endParaRPr kern="0">
              <a:solidFill>
                <a:sysClr val="windowText" lastClr="000000"/>
              </a:solidFill>
              <a:latin typeface="Arial MT"/>
              <a:cs typeface="Arial MT"/>
            </a:endParaRPr>
          </a:p>
        </p:txBody>
      </p:sp>
      <p:sp>
        <p:nvSpPr>
          <p:cNvPr id="8" name="object 8"/>
          <p:cNvSpPr txBox="1"/>
          <p:nvPr/>
        </p:nvSpPr>
        <p:spPr>
          <a:xfrm>
            <a:off x="2402839" y="4804410"/>
            <a:ext cx="2914650" cy="603499"/>
          </a:xfrm>
          <a:prstGeom prst="rect">
            <a:avLst/>
          </a:prstGeom>
        </p:spPr>
        <p:txBody>
          <a:bodyPr vert="horz" wrap="square" lIns="0" tIns="12700" rIns="0" bIns="0" rtlCol="0">
            <a:spAutoFit/>
          </a:bodyPr>
          <a:lstStyle/>
          <a:p>
            <a:pPr marL="12700" marR="5080">
              <a:lnSpc>
                <a:spcPct val="111100"/>
              </a:lnSpc>
              <a:spcBef>
                <a:spcPts val="100"/>
              </a:spcBef>
            </a:pPr>
            <a:r>
              <a:rPr kern="0" dirty="0">
                <a:solidFill>
                  <a:sysClr val="windowText" lastClr="000000"/>
                </a:solidFill>
                <a:latin typeface="Arial MT"/>
                <a:cs typeface="Arial MT"/>
              </a:rPr>
              <a:t>Can</a:t>
            </a:r>
            <a:r>
              <a:rPr kern="0" spc="-30" dirty="0">
                <a:solidFill>
                  <a:sysClr val="windowText" lastClr="000000"/>
                </a:solidFill>
                <a:latin typeface="Arial MT"/>
                <a:cs typeface="Arial MT"/>
              </a:rPr>
              <a:t> </a:t>
            </a:r>
            <a:r>
              <a:rPr kern="0" dirty="0">
                <a:solidFill>
                  <a:sysClr val="windowText" lastClr="000000"/>
                </a:solidFill>
                <a:latin typeface="Arial MT"/>
                <a:cs typeface="Arial MT"/>
              </a:rPr>
              <a:t>be</a:t>
            </a:r>
            <a:r>
              <a:rPr kern="0" spc="-25" dirty="0">
                <a:solidFill>
                  <a:sysClr val="windowText" lastClr="000000"/>
                </a:solidFill>
                <a:latin typeface="Arial MT"/>
                <a:cs typeface="Arial MT"/>
              </a:rPr>
              <a:t> </a:t>
            </a:r>
            <a:r>
              <a:rPr kern="0" dirty="0">
                <a:solidFill>
                  <a:sysClr val="windowText" lastClr="000000"/>
                </a:solidFill>
                <a:latin typeface="Arial MT"/>
                <a:cs typeface="Arial MT"/>
              </a:rPr>
              <a:t>complex</a:t>
            </a:r>
            <a:r>
              <a:rPr kern="0" spc="-25" dirty="0">
                <a:solidFill>
                  <a:sysClr val="windowText" lastClr="000000"/>
                </a:solidFill>
                <a:latin typeface="Arial MT"/>
                <a:cs typeface="Arial MT"/>
              </a:rPr>
              <a:t> </a:t>
            </a:r>
            <a:r>
              <a:rPr kern="0" dirty="0">
                <a:solidFill>
                  <a:sysClr val="windowText" lastClr="000000"/>
                </a:solidFill>
                <a:latin typeface="Arial MT"/>
                <a:cs typeface="Arial MT"/>
              </a:rPr>
              <a:t>and</a:t>
            </a:r>
            <a:r>
              <a:rPr kern="0" spc="-25" dirty="0">
                <a:solidFill>
                  <a:sysClr val="windowText" lastClr="000000"/>
                </a:solidFill>
                <a:latin typeface="Arial MT"/>
                <a:cs typeface="Arial MT"/>
              </a:rPr>
              <a:t> </a:t>
            </a:r>
            <a:r>
              <a:rPr kern="0" spc="-10" dirty="0">
                <a:solidFill>
                  <a:sysClr val="windowText" lastClr="000000"/>
                </a:solidFill>
                <a:latin typeface="Arial MT"/>
                <a:cs typeface="Arial MT"/>
              </a:rPr>
              <a:t>tedious </a:t>
            </a:r>
            <a:r>
              <a:rPr kern="0" dirty="0">
                <a:solidFill>
                  <a:sysClr val="windowText" lastClr="000000"/>
                </a:solidFill>
                <a:latin typeface="Arial MT"/>
                <a:cs typeface="Arial MT"/>
              </a:rPr>
              <a:t>Hardware</a:t>
            </a:r>
            <a:r>
              <a:rPr kern="0" spc="-50" dirty="0">
                <a:solidFill>
                  <a:sysClr val="windowText" lastClr="000000"/>
                </a:solidFill>
                <a:latin typeface="Arial MT"/>
                <a:cs typeface="Arial MT"/>
              </a:rPr>
              <a:t> </a:t>
            </a:r>
            <a:r>
              <a:rPr kern="0" spc="-10" dirty="0">
                <a:solidFill>
                  <a:sysClr val="windowText" lastClr="000000"/>
                </a:solidFill>
                <a:latin typeface="Arial MT"/>
                <a:cs typeface="Arial MT"/>
              </a:rPr>
              <a:t>dependent</a:t>
            </a:r>
            <a:endParaRPr kern="0">
              <a:solidFill>
                <a:sysClr val="windowText" lastClr="000000"/>
              </a:solidFill>
              <a:latin typeface="Arial MT"/>
              <a:cs typeface="Arial MT"/>
            </a:endParaRPr>
          </a:p>
        </p:txBody>
      </p:sp>
      <p:sp>
        <p:nvSpPr>
          <p:cNvPr id="9" name="object 9"/>
          <p:cNvSpPr txBox="1"/>
          <p:nvPr/>
        </p:nvSpPr>
        <p:spPr>
          <a:xfrm>
            <a:off x="2059941" y="5758179"/>
            <a:ext cx="7806055" cy="299720"/>
          </a:xfrm>
          <a:prstGeom prst="rect">
            <a:avLst/>
          </a:prstGeom>
        </p:spPr>
        <p:txBody>
          <a:bodyPr vert="horz" wrap="square" lIns="0" tIns="12700" rIns="0" bIns="0" rtlCol="0">
            <a:spAutoFit/>
          </a:bodyPr>
          <a:lstStyle/>
          <a:p>
            <a:pPr marL="12700">
              <a:spcBef>
                <a:spcPts val="100"/>
              </a:spcBef>
            </a:pPr>
            <a:r>
              <a:rPr b="1" kern="0" dirty="0">
                <a:solidFill>
                  <a:sysClr val="windowText" lastClr="000000"/>
                </a:solidFill>
                <a:latin typeface="Arial"/>
                <a:cs typeface="Arial"/>
              </a:rPr>
              <a:t>Without</a:t>
            </a:r>
            <a:r>
              <a:rPr b="1" kern="0" spc="-35" dirty="0">
                <a:solidFill>
                  <a:sysClr val="windowText" lastClr="000000"/>
                </a:solidFill>
                <a:latin typeface="Arial"/>
                <a:cs typeface="Arial"/>
              </a:rPr>
              <a:t> </a:t>
            </a:r>
            <a:r>
              <a:rPr b="1" kern="0" dirty="0">
                <a:solidFill>
                  <a:sysClr val="windowText" lastClr="000000"/>
                </a:solidFill>
                <a:latin typeface="Arial"/>
                <a:cs typeface="Arial"/>
              </a:rPr>
              <a:t>an</a:t>
            </a:r>
            <a:r>
              <a:rPr b="1" kern="0" spc="-15" dirty="0">
                <a:solidFill>
                  <a:sysClr val="windowText" lastClr="000000"/>
                </a:solidFill>
                <a:latin typeface="Arial"/>
                <a:cs typeface="Arial"/>
              </a:rPr>
              <a:t> </a:t>
            </a:r>
            <a:r>
              <a:rPr b="1" kern="0" dirty="0">
                <a:solidFill>
                  <a:sysClr val="windowText" lastClr="000000"/>
                </a:solidFill>
                <a:latin typeface="Arial"/>
                <a:cs typeface="Arial"/>
              </a:rPr>
              <a:t>OS,</a:t>
            </a:r>
            <a:r>
              <a:rPr b="1" kern="0" spc="-25" dirty="0">
                <a:solidFill>
                  <a:sysClr val="windowText" lastClr="000000"/>
                </a:solidFill>
                <a:latin typeface="Arial"/>
                <a:cs typeface="Arial"/>
              </a:rPr>
              <a:t> </a:t>
            </a:r>
            <a:r>
              <a:rPr b="1" kern="0" dirty="0">
                <a:solidFill>
                  <a:sysClr val="windowText" lastClr="000000"/>
                </a:solidFill>
                <a:latin typeface="Arial"/>
                <a:cs typeface="Arial"/>
              </a:rPr>
              <a:t>all</a:t>
            </a:r>
            <a:r>
              <a:rPr b="1" kern="0" spc="-25" dirty="0">
                <a:solidFill>
                  <a:sysClr val="windowText" lastClr="000000"/>
                </a:solidFill>
                <a:latin typeface="Arial"/>
                <a:cs typeface="Arial"/>
              </a:rPr>
              <a:t> </a:t>
            </a:r>
            <a:r>
              <a:rPr b="1" kern="0" dirty="0">
                <a:solidFill>
                  <a:sysClr val="windowText" lastClr="000000"/>
                </a:solidFill>
                <a:latin typeface="Arial"/>
                <a:cs typeface="Arial"/>
              </a:rPr>
              <a:t>programs</a:t>
            </a:r>
            <a:r>
              <a:rPr b="1" kern="0" spc="-35" dirty="0">
                <a:solidFill>
                  <a:sysClr val="windowText" lastClr="000000"/>
                </a:solidFill>
                <a:latin typeface="Arial"/>
                <a:cs typeface="Arial"/>
              </a:rPr>
              <a:t> </a:t>
            </a:r>
            <a:r>
              <a:rPr b="1" kern="0" dirty="0">
                <a:solidFill>
                  <a:sysClr val="windowText" lastClr="000000"/>
                </a:solidFill>
                <a:latin typeface="Arial"/>
                <a:cs typeface="Arial"/>
              </a:rPr>
              <a:t>need</a:t>
            </a:r>
            <a:r>
              <a:rPr b="1" kern="0" spc="-30" dirty="0">
                <a:solidFill>
                  <a:sysClr val="windowText" lastClr="000000"/>
                </a:solidFill>
                <a:latin typeface="Arial"/>
                <a:cs typeface="Arial"/>
              </a:rPr>
              <a:t> </a:t>
            </a:r>
            <a:r>
              <a:rPr b="1" kern="0" dirty="0">
                <a:solidFill>
                  <a:sysClr val="windowText" lastClr="000000"/>
                </a:solidFill>
                <a:latin typeface="Arial"/>
                <a:cs typeface="Arial"/>
              </a:rPr>
              <a:t>to</a:t>
            </a:r>
            <a:r>
              <a:rPr b="1" kern="0" spc="-25" dirty="0">
                <a:solidFill>
                  <a:sysClr val="windowText" lastClr="000000"/>
                </a:solidFill>
                <a:latin typeface="Arial"/>
                <a:cs typeface="Arial"/>
              </a:rPr>
              <a:t> </a:t>
            </a:r>
            <a:r>
              <a:rPr b="1" kern="0" dirty="0">
                <a:solidFill>
                  <a:sysClr val="windowText" lastClr="000000"/>
                </a:solidFill>
                <a:latin typeface="Arial"/>
                <a:cs typeface="Arial"/>
              </a:rPr>
              <a:t>take</a:t>
            </a:r>
            <a:r>
              <a:rPr b="1" kern="0" spc="-25" dirty="0">
                <a:solidFill>
                  <a:sysClr val="windowText" lastClr="000000"/>
                </a:solidFill>
                <a:latin typeface="Arial"/>
                <a:cs typeface="Arial"/>
              </a:rPr>
              <a:t> </a:t>
            </a:r>
            <a:r>
              <a:rPr b="1" kern="0" dirty="0">
                <a:solidFill>
                  <a:sysClr val="windowText" lastClr="000000"/>
                </a:solidFill>
                <a:latin typeface="Arial"/>
                <a:cs typeface="Arial"/>
              </a:rPr>
              <a:t>care</a:t>
            </a:r>
            <a:r>
              <a:rPr b="1" kern="0" spc="-35" dirty="0">
                <a:solidFill>
                  <a:sysClr val="windowText" lastClr="000000"/>
                </a:solidFill>
                <a:latin typeface="Arial"/>
                <a:cs typeface="Arial"/>
              </a:rPr>
              <a:t> </a:t>
            </a:r>
            <a:r>
              <a:rPr b="1" kern="0" dirty="0">
                <a:solidFill>
                  <a:sysClr val="windowText" lastClr="000000"/>
                </a:solidFill>
                <a:latin typeface="Arial"/>
                <a:cs typeface="Arial"/>
              </a:rPr>
              <a:t>of</a:t>
            </a:r>
            <a:r>
              <a:rPr b="1" kern="0" spc="-30" dirty="0">
                <a:solidFill>
                  <a:sysClr val="windowText" lastClr="000000"/>
                </a:solidFill>
                <a:latin typeface="Arial"/>
                <a:cs typeface="Arial"/>
              </a:rPr>
              <a:t> </a:t>
            </a:r>
            <a:r>
              <a:rPr b="1" kern="0" dirty="0">
                <a:solidFill>
                  <a:sysClr val="windowText" lastClr="000000"/>
                </a:solidFill>
                <a:latin typeface="Arial"/>
                <a:cs typeface="Arial"/>
              </a:rPr>
              <a:t>every</a:t>
            </a:r>
            <a:r>
              <a:rPr b="1" kern="0" spc="-45" dirty="0">
                <a:solidFill>
                  <a:sysClr val="windowText" lastClr="000000"/>
                </a:solidFill>
                <a:latin typeface="Arial"/>
                <a:cs typeface="Arial"/>
              </a:rPr>
              <a:t> </a:t>
            </a:r>
            <a:r>
              <a:rPr b="1" kern="0" dirty="0">
                <a:solidFill>
                  <a:sysClr val="windowText" lastClr="000000"/>
                </a:solidFill>
                <a:latin typeface="Arial"/>
                <a:cs typeface="Arial"/>
              </a:rPr>
              <a:t>nitty</a:t>
            </a:r>
            <a:r>
              <a:rPr b="1" kern="0" spc="-35" dirty="0">
                <a:solidFill>
                  <a:sysClr val="windowText" lastClr="000000"/>
                </a:solidFill>
                <a:latin typeface="Arial"/>
                <a:cs typeface="Arial"/>
              </a:rPr>
              <a:t> </a:t>
            </a:r>
            <a:r>
              <a:rPr b="1" kern="0" dirty="0">
                <a:solidFill>
                  <a:sysClr val="windowText" lastClr="000000"/>
                </a:solidFill>
                <a:latin typeface="Arial"/>
                <a:cs typeface="Arial"/>
              </a:rPr>
              <a:t>gritty</a:t>
            </a:r>
            <a:r>
              <a:rPr b="1" kern="0" spc="-30" dirty="0">
                <a:solidFill>
                  <a:sysClr val="windowText" lastClr="000000"/>
                </a:solidFill>
                <a:latin typeface="Arial"/>
                <a:cs typeface="Arial"/>
              </a:rPr>
              <a:t> </a:t>
            </a:r>
            <a:r>
              <a:rPr b="1" kern="0" spc="-10" dirty="0">
                <a:solidFill>
                  <a:sysClr val="windowText" lastClr="000000"/>
                </a:solidFill>
                <a:latin typeface="Arial"/>
                <a:cs typeface="Arial"/>
              </a:rPr>
              <a:t>detail</a:t>
            </a:r>
            <a:endParaRPr kern="0">
              <a:solidFill>
                <a:sysClr val="windowText" lastClr="000000"/>
              </a:solidFill>
              <a:latin typeface="Arial"/>
              <a:cs typeface="Arial"/>
            </a:endParaRPr>
          </a:p>
        </p:txBody>
      </p:sp>
      <p:grpSp>
        <p:nvGrpSpPr>
          <p:cNvPr id="10" name="object 10"/>
          <p:cNvGrpSpPr/>
          <p:nvPr/>
        </p:nvGrpSpPr>
        <p:grpSpPr>
          <a:xfrm>
            <a:off x="1752600" y="1395046"/>
            <a:ext cx="7829550" cy="3614420"/>
            <a:chOff x="228600" y="1395046"/>
            <a:chExt cx="7829550" cy="3614420"/>
          </a:xfrm>
        </p:grpSpPr>
        <p:pic>
          <p:nvPicPr>
            <p:cNvPr id="11" name="object 11"/>
            <p:cNvPicPr/>
            <p:nvPr/>
          </p:nvPicPr>
          <p:blipFill>
            <a:blip r:embed="rId2" cstate="print"/>
            <a:stretch>
              <a:fillRect/>
            </a:stretch>
          </p:blipFill>
          <p:spPr>
            <a:xfrm>
              <a:off x="2590800" y="1523999"/>
              <a:ext cx="1027429" cy="1524000"/>
            </a:xfrm>
            <a:prstGeom prst="rect">
              <a:avLst/>
            </a:prstGeom>
          </p:spPr>
        </p:pic>
        <p:pic>
          <p:nvPicPr>
            <p:cNvPr id="12" name="object 12"/>
            <p:cNvPicPr/>
            <p:nvPr/>
          </p:nvPicPr>
          <p:blipFill>
            <a:blip r:embed="rId3" cstate="print"/>
            <a:stretch>
              <a:fillRect/>
            </a:stretch>
          </p:blipFill>
          <p:spPr>
            <a:xfrm>
              <a:off x="3492500" y="1753869"/>
              <a:ext cx="3357879" cy="3255009"/>
            </a:xfrm>
            <a:prstGeom prst="rect">
              <a:avLst/>
            </a:prstGeom>
          </p:spPr>
        </p:pic>
        <p:pic>
          <p:nvPicPr>
            <p:cNvPr id="13" name="object 13"/>
            <p:cNvPicPr/>
            <p:nvPr/>
          </p:nvPicPr>
          <p:blipFill>
            <a:blip r:embed="rId4" cstate="print"/>
            <a:stretch>
              <a:fillRect/>
            </a:stretch>
          </p:blipFill>
          <p:spPr>
            <a:xfrm>
              <a:off x="228600" y="2786380"/>
              <a:ext cx="1371600" cy="1023620"/>
            </a:xfrm>
            <a:prstGeom prst="rect">
              <a:avLst/>
            </a:prstGeom>
          </p:spPr>
        </p:pic>
        <p:pic>
          <p:nvPicPr>
            <p:cNvPr id="14" name="object 14"/>
            <p:cNvPicPr/>
            <p:nvPr/>
          </p:nvPicPr>
          <p:blipFill>
            <a:blip r:embed="rId5" cstate="print"/>
            <a:stretch>
              <a:fillRect/>
            </a:stretch>
          </p:blipFill>
          <p:spPr>
            <a:xfrm>
              <a:off x="6957645" y="1395046"/>
              <a:ext cx="1100259" cy="1062892"/>
            </a:xfrm>
            <a:prstGeom prst="rect">
              <a:avLst/>
            </a:prstGeom>
          </p:spPr>
        </p:pic>
        <p:sp>
          <p:nvSpPr>
            <p:cNvPr id="15" name="object 15"/>
            <p:cNvSpPr/>
            <p:nvPr/>
          </p:nvSpPr>
          <p:spPr>
            <a:xfrm>
              <a:off x="3657600" y="1981200"/>
              <a:ext cx="867410" cy="1143000"/>
            </a:xfrm>
            <a:custGeom>
              <a:avLst/>
              <a:gdLst/>
              <a:ahLst/>
              <a:cxnLst/>
              <a:rect l="l" t="t" r="r" b="b"/>
              <a:pathLst>
                <a:path w="867410" h="1143000">
                  <a:moveTo>
                    <a:pt x="867410" y="800100"/>
                  </a:moveTo>
                  <a:lnTo>
                    <a:pt x="378460" y="800100"/>
                  </a:lnTo>
                  <a:lnTo>
                    <a:pt x="623570" y="1143000"/>
                  </a:lnTo>
                  <a:lnTo>
                    <a:pt x="867410" y="800100"/>
                  </a:lnTo>
                  <a:close/>
                </a:path>
                <a:path w="867410" h="1143000">
                  <a:moveTo>
                    <a:pt x="378460" y="0"/>
                  </a:moveTo>
                  <a:lnTo>
                    <a:pt x="0" y="0"/>
                  </a:lnTo>
                  <a:lnTo>
                    <a:pt x="0" y="341629"/>
                  </a:lnTo>
                  <a:lnTo>
                    <a:pt x="378460" y="341629"/>
                  </a:lnTo>
                  <a:lnTo>
                    <a:pt x="402076" y="348029"/>
                  </a:lnTo>
                  <a:lnTo>
                    <a:pt x="443892" y="395476"/>
                  </a:lnTo>
                  <a:lnTo>
                    <a:pt x="461168" y="434022"/>
                  </a:lnTo>
                  <a:lnTo>
                    <a:pt x="475409" y="480784"/>
                  </a:lnTo>
                  <a:lnTo>
                    <a:pt x="486152" y="534511"/>
                  </a:lnTo>
                  <a:lnTo>
                    <a:pt x="492936" y="593953"/>
                  </a:lnTo>
                  <a:lnTo>
                    <a:pt x="495300" y="657860"/>
                  </a:lnTo>
                  <a:lnTo>
                    <a:pt x="495300" y="800100"/>
                  </a:lnTo>
                  <a:lnTo>
                    <a:pt x="750570" y="800100"/>
                  </a:lnTo>
                  <a:lnTo>
                    <a:pt x="750570" y="657860"/>
                  </a:lnTo>
                  <a:lnTo>
                    <a:pt x="749051" y="597808"/>
                  </a:lnTo>
                  <a:lnTo>
                    <a:pt x="744582" y="539302"/>
                  </a:lnTo>
                  <a:lnTo>
                    <a:pt x="737293" y="482570"/>
                  </a:lnTo>
                  <a:lnTo>
                    <a:pt x="727316" y="427841"/>
                  </a:lnTo>
                  <a:lnTo>
                    <a:pt x="714780" y="375344"/>
                  </a:lnTo>
                  <a:lnTo>
                    <a:pt x="699817" y="325308"/>
                  </a:lnTo>
                  <a:lnTo>
                    <a:pt x="682556" y="277960"/>
                  </a:lnTo>
                  <a:lnTo>
                    <a:pt x="663129" y="233530"/>
                  </a:lnTo>
                  <a:lnTo>
                    <a:pt x="641667" y="192246"/>
                  </a:lnTo>
                  <a:lnTo>
                    <a:pt x="618300" y="154337"/>
                  </a:lnTo>
                  <a:lnTo>
                    <a:pt x="593158" y="120031"/>
                  </a:lnTo>
                  <a:lnTo>
                    <a:pt x="566372" y="89558"/>
                  </a:lnTo>
                  <a:lnTo>
                    <a:pt x="538074" y="63146"/>
                  </a:lnTo>
                  <a:lnTo>
                    <a:pt x="477461" y="23418"/>
                  </a:lnTo>
                  <a:lnTo>
                    <a:pt x="412363" y="2678"/>
                  </a:lnTo>
                  <a:lnTo>
                    <a:pt x="378460" y="0"/>
                  </a:lnTo>
                  <a:close/>
                </a:path>
              </a:pathLst>
            </a:custGeom>
            <a:solidFill>
              <a:srgbClr val="BADFE2"/>
            </a:solidFill>
          </p:spPr>
          <p:txBody>
            <a:bodyPr wrap="square" lIns="0" tIns="0" rIns="0" bIns="0" rtlCol="0"/>
            <a:lstStyle/>
            <a:p>
              <a:endParaRPr kern="0">
                <a:solidFill>
                  <a:sysClr val="windowText" lastClr="000000"/>
                </a:solidFill>
              </a:endParaRPr>
            </a:p>
          </p:txBody>
        </p:sp>
        <p:sp>
          <p:nvSpPr>
            <p:cNvPr id="16" name="object 16"/>
            <p:cNvSpPr/>
            <p:nvPr/>
          </p:nvSpPr>
          <p:spPr>
            <a:xfrm>
              <a:off x="3657600" y="1981200"/>
              <a:ext cx="867410" cy="1143000"/>
            </a:xfrm>
            <a:custGeom>
              <a:avLst/>
              <a:gdLst/>
              <a:ahLst/>
              <a:cxnLst/>
              <a:rect l="l" t="t" r="r" b="b"/>
              <a:pathLst>
                <a:path w="867410" h="1143000">
                  <a:moveTo>
                    <a:pt x="623570" y="1143000"/>
                  </a:moveTo>
                  <a:lnTo>
                    <a:pt x="867410" y="800100"/>
                  </a:lnTo>
                  <a:lnTo>
                    <a:pt x="750570" y="800100"/>
                  </a:lnTo>
                  <a:lnTo>
                    <a:pt x="750570" y="657860"/>
                  </a:lnTo>
                  <a:lnTo>
                    <a:pt x="749051" y="597808"/>
                  </a:lnTo>
                  <a:lnTo>
                    <a:pt x="744582" y="539302"/>
                  </a:lnTo>
                  <a:lnTo>
                    <a:pt x="737293" y="482570"/>
                  </a:lnTo>
                  <a:lnTo>
                    <a:pt x="727316" y="427841"/>
                  </a:lnTo>
                  <a:lnTo>
                    <a:pt x="714780" y="375344"/>
                  </a:lnTo>
                  <a:lnTo>
                    <a:pt x="699817" y="325308"/>
                  </a:lnTo>
                  <a:lnTo>
                    <a:pt x="682556" y="277960"/>
                  </a:lnTo>
                  <a:lnTo>
                    <a:pt x="663129" y="233530"/>
                  </a:lnTo>
                  <a:lnTo>
                    <a:pt x="641667" y="192246"/>
                  </a:lnTo>
                  <a:lnTo>
                    <a:pt x="618300" y="154337"/>
                  </a:lnTo>
                  <a:lnTo>
                    <a:pt x="593158" y="120031"/>
                  </a:lnTo>
                  <a:lnTo>
                    <a:pt x="566372" y="89558"/>
                  </a:lnTo>
                  <a:lnTo>
                    <a:pt x="538074" y="63146"/>
                  </a:lnTo>
                  <a:lnTo>
                    <a:pt x="477461" y="23418"/>
                  </a:lnTo>
                  <a:lnTo>
                    <a:pt x="412363" y="2678"/>
                  </a:lnTo>
                  <a:lnTo>
                    <a:pt x="378460" y="0"/>
                  </a:lnTo>
                  <a:lnTo>
                    <a:pt x="0" y="0"/>
                  </a:lnTo>
                  <a:lnTo>
                    <a:pt x="0" y="341629"/>
                  </a:lnTo>
                  <a:lnTo>
                    <a:pt x="378460" y="341629"/>
                  </a:lnTo>
                  <a:lnTo>
                    <a:pt x="402076" y="348029"/>
                  </a:lnTo>
                  <a:lnTo>
                    <a:pt x="443892" y="395476"/>
                  </a:lnTo>
                  <a:lnTo>
                    <a:pt x="461168" y="434022"/>
                  </a:lnTo>
                  <a:lnTo>
                    <a:pt x="475409" y="480784"/>
                  </a:lnTo>
                  <a:lnTo>
                    <a:pt x="486152" y="534511"/>
                  </a:lnTo>
                  <a:lnTo>
                    <a:pt x="492936" y="593953"/>
                  </a:lnTo>
                  <a:lnTo>
                    <a:pt x="495300" y="657860"/>
                  </a:lnTo>
                  <a:lnTo>
                    <a:pt x="495300" y="800100"/>
                  </a:lnTo>
                  <a:lnTo>
                    <a:pt x="378460" y="800100"/>
                  </a:lnTo>
                  <a:lnTo>
                    <a:pt x="623570" y="1143000"/>
                  </a:lnTo>
                  <a:close/>
                </a:path>
              </a:pathLst>
            </a:custGeom>
            <a:ln w="9344">
              <a:solidFill>
                <a:srgbClr val="000000"/>
              </a:solidFill>
            </a:ln>
          </p:spPr>
          <p:txBody>
            <a:bodyPr wrap="square" lIns="0" tIns="0" rIns="0" bIns="0" rtlCol="0"/>
            <a:lstStyle/>
            <a:p>
              <a:endParaRPr kern="0">
                <a:solidFill>
                  <a:sysClr val="windowText" lastClr="000000"/>
                </a:solidFill>
              </a:endParaRPr>
            </a:p>
          </p:txBody>
        </p:sp>
        <p:sp>
          <p:nvSpPr>
            <p:cNvPr id="17" name="object 17"/>
            <p:cNvSpPr/>
            <p:nvPr/>
          </p:nvSpPr>
          <p:spPr>
            <a:xfrm>
              <a:off x="3652926" y="1976538"/>
              <a:ext cx="876935" cy="1152525"/>
            </a:xfrm>
            <a:custGeom>
              <a:avLst/>
              <a:gdLst/>
              <a:ahLst/>
              <a:cxnLst/>
              <a:rect l="l" t="t" r="r" b="b"/>
              <a:pathLst>
                <a:path w="876935" h="1152525">
                  <a:moveTo>
                    <a:pt x="9334" y="1147660"/>
                  </a:moveTo>
                  <a:lnTo>
                    <a:pt x="7975" y="1144358"/>
                  </a:lnTo>
                  <a:lnTo>
                    <a:pt x="4673" y="1143000"/>
                  </a:lnTo>
                  <a:lnTo>
                    <a:pt x="1358" y="1144358"/>
                  </a:lnTo>
                  <a:lnTo>
                    <a:pt x="0" y="1147660"/>
                  </a:lnTo>
                  <a:lnTo>
                    <a:pt x="1358" y="1150975"/>
                  </a:lnTo>
                  <a:lnTo>
                    <a:pt x="4673" y="1152334"/>
                  </a:lnTo>
                  <a:lnTo>
                    <a:pt x="7975" y="1150975"/>
                  </a:lnTo>
                  <a:lnTo>
                    <a:pt x="9334" y="1147660"/>
                  </a:lnTo>
                  <a:close/>
                </a:path>
                <a:path w="876935" h="1152525">
                  <a:moveTo>
                    <a:pt x="876744" y="4660"/>
                  </a:moveTo>
                  <a:lnTo>
                    <a:pt x="875385" y="1358"/>
                  </a:lnTo>
                  <a:lnTo>
                    <a:pt x="872083" y="0"/>
                  </a:lnTo>
                  <a:lnTo>
                    <a:pt x="868768" y="1358"/>
                  </a:lnTo>
                  <a:lnTo>
                    <a:pt x="867410" y="4660"/>
                  </a:lnTo>
                  <a:lnTo>
                    <a:pt x="868768" y="7975"/>
                  </a:lnTo>
                  <a:lnTo>
                    <a:pt x="872083" y="9334"/>
                  </a:lnTo>
                  <a:lnTo>
                    <a:pt x="875385" y="7975"/>
                  </a:lnTo>
                  <a:lnTo>
                    <a:pt x="876744" y="4660"/>
                  </a:lnTo>
                  <a:close/>
                </a:path>
              </a:pathLst>
            </a:custGeom>
            <a:solidFill>
              <a:srgbClr val="000000"/>
            </a:solidFill>
          </p:spPr>
          <p:txBody>
            <a:bodyPr wrap="square" lIns="0" tIns="0" rIns="0" bIns="0" rtlCol="0"/>
            <a:lstStyle/>
            <a:p>
              <a:endParaRPr kern="0">
                <a:solidFill>
                  <a:sysClr val="windowText" lastClr="000000"/>
                </a:solidFill>
              </a:endParaRPr>
            </a:p>
          </p:txBody>
        </p:sp>
        <p:sp>
          <p:nvSpPr>
            <p:cNvPr id="18" name="object 18"/>
            <p:cNvSpPr/>
            <p:nvPr/>
          </p:nvSpPr>
          <p:spPr>
            <a:xfrm>
              <a:off x="5791200" y="1523999"/>
              <a:ext cx="1143000" cy="867410"/>
            </a:xfrm>
            <a:custGeom>
              <a:avLst/>
              <a:gdLst/>
              <a:ahLst/>
              <a:cxnLst/>
              <a:rect l="l" t="t" r="r" b="b"/>
              <a:pathLst>
                <a:path w="1143000" h="867410">
                  <a:moveTo>
                    <a:pt x="800100" y="0"/>
                  </a:moveTo>
                  <a:lnTo>
                    <a:pt x="800100" y="116839"/>
                  </a:lnTo>
                  <a:lnTo>
                    <a:pt x="657860" y="116839"/>
                  </a:lnTo>
                  <a:lnTo>
                    <a:pt x="597997" y="118358"/>
                  </a:lnTo>
                  <a:lnTo>
                    <a:pt x="539636" y="122825"/>
                  </a:lnTo>
                  <a:lnTo>
                    <a:pt x="483011" y="130110"/>
                  </a:lnTo>
                  <a:lnTo>
                    <a:pt x="428354" y="140079"/>
                  </a:lnTo>
                  <a:lnTo>
                    <a:pt x="375896" y="152602"/>
                  </a:lnTo>
                  <a:lnTo>
                    <a:pt x="325872" y="167545"/>
                  </a:lnTo>
                  <a:lnTo>
                    <a:pt x="278513" y="184778"/>
                  </a:lnTo>
                  <a:lnTo>
                    <a:pt x="234052" y="204168"/>
                  </a:lnTo>
                  <a:lnTo>
                    <a:pt x="192722" y="225583"/>
                  </a:lnTo>
                  <a:lnTo>
                    <a:pt x="154755" y="248892"/>
                  </a:lnTo>
                  <a:lnTo>
                    <a:pt x="120383" y="273961"/>
                  </a:lnTo>
                  <a:lnTo>
                    <a:pt x="89840" y="300660"/>
                  </a:lnTo>
                  <a:lnTo>
                    <a:pt x="63358" y="328857"/>
                  </a:lnTo>
                  <a:lnTo>
                    <a:pt x="23506" y="389213"/>
                  </a:lnTo>
                  <a:lnTo>
                    <a:pt x="2689" y="453976"/>
                  </a:lnTo>
                  <a:lnTo>
                    <a:pt x="0" y="487679"/>
                  </a:lnTo>
                  <a:lnTo>
                    <a:pt x="0" y="867410"/>
                  </a:lnTo>
                  <a:lnTo>
                    <a:pt x="341629" y="867410"/>
                  </a:lnTo>
                  <a:lnTo>
                    <a:pt x="341629" y="487679"/>
                  </a:lnTo>
                  <a:lnTo>
                    <a:pt x="348081" y="464063"/>
                  </a:lnTo>
                  <a:lnTo>
                    <a:pt x="395810" y="422247"/>
                  </a:lnTo>
                  <a:lnTo>
                    <a:pt x="434498" y="404971"/>
                  </a:lnTo>
                  <a:lnTo>
                    <a:pt x="481342" y="390730"/>
                  </a:lnTo>
                  <a:lnTo>
                    <a:pt x="535047" y="379987"/>
                  </a:lnTo>
                  <a:lnTo>
                    <a:pt x="594317" y="373203"/>
                  </a:lnTo>
                  <a:lnTo>
                    <a:pt x="657860" y="370839"/>
                  </a:lnTo>
                  <a:lnTo>
                    <a:pt x="964406" y="370839"/>
                  </a:lnTo>
                  <a:lnTo>
                    <a:pt x="1143000" y="243839"/>
                  </a:lnTo>
                  <a:lnTo>
                    <a:pt x="800100" y="0"/>
                  </a:lnTo>
                  <a:close/>
                </a:path>
                <a:path w="1143000" h="867410">
                  <a:moveTo>
                    <a:pt x="964406" y="370839"/>
                  </a:moveTo>
                  <a:lnTo>
                    <a:pt x="800100" y="370839"/>
                  </a:lnTo>
                  <a:lnTo>
                    <a:pt x="800100" y="487679"/>
                  </a:lnTo>
                  <a:lnTo>
                    <a:pt x="964406" y="370839"/>
                  </a:lnTo>
                  <a:close/>
                </a:path>
              </a:pathLst>
            </a:custGeom>
            <a:solidFill>
              <a:srgbClr val="BADFE2"/>
            </a:solidFill>
          </p:spPr>
          <p:txBody>
            <a:bodyPr wrap="square" lIns="0" tIns="0" rIns="0" bIns="0" rtlCol="0"/>
            <a:lstStyle/>
            <a:p>
              <a:endParaRPr kern="0">
                <a:solidFill>
                  <a:sysClr val="windowText" lastClr="000000"/>
                </a:solidFill>
              </a:endParaRPr>
            </a:p>
          </p:txBody>
        </p:sp>
        <p:sp>
          <p:nvSpPr>
            <p:cNvPr id="19" name="object 19"/>
            <p:cNvSpPr/>
            <p:nvPr/>
          </p:nvSpPr>
          <p:spPr>
            <a:xfrm>
              <a:off x="5791200" y="1523999"/>
              <a:ext cx="1143000" cy="867410"/>
            </a:xfrm>
            <a:custGeom>
              <a:avLst/>
              <a:gdLst/>
              <a:ahLst/>
              <a:cxnLst/>
              <a:rect l="l" t="t" r="r" b="b"/>
              <a:pathLst>
                <a:path w="1143000" h="867410">
                  <a:moveTo>
                    <a:pt x="1143000" y="243839"/>
                  </a:moveTo>
                  <a:lnTo>
                    <a:pt x="800100" y="0"/>
                  </a:lnTo>
                  <a:lnTo>
                    <a:pt x="800100" y="116839"/>
                  </a:lnTo>
                  <a:lnTo>
                    <a:pt x="657860" y="116839"/>
                  </a:lnTo>
                  <a:lnTo>
                    <a:pt x="597997" y="118358"/>
                  </a:lnTo>
                  <a:lnTo>
                    <a:pt x="539636" y="122825"/>
                  </a:lnTo>
                  <a:lnTo>
                    <a:pt x="483011" y="130110"/>
                  </a:lnTo>
                  <a:lnTo>
                    <a:pt x="428354" y="140079"/>
                  </a:lnTo>
                  <a:lnTo>
                    <a:pt x="375896" y="152602"/>
                  </a:lnTo>
                  <a:lnTo>
                    <a:pt x="325872" y="167545"/>
                  </a:lnTo>
                  <a:lnTo>
                    <a:pt x="278513" y="184778"/>
                  </a:lnTo>
                  <a:lnTo>
                    <a:pt x="234052" y="204168"/>
                  </a:lnTo>
                  <a:lnTo>
                    <a:pt x="192722" y="225583"/>
                  </a:lnTo>
                  <a:lnTo>
                    <a:pt x="154755" y="248892"/>
                  </a:lnTo>
                  <a:lnTo>
                    <a:pt x="120383" y="273961"/>
                  </a:lnTo>
                  <a:lnTo>
                    <a:pt x="89840" y="300660"/>
                  </a:lnTo>
                  <a:lnTo>
                    <a:pt x="63358" y="328857"/>
                  </a:lnTo>
                  <a:lnTo>
                    <a:pt x="23506" y="389213"/>
                  </a:lnTo>
                  <a:lnTo>
                    <a:pt x="2689" y="453976"/>
                  </a:lnTo>
                  <a:lnTo>
                    <a:pt x="0" y="487679"/>
                  </a:lnTo>
                  <a:lnTo>
                    <a:pt x="0" y="867410"/>
                  </a:lnTo>
                  <a:lnTo>
                    <a:pt x="341629" y="867410"/>
                  </a:lnTo>
                  <a:lnTo>
                    <a:pt x="341629" y="487679"/>
                  </a:lnTo>
                  <a:lnTo>
                    <a:pt x="348081" y="464063"/>
                  </a:lnTo>
                  <a:lnTo>
                    <a:pt x="395810" y="422247"/>
                  </a:lnTo>
                  <a:lnTo>
                    <a:pt x="434498" y="404971"/>
                  </a:lnTo>
                  <a:lnTo>
                    <a:pt x="481342" y="390730"/>
                  </a:lnTo>
                  <a:lnTo>
                    <a:pt x="535047" y="379987"/>
                  </a:lnTo>
                  <a:lnTo>
                    <a:pt x="594317" y="373203"/>
                  </a:lnTo>
                  <a:lnTo>
                    <a:pt x="657860" y="370839"/>
                  </a:lnTo>
                  <a:lnTo>
                    <a:pt x="800100" y="370839"/>
                  </a:lnTo>
                  <a:lnTo>
                    <a:pt x="800100" y="487679"/>
                  </a:lnTo>
                  <a:lnTo>
                    <a:pt x="1143000" y="243839"/>
                  </a:lnTo>
                  <a:close/>
                </a:path>
              </a:pathLst>
            </a:custGeom>
            <a:ln w="9344">
              <a:solidFill>
                <a:srgbClr val="000000"/>
              </a:solidFill>
            </a:ln>
          </p:spPr>
          <p:txBody>
            <a:bodyPr wrap="square" lIns="0" tIns="0" rIns="0" bIns="0" rtlCol="0"/>
            <a:lstStyle/>
            <a:p>
              <a:endParaRPr kern="0">
                <a:solidFill>
                  <a:sysClr val="windowText" lastClr="000000"/>
                </a:solidFill>
              </a:endParaRPr>
            </a:p>
          </p:txBody>
        </p:sp>
        <p:sp>
          <p:nvSpPr>
            <p:cNvPr id="20" name="object 20"/>
            <p:cNvSpPr/>
            <p:nvPr/>
          </p:nvSpPr>
          <p:spPr>
            <a:xfrm>
              <a:off x="5786526" y="1519338"/>
              <a:ext cx="1152525" cy="876935"/>
            </a:xfrm>
            <a:custGeom>
              <a:avLst/>
              <a:gdLst/>
              <a:ahLst/>
              <a:cxnLst/>
              <a:rect l="l" t="t" r="r" b="b"/>
              <a:pathLst>
                <a:path w="1152525" h="876935">
                  <a:moveTo>
                    <a:pt x="9334" y="4660"/>
                  </a:moveTo>
                  <a:lnTo>
                    <a:pt x="7975" y="1358"/>
                  </a:lnTo>
                  <a:lnTo>
                    <a:pt x="4673" y="0"/>
                  </a:lnTo>
                  <a:lnTo>
                    <a:pt x="1358" y="1358"/>
                  </a:lnTo>
                  <a:lnTo>
                    <a:pt x="0" y="4660"/>
                  </a:lnTo>
                  <a:lnTo>
                    <a:pt x="1358" y="7975"/>
                  </a:lnTo>
                  <a:lnTo>
                    <a:pt x="4673" y="9334"/>
                  </a:lnTo>
                  <a:lnTo>
                    <a:pt x="7975" y="7975"/>
                  </a:lnTo>
                  <a:lnTo>
                    <a:pt x="9334" y="4660"/>
                  </a:lnTo>
                  <a:close/>
                </a:path>
                <a:path w="1152525" h="876935">
                  <a:moveTo>
                    <a:pt x="1152334" y="872070"/>
                  </a:moveTo>
                  <a:lnTo>
                    <a:pt x="1150975" y="868768"/>
                  </a:lnTo>
                  <a:lnTo>
                    <a:pt x="1147673" y="867410"/>
                  </a:lnTo>
                  <a:lnTo>
                    <a:pt x="1144358" y="868768"/>
                  </a:lnTo>
                  <a:lnTo>
                    <a:pt x="1143000" y="872070"/>
                  </a:lnTo>
                  <a:lnTo>
                    <a:pt x="1144358" y="875385"/>
                  </a:lnTo>
                  <a:lnTo>
                    <a:pt x="1147673" y="876744"/>
                  </a:lnTo>
                  <a:lnTo>
                    <a:pt x="1150975" y="875385"/>
                  </a:lnTo>
                  <a:lnTo>
                    <a:pt x="1152334" y="872070"/>
                  </a:lnTo>
                  <a:close/>
                </a:path>
              </a:pathLst>
            </a:custGeom>
            <a:solidFill>
              <a:srgbClr val="000000"/>
            </a:solidFill>
          </p:spPr>
          <p:txBody>
            <a:bodyPr wrap="square" lIns="0" tIns="0" rIns="0" bIns="0" rtlCol="0"/>
            <a:lstStyle/>
            <a:p>
              <a:endParaRPr kern="0">
                <a:solidFill>
                  <a:sysClr val="windowText" lastClr="000000"/>
                </a:solidFill>
              </a:endParaRPr>
            </a:p>
          </p:txBody>
        </p:sp>
      </p:grpSp>
      <p:sp>
        <p:nvSpPr>
          <p:cNvPr id="21" name="object 21"/>
          <p:cNvSpPr txBox="1"/>
          <p:nvPr/>
        </p:nvSpPr>
        <p:spPr>
          <a:xfrm>
            <a:off x="1677670" y="3006090"/>
            <a:ext cx="5534660" cy="1402948"/>
          </a:xfrm>
          <a:prstGeom prst="rect">
            <a:avLst/>
          </a:prstGeom>
        </p:spPr>
        <p:txBody>
          <a:bodyPr vert="horz" wrap="square" lIns="0" tIns="12700" rIns="0" bIns="0" rtlCol="0">
            <a:spAutoFit/>
          </a:bodyPr>
          <a:lstStyle/>
          <a:p>
            <a:pPr marR="209550" algn="ctr">
              <a:spcBef>
                <a:spcPts val="100"/>
              </a:spcBef>
            </a:pPr>
            <a:r>
              <a:rPr kern="0" spc="-10" dirty="0">
                <a:solidFill>
                  <a:sysClr val="windowText" lastClr="000000"/>
                </a:solidFill>
                <a:latin typeface="Arial MT"/>
                <a:cs typeface="Arial MT"/>
              </a:rPr>
              <a:t>Processor</a:t>
            </a:r>
            <a:endParaRPr kern="0">
              <a:solidFill>
                <a:sysClr val="windowText" lastClr="000000"/>
              </a:solidFill>
              <a:latin typeface="Arial MT"/>
              <a:cs typeface="Arial MT"/>
            </a:endParaRPr>
          </a:p>
          <a:p>
            <a:pPr>
              <a:spcBef>
                <a:spcPts val="2050"/>
              </a:spcBef>
            </a:pPr>
            <a:endParaRPr kern="0">
              <a:solidFill>
                <a:sysClr val="windowText" lastClr="000000"/>
              </a:solidFill>
              <a:latin typeface="Arial MT"/>
              <a:cs typeface="Arial MT"/>
            </a:endParaRPr>
          </a:p>
          <a:p>
            <a:pPr marL="12700"/>
            <a:r>
              <a:rPr kern="0" dirty="0">
                <a:solidFill>
                  <a:sysClr val="windowText" lastClr="000000"/>
                </a:solidFill>
                <a:latin typeface="Arial MT"/>
                <a:cs typeface="Arial MT"/>
              </a:rPr>
              <a:t>Processor</a:t>
            </a:r>
            <a:r>
              <a:rPr kern="0" spc="-30" dirty="0">
                <a:solidFill>
                  <a:sysClr val="windowText" lastClr="000000"/>
                </a:solidFill>
                <a:latin typeface="Arial MT"/>
                <a:cs typeface="Arial MT"/>
              </a:rPr>
              <a:t> </a:t>
            </a:r>
            <a:r>
              <a:rPr kern="0" spc="-10" dirty="0">
                <a:solidFill>
                  <a:sysClr val="windowText" lastClr="000000"/>
                </a:solidFill>
                <a:latin typeface="Arial MT"/>
                <a:cs typeface="Arial MT"/>
              </a:rPr>
              <a:t>Memory</a:t>
            </a:r>
            <a:endParaRPr kern="0">
              <a:solidFill>
                <a:sysClr val="windowText" lastClr="000000"/>
              </a:solidFill>
              <a:latin typeface="Arial MT"/>
              <a:cs typeface="Arial MT"/>
            </a:endParaRPr>
          </a:p>
          <a:p>
            <a:pPr marL="4051300">
              <a:spcBef>
                <a:spcPts val="70"/>
              </a:spcBef>
            </a:pPr>
            <a:r>
              <a:rPr kern="0" dirty="0">
                <a:solidFill>
                  <a:sysClr val="windowText" lastClr="000000"/>
                </a:solidFill>
                <a:latin typeface="Arial MT"/>
                <a:cs typeface="Arial MT"/>
              </a:rPr>
              <a:t>Graphics</a:t>
            </a:r>
            <a:r>
              <a:rPr kern="0" spc="-40" dirty="0">
                <a:solidFill>
                  <a:sysClr val="windowText" lastClr="000000"/>
                </a:solidFill>
                <a:latin typeface="Arial MT"/>
                <a:cs typeface="Arial MT"/>
              </a:rPr>
              <a:t> </a:t>
            </a:r>
            <a:r>
              <a:rPr kern="0" spc="-20" dirty="0">
                <a:solidFill>
                  <a:sysClr val="windowText" lastClr="000000"/>
                </a:solidFill>
                <a:latin typeface="Arial MT"/>
                <a:cs typeface="Arial MT"/>
              </a:rPr>
              <a:t>Card</a:t>
            </a:r>
            <a:endParaRPr kern="0">
              <a:solidFill>
                <a:sysClr val="windowText" lastClr="000000"/>
              </a:solidFill>
              <a:latin typeface="Arial MT"/>
              <a:cs typeface="Arial MT"/>
            </a:endParaRPr>
          </a:p>
        </p:txBody>
      </p:sp>
      <p:sp>
        <p:nvSpPr>
          <p:cNvPr id="22" name="object 22"/>
          <p:cNvSpPr txBox="1"/>
          <p:nvPr/>
        </p:nvSpPr>
        <p:spPr>
          <a:xfrm>
            <a:off x="8656320" y="2410459"/>
            <a:ext cx="786765" cy="299720"/>
          </a:xfrm>
          <a:prstGeom prst="rect">
            <a:avLst/>
          </a:prstGeom>
        </p:spPr>
        <p:txBody>
          <a:bodyPr vert="horz" wrap="square" lIns="0" tIns="12700" rIns="0" bIns="0" rtlCol="0">
            <a:spAutoFit/>
          </a:bodyPr>
          <a:lstStyle/>
          <a:p>
            <a:pPr marL="12700">
              <a:spcBef>
                <a:spcPts val="100"/>
              </a:spcBef>
            </a:pPr>
            <a:r>
              <a:rPr kern="0" spc="-10" dirty="0">
                <a:solidFill>
                  <a:sysClr val="windowText" lastClr="000000"/>
                </a:solidFill>
                <a:latin typeface="Arial MT"/>
                <a:cs typeface="Arial MT"/>
              </a:rPr>
              <a:t>Monitor</a:t>
            </a:r>
            <a:endParaRPr kern="0">
              <a:solidFill>
                <a:sysClr val="windowText" lastClr="000000"/>
              </a:solidFill>
              <a:latin typeface="Arial MT"/>
              <a:cs typeface="Arial MT"/>
            </a:endParaRPr>
          </a:p>
        </p:txBody>
      </p:sp>
      <p:sp>
        <p:nvSpPr>
          <p:cNvPr id="23" name="object 23"/>
          <p:cNvSpPr txBox="1"/>
          <p:nvPr/>
        </p:nvSpPr>
        <p:spPr>
          <a:xfrm>
            <a:off x="2785110" y="1634490"/>
            <a:ext cx="1060450" cy="228268"/>
          </a:xfrm>
          <a:prstGeom prst="rect">
            <a:avLst/>
          </a:prstGeom>
        </p:spPr>
        <p:txBody>
          <a:bodyPr vert="horz" wrap="square" lIns="0" tIns="12700" rIns="0" bIns="0" rtlCol="0">
            <a:spAutoFit/>
          </a:bodyPr>
          <a:lstStyle/>
          <a:p>
            <a:pPr marL="12700">
              <a:spcBef>
                <a:spcPts val="100"/>
              </a:spcBef>
            </a:pPr>
            <a:r>
              <a:rPr sz="1400" kern="0" dirty="0">
                <a:solidFill>
                  <a:srgbClr val="FF0000"/>
                </a:solidFill>
                <a:latin typeface="Arial MT"/>
                <a:cs typeface="Arial MT"/>
              </a:rPr>
              <a:t>“Hello</a:t>
            </a:r>
            <a:r>
              <a:rPr sz="1400" kern="0" spc="-20" dirty="0">
                <a:solidFill>
                  <a:srgbClr val="FF0000"/>
                </a:solidFill>
                <a:latin typeface="Arial MT"/>
                <a:cs typeface="Arial MT"/>
              </a:rPr>
              <a:t> </a:t>
            </a:r>
            <a:r>
              <a:rPr sz="1400" kern="0" spc="-10" dirty="0">
                <a:solidFill>
                  <a:srgbClr val="FF0000"/>
                </a:solidFill>
                <a:latin typeface="Arial MT"/>
                <a:cs typeface="Arial MT"/>
              </a:rPr>
              <a:t>World”</a:t>
            </a:r>
            <a:endParaRPr sz="1400" kern="0">
              <a:solidFill>
                <a:sysClr val="windowText" lastClr="000000"/>
              </a:solidFill>
              <a:latin typeface="Arial MT"/>
              <a:cs typeface="Arial MT"/>
            </a:endParaRPr>
          </a:p>
        </p:txBody>
      </p:sp>
      <p:sp>
        <p:nvSpPr>
          <p:cNvPr id="24" name="object 24"/>
          <p:cNvSpPr txBox="1"/>
          <p:nvPr/>
        </p:nvSpPr>
        <p:spPr>
          <a:xfrm>
            <a:off x="5797551" y="1558290"/>
            <a:ext cx="1213485" cy="228268"/>
          </a:xfrm>
          <a:prstGeom prst="rect">
            <a:avLst/>
          </a:prstGeom>
        </p:spPr>
        <p:txBody>
          <a:bodyPr vert="horz" wrap="square" lIns="0" tIns="12700" rIns="0" bIns="0" rtlCol="0">
            <a:spAutoFit/>
          </a:bodyPr>
          <a:lstStyle/>
          <a:p>
            <a:pPr marL="12700">
              <a:spcBef>
                <a:spcPts val="100"/>
              </a:spcBef>
            </a:pPr>
            <a:r>
              <a:rPr sz="1400" kern="0" dirty="0">
                <a:solidFill>
                  <a:srgbClr val="FF0000"/>
                </a:solidFill>
                <a:latin typeface="Arial MT"/>
                <a:cs typeface="Arial MT"/>
              </a:rPr>
              <a:t>“Hello</a:t>
            </a:r>
            <a:r>
              <a:rPr sz="1400" kern="0" spc="-40" dirty="0">
                <a:solidFill>
                  <a:srgbClr val="FF0000"/>
                </a:solidFill>
                <a:latin typeface="Arial MT"/>
                <a:cs typeface="Arial MT"/>
              </a:rPr>
              <a:t> </a:t>
            </a:r>
            <a:r>
              <a:rPr sz="1400" kern="0" dirty="0">
                <a:solidFill>
                  <a:srgbClr val="FF0000"/>
                </a:solidFill>
                <a:latin typeface="Arial MT"/>
                <a:cs typeface="Arial MT"/>
              </a:rPr>
              <a:t>World”</a:t>
            </a:r>
            <a:r>
              <a:rPr sz="1400" kern="0" spc="-40" dirty="0">
                <a:solidFill>
                  <a:srgbClr val="FF0000"/>
                </a:solidFill>
                <a:latin typeface="Arial MT"/>
                <a:cs typeface="Arial MT"/>
              </a:rPr>
              <a:t> </a:t>
            </a:r>
            <a:r>
              <a:rPr sz="1400" kern="0" spc="-50" dirty="0">
                <a:solidFill>
                  <a:srgbClr val="FF0000"/>
                </a:solidFill>
                <a:latin typeface="Arial MT"/>
                <a:cs typeface="Arial MT"/>
              </a:rPr>
              <a:t>+</a:t>
            </a:r>
            <a:endParaRPr sz="1400" kern="0">
              <a:solidFill>
                <a:sysClr val="windowText" lastClr="000000"/>
              </a:solidFill>
              <a:latin typeface="Arial MT"/>
              <a:cs typeface="Arial MT"/>
            </a:endParaRPr>
          </a:p>
        </p:txBody>
      </p:sp>
      <p:sp>
        <p:nvSpPr>
          <p:cNvPr id="25" name="object 25"/>
          <p:cNvSpPr txBox="1"/>
          <p:nvPr/>
        </p:nvSpPr>
        <p:spPr>
          <a:xfrm>
            <a:off x="5797550" y="1770379"/>
            <a:ext cx="1471930" cy="452120"/>
          </a:xfrm>
          <a:prstGeom prst="rect">
            <a:avLst/>
          </a:prstGeom>
        </p:spPr>
        <p:txBody>
          <a:bodyPr vert="horz" wrap="square" lIns="0" tIns="12700" rIns="0" bIns="0" rtlCol="0">
            <a:spAutoFit/>
          </a:bodyPr>
          <a:lstStyle/>
          <a:p>
            <a:pPr marL="12700" marR="5080">
              <a:spcBef>
                <a:spcPts val="100"/>
              </a:spcBef>
            </a:pPr>
            <a:r>
              <a:rPr sz="1400" kern="0" dirty="0">
                <a:solidFill>
                  <a:srgbClr val="FF0000"/>
                </a:solidFill>
                <a:latin typeface="Arial MT"/>
                <a:cs typeface="Arial MT"/>
              </a:rPr>
              <a:t>coordinates, </a:t>
            </a:r>
            <a:r>
              <a:rPr sz="1400" kern="0" spc="-10" dirty="0">
                <a:solidFill>
                  <a:srgbClr val="FF0000"/>
                </a:solidFill>
                <a:latin typeface="Arial MT"/>
                <a:cs typeface="Arial MT"/>
              </a:rPr>
              <a:t>color, </a:t>
            </a:r>
            <a:r>
              <a:rPr sz="1400" kern="0" dirty="0">
                <a:solidFill>
                  <a:srgbClr val="FF0000"/>
                </a:solidFill>
                <a:latin typeface="Arial MT"/>
                <a:cs typeface="Arial MT"/>
              </a:rPr>
              <a:t>depth, </a:t>
            </a:r>
            <a:r>
              <a:rPr sz="1400" kern="0" spc="-25" dirty="0">
                <a:solidFill>
                  <a:srgbClr val="FF0000"/>
                </a:solidFill>
                <a:latin typeface="Arial MT"/>
                <a:cs typeface="Arial MT"/>
              </a:rPr>
              <a:t>etc</a:t>
            </a:r>
            <a:endParaRPr sz="1400" kern="0">
              <a:solidFill>
                <a:sysClr val="windowText" lastClr="000000"/>
              </a:solidFill>
              <a:latin typeface="Arial MT"/>
              <a:cs typeface="Arial M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145169" y="1371600"/>
            <a:ext cx="3532504" cy="3710304"/>
            <a:chOff x="4621169" y="1371600"/>
            <a:chExt cx="3532504" cy="3710304"/>
          </a:xfrm>
        </p:grpSpPr>
        <p:pic>
          <p:nvPicPr>
            <p:cNvPr id="3" name="object 3"/>
            <p:cNvPicPr/>
            <p:nvPr/>
          </p:nvPicPr>
          <p:blipFill>
            <a:blip r:embed="rId2" cstate="print"/>
            <a:stretch>
              <a:fillRect/>
            </a:stretch>
          </p:blipFill>
          <p:spPr>
            <a:xfrm>
              <a:off x="4621169" y="1843288"/>
              <a:ext cx="2915009" cy="3238487"/>
            </a:xfrm>
            <a:prstGeom prst="rect">
              <a:avLst/>
            </a:prstGeom>
          </p:spPr>
        </p:pic>
        <p:pic>
          <p:nvPicPr>
            <p:cNvPr id="4" name="object 4"/>
            <p:cNvPicPr/>
            <p:nvPr/>
          </p:nvPicPr>
          <p:blipFill>
            <a:blip r:embed="rId3" cstate="print"/>
            <a:stretch>
              <a:fillRect/>
            </a:stretch>
          </p:blipFill>
          <p:spPr>
            <a:xfrm>
              <a:off x="6857999" y="1371600"/>
              <a:ext cx="1295400" cy="1295400"/>
            </a:xfrm>
            <a:prstGeom prst="rect">
              <a:avLst/>
            </a:prstGeom>
          </p:spPr>
        </p:pic>
        <p:sp>
          <p:nvSpPr>
            <p:cNvPr id="5" name="object 5"/>
            <p:cNvSpPr/>
            <p:nvPr/>
          </p:nvSpPr>
          <p:spPr>
            <a:xfrm>
              <a:off x="5791199" y="1752600"/>
              <a:ext cx="1143000" cy="867410"/>
            </a:xfrm>
            <a:custGeom>
              <a:avLst/>
              <a:gdLst/>
              <a:ahLst/>
              <a:cxnLst/>
              <a:rect l="l" t="t" r="r" b="b"/>
              <a:pathLst>
                <a:path w="1143000" h="867410">
                  <a:moveTo>
                    <a:pt x="800100" y="0"/>
                  </a:moveTo>
                  <a:lnTo>
                    <a:pt x="800100" y="116839"/>
                  </a:lnTo>
                  <a:lnTo>
                    <a:pt x="657860" y="116839"/>
                  </a:lnTo>
                  <a:lnTo>
                    <a:pt x="597997" y="118358"/>
                  </a:lnTo>
                  <a:lnTo>
                    <a:pt x="539636" y="122825"/>
                  </a:lnTo>
                  <a:lnTo>
                    <a:pt x="483011" y="130110"/>
                  </a:lnTo>
                  <a:lnTo>
                    <a:pt x="428354" y="140079"/>
                  </a:lnTo>
                  <a:lnTo>
                    <a:pt x="375896" y="152602"/>
                  </a:lnTo>
                  <a:lnTo>
                    <a:pt x="325872" y="167545"/>
                  </a:lnTo>
                  <a:lnTo>
                    <a:pt x="278513" y="184778"/>
                  </a:lnTo>
                  <a:lnTo>
                    <a:pt x="234052" y="204168"/>
                  </a:lnTo>
                  <a:lnTo>
                    <a:pt x="192722" y="225583"/>
                  </a:lnTo>
                  <a:lnTo>
                    <a:pt x="154755" y="248892"/>
                  </a:lnTo>
                  <a:lnTo>
                    <a:pt x="120383" y="273961"/>
                  </a:lnTo>
                  <a:lnTo>
                    <a:pt x="89840" y="300660"/>
                  </a:lnTo>
                  <a:lnTo>
                    <a:pt x="63358" y="328857"/>
                  </a:lnTo>
                  <a:lnTo>
                    <a:pt x="23506" y="389213"/>
                  </a:lnTo>
                  <a:lnTo>
                    <a:pt x="2689" y="453976"/>
                  </a:lnTo>
                  <a:lnTo>
                    <a:pt x="0" y="487679"/>
                  </a:lnTo>
                  <a:lnTo>
                    <a:pt x="0" y="867410"/>
                  </a:lnTo>
                  <a:lnTo>
                    <a:pt x="341629" y="867410"/>
                  </a:lnTo>
                  <a:lnTo>
                    <a:pt x="341629" y="487679"/>
                  </a:lnTo>
                  <a:lnTo>
                    <a:pt x="348081" y="464063"/>
                  </a:lnTo>
                  <a:lnTo>
                    <a:pt x="395810" y="422247"/>
                  </a:lnTo>
                  <a:lnTo>
                    <a:pt x="434498" y="404971"/>
                  </a:lnTo>
                  <a:lnTo>
                    <a:pt x="481342" y="390730"/>
                  </a:lnTo>
                  <a:lnTo>
                    <a:pt x="535047" y="379987"/>
                  </a:lnTo>
                  <a:lnTo>
                    <a:pt x="594317" y="373203"/>
                  </a:lnTo>
                  <a:lnTo>
                    <a:pt x="657860" y="370839"/>
                  </a:lnTo>
                  <a:lnTo>
                    <a:pt x="964406" y="370839"/>
                  </a:lnTo>
                  <a:lnTo>
                    <a:pt x="1143000" y="243839"/>
                  </a:lnTo>
                  <a:lnTo>
                    <a:pt x="800100" y="0"/>
                  </a:lnTo>
                  <a:close/>
                </a:path>
                <a:path w="1143000" h="867410">
                  <a:moveTo>
                    <a:pt x="964406" y="370839"/>
                  </a:moveTo>
                  <a:lnTo>
                    <a:pt x="800100" y="370839"/>
                  </a:lnTo>
                  <a:lnTo>
                    <a:pt x="800100" y="487679"/>
                  </a:lnTo>
                  <a:lnTo>
                    <a:pt x="964406" y="370839"/>
                  </a:lnTo>
                  <a:close/>
                </a:path>
              </a:pathLst>
            </a:custGeom>
            <a:solidFill>
              <a:srgbClr val="BADFE2"/>
            </a:solidFill>
          </p:spPr>
          <p:txBody>
            <a:bodyPr wrap="square" lIns="0" tIns="0" rIns="0" bIns="0" rtlCol="0"/>
            <a:lstStyle/>
            <a:p>
              <a:endParaRPr kern="0">
                <a:solidFill>
                  <a:sysClr val="windowText" lastClr="000000"/>
                </a:solidFill>
              </a:endParaRPr>
            </a:p>
          </p:txBody>
        </p:sp>
        <p:sp>
          <p:nvSpPr>
            <p:cNvPr id="6" name="object 6"/>
            <p:cNvSpPr/>
            <p:nvPr/>
          </p:nvSpPr>
          <p:spPr>
            <a:xfrm>
              <a:off x="5791199" y="1752600"/>
              <a:ext cx="1143000" cy="867410"/>
            </a:xfrm>
            <a:custGeom>
              <a:avLst/>
              <a:gdLst/>
              <a:ahLst/>
              <a:cxnLst/>
              <a:rect l="l" t="t" r="r" b="b"/>
              <a:pathLst>
                <a:path w="1143000" h="867410">
                  <a:moveTo>
                    <a:pt x="1143000" y="243839"/>
                  </a:moveTo>
                  <a:lnTo>
                    <a:pt x="800100" y="0"/>
                  </a:lnTo>
                  <a:lnTo>
                    <a:pt x="800100" y="116839"/>
                  </a:lnTo>
                  <a:lnTo>
                    <a:pt x="657860" y="116839"/>
                  </a:lnTo>
                  <a:lnTo>
                    <a:pt x="597997" y="118358"/>
                  </a:lnTo>
                  <a:lnTo>
                    <a:pt x="539636" y="122825"/>
                  </a:lnTo>
                  <a:lnTo>
                    <a:pt x="483011" y="130110"/>
                  </a:lnTo>
                  <a:lnTo>
                    <a:pt x="428354" y="140079"/>
                  </a:lnTo>
                  <a:lnTo>
                    <a:pt x="375896" y="152602"/>
                  </a:lnTo>
                  <a:lnTo>
                    <a:pt x="325872" y="167545"/>
                  </a:lnTo>
                  <a:lnTo>
                    <a:pt x="278513" y="184778"/>
                  </a:lnTo>
                  <a:lnTo>
                    <a:pt x="234052" y="204168"/>
                  </a:lnTo>
                  <a:lnTo>
                    <a:pt x="192722" y="225583"/>
                  </a:lnTo>
                  <a:lnTo>
                    <a:pt x="154755" y="248892"/>
                  </a:lnTo>
                  <a:lnTo>
                    <a:pt x="120383" y="273961"/>
                  </a:lnTo>
                  <a:lnTo>
                    <a:pt x="89840" y="300660"/>
                  </a:lnTo>
                  <a:lnTo>
                    <a:pt x="63358" y="328857"/>
                  </a:lnTo>
                  <a:lnTo>
                    <a:pt x="23506" y="389213"/>
                  </a:lnTo>
                  <a:lnTo>
                    <a:pt x="2689" y="453976"/>
                  </a:lnTo>
                  <a:lnTo>
                    <a:pt x="0" y="487679"/>
                  </a:lnTo>
                  <a:lnTo>
                    <a:pt x="0" y="867410"/>
                  </a:lnTo>
                  <a:lnTo>
                    <a:pt x="341629" y="867410"/>
                  </a:lnTo>
                  <a:lnTo>
                    <a:pt x="341629" y="487679"/>
                  </a:lnTo>
                  <a:lnTo>
                    <a:pt x="348081" y="464063"/>
                  </a:lnTo>
                  <a:lnTo>
                    <a:pt x="395810" y="422247"/>
                  </a:lnTo>
                  <a:lnTo>
                    <a:pt x="434498" y="404971"/>
                  </a:lnTo>
                  <a:lnTo>
                    <a:pt x="481342" y="390730"/>
                  </a:lnTo>
                  <a:lnTo>
                    <a:pt x="535047" y="379987"/>
                  </a:lnTo>
                  <a:lnTo>
                    <a:pt x="594317" y="373203"/>
                  </a:lnTo>
                  <a:lnTo>
                    <a:pt x="657860" y="370839"/>
                  </a:lnTo>
                  <a:lnTo>
                    <a:pt x="800100" y="370839"/>
                  </a:lnTo>
                  <a:lnTo>
                    <a:pt x="800100" y="487679"/>
                  </a:lnTo>
                  <a:lnTo>
                    <a:pt x="1143000" y="243839"/>
                  </a:lnTo>
                  <a:close/>
                </a:path>
              </a:pathLst>
            </a:custGeom>
            <a:ln w="9344">
              <a:solidFill>
                <a:srgbClr val="000000"/>
              </a:solidFill>
            </a:ln>
          </p:spPr>
          <p:txBody>
            <a:bodyPr wrap="square" lIns="0" tIns="0" rIns="0" bIns="0" rtlCol="0"/>
            <a:lstStyle/>
            <a:p>
              <a:endParaRPr kern="0">
                <a:solidFill>
                  <a:sysClr val="windowText" lastClr="000000"/>
                </a:solidFill>
              </a:endParaRPr>
            </a:p>
          </p:txBody>
        </p:sp>
        <p:sp>
          <p:nvSpPr>
            <p:cNvPr id="7" name="object 7"/>
            <p:cNvSpPr/>
            <p:nvPr/>
          </p:nvSpPr>
          <p:spPr>
            <a:xfrm>
              <a:off x="5786526" y="1747938"/>
              <a:ext cx="1152525" cy="876935"/>
            </a:xfrm>
            <a:custGeom>
              <a:avLst/>
              <a:gdLst/>
              <a:ahLst/>
              <a:cxnLst/>
              <a:rect l="l" t="t" r="r" b="b"/>
              <a:pathLst>
                <a:path w="1152525" h="876935">
                  <a:moveTo>
                    <a:pt x="9334" y="4660"/>
                  </a:moveTo>
                  <a:lnTo>
                    <a:pt x="7975" y="1358"/>
                  </a:lnTo>
                  <a:lnTo>
                    <a:pt x="4673" y="0"/>
                  </a:lnTo>
                  <a:lnTo>
                    <a:pt x="1358" y="1358"/>
                  </a:lnTo>
                  <a:lnTo>
                    <a:pt x="0" y="4660"/>
                  </a:lnTo>
                  <a:lnTo>
                    <a:pt x="1358" y="7975"/>
                  </a:lnTo>
                  <a:lnTo>
                    <a:pt x="4673" y="9334"/>
                  </a:lnTo>
                  <a:lnTo>
                    <a:pt x="7975" y="7975"/>
                  </a:lnTo>
                  <a:lnTo>
                    <a:pt x="9334" y="4660"/>
                  </a:lnTo>
                  <a:close/>
                </a:path>
                <a:path w="1152525" h="876935">
                  <a:moveTo>
                    <a:pt x="1152334" y="872070"/>
                  </a:moveTo>
                  <a:lnTo>
                    <a:pt x="1150975" y="868768"/>
                  </a:lnTo>
                  <a:lnTo>
                    <a:pt x="1147673" y="867410"/>
                  </a:lnTo>
                  <a:lnTo>
                    <a:pt x="1144358" y="868768"/>
                  </a:lnTo>
                  <a:lnTo>
                    <a:pt x="1143000" y="872070"/>
                  </a:lnTo>
                  <a:lnTo>
                    <a:pt x="1144358" y="875385"/>
                  </a:lnTo>
                  <a:lnTo>
                    <a:pt x="1147673" y="876744"/>
                  </a:lnTo>
                  <a:lnTo>
                    <a:pt x="1150975" y="875385"/>
                  </a:lnTo>
                  <a:lnTo>
                    <a:pt x="1152334" y="872070"/>
                  </a:lnTo>
                  <a:close/>
                </a:path>
              </a:pathLst>
            </a:custGeom>
            <a:solidFill>
              <a:srgbClr val="000000"/>
            </a:solidFill>
          </p:spPr>
          <p:txBody>
            <a:bodyPr wrap="square" lIns="0" tIns="0" rIns="0" bIns="0" rtlCol="0"/>
            <a:lstStyle/>
            <a:p>
              <a:endParaRPr kern="0">
                <a:solidFill>
                  <a:sysClr val="windowText" lastClr="000000"/>
                </a:solidFill>
              </a:endParaRPr>
            </a:p>
          </p:txBody>
        </p:sp>
      </p:grpSp>
      <p:sp>
        <p:nvSpPr>
          <p:cNvPr id="8" name="object 8"/>
          <p:cNvSpPr txBox="1">
            <a:spLocks noGrp="1"/>
          </p:cNvSpPr>
          <p:nvPr>
            <p:ph type="title"/>
          </p:nvPr>
        </p:nvSpPr>
        <p:spPr>
          <a:xfrm>
            <a:off x="2993390" y="223520"/>
            <a:ext cx="6202045" cy="1244600"/>
          </a:xfrm>
          <a:prstGeom prst="rect">
            <a:avLst/>
          </a:prstGeom>
        </p:spPr>
        <p:txBody>
          <a:bodyPr vert="horz" wrap="square" lIns="0" tIns="12700" rIns="0" bIns="0" rtlCol="0">
            <a:spAutoFit/>
          </a:bodyPr>
          <a:lstStyle/>
          <a:p>
            <a:pPr marL="1832610" marR="5080" indent="-1819910">
              <a:spcBef>
                <a:spcPts val="100"/>
              </a:spcBef>
              <a:tabLst>
                <a:tab pos="2381250" algn="l"/>
              </a:tabLst>
            </a:pPr>
            <a:r>
              <a:rPr sz="4000" spc="-10" dirty="0"/>
              <a:t>Operating</a:t>
            </a:r>
            <a:r>
              <a:rPr sz="4000" dirty="0"/>
              <a:t>	Systems</a:t>
            </a:r>
            <a:r>
              <a:rPr sz="4000" spc="-140" dirty="0"/>
              <a:t> </a:t>
            </a:r>
            <a:r>
              <a:rPr sz="4000" spc="-10" dirty="0"/>
              <a:t>Provide Abstraction</a:t>
            </a:r>
            <a:endParaRPr sz="4000"/>
          </a:p>
        </p:txBody>
      </p:sp>
      <p:sp>
        <p:nvSpPr>
          <p:cNvPr id="9" name="object 9"/>
          <p:cNvSpPr txBox="1"/>
          <p:nvPr/>
        </p:nvSpPr>
        <p:spPr>
          <a:xfrm>
            <a:off x="2059941" y="4594859"/>
            <a:ext cx="99695" cy="268022"/>
          </a:xfrm>
          <a:prstGeom prst="rect">
            <a:avLst/>
          </a:prstGeom>
        </p:spPr>
        <p:txBody>
          <a:bodyPr vert="horz" wrap="square" lIns="0" tIns="13970" rIns="0" bIns="0" rtlCol="0">
            <a:spAutoFit/>
          </a:bodyPr>
          <a:lstStyle/>
          <a:p>
            <a:pPr marL="12700">
              <a:spcBef>
                <a:spcPts val="110"/>
              </a:spcBef>
            </a:pPr>
            <a:r>
              <a:rPr sz="1650" kern="0" spc="-50" dirty="0">
                <a:solidFill>
                  <a:sysClr val="windowText" lastClr="000000"/>
                </a:solidFill>
                <a:latin typeface="Arial MT"/>
                <a:cs typeface="Arial MT"/>
              </a:rPr>
              <a:t>•</a:t>
            </a:r>
            <a:endParaRPr sz="1650" kern="0">
              <a:solidFill>
                <a:sysClr val="windowText" lastClr="000000"/>
              </a:solidFill>
              <a:latin typeface="Arial MT"/>
              <a:cs typeface="Arial MT"/>
            </a:endParaRPr>
          </a:p>
        </p:txBody>
      </p:sp>
      <p:sp>
        <p:nvSpPr>
          <p:cNvPr id="10" name="object 10"/>
          <p:cNvSpPr txBox="1"/>
          <p:nvPr/>
        </p:nvSpPr>
        <p:spPr>
          <a:xfrm>
            <a:off x="2344419" y="4606290"/>
            <a:ext cx="4033520" cy="508000"/>
          </a:xfrm>
          <a:prstGeom prst="rect">
            <a:avLst/>
          </a:prstGeom>
        </p:spPr>
        <p:txBody>
          <a:bodyPr vert="horz" wrap="square" lIns="0" tIns="13970" rIns="0" bIns="0" rtlCol="0">
            <a:spAutoFit/>
          </a:bodyPr>
          <a:lstStyle/>
          <a:p>
            <a:pPr marL="12700">
              <a:spcBef>
                <a:spcPts val="110"/>
              </a:spcBef>
            </a:pPr>
            <a:r>
              <a:rPr sz="1650" b="1" kern="0" dirty="0">
                <a:solidFill>
                  <a:sysClr val="windowText" lastClr="000000"/>
                </a:solidFill>
                <a:latin typeface="Arial"/>
                <a:cs typeface="Arial"/>
              </a:rPr>
              <a:t>Easy</a:t>
            </a:r>
            <a:r>
              <a:rPr sz="1650" b="1" kern="0" spc="20" dirty="0">
                <a:solidFill>
                  <a:sysClr val="windowText" lastClr="000000"/>
                </a:solidFill>
                <a:latin typeface="Arial"/>
                <a:cs typeface="Arial"/>
              </a:rPr>
              <a:t> </a:t>
            </a:r>
            <a:r>
              <a:rPr sz="1650" b="1" kern="0" dirty="0">
                <a:solidFill>
                  <a:sysClr val="windowText" lastClr="000000"/>
                </a:solidFill>
                <a:latin typeface="Arial"/>
                <a:cs typeface="Arial"/>
              </a:rPr>
              <a:t>to</a:t>
            </a:r>
            <a:r>
              <a:rPr sz="1650" b="1" kern="0" spc="20" dirty="0">
                <a:solidFill>
                  <a:sysClr val="windowText" lastClr="000000"/>
                </a:solidFill>
                <a:latin typeface="Arial"/>
                <a:cs typeface="Arial"/>
              </a:rPr>
              <a:t> </a:t>
            </a:r>
            <a:r>
              <a:rPr sz="1650" b="1" kern="0" dirty="0">
                <a:solidFill>
                  <a:sysClr val="windowText" lastClr="000000"/>
                </a:solidFill>
                <a:latin typeface="Arial"/>
                <a:cs typeface="Arial"/>
              </a:rPr>
              <a:t>program</a:t>
            </a:r>
            <a:r>
              <a:rPr sz="1650" b="1" kern="0" spc="45" dirty="0">
                <a:solidFill>
                  <a:sysClr val="windowText" lastClr="000000"/>
                </a:solidFill>
                <a:latin typeface="Arial"/>
                <a:cs typeface="Arial"/>
              </a:rPr>
              <a:t> </a:t>
            </a:r>
            <a:r>
              <a:rPr sz="1650" kern="0" spc="-20" dirty="0">
                <a:solidFill>
                  <a:sysClr val="windowText" lastClr="000000"/>
                </a:solidFill>
                <a:latin typeface="Arial MT"/>
                <a:cs typeface="Arial MT"/>
              </a:rPr>
              <a:t>apps</a:t>
            </a:r>
            <a:endParaRPr sz="1650" kern="0">
              <a:solidFill>
                <a:sysClr val="windowText" lastClr="000000"/>
              </a:solidFill>
              <a:latin typeface="Arial MT"/>
              <a:cs typeface="Arial MT"/>
            </a:endParaRPr>
          </a:p>
          <a:p>
            <a:pPr marL="107950">
              <a:spcBef>
                <a:spcPts val="10"/>
              </a:spcBef>
              <a:tabLst>
                <a:tab pos="343535" algn="l"/>
              </a:tabLst>
            </a:pPr>
            <a:r>
              <a:rPr sz="2250" kern="0" spc="-75" baseline="1851" dirty="0">
                <a:solidFill>
                  <a:sysClr val="windowText" lastClr="000000"/>
                </a:solidFill>
                <a:latin typeface="Arial MT"/>
                <a:cs typeface="Arial MT"/>
              </a:rPr>
              <a:t>–</a:t>
            </a:r>
            <a:r>
              <a:rPr sz="2250" kern="0" baseline="1851" dirty="0">
                <a:solidFill>
                  <a:sysClr val="windowText" lastClr="000000"/>
                </a:solidFill>
                <a:latin typeface="Arial MT"/>
                <a:cs typeface="Arial MT"/>
              </a:rPr>
              <a:t>	</a:t>
            </a:r>
            <a:r>
              <a:rPr sz="1500" kern="0" dirty="0">
                <a:solidFill>
                  <a:sysClr val="windowText" lastClr="000000"/>
                </a:solidFill>
                <a:latin typeface="Arial MT"/>
                <a:cs typeface="Arial MT"/>
              </a:rPr>
              <a:t>No</a:t>
            </a:r>
            <a:r>
              <a:rPr sz="1500" kern="0" spc="-20" dirty="0">
                <a:solidFill>
                  <a:sysClr val="windowText" lastClr="000000"/>
                </a:solidFill>
                <a:latin typeface="Arial MT"/>
                <a:cs typeface="Arial MT"/>
              </a:rPr>
              <a:t> </a:t>
            </a:r>
            <a:r>
              <a:rPr sz="1500" kern="0" dirty="0">
                <a:solidFill>
                  <a:sysClr val="windowText" lastClr="000000"/>
                </a:solidFill>
                <a:latin typeface="Arial MT"/>
                <a:cs typeface="Arial MT"/>
              </a:rPr>
              <a:t>more</a:t>
            </a:r>
            <a:r>
              <a:rPr sz="1500" kern="0" spc="-20" dirty="0">
                <a:solidFill>
                  <a:sysClr val="windowText" lastClr="000000"/>
                </a:solidFill>
                <a:latin typeface="Arial MT"/>
                <a:cs typeface="Arial MT"/>
              </a:rPr>
              <a:t> </a:t>
            </a:r>
            <a:r>
              <a:rPr sz="1500" kern="0" dirty="0">
                <a:solidFill>
                  <a:sysClr val="windowText" lastClr="000000"/>
                </a:solidFill>
                <a:latin typeface="Arial MT"/>
                <a:cs typeface="Arial MT"/>
              </a:rPr>
              <a:t>nitty</a:t>
            </a:r>
            <a:r>
              <a:rPr sz="1500" kern="0" spc="-15" dirty="0">
                <a:solidFill>
                  <a:sysClr val="windowText" lastClr="000000"/>
                </a:solidFill>
                <a:latin typeface="Arial MT"/>
                <a:cs typeface="Arial MT"/>
              </a:rPr>
              <a:t> </a:t>
            </a:r>
            <a:r>
              <a:rPr sz="1500" kern="0" dirty="0">
                <a:solidFill>
                  <a:sysClr val="windowText" lastClr="000000"/>
                </a:solidFill>
                <a:latin typeface="Arial MT"/>
                <a:cs typeface="Arial MT"/>
              </a:rPr>
              <a:t>gritty</a:t>
            </a:r>
            <a:r>
              <a:rPr sz="1500" kern="0" spc="-20" dirty="0">
                <a:solidFill>
                  <a:sysClr val="windowText" lastClr="000000"/>
                </a:solidFill>
                <a:latin typeface="Arial MT"/>
                <a:cs typeface="Arial MT"/>
              </a:rPr>
              <a:t> </a:t>
            </a:r>
            <a:r>
              <a:rPr sz="1500" kern="0" dirty="0">
                <a:solidFill>
                  <a:sysClr val="windowText" lastClr="000000"/>
                </a:solidFill>
                <a:latin typeface="Arial MT"/>
                <a:cs typeface="Arial MT"/>
              </a:rPr>
              <a:t>details</a:t>
            </a:r>
            <a:r>
              <a:rPr sz="1500" kern="0" spc="-25" dirty="0">
                <a:solidFill>
                  <a:sysClr val="windowText" lastClr="000000"/>
                </a:solidFill>
                <a:latin typeface="Arial MT"/>
                <a:cs typeface="Arial MT"/>
              </a:rPr>
              <a:t> </a:t>
            </a:r>
            <a:r>
              <a:rPr sz="1500" kern="0" dirty="0">
                <a:solidFill>
                  <a:sysClr val="windowText" lastClr="000000"/>
                </a:solidFill>
                <a:latin typeface="Arial MT"/>
                <a:cs typeface="Arial MT"/>
              </a:rPr>
              <a:t>for</a:t>
            </a:r>
            <a:r>
              <a:rPr sz="1500" kern="0" spc="-15" dirty="0">
                <a:solidFill>
                  <a:sysClr val="windowText" lastClr="000000"/>
                </a:solidFill>
                <a:latin typeface="Arial MT"/>
                <a:cs typeface="Arial MT"/>
              </a:rPr>
              <a:t> </a:t>
            </a:r>
            <a:r>
              <a:rPr sz="1500" kern="0" spc="-10" dirty="0">
                <a:solidFill>
                  <a:sysClr val="windowText" lastClr="000000"/>
                </a:solidFill>
                <a:latin typeface="Arial MT"/>
                <a:cs typeface="Arial MT"/>
              </a:rPr>
              <a:t>programmers</a:t>
            </a:r>
            <a:endParaRPr sz="1500" kern="0">
              <a:solidFill>
                <a:sysClr val="windowText" lastClr="000000"/>
              </a:solidFill>
              <a:latin typeface="Arial MT"/>
              <a:cs typeface="Arial MT"/>
            </a:endParaRPr>
          </a:p>
        </p:txBody>
      </p:sp>
      <p:sp>
        <p:nvSpPr>
          <p:cNvPr id="11" name="object 11"/>
          <p:cNvSpPr txBox="1"/>
          <p:nvPr/>
        </p:nvSpPr>
        <p:spPr>
          <a:xfrm>
            <a:off x="2059941" y="5081270"/>
            <a:ext cx="99695" cy="268022"/>
          </a:xfrm>
          <a:prstGeom prst="rect">
            <a:avLst/>
          </a:prstGeom>
        </p:spPr>
        <p:txBody>
          <a:bodyPr vert="horz" wrap="square" lIns="0" tIns="13970" rIns="0" bIns="0" rtlCol="0">
            <a:spAutoFit/>
          </a:bodyPr>
          <a:lstStyle/>
          <a:p>
            <a:pPr marL="12700">
              <a:spcBef>
                <a:spcPts val="110"/>
              </a:spcBef>
            </a:pPr>
            <a:r>
              <a:rPr sz="1650" kern="0" spc="-50" dirty="0">
                <a:solidFill>
                  <a:sysClr val="windowText" lastClr="000000"/>
                </a:solidFill>
                <a:latin typeface="Arial MT"/>
                <a:cs typeface="Arial MT"/>
              </a:rPr>
              <a:t>•</a:t>
            </a:r>
            <a:endParaRPr sz="1650" kern="0">
              <a:solidFill>
                <a:sysClr val="windowText" lastClr="000000"/>
              </a:solidFill>
              <a:latin typeface="Arial MT"/>
              <a:cs typeface="Arial MT"/>
            </a:endParaRPr>
          </a:p>
        </p:txBody>
      </p:sp>
      <p:sp>
        <p:nvSpPr>
          <p:cNvPr id="12" name="object 12"/>
          <p:cNvSpPr txBox="1"/>
          <p:nvPr/>
        </p:nvSpPr>
        <p:spPr>
          <a:xfrm>
            <a:off x="2344419" y="5092700"/>
            <a:ext cx="3397250" cy="508000"/>
          </a:xfrm>
          <a:prstGeom prst="rect">
            <a:avLst/>
          </a:prstGeom>
        </p:spPr>
        <p:txBody>
          <a:bodyPr vert="horz" wrap="square" lIns="0" tIns="13970" rIns="0" bIns="0" rtlCol="0">
            <a:spAutoFit/>
          </a:bodyPr>
          <a:lstStyle/>
          <a:p>
            <a:pPr marL="12700">
              <a:spcBef>
                <a:spcPts val="110"/>
              </a:spcBef>
            </a:pPr>
            <a:r>
              <a:rPr sz="1650" b="1" kern="0" dirty="0">
                <a:solidFill>
                  <a:sysClr val="windowText" lastClr="000000"/>
                </a:solidFill>
                <a:latin typeface="Arial"/>
                <a:cs typeface="Arial"/>
              </a:rPr>
              <a:t>Reusable</a:t>
            </a:r>
            <a:r>
              <a:rPr sz="1650" b="1" kern="0" spc="35" dirty="0">
                <a:solidFill>
                  <a:sysClr val="windowText" lastClr="000000"/>
                </a:solidFill>
                <a:latin typeface="Arial"/>
                <a:cs typeface="Arial"/>
              </a:rPr>
              <a:t> </a:t>
            </a:r>
            <a:r>
              <a:rPr sz="1650" b="1" kern="0" spc="-10" dirty="0">
                <a:solidFill>
                  <a:sysClr val="windowText" lastClr="000000"/>
                </a:solidFill>
                <a:latin typeface="Arial"/>
                <a:cs typeface="Arial"/>
              </a:rPr>
              <a:t>functionality</a:t>
            </a:r>
            <a:endParaRPr sz="1650" kern="0">
              <a:solidFill>
                <a:sysClr val="windowText" lastClr="000000"/>
              </a:solidFill>
              <a:latin typeface="Arial"/>
              <a:cs typeface="Arial"/>
            </a:endParaRPr>
          </a:p>
          <a:p>
            <a:pPr marL="107950">
              <a:spcBef>
                <a:spcPts val="10"/>
              </a:spcBef>
              <a:tabLst>
                <a:tab pos="343535" algn="l"/>
              </a:tabLst>
            </a:pPr>
            <a:r>
              <a:rPr sz="2250" kern="0" spc="-75" baseline="1851" dirty="0">
                <a:solidFill>
                  <a:sysClr val="windowText" lastClr="000000"/>
                </a:solidFill>
                <a:latin typeface="Arial MT"/>
                <a:cs typeface="Arial MT"/>
              </a:rPr>
              <a:t>–</a:t>
            </a:r>
            <a:r>
              <a:rPr sz="2250" kern="0" baseline="1851" dirty="0">
                <a:solidFill>
                  <a:sysClr val="windowText" lastClr="000000"/>
                </a:solidFill>
                <a:latin typeface="Arial MT"/>
                <a:cs typeface="Arial MT"/>
              </a:rPr>
              <a:t>	</a:t>
            </a:r>
            <a:r>
              <a:rPr sz="1500" kern="0" dirty="0">
                <a:solidFill>
                  <a:sysClr val="windowText" lastClr="000000"/>
                </a:solidFill>
                <a:latin typeface="Arial MT"/>
                <a:cs typeface="Arial MT"/>
              </a:rPr>
              <a:t>Apps</a:t>
            </a:r>
            <a:r>
              <a:rPr sz="1500" kern="0" spc="-15" dirty="0">
                <a:solidFill>
                  <a:sysClr val="windowText" lastClr="000000"/>
                </a:solidFill>
                <a:latin typeface="Arial MT"/>
                <a:cs typeface="Arial MT"/>
              </a:rPr>
              <a:t> </a:t>
            </a:r>
            <a:r>
              <a:rPr sz="1500" kern="0" dirty="0">
                <a:solidFill>
                  <a:sysClr val="windowText" lastClr="000000"/>
                </a:solidFill>
                <a:latin typeface="Arial MT"/>
                <a:cs typeface="Arial MT"/>
              </a:rPr>
              <a:t>can</a:t>
            </a:r>
            <a:r>
              <a:rPr sz="1500" kern="0" spc="-20" dirty="0">
                <a:solidFill>
                  <a:sysClr val="windowText" lastClr="000000"/>
                </a:solidFill>
                <a:latin typeface="Arial MT"/>
                <a:cs typeface="Arial MT"/>
              </a:rPr>
              <a:t> </a:t>
            </a:r>
            <a:r>
              <a:rPr sz="1500" kern="0" dirty="0">
                <a:solidFill>
                  <a:sysClr val="windowText" lastClr="000000"/>
                </a:solidFill>
                <a:latin typeface="Arial MT"/>
                <a:cs typeface="Arial MT"/>
              </a:rPr>
              <a:t>reuse</a:t>
            </a:r>
            <a:r>
              <a:rPr sz="1500" kern="0" spc="-15" dirty="0">
                <a:solidFill>
                  <a:sysClr val="windowText" lastClr="000000"/>
                </a:solidFill>
                <a:latin typeface="Arial MT"/>
                <a:cs typeface="Arial MT"/>
              </a:rPr>
              <a:t> </a:t>
            </a:r>
            <a:r>
              <a:rPr sz="1500" kern="0" dirty="0">
                <a:solidFill>
                  <a:sysClr val="windowText" lastClr="000000"/>
                </a:solidFill>
                <a:latin typeface="Arial MT"/>
                <a:cs typeface="Arial MT"/>
              </a:rPr>
              <a:t>the</a:t>
            </a:r>
            <a:r>
              <a:rPr sz="1500" kern="0" spc="-20" dirty="0">
                <a:solidFill>
                  <a:sysClr val="windowText" lastClr="000000"/>
                </a:solidFill>
                <a:latin typeface="Arial MT"/>
                <a:cs typeface="Arial MT"/>
              </a:rPr>
              <a:t> </a:t>
            </a:r>
            <a:r>
              <a:rPr sz="1500" kern="0" dirty="0">
                <a:solidFill>
                  <a:sysClr val="windowText" lastClr="000000"/>
                </a:solidFill>
                <a:latin typeface="Arial MT"/>
                <a:cs typeface="Arial MT"/>
              </a:rPr>
              <a:t>OS</a:t>
            </a:r>
            <a:r>
              <a:rPr sz="1500" kern="0" spc="-30" dirty="0">
                <a:solidFill>
                  <a:sysClr val="windowText" lastClr="000000"/>
                </a:solidFill>
                <a:latin typeface="Arial MT"/>
                <a:cs typeface="Arial MT"/>
              </a:rPr>
              <a:t> </a:t>
            </a:r>
            <a:r>
              <a:rPr sz="1500" kern="0" spc="-10" dirty="0">
                <a:solidFill>
                  <a:sysClr val="windowText" lastClr="000000"/>
                </a:solidFill>
                <a:latin typeface="Arial MT"/>
                <a:cs typeface="Arial MT"/>
              </a:rPr>
              <a:t>functionality</a:t>
            </a:r>
            <a:endParaRPr sz="1500" kern="0">
              <a:solidFill>
                <a:sysClr val="windowText" lastClr="000000"/>
              </a:solidFill>
              <a:latin typeface="Arial MT"/>
              <a:cs typeface="Arial MT"/>
            </a:endParaRPr>
          </a:p>
        </p:txBody>
      </p:sp>
      <p:sp>
        <p:nvSpPr>
          <p:cNvPr id="13" name="object 13"/>
          <p:cNvSpPr txBox="1"/>
          <p:nvPr/>
        </p:nvSpPr>
        <p:spPr>
          <a:xfrm>
            <a:off x="2059941" y="5567679"/>
            <a:ext cx="99695" cy="268022"/>
          </a:xfrm>
          <a:prstGeom prst="rect">
            <a:avLst/>
          </a:prstGeom>
        </p:spPr>
        <p:txBody>
          <a:bodyPr vert="horz" wrap="square" lIns="0" tIns="13970" rIns="0" bIns="0" rtlCol="0">
            <a:spAutoFit/>
          </a:bodyPr>
          <a:lstStyle/>
          <a:p>
            <a:pPr marL="12700">
              <a:spcBef>
                <a:spcPts val="110"/>
              </a:spcBef>
            </a:pPr>
            <a:r>
              <a:rPr sz="1650" kern="0" spc="-50" dirty="0">
                <a:solidFill>
                  <a:sysClr val="windowText" lastClr="000000"/>
                </a:solidFill>
                <a:latin typeface="Arial MT"/>
                <a:cs typeface="Arial MT"/>
              </a:rPr>
              <a:t>•</a:t>
            </a:r>
            <a:endParaRPr sz="1650" kern="0">
              <a:solidFill>
                <a:sysClr val="windowText" lastClr="000000"/>
              </a:solidFill>
              <a:latin typeface="Arial MT"/>
              <a:cs typeface="Arial MT"/>
            </a:endParaRPr>
          </a:p>
        </p:txBody>
      </p:sp>
      <p:sp>
        <p:nvSpPr>
          <p:cNvPr id="14" name="object 14"/>
          <p:cNvSpPr txBox="1"/>
          <p:nvPr/>
        </p:nvSpPr>
        <p:spPr>
          <a:xfrm>
            <a:off x="2344419" y="5579109"/>
            <a:ext cx="7169150" cy="508000"/>
          </a:xfrm>
          <a:prstGeom prst="rect">
            <a:avLst/>
          </a:prstGeom>
        </p:spPr>
        <p:txBody>
          <a:bodyPr vert="horz" wrap="square" lIns="0" tIns="13970" rIns="0" bIns="0" rtlCol="0">
            <a:spAutoFit/>
          </a:bodyPr>
          <a:lstStyle/>
          <a:p>
            <a:pPr marL="12700">
              <a:spcBef>
                <a:spcPts val="110"/>
              </a:spcBef>
            </a:pPr>
            <a:r>
              <a:rPr sz="1650" b="1" kern="0" spc="-10" dirty="0">
                <a:solidFill>
                  <a:sysClr val="windowText" lastClr="000000"/>
                </a:solidFill>
                <a:latin typeface="Arial"/>
                <a:cs typeface="Arial"/>
              </a:rPr>
              <a:t>Portable</a:t>
            </a:r>
            <a:endParaRPr sz="1650" kern="0">
              <a:solidFill>
                <a:sysClr val="windowText" lastClr="000000"/>
              </a:solidFill>
              <a:latin typeface="Arial"/>
              <a:cs typeface="Arial"/>
            </a:endParaRPr>
          </a:p>
          <a:p>
            <a:pPr marL="107950">
              <a:spcBef>
                <a:spcPts val="10"/>
              </a:spcBef>
              <a:tabLst>
                <a:tab pos="343535" algn="l"/>
              </a:tabLst>
            </a:pPr>
            <a:r>
              <a:rPr sz="2250" kern="0" spc="-75" baseline="3703" dirty="0">
                <a:solidFill>
                  <a:sysClr val="windowText" lastClr="000000"/>
                </a:solidFill>
                <a:latin typeface="Arial MT"/>
                <a:cs typeface="Arial MT"/>
              </a:rPr>
              <a:t>–</a:t>
            </a:r>
            <a:r>
              <a:rPr sz="2250" kern="0" baseline="3703" dirty="0">
                <a:solidFill>
                  <a:sysClr val="windowText" lastClr="000000"/>
                </a:solidFill>
                <a:latin typeface="Arial MT"/>
                <a:cs typeface="Arial MT"/>
              </a:rPr>
              <a:t>	</a:t>
            </a:r>
            <a:r>
              <a:rPr sz="1500" kern="0" dirty="0">
                <a:solidFill>
                  <a:sysClr val="windowText" lastClr="000000"/>
                </a:solidFill>
                <a:latin typeface="Arial MT"/>
                <a:cs typeface="Arial MT"/>
              </a:rPr>
              <a:t>OS</a:t>
            </a:r>
            <a:r>
              <a:rPr sz="1500" kern="0" spc="-45" dirty="0">
                <a:solidFill>
                  <a:sysClr val="windowText" lastClr="000000"/>
                </a:solidFill>
                <a:latin typeface="Arial MT"/>
                <a:cs typeface="Arial MT"/>
              </a:rPr>
              <a:t> </a:t>
            </a:r>
            <a:r>
              <a:rPr sz="1500" kern="0" dirty="0">
                <a:solidFill>
                  <a:sysClr val="windowText" lastClr="000000"/>
                </a:solidFill>
                <a:latin typeface="Arial MT"/>
                <a:cs typeface="Arial MT"/>
              </a:rPr>
              <a:t>interfaces</a:t>
            </a:r>
            <a:r>
              <a:rPr sz="1500" kern="0" spc="-20" dirty="0">
                <a:solidFill>
                  <a:sysClr val="windowText" lastClr="000000"/>
                </a:solidFill>
                <a:latin typeface="Arial MT"/>
                <a:cs typeface="Arial MT"/>
              </a:rPr>
              <a:t> </a:t>
            </a:r>
            <a:r>
              <a:rPr sz="1500" kern="0" dirty="0">
                <a:solidFill>
                  <a:sysClr val="windowText" lastClr="000000"/>
                </a:solidFill>
                <a:latin typeface="Arial MT"/>
                <a:cs typeface="Arial MT"/>
              </a:rPr>
              <a:t>are</a:t>
            </a:r>
            <a:r>
              <a:rPr sz="1500" kern="0" spc="-30" dirty="0">
                <a:solidFill>
                  <a:sysClr val="windowText" lastClr="000000"/>
                </a:solidFill>
                <a:latin typeface="Arial MT"/>
                <a:cs typeface="Arial MT"/>
              </a:rPr>
              <a:t> </a:t>
            </a:r>
            <a:r>
              <a:rPr sz="1500" kern="0" dirty="0">
                <a:solidFill>
                  <a:sysClr val="windowText" lastClr="000000"/>
                </a:solidFill>
                <a:latin typeface="Arial MT"/>
                <a:cs typeface="Arial MT"/>
              </a:rPr>
              <a:t>consistent.</a:t>
            </a:r>
            <a:r>
              <a:rPr sz="1500" kern="0" spc="-60" dirty="0">
                <a:solidFill>
                  <a:sysClr val="windowText" lastClr="000000"/>
                </a:solidFill>
                <a:latin typeface="Arial MT"/>
                <a:cs typeface="Arial MT"/>
              </a:rPr>
              <a:t> </a:t>
            </a:r>
            <a:r>
              <a:rPr sz="1500" kern="0" dirty="0">
                <a:solidFill>
                  <a:sysClr val="windowText" lastClr="000000"/>
                </a:solidFill>
                <a:latin typeface="Arial MT"/>
                <a:cs typeface="Arial MT"/>
              </a:rPr>
              <a:t>The</a:t>
            </a:r>
            <a:r>
              <a:rPr sz="1500" kern="0" spc="-25" dirty="0">
                <a:solidFill>
                  <a:sysClr val="windowText" lastClr="000000"/>
                </a:solidFill>
                <a:latin typeface="Arial MT"/>
                <a:cs typeface="Arial MT"/>
              </a:rPr>
              <a:t> </a:t>
            </a:r>
            <a:r>
              <a:rPr sz="1500" kern="0" dirty="0">
                <a:solidFill>
                  <a:sysClr val="windowText" lastClr="000000"/>
                </a:solidFill>
                <a:latin typeface="Arial MT"/>
                <a:cs typeface="Arial MT"/>
              </a:rPr>
              <a:t>app</a:t>
            </a:r>
            <a:r>
              <a:rPr sz="1500" kern="0" spc="-25" dirty="0">
                <a:solidFill>
                  <a:sysClr val="windowText" lastClr="000000"/>
                </a:solidFill>
                <a:latin typeface="Arial MT"/>
                <a:cs typeface="Arial MT"/>
              </a:rPr>
              <a:t> </a:t>
            </a:r>
            <a:r>
              <a:rPr sz="1500" kern="0" dirty="0">
                <a:solidFill>
                  <a:sysClr val="windowText" lastClr="000000"/>
                </a:solidFill>
                <a:latin typeface="Arial MT"/>
                <a:cs typeface="Arial MT"/>
              </a:rPr>
              <a:t>does</a:t>
            </a:r>
            <a:r>
              <a:rPr sz="1500" kern="0" spc="-25" dirty="0">
                <a:solidFill>
                  <a:sysClr val="windowText" lastClr="000000"/>
                </a:solidFill>
                <a:latin typeface="Arial MT"/>
                <a:cs typeface="Arial MT"/>
              </a:rPr>
              <a:t> </a:t>
            </a:r>
            <a:r>
              <a:rPr sz="1500" kern="0" dirty="0">
                <a:solidFill>
                  <a:sysClr val="windowText" lastClr="000000"/>
                </a:solidFill>
                <a:latin typeface="Arial MT"/>
                <a:cs typeface="Arial MT"/>
              </a:rPr>
              <a:t>not</a:t>
            </a:r>
            <a:r>
              <a:rPr sz="1500" kern="0" spc="-30" dirty="0">
                <a:solidFill>
                  <a:sysClr val="windowText" lastClr="000000"/>
                </a:solidFill>
                <a:latin typeface="Arial MT"/>
                <a:cs typeface="Arial MT"/>
              </a:rPr>
              <a:t> </a:t>
            </a:r>
            <a:r>
              <a:rPr sz="1500" kern="0" dirty="0">
                <a:solidFill>
                  <a:sysClr val="windowText" lastClr="000000"/>
                </a:solidFill>
                <a:latin typeface="Arial MT"/>
                <a:cs typeface="Arial MT"/>
              </a:rPr>
              <a:t>change</a:t>
            </a:r>
            <a:r>
              <a:rPr sz="1500" kern="0" spc="-30" dirty="0">
                <a:solidFill>
                  <a:sysClr val="windowText" lastClr="000000"/>
                </a:solidFill>
                <a:latin typeface="Arial MT"/>
                <a:cs typeface="Arial MT"/>
              </a:rPr>
              <a:t> </a:t>
            </a:r>
            <a:r>
              <a:rPr sz="1500" kern="0" dirty="0">
                <a:solidFill>
                  <a:sysClr val="windowText" lastClr="000000"/>
                </a:solidFill>
                <a:latin typeface="Arial MT"/>
                <a:cs typeface="Arial MT"/>
              </a:rPr>
              <a:t>when</a:t>
            </a:r>
            <a:r>
              <a:rPr sz="1500" kern="0" spc="-25" dirty="0">
                <a:solidFill>
                  <a:sysClr val="windowText" lastClr="000000"/>
                </a:solidFill>
                <a:latin typeface="Arial MT"/>
                <a:cs typeface="Arial MT"/>
              </a:rPr>
              <a:t> </a:t>
            </a:r>
            <a:r>
              <a:rPr sz="1500" kern="0" dirty="0">
                <a:solidFill>
                  <a:sysClr val="windowText" lastClr="000000"/>
                </a:solidFill>
                <a:latin typeface="Arial MT"/>
                <a:cs typeface="Arial MT"/>
              </a:rPr>
              <a:t>hardware</a:t>
            </a:r>
            <a:r>
              <a:rPr sz="1500" kern="0" spc="-30" dirty="0">
                <a:solidFill>
                  <a:sysClr val="windowText" lastClr="000000"/>
                </a:solidFill>
                <a:latin typeface="Arial MT"/>
                <a:cs typeface="Arial MT"/>
              </a:rPr>
              <a:t> </a:t>
            </a:r>
            <a:r>
              <a:rPr sz="1500" kern="0" spc="-10" dirty="0">
                <a:solidFill>
                  <a:sysClr val="windowText" lastClr="000000"/>
                </a:solidFill>
                <a:latin typeface="Arial MT"/>
                <a:cs typeface="Arial MT"/>
              </a:rPr>
              <a:t>changes</a:t>
            </a:r>
            <a:endParaRPr sz="1500" kern="0">
              <a:solidFill>
                <a:sysClr val="windowText" lastClr="000000"/>
              </a:solidFill>
              <a:latin typeface="Arial MT"/>
              <a:cs typeface="Arial MT"/>
            </a:endParaRPr>
          </a:p>
        </p:txBody>
      </p:sp>
      <p:sp>
        <p:nvSpPr>
          <p:cNvPr id="15" name="object 15"/>
          <p:cNvSpPr/>
          <p:nvPr/>
        </p:nvSpPr>
        <p:spPr>
          <a:xfrm>
            <a:off x="2362200" y="3429000"/>
            <a:ext cx="2743200" cy="990600"/>
          </a:xfrm>
          <a:custGeom>
            <a:avLst/>
            <a:gdLst/>
            <a:ahLst/>
            <a:cxnLst/>
            <a:rect l="l" t="t" r="r" b="b"/>
            <a:pathLst>
              <a:path w="2743200" h="990600">
                <a:moveTo>
                  <a:pt x="2743200" y="0"/>
                </a:moveTo>
                <a:lnTo>
                  <a:pt x="0" y="0"/>
                </a:lnTo>
                <a:lnTo>
                  <a:pt x="0" y="990600"/>
                </a:lnTo>
                <a:lnTo>
                  <a:pt x="1371600" y="990600"/>
                </a:lnTo>
                <a:lnTo>
                  <a:pt x="2743200" y="990600"/>
                </a:lnTo>
                <a:lnTo>
                  <a:pt x="2743200" y="0"/>
                </a:lnTo>
                <a:close/>
              </a:path>
            </a:pathLst>
          </a:custGeom>
          <a:solidFill>
            <a:srgbClr val="BADFE2"/>
          </a:solidFill>
        </p:spPr>
        <p:txBody>
          <a:bodyPr wrap="square" lIns="0" tIns="0" rIns="0" bIns="0" rtlCol="0"/>
          <a:lstStyle/>
          <a:p>
            <a:endParaRPr kern="0">
              <a:solidFill>
                <a:sysClr val="windowText" lastClr="000000"/>
              </a:solidFill>
            </a:endParaRPr>
          </a:p>
        </p:txBody>
      </p:sp>
      <p:sp>
        <p:nvSpPr>
          <p:cNvPr id="16" name="object 16"/>
          <p:cNvSpPr txBox="1"/>
          <p:nvPr/>
        </p:nvSpPr>
        <p:spPr>
          <a:xfrm>
            <a:off x="2362200" y="3429000"/>
            <a:ext cx="2743200" cy="650178"/>
          </a:xfrm>
          <a:prstGeom prst="rect">
            <a:avLst/>
          </a:prstGeom>
          <a:ln w="9344">
            <a:solidFill>
              <a:srgbClr val="000000"/>
            </a:solidFill>
          </a:ln>
        </p:spPr>
        <p:txBody>
          <a:bodyPr vert="horz" wrap="square" lIns="0" tIns="95250" rIns="0" bIns="0" rtlCol="0">
            <a:spAutoFit/>
          </a:bodyPr>
          <a:lstStyle/>
          <a:p>
            <a:pPr>
              <a:spcBef>
                <a:spcPts val="750"/>
              </a:spcBef>
            </a:pPr>
            <a:endParaRPr kern="0">
              <a:solidFill>
                <a:sysClr val="windowText" lastClr="000000"/>
              </a:solidFill>
              <a:latin typeface="Times New Roman"/>
              <a:cs typeface="Times New Roman"/>
            </a:endParaRPr>
          </a:p>
          <a:p>
            <a:pPr marL="457200"/>
            <a:r>
              <a:rPr kern="0" dirty="0">
                <a:solidFill>
                  <a:sysClr val="windowText" lastClr="000000"/>
                </a:solidFill>
                <a:latin typeface="Arial MT"/>
                <a:cs typeface="Arial MT"/>
              </a:rPr>
              <a:t>Operating</a:t>
            </a:r>
            <a:r>
              <a:rPr kern="0" spc="-55" dirty="0">
                <a:solidFill>
                  <a:sysClr val="windowText" lastClr="000000"/>
                </a:solidFill>
                <a:latin typeface="Arial MT"/>
                <a:cs typeface="Arial MT"/>
              </a:rPr>
              <a:t> </a:t>
            </a:r>
            <a:r>
              <a:rPr kern="0" spc="-10" dirty="0">
                <a:solidFill>
                  <a:sysClr val="windowText" lastClr="000000"/>
                </a:solidFill>
                <a:latin typeface="Arial MT"/>
                <a:cs typeface="Arial MT"/>
              </a:rPr>
              <a:t>System</a:t>
            </a:r>
            <a:endParaRPr kern="0">
              <a:solidFill>
                <a:sysClr val="windowText" lastClr="000000"/>
              </a:solidFill>
              <a:latin typeface="Arial MT"/>
              <a:cs typeface="Arial MT"/>
            </a:endParaRPr>
          </a:p>
        </p:txBody>
      </p:sp>
      <p:grpSp>
        <p:nvGrpSpPr>
          <p:cNvPr id="17" name="object 17"/>
          <p:cNvGrpSpPr/>
          <p:nvPr/>
        </p:nvGrpSpPr>
        <p:grpSpPr>
          <a:xfrm>
            <a:off x="2428647" y="1971448"/>
            <a:ext cx="3900804" cy="1767205"/>
            <a:chOff x="904647" y="1971447"/>
            <a:chExt cx="3900804" cy="1767205"/>
          </a:xfrm>
        </p:grpSpPr>
        <p:sp>
          <p:nvSpPr>
            <p:cNvPr id="18" name="object 18"/>
            <p:cNvSpPr/>
            <p:nvPr/>
          </p:nvSpPr>
          <p:spPr>
            <a:xfrm>
              <a:off x="3581400" y="3429000"/>
              <a:ext cx="1219200" cy="304800"/>
            </a:xfrm>
            <a:custGeom>
              <a:avLst/>
              <a:gdLst/>
              <a:ahLst/>
              <a:cxnLst/>
              <a:rect l="l" t="t" r="r" b="b"/>
              <a:pathLst>
                <a:path w="1219200" h="304800">
                  <a:moveTo>
                    <a:pt x="914400" y="0"/>
                  </a:moveTo>
                  <a:lnTo>
                    <a:pt x="914400" y="76200"/>
                  </a:lnTo>
                  <a:lnTo>
                    <a:pt x="0" y="76200"/>
                  </a:lnTo>
                  <a:lnTo>
                    <a:pt x="0" y="228600"/>
                  </a:lnTo>
                  <a:lnTo>
                    <a:pt x="914400" y="228600"/>
                  </a:lnTo>
                  <a:lnTo>
                    <a:pt x="914400" y="304800"/>
                  </a:lnTo>
                  <a:lnTo>
                    <a:pt x="1219200" y="152400"/>
                  </a:lnTo>
                  <a:lnTo>
                    <a:pt x="914400" y="0"/>
                  </a:lnTo>
                  <a:close/>
                </a:path>
              </a:pathLst>
            </a:custGeom>
            <a:solidFill>
              <a:srgbClr val="BADFE2"/>
            </a:solidFill>
          </p:spPr>
          <p:txBody>
            <a:bodyPr wrap="square" lIns="0" tIns="0" rIns="0" bIns="0" rtlCol="0"/>
            <a:lstStyle/>
            <a:p>
              <a:endParaRPr kern="0">
                <a:solidFill>
                  <a:sysClr val="windowText" lastClr="000000"/>
                </a:solidFill>
              </a:endParaRPr>
            </a:p>
          </p:txBody>
        </p:sp>
        <p:sp>
          <p:nvSpPr>
            <p:cNvPr id="19" name="object 19"/>
            <p:cNvSpPr/>
            <p:nvPr/>
          </p:nvSpPr>
          <p:spPr>
            <a:xfrm>
              <a:off x="3581400" y="3429000"/>
              <a:ext cx="1219200" cy="304800"/>
            </a:xfrm>
            <a:custGeom>
              <a:avLst/>
              <a:gdLst/>
              <a:ahLst/>
              <a:cxnLst/>
              <a:rect l="l" t="t" r="r" b="b"/>
              <a:pathLst>
                <a:path w="1219200" h="304800">
                  <a:moveTo>
                    <a:pt x="0" y="76200"/>
                  </a:moveTo>
                  <a:lnTo>
                    <a:pt x="914400" y="76200"/>
                  </a:lnTo>
                  <a:lnTo>
                    <a:pt x="914400" y="0"/>
                  </a:lnTo>
                  <a:lnTo>
                    <a:pt x="1219200" y="152400"/>
                  </a:lnTo>
                  <a:lnTo>
                    <a:pt x="914400" y="304800"/>
                  </a:lnTo>
                  <a:lnTo>
                    <a:pt x="914400" y="228600"/>
                  </a:lnTo>
                  <a:lnTo>
                    <a:pt x="0" y="228600"/>
                  </a:lnTo>
                  <a:lnTo>
                    <a:pt x="0" y="76200"/>
                  </a:lnTo>
                  <a:close/>
                </a:path>
              </a:pathLst>
            </a:custGeom>
            <a:ln w="9344">
              <a:solidFill>
                <a:srgbClr val="000000"/>
              </a:solidFill>
            </a:ln>
          </p:spPr>
          <p:txBody>
            <a:bodyPr wrap="square" lIns="0" tIns="0" rIns="0" bIns="0" rtlCol="0"/>
            <a:lstStyle/>
            <a:p>
              <a:endParaRPr kern="0">
                <a:solidFill>
                  <a:sysClr val="windowText" lastClr="000000"/>
                </a:solidFill>
              </a:endParaRPr>
            </a:p>
          </p:txBody>
        </p:sp>
        <p:sp>
          <p:nvSpPr>
            <p:cNvPr id="20" name="object 20"/>
            <p:cNvSpPr/>
            <p:nvPr/>
          </p:nvSpPr>
          <p:spPr>
            <a:xfrm>
              <a:off x="3576726" y="3424338"/>
              <a:ext cx="1228725" cy="314325"/>
            </a:xfrm>
            <a:custGeom>
              <a:avLst/>
              <a:gdLst/>
              <a:ahLst/>
              <a:cxnLst/>
              <a:rect l="l" t="t" r="r" b="b"/>
              <a:pathLst>
                <a:path w="1228725" h="314325">
                  <a:moveTo>
                    <a:pt x="9334" y="4660"/>
                  </a:moveTo>
                  <a:lnTo>
                    <a:pt x="7975" y="1358"/>
                  </a:lnTo>
                  <a:lnTo>
                    <a:pt x="4673" y="0"/>
                  </a:lnTo>
                  <a:lnTo>
                    <a:pt x="1358" y="1358"/>
                  </a:lnTo>
                  <a:lnTo>
                    <a:pt x="0" y="4660"/>
                  </a:lnTo>
                  <a:lnTo>
                    <a:pt x="1358" y="7975"/>
                  </a:lnTo>
                  <a:lnTo>
                    <a:pt x="4673" y="9334"/>
                  </a:lnTo>
                  <a:lnTo>
                    <a:pt x="7975" y="7975"/>
                  </a:lnTo>
                  <a:lnTo>
                    <a:pt x="9334" y="4660"/>
                  </a:lnTo>
                  <a:close/>
                </a:path>
                <a:path w="1228725" h="314325">
                  <a:moveTo>
                    <a:pt x="1228534" y="309460"/>
                  </a:moveTo>
                  <a:lnTo>
                    <a:pt x="1227175" y="306158"/>
                  </a:lnTo>
                  <a:lnTo>
                    <a:pt x="1223873" y="304800"/>
                  </a:lnTo>
                  <a:lnTo>
                    <a:pt x="1220558" y="306158"/>
                  </a:lnTo>
                  <a:lnTo>
                    <a:pt x="1219200" y="309460"/>
                  </a:lnTo>
                  <a:lnTo>
                    <a:pt x="1220558" y="312775"/>
                  </a:lnTo>
                  <a:lnTo>
                    <a:pt x="1223873" y="314134"/>
                  </a:lnTo>
                  <a:lnTo>
                    <a:pt x="1227175" y="312775"/>
                  </a:lnTo>
                  <a:lnTo>
                    <a:pt x="1228534" y="309460"/>
                  </a:lnTo>
                  <a:close/>
                </a:path>
              </a:pathLst>
            </a:custGeom>
            <a:solidFill>
              <a:srgbClr val="000000"/>
            </a:solidFill>
          </p:spPr>
          <p:txBody>
            <a:bodyPr wrap="square" lIns="0" tIns="0" rIns="0" bIns="0" rtlCol="0"/>
            <a:lstStyle/>
            <a:p>
              <a:endParaRPr kern="0">
                <a:solidFill>
                  <a:sysClr val="windowText" lastClr="000000"/>
                </a:solidFill>
              </a:endParaRPr>
            </a:p>
          </p:txBody>
        </p:sp>
        <p:sp>
          <p:nvSpPr>
            <p:cNvPr id="21" name="object 21"/>
            <p:cNvSpPr/>
            <p:nvPr/>
          </p:nvSpPr>
          <p:spPr>
            <a:xfrm>
              <a:off x="1979930" y="2362200"/>
              <a:ext cx="306070" cy="1066800"/>
            </a:xfrm>
            <a:custGeom>
              <a:avLst/>
              <a:gdLst/>
              <a:ahLst/>
              <a:cxnLst/>
              <a:rect l="l" t="t" r="r" b="b"/>
              <a:pathLst>
                <a:path w="306069" h="1066800">
                  <a:moveTo>
                    <a:pt x="306069" y="800100"/>
                  </a:moveTo>
                  <a:lnTo>
                    <a:pt x="0" y="800100"/>
                  </a:lnTo>
                  <a:lnTo>
                    <a:pt x="153669" y="1066800"/>
                  </a:lnTo>
                  <a:lnTo>
                    <a:pt x="306069" y="800100"/>
                  </a:lnTo>
                  <a:close/>
                </a:path>
                <a:path w="306069" h="1066800">
                  <a:moveTo>
                    <a:pt x="229869" y="0"/>
                  </a:moveTo>
                  <a:lnTo>
                    <a:pt x="76200" y="0"/>
                  </a:lnTo>
                  <a:lnTo>
                    <a:pt x="76200" y="800100"/>
                  </a:lnTo>
                  <a:lnTo>
                    <a:pt x="229869" y="800100"/>
                  </a:lnTo>
                  <a:lnTo>
                    <a:pt x="229869" y="0"/>
                  </a:lnTo>
                  <a:close/>
                </a:path>
              </a:pathLst>
            </a:custGeom>
            <a:solidFill>
              <a:srgbClr val="BADFE2"/>
            </a:solidFill>
          </p:spPr>
          <p:txBody>
            <a:bodyPr wrap="square" lIns="0" tIns="0" rIns="0" bIns="0" rtlCol="0"/>
            <a:lstStyle/>
            <a:p>
              <a:endParaRPr kern="0">
                <a:solidFill>
                  <a:sysClr val="windowText" lastClr="000000"/>
                </a:solidFill>
              </a:endParaRPr>
            </a:p>
          </p:txBody>
        </p:sp>
        <p:sp>
          <p:nvSpPr>
            <p:cNvPr id="22" name="object 22"/>
            <p:cNvSpPr/>
            <p:nvPr/>
          </p:nvSpPr>
          <p:spPr>
            <a:xfrm>
              <a:off x="1979930" y="2362200"/>
              <a:ext cx="306070" cy="1066800"/>
            </a:xfrm>
            <a:custGeom>
              <a:avLst/>
              <a:gdLst/>
              <a:ahLst/>
              <a:cxnLst/>
              <a:rect l="l" t="t" r="r" b="b"/>
              <a:pathLst>
                <a:path w="306069" h="1066800">
                  <a:moveTo>
                    <a:pt x="229869" y="0"/>
                  </a:moveTo>
                  <a:lnTo>
                    <a:pt x="229869" y="800100"/>
                  </a:lnTo>
                  <a:lnTo>
                    <a:pt x="306069" y="800100"/>
                  </a:lnTo>
                  <a:lnTo>
                    <a:pt x="153669" y="1066800"/>
                  </a:lnTo>
                  <a:lnTo>
                    <a:pt x="0" y="800100"/>
                  </a:lnTo>
                  <a:lnTo>
                    <a:pt x="76200" y="800100"/>
                  </a:lnTo>
                  <a:lnTo>
                    <a:pt x="76200" y="0"/>
                  </a:lnTo>
                  <a:lnTo>
                    <a:pt x="229869" y="0"/>
                  </a:lnTo>
                  <a:close/>
                </a:path>
              </a:pathLst>
            </a:custGeom>
            <a:ln w="9344">
              <a:solidFill>
                <a:srgbClr val="000000"/>
              </a:solidFill>
            </a:ln>
          </p:spPr>
          <p:txBody>
            <a:bodyPr wrap="square" lIns="0" tIns="0" rIns="0" bIns="0" rtlCol="0"/>
            <a:lstStyle/>
            <a:p>
              <a:endParaRPr kern="0">
                <a:solidFill>
                  <a:sysClr val="windowText" lastClr="000000"/>
                </a:solidFill>
              </a:endParaRPr>
            </a:p>
          </p:txBody>
        </p:sp>
        <p:sp>
          <p:nvSpPr>
            <p:cNvPr id="23" name="object 23"/>
            <p:cNvSpPr/>
            <p:nvPr/>
          </p:nvSpPr>
          <p:spPr>
            <a:xfrm>
              <a:off x="1975256" y="2357538"/>
              <a:ext cx="315595" cy="1076325"/>
            </a:xfrm>
            <a:custGeom>
              <a:avLst/>
              <a:gdLst/>
              <a:ahLst/>
              <a:cxnLst/>
              <a:rect l="l" t="t" r="r" b="b"/>
              <a:pathLst>
                <a:path w="315594" h="1076325">
                  <a:moveTo>
                    <a:pt x="9334" y="1071460"/>
                  </a:moveTo>
                  <a:lnTo>
                    <a:pt x="7975" y="1068158"/>
                  </a:lnTo>
                  <a:lnTo>
                    <a:pt x="4673" y="1066800"/>
                  </a:lnTo>
                  <a:lnTo>
                    <a:pt x="1358" y="1068158"/>
                  </a:lnTo>
                  <a:lnTo>
                    <a:pt x="0" y="1071460"/>
                  </a:lnTo>
                  <a:lnTo>
                    <a:pt x="1358" y="1074775"/>
                  </a:lnTo>
                  <a:lnTo>
                    <a:pt x="4673" y="1076134"/>
                  </a:lnTo>
                  <a:lnTo>
                    <a:pt x="7975" y="1074775"/>
                  </a:lnTo>
                  <a:lnTo>
                    <a:pt x="9334" y="1071460"/>
                  </a:lnTo>
                  <a:close/>
                </a:path>
                <a:path w="315594" h="1076325">
                  <a:moveTo>
                    <a:pt x="315404" y="4660"/>
                  </a:moveTo>
                  <a:lnTo>
                    <a:pt x="314045" y="1358"/>
                  </a:lnTo>
                  <a:lnTo>
                    <a:pt x="310743" y="0"/>
                  </a:lnTo>
                  <a:lnTo>
                    <a:pt x="307428" y="1358"/>
                  </a:lnTo>
                  <a:lnTo>
                    <a:pt x="306070" y="4660"/>
                  </a:lnTo>
                  <a:lnTo>
                    <a:pt x="307428" y="7975"/>
                  </a:lnTo>
                  <a:lnTo>
                    <a:pt x="310743" y="9334"/>
                  </a:lnTo>
                  <a:lnTo>
                    <a:pt x="314045" y="7975"/>
                  </a:lnTo>
                  <a:lnTo>
                    <a:pt x="315404" y="4660"/>
                  </a:lnTo>
                  <a:close/>
                </a:path>
              </a:pathLst>
            </a:custGeom>
            <a:solidFill>
              <a:srgbClr val="000000"/>
            </a:solidFill>
          </p:spPr>
          <p:txBody>
            <a:bodyPr wrap="square" lIns="0" tIns="0" rIns="0" bIns="0" rtlCol="0"/>
            <a:lstStyle/>
            <a:p>
              <a:endParaRPr kern="0">
                <a:solidFill>
                  <a:sysClr val="windowText" lastClr="000000"/>
                </a:solidFill>
              </a:endParaRPr>
            </a:p>
          </p:txBody>
        </p:sp>
        <p:pic>
          <p:nvPicPr>
            <p:cNvPr id="24" name="object 24"/>
            <p:cNvPicPr/>
            <p:nvPr/>
          </p:nvPicPr>
          <p:blipFill>
            <a:blip r:embed="rId4" cstate="print"/>
            <a:stretch>
              <a:fillRect/>
            </a:stretch>
          </p:blipFill>
          <p:spPr>
            <a:xfrm>
              <a:off x="914400" y="1981200"/>
              <a:ext cx="2790190" cy="381000"/>
            </a:xfrm>
            <a:prstGeom prst="rect">
              <a:avLst/>
            </a:prstGeom>
          </p:spPr>
        </p:pic>
        <p:sp>
          <p:nvSpPr>
            <p:cNvPr id="25" name="object 25"/>
            <p:cNvSpPr/>
            <p:nvPr/>
          </p:nvSpPr>
          <p:spPr>
            <a:xfrm>
              <a:off x="909320" y="1976120"/>
              <a:ext cx="2800350" cy="391160"/>
            </a:xfrm>
            <a:custGeom>
              <a:avLst/>
              <a:gdLst/>
              <a:ahLst/>
              <a:cxnLst/>
              <a:rect l="l" t="t" r="r" b="b"/>
              <a:pathLst>
                <a:path w="2800350" h="391160">
                  <a:moveTo>
                    <a:pt x="0" y="0"/>
                  </a:moveTo>
                  <a:lnTo>
                    <a:pt x="2800350" y="0"/>
                  </a:lnTo>
                  <a:lnTo>
                    <a:pt x="2800350" y="391159"/>
                  </a:lnTo>
                  <a:lnTo>
                    <a:pt x="0" y="391159"/>
                  </a:lnTo>
                  <a:lnTo>
                    <a:pt x="0" y="0"/>
                  </a:lnTo>
                  <a:close/>
                </a:path>
              </a:pathLst>
            </a:custGeom>
            <a:ln w="9344">
              <a:solidFill>
                <a:srgbClr val="000000"/>
              </a:solidFill>
            </a:ln>
          </p:spPr>
          <p:txBody>
            <a:bodyPr wrap="square" lIns="0" tIns="0" rIns="0" bIns="0" rtlCol="0"/>
            <a:lstStyle/>
            <a:p>
              <a:endParaRPr kern="0">
                <a:solidFill>
                  <a:sysClr val="windowText" lastClr="000000"/>
                </a:solidFill>
              </a:endParaRPr>
            </a:p>
          </p:txBody>
        </p:sp>
      </p:grpSp>
      <p:sp>
        <p:nvSpPr>
          <p:cNvPr id="26" name="object 26"/>
          <p:cNvSpPr txBox="1"/>
          <p:nvPr/>
        </p:nvSpPr>
        <p:spPr>
          <a:xfrm>
            <a:off x="1605281" y="1648460"/>
            <a:ext cx="1918335" cy="1500411"/>
          </a:xfrm>
          <a:prstGeom prst="rect">
            <a:avLst/>
          </a:prstGeom>
        </p:spPr>
        <p:txBody>
          <a:bodyPr vert="horz" wrap="square" lIns="0" tIns="12700" rIns="0" bIns="0" rtlCol="0">
            <a:spAutoFit/>
          </a:bodyPr>
          <a:lstStyle/>
          <a:p>
            <a:pPr marL="998855">
              <a:spcBef>
                <a:spcPts val="100"/>
              </a:spcBef>
            </a:pPr>
            <a:r>
              <a:rPr kern="0" spc="-25" dirty="0">
                <a:solidFill>
                  <a:sysClr val="windowText" lastClr="000000"/>
                </a:solidFill>
                <a:latin typeface="Arial MT"/>
                <a:cs typeface="Arial MT"/>
              </a:rPr>
              <a:t>App</a:t>
            </a:r>
            <a:endParaRPr kern="0">
              <a:solidFill>
                <a:sysClr val="windowText" lastClr="000000"/>
              </a:solidFill>
              <a:latin typeface="Arial MT"/>
              <a:cs typeface="Arial MT"/>
            </a:endParaRPr>
          </a:p>
          <a:p>
            <a:endParaRPr kern="0">
              <a:solidFill>
                <a:sysClr val="windowText" lastClr="000000"/>
              </a:solidFill>
              <a:latin typeface="Arial MT"/>
              <a:cs typeface="Arial MT"/>
            </a:endParaRPr>
          </a:p>
          <a:p>
            <a:pPr>
              <a:spcBef>
                <a:spcPts val="790"/>
              </a:spcBef>
            </a:pPr>
            <a:endParaRPr kern="0">
              <a:solidFill>
                <a:sysClr val="windowText" lastClr="000000"/>
              </a:solidFill>
              <a:latin typeface="Arial MT"/>
              <a:cs typeface="Arial MT"/>
            </a:endParaRPr>
          </a:p>
          <a:p>
            <a:pPr marL="12700" marR="5080" indent="763270"/>
            <a:r>
              <a:rPr kern="0" dirty="0">
                <a:solidFill>
                  <a:sysClr val="windowText" lastClr="000000"/>
                </a:solidFill>
                <a:latin typeface="Arial MT"/>
                <a:cs typeface="Arial MT"/>
              </a:rPr>
              <a:t>system</a:t>
            </a:r>
            <a:r>
              <a:rPr kern="0" spc="-5" dirty="0">
                <a:solidFill>
                  <a:sysClr val="windowText" lastClr="000000"/>
                </a:solidFill>
                <a:latin typeface="Arial MT"/>
                <a:cs typeface="Arial MT"/>
              </a:rPr>
              <a:t> </a:t>
            </a:r>
            <a:r>
              <a:rPr kern="0" spc="-20" dirty="0">
                <a:solidFill>
                  <a:sysClr val="windowText" lastClr="000000"/>
                </a:solidFill>
                <a:latin typeface="Arial MT"/>
                <a:cs typeface="Arial MT"/>
              </a:rPr>
              <a:t>call </a:t>
            </a:r>
            <a:r>
              <a:rPr kern="0" dirty="0">
                <a:solidFill>
                  <a:sysClr val="windowText" lastClr="000000"/>
                </a:solidFill>
                <a:latin typeface="Arial MT"/>
                <a:cs typeface="Arial MT"/>
              </a:rPr>
              <a:t>(write</a:t>
            </a:r>
            <a:r>
              <a:rPr kern="0" spc="-30" dirty="0">
                <a:solidFill>
                  <a:sysClr val="windowText" lastClr="000000"/>
                </a:solidFill>
                <a:latin typeface="Arial MT"/>
                <a:cs typeface="Arial MT"/>
              </a:rPr>
              <a:t> </a:t>
            </a:r>
            <a:r>
              <a:rPr kern="0" dirty="0">
                <a:solidFill>
                  <a:sysClr val="windowText" lastClr="000000"/>
                </a:solidFill>
                <a:latin typeface="Arial MT"/>
                <a:cs typeface="Arial MT"/>
              </a:rPr>
              <a:t>to</a:t>
            </a:r>
            <a:r>
              <a:rPr kern="0" spc="-25" dirty="0">
                <a:solidFill>
                  <a:sysClr val="windowText" lastClr="000000"/>
                </a:solidFill>
                <a:latin typeface="Arial MT"/>
                <a:cs typeface="Arial MT"/>
              </a:rPr>
              <a:t> </a:t>
            </a:r>
            <a:r>
              <a:rPr kern="0" spc="-10" dirty="0">
                <a:solidFill>
                  <a:sysClr val="windowText" lastClr="000000"/>
                </a:solidFill>
                <a:latin typeface="Arial MT"/>
                <a:cs typeface="Arial MT"/>
              </a:rPr>
              <a:t>STDOUT)</a:t>
            </a:r>
            <a:endParaRPr kern="0">
              <a:solidFill>
                <a:sysClr val="windowText" lastClr="000000"/>
              </a:solidFill>
              <a:latin typeface="Arial MT"/>
              <a:cs typeface="Arial MT"/>
            </a:endParaRPr>
          </a:p>
        </p:txBody>
      </p:sp>
      <p:sp>
        <p:nvSpPr>
          <p:cNvPr id="27" name="object 27"/>
          <p:cNvSpPr txBox="1"/>
          <p:nvPr/>
        </p:nvSpPr>
        <p:spPr>
          <a:xfrm>
            <a:off x="5181601" y="3768090"/>
            <a:ext cx="723265" cy="574040"/>
          </a:xfrm>
          <a:prstGeom prst="rect">
            <a:avLst/>
          </a:prstGeom>
        </p:spPr>
        <p:txBody>
          <a:bodyPr vert="horz" wrap="square" lIns="0" tIns="12700" rIns="0" bIns="0" rtlCol="0">
            <a:spAutoFit/>
          </a:bodyPr>
          <a:lstStyle/>
          <a:p>
            <a:pPr marL="12700" marR="5080">
              <a:spcBef>
                <a:spcPts val="100"/>
              </a:spcBef>
            </a:pPr>
            <a:r>
              <a:rPr kern="0" spc="-10" dirty="0">
                <a:solidFill>
                  <a:sysClr val="windowText" lastClr="000000"/>
                </a:solidFill>
                <a:latin typeface="Arial MT"/>
                <a:cs typeface="Arial MT"/>
              </a:rPr>
              <a:t>Device driver</a:t>
            </a:r>
            <a:endParaRPr kern="0">
              <a:solidFill>
                <a:sysClr val="windowText" lastClr="000000"/>
              </a:solidFill>
              <a:latin typeface="Arial MT"/>
              <a:cs typeface="Arial M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7"/>
          <p:cNvSpPr txBox="1">
            <a:spLocks noGrp="1"/>
          </p:cNvSpPr>
          <p:nvPr>
            <p:ph type="title" idx="4294967295"/>
          </p:nvPr>
        </p:nvSpPr>
        <p:spPr>
          <a:xfrm>
            <a:off x="609600" y="182562"/>
            <a:ext cx="10972800" cy="5762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C00000"/>
              </a:buClr>
              <a:buSzPts val="4400"/>
              <a:buFont typeface="Calibri"/>
              <a:buNone/>
            </a:pPr>
            <a:r>
              <a:rPr lang="en-US" sz="4400" b="0" i="0" u="none" strike="noStrike" cap="none">
                <a:solidFill>
                  <a:srgbClr val="C00000"/>
                </a:solidFill>
                <a:latin typeface="Calibri"/>
                <a:ea typeface="Calibri"/>
                <a:cs typeface="Calibri"/>
                <a:sym typeface="Calibri"/>
              </a:rPr>
              <a:t>What Operating System Do</a:t>
            </a:r>
            <a:endParaRPr/>
          </a:p>
        </p:txBody>
      </p:sp>
      <p:sp>
        <p:nvSpPr>
          <p:cNvPr id="190" name="Google Shape;190;p7"/>
          <p:cNvSpPr txBox="1">
            <a:spLocks noGrp="1"/>
          </p:cNvSpPr>
          <p:nvPr>
            <p:ph type="body" idx="4294967295"/>
          </p:nvPr>
        </p:nvSpPr>
        <p:spPr>
          <a:xfrm>
            <a:off x="733425" y="844550"/>
            <a:ext cx="10469562" cy="5500687"/>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90000"/>
              </a:lnSpc>
              <a:spcBef>
                <a:spcPts val="0"/>
              </a:spcBef>
              <a:spcAft>
                <a:spcPts val="0"/>
              </a:spcAft>
              <a:buClr>
                <a:schemeClr val="dk1"/>
              </a:buClr>
              <a:buSzPts val="2800"/>
              <a:buFont typeface="Arial"/>
              <a:buChar char="•"/>
            </a:pPr>
            <a:r>
              <a:rPr lang="en-US" sz="2800" b="0" i="0" u="none" dirty="0">
                <a:solidFill>
                  <a:schemeClr val="dk1"/>
                </a:solidFill>
                <a:latin typeface="Calibri"/>
                <a:ea typeface="Calibri"/>
                <a:cs typeface="Calibri"/>
                <a:sym typeface="Calibri"/>
              </a:rPr>
              <a:t>The operating system </a:t>
            </a:r>
            <a:r>
              <a:rPr lang="en-US" sz="2800" b="1" i="0" u="none" dirty="0">
                <a:solidFill>
                  <a:schemeClr val="dk1"/>
                </a:solidFill>
                <a:latin typeface="Calibri"/>
                <a:ea typeface="Calibri"/>
                <a:cs typeface="Calibri"/>
                <a:sym typeface="Calibri"/>
              </a:rPr>
              <a:t>controls the hardware and coordinates its use </a:t>
            </a:r>
            <a:r>
              <a:rPr lang="en-US" sz="2800" b="0" i="0" u="none" dirty="0">
                <a:solidFill>
                  <a:schemeClr val="dk1"/>
                </a:solidFill>
                <a:latin typeface="Calibri"/>
                <a:ea typeface="Calibri"/>
                <a:cs typeface="Calibri"/>
                <a:sym typeface="Calibri"/>
              </a:rPr>
              <a:t>among the various application programs for the various users.</a:t>
            </a:r>
            <a:endParaRPr dirty="0"/>
          </a:p>
          <a:p>
            <a:pPr marL="228600" marR="0" lvl="0" indent="-228600" algn="just" rtl="0">
              <a:lnSpc>
                <a:spcPct val="90000"/>
              </a:lnSpc>
              <a:spcBef>
                <a:spcPts val="1000"/>
              </a:spcBef>
              <a:spcAft>
                <a:spcPts val="0"/>
              </a:spcAft>
              <a:buClr>
                <a:schemeClr val="dk1"/>
              </a:buClr>
              <a:buSzPts val="2800"/>
              <a:buFont typeface="Arial"/>
              <a:buChar char="•"/>
            </a:pPr>
            <a:r>
              <a:rPr lang="en-US" sz="2800" b="0" i="0" u="none" dirty="0">
                <a:solidFill>
                  <a:schemeClr val="dk1"/>
                </a:solidFill>
                <a:latin typeface="Calibri"/>
                <a:ea typeface="Calibri"/>
                <a:cs typeface="Calibri"/>
                <a:sym typeface="Calibri"/>
              </a:rPr>
              <a:t>We can also view a computer system as consisting of hardware, software, and data. </a:t>
            </a:r>
            <a:endParaRPr dirty="0"/>
          </a:p>
          <a:p>
            <a:pPr marL="228600" marR="0" lvl="0" indent="-228600" algn="just" rtl="0">
              <a:lnSpc>
                <a:spcPct val="90000"/>
              </a:lnSpc>
              <a:spcBef>
                <a:spcPts val="1000"/>
              </a:spcBef>
              <a:spcAft>
                <a:spcPts val="0"/>
              </a:spcAft>
              <a:buClr>
                <a:schemeClr val="dk1"/>
              </a:buClr>
              <a:buSzPts val="2800"/>
              <a:buFont typeface="Arial"/>
              <a:buChar char="•"/>
            </a:pPr>
            <a:r>
              <a:rPr lang="en-US" sz="2800" b="0" i="0" u="none" dirty="0">
                <a:solidFill>
                  <a:schemeClr val="dk1"/>
                </a:solidFill>
                <a:latin typeface="Calibri"/>
                <a:ea typeface="Calibri"/>
                <a:cs typeface="Calibri"/>
                <a:sym typeface="Calibri"/>
              </a:rPr>
              <a:t>The operating system provides the means for proper use of these resources in the operation of the computer system. </a:t>
            </a:r>
            <a:endParaRPr dirty="0"/>
          </a:p>
          <a:p>
            <a:pPr marL="228600" marR="0" lvl="0" indent="-228600" algn="just" rtl="0">
              <a:lnSpc>
                <a:spcPct val="90000"/>
              </a:lnSpc>
              <a:spcBef>
                <a:spcPts val="1000"/>
              </a:spcBef>
              <a:spcAft>
                <a:spcPts val="0"/>
              </a:spcAft>
              <a:buClr>
                <a:schemeClr val="dk1"/>
              </a:buClr>
              <a:buSzPts val="2800"/>
              <a:buFont typeface="Arial"/>
              <a:buChar char="•"/>
            </a:pPr>
            <a:r>
              <a:rPr lang="en-US" sz="2800" b="0" i="0" u="none" dirty="0">
                <a:solidFill>
                  <a:schemeClr val="dk1"/>
                </a:solidFill>
                <a:latin typeface="Calibri"/>
                <a:ea typeface="Calibri"/>
                <a:cs typeface="Calibri"/>
                <a:sym typeface="Calibri"/>
              </a:rPr>
              <a:t>An operating system is similar to a government. Like a government, it performs no useful function by itself. It simply provides an </a:t>
            </a:r>
            <a:r>
              <a:rPr lang="en-US" sz="2800" b="1" i="0" u="none" dirty="0">
                <a:solidFill>
                  <a:schemeClr val="dk1"/>
                </a:solidFill>
                <a:latin typeface="Calibri"/>
                <a:ea typeface="Calibri"/>
                <a:cs typeface="Calibri"/>
                <a:sym typeface="Calibri"/>
              </a:rPr>
              <a:t>environment</a:t>
            </a:r>
            <a:r>
              <a:rPr lang="en-US" sz="2800" b="0" i="0" u="none" dirty="0">
                <a:solidFill>
                  <a:schemeClr val="dk1"/>
                </a:solidFill>
                <a:latin typeface="Calibri"/>
                <a:ea typeface="Calibri"/>
                <a:cs typeface="Calibri"/>
                <a:sym typeface="Calibri"/>
              </a:rPr>
              <a:t> within which other programs can do useful work.</a:t>
            </a:r>
            <a:endParaRPr dirty="0"/>
          </a:p>
          <a:p>
            <a:pPr marL="228600" marR="0" lvl="0" indent="-228600" algn="just" rtl="0">
              <a:lnSpc>
                <a:spcPct val="90000"/>
              </a:lnSpc>
              <a:spcBef>
                <a:spcPts val="1000"/>
              </a:spcBef>
              <a:spcAft>
                <a:spcPts val="0"/>
              </a:spcAft>
              <a:buClr>
                <a:schemeClr val="dk1"/>
              </a:buClr>
              <a:buSzPts val="2800"/>
              <a:buFont typeface="Arial"/>
              <a:buChar char="•"/>
            </a:pPr>
            <a:r>
              <a:rPr lang="en-US" sz="2800" b="0" i="0" u="none" dirty="0">
                <a:solidFill>
                  <a:schemeClr val="dk1"/>
                </a:solidFill>
                <a:latin typeface="Calibri"/>
                <a:ea typeface="Calibri"/>
                <a:cs typeface="Calibri"/>
                <a:sym typeface="Calibri"/>
              </a:rPr>
              <a:t>To understand full the operating system's role, we explore operating systems from </a:t>
            </a:r>
            <a:r>
              <a:rPr lang="en-US" sz="2800" b="0" i="1" u="none" dirty="0">
                <a:solidFill>
                  <a:srgbClr val="FF0000"/>
                </a:solidFill>
                <a:latin typeface="Calibri"/>
                <a:ea typeface="Calibri"/>
                <a:cs typeface="Calibri"/>
                <a:sym typeface="Calibri"/>
              </a:rPr>
              <a:t>two viewpoints: </a:t>
            </a:r>
            <a:endParaRPr dirty="0"/>
          </a:p>
          <a:p>
            <a:pPr marL="685800" marR="0" lvl="1" indent="-228600" algn="just" rtl="0">
              <a:lnSpc>
                <a:spcPct val="90000"/>
              </a:lnSpc>
              <a:spcBef>
                <a:spcPts val="500"/>
              </a:spcBef>
              <a:spcAft>
                <a:spcPts val="0"/>
              </a:spcAft>
              <a:buClr>
                <a:schemeClr val="dk1"/>
              </a:buClr>
              <a:buSzPts val="2800"/>
              <a:buFont typeface="Arial"/>
              <a:buChar char="•"/>
            </a:pPr>
            <a:r>
              <a:rPr lang="en-US" sz="2800" b="0" i="0" u="none" strike="noStrike" cap="none" dirty="0">
                <a:solidFill>
                  <a:schemeClr val="dk1"/>
                </a:solidFill>
                <a:latin typeface="Calibri"/>
                <a:ea typeface="Calibri"/>
                <a:cs typeface="Calibri"/>
                <a:sym typeface="Calibri"/>
              </a:rPr>
              <a:t>The user </a:t>
            </a:r>
            <a:endParaRPr dirty="0"/>
          </a:p>
          <a:p>
            <a:pPr marL="685800" marR="0" lvl="1" indent="-228600" algn="just" rtl="0">
              <a:lnSpc>
                <a:spcPct val="90000"/>
              </a:lnSpc>
              <a:spcBef>
                <a:spcPts val="500"/>
              </a:spcBef>
              <a:spcAft>
                <a:spcPts val="0"/>
              </a:spcAft>
              <a:buClr>
                <a:schemeClr val="dk1"/>
              </a:buClr>
              <a:buSzPts val="2800"/>
              <a:buFont typeface="Arial"/>
              <a:buChar char="•"/>
            </a:pPr>
            <a:r>
              <a:rPr lang="en-US" sz="2800" b="0" i="0" u="none" strike="noStrike" cap="none" dirty="0">
                <a:solidFill>
                  <a:schemeClr val="dk1"/>
                </a:solidFill>
                <a:latin typeface="Calibri"/>
                <a:ea typeface="Calibri"/>
                <a:cs typeface="Calibri"/>
                <a:sym typeface="Calibri"/>
              </a:rPr>
              <a:t>The system.</a:t>
            </a:r>
            <a:endParaRPr dirty="0"/>
          </a:p>
          <a:p>
            <a:pPr marL="228600" marR="0" lvl="0" indent="-50800" algn="l" rtl="0">
              <a:lnSpc>
                <a:spcPct val="90000"/>
              </a:lnSpc>
              <a:spcBef>
                <a:spcPts val="1000"/>
              </a:spcBef>
              <a:spcAft>
                <a:spcPts val="0"/>
              </a:spcAft>
              <a:buClr>
                <a:schemeClr val="dk1"/>
              </a:buClr>
              <a:buSzPts val="2800"/>
              <a:buFont typeface="Arial"/>
              <a:buNone/>
            </a:pPr>
            <a:endParaRPr sz="28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8"/>
          <p:cNvSpPr txBox="1">
            <a:spLocks noGrp="1"/>
          </p:cNvSpPr>
          <p:nvPr>
            <p:ph type="title" idx="4294967295"/>
          </p:nvPr>
        </p:nvSpPr>
        <p:spPr>
          <a:xfrm>
            <a:off x="1025525" y="334962"/>
            <a:ext cx="10556875" cy="5762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C00000"/>
              </a:buClr>
              <a:buSzPts val="4400"/>
              <a:buFont typeface="Calibri"/>
              <a:buNone/>
            </a:pPr>
            <a:r>
              <a:rPr lang="en-US" sz="4400" b="0" i="0" u="none" strike="noStrike" cap="none">
                <a:solidFill>
                  <a:srgbClr val="C00000"/>
                </a:solidFill>
                <a:latin typeface="Calibri"/>
                <a:ea typeface="Calibri"/>
                <a:cs typeface="Calibri"/>
                <a:sym typeface="Calibri"/>
              </a:rPr>
              <a:t>User View</a:t>
            </a:r>
            <a:endParaRPr/>
          </a:p>
        </p:txBody>
      </p:sp>
      <p:sp>
        <p:nvSpPr>
          <p:cNvPr id="197" name="Google Shape;197;p8"/>
          <p:cNvSpPr txBox="1">
            <a:spLocks noGrp="1"/>
          </p:cNvSpPr>
          <p:nvPr>
            <p:ph type="body" idx="4294967295"/>
          </p:nvPr>
        </p:nvSpPr>
        <p:spPr>
          <a:xfrm>
            <a:off x="935037" y="1482725"/>
            <a:ext cx="10066337" cy="4530725"/>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90000"/>
              </a:lnSpc>
              <a:spcBef>
                <a:spcPts val="0"/>
              </a:spcBef>
              <a:spcAft>
                <a:spcPts val="0"/>
              </a:spcAft>
              <a:buClr>
                <a:srgbClr val="3366FF"/>
              </a:buClr>
              <a:buSzPts val="2800"/>
              <a:buFont typeface="Arial"/>
              <a:buChar char="•"/>
            </a:pPr>
            <a:r>
              <a:rPr lang="en-US" sz="2800" b="1" i="0" u="none" dirty="0">
                <a:solidFill>
                  <a:srgbClr val="3366FF"/>
                </a:solidFill>
                <a:latin typeface="Calibri"/>
                <a:ea typeface="Calibri"/>
                <a:cs typeface="Calibri"/>
                <a:sym typeface="Calibri"/>
              </a:rPr>
              <a:t>Single user computers</a:t>
            </a:r>
            <a:r>
              <a:rPr lang="en-US" sz="2800" b="0" i="0" u="none" dirty="0">
                <a:solidFill>
                  <a:schemeClr val="dk1"/>
                </a:solidFill>
                <a:latin typeface="Calibri"/>
                <a:ea typeface="Calibri"/>
                <a:cs typeface="Calibri"/>
                <a:sym typeface="Calibri"/>
              </a:rPr>
              <a:t> (e.g., PC, workstations). Such systems are designed for one user to monopolize its resources. The goal is to maximize the work (or play) that the user is performing. The operating system is designed mostly for </a:t>
            </a:r>
            <a:r>
              <a:rPr lang="en-US" sz="2800" b="1" i="0" u="none" dirty="0">
                <a:solidFill>
                  <a:srgbClr val="3366FF"/>
                </a:solidFill>
                <a:latin typeface="Calibri"/>
                <a:ea typeface="Calibri"/>
                <a:cs typeface="Calibri"/>
                <a:sym typeface="Calibri"/>
              </a:rPr>
              <a:t>ease</a:t>
            </a:r>
            <a:r>
              <a:rPr lang="en-US" sz="2800" b="0" i="0" u="none" dirty="0">
                <a:solidFill>
                  <a:srgbClr val="3366FF"/>
                </a:solidFill>
                <a:latin typeface="Calibri"/>
                <a:ea typeface="Calibri"/>
                <a:cs typeface="Calibri"/>
                <a:sym typeface="Calibri"/>
              </a:rPr>
              <a:t> </a:t>
            </a:r>
            <a:r>
              <a:rPr lang="en-US" sz="2800" b="1" i="0" u="none" dirty="0">
                <a:solidFill>
                  <a:srgbClr val="3366FF"/>
                </a:solidFill>
                <a:latin typeface="Calibri"/>
                <a:ea typeface="Calibri"/>
                <a:cs typeface="Calibri"/>
                <a:sym typeface="Calibri"/>
              </a:rPr>
              <a:t>of</a:t>
            </a:r>
            <a:r>
              <a:rPr lang="en-US" sz="2800" b="0" i="0" u="none" dirty="0">
                <a:solidFill>
                  <a:srgbClr val="3366FF"/>
                </a:solidFill>
                <a:latin typeface="Calibri"/>
                <a:ea typeface="Calibri"/>
                <a:cs typeface="Calibri"/>
                <a:sym typeface="Calibri"/>
              </a:rPr>
              <a:t> </a:t>
            </a:r>
            <a:r>
              <a:rPr lang="en-US" sz="2800" b="1" i="0" u="none" dirty="0">
                <a:solidFill>
                  <a:srgbClr val="3366FF"/>
                </a:solidFill>
                <a:latin typeface="Calibri"/>
                <a:ea typeface="Calibri"/>
                <a:cs typeface="Calibri"/>
                <a:sym typeface="Calibri"/>
              </a:rPr>
              <a:t>use </a:t>
            </a:r>
            <a:r>
              <a:rPr lang="en-US" sz="2800" b="0" i="0" u="none" dirty="0">
                <a:solidFill>
                  <a:schemeClr val="dk1"/>
                </a:solidFill>
                <a:latin typeface="Calibri"/>
                <a:ea typeface="Calibri"/>
                <a:cs typeface="Calibri"/>
                <a:sym typeface="Calibri"/>
              </a:rPr>
              <a:t>and</a:t>
            </a:r>
            <a:r>
              <a:rPr lang="en-US" sz="2800" b="1" i="0" u="none" dirty="0">
                <a:solidFill>
                  <a:srgbClr val="3366FF"/>
                </a:solidFill>
                <a:latin typeface="Calibri"/>
                <a:ea typeface="Calibri"/>
                <a:cs typeface="Calibri"/>
                <a:sym typeface="Calibri"/>
              </a:rPr>
              <a:t> good performance.</a:t>
            </a:r>
            <a:r>
              <a:rPr lang="en-US" sz="2800" b="0" i="0" u="none" dirty="0">
                <a:solidFill>
                  <a:schemeClr val="dk1"/>
                </a:solidFill>
                <a:latin typeface="Calibri"/>
                <a:ea typeface="Calibri"/>
                <a:cs typeface="Calibri"/>
                <a:sym typeface="Calibri"/>
              </a:rPr>
              <a:t> </a:t>
            </a:r>
            <a:endParaRPr dirty="0"/>
          </a:p>
          <a:p>
            <a:pPr marL="228600" marR="0" lvl="0" indent="-228600" algn="just" rtl="0">
              <a:lnSpc>
                <a:spcPct val="90000"/>
              </a:lnSpc>
              <a:spcBef>
                <a:spcPts val="1000"/>
              </a:spcBef>
              <a:spcAft>
                <a:spcPts val="0"/>
              </a:spcAft>
              <a:buClr>
                <a:srgbClr val="3366FF"/>
              </a:buClr>
              <a:buSzPts val="2800"/>
              <a:buFont typeface="Arial"/>
              <a:buChar char="•"/>
            </a:pPr>
            <a:r>
              <a:rPr lang="en-US" sz="2800" b="1" i="0" u="none" dirty="0">
                <a:solidFill>
                  <a:srgbClr val="3366FF"/>
                </a:solidFill>
                <a:latin typeface="Calibri"/>
                <a:ea typeface="Calibri"/>
                <a:cs typeface="Calibri"/>
                <a:sym typeface="Calibri"/>
              </a:rPr>
              <a:t>Multi user computers </a:t>
            </a:r>
            <a:r>
              <a:rPr lang="en-US" sz="2800" b="0" i="0" u="none" dirty="0">
                <a:solidFill>
                  <a:schemeClr val="dk1"/>
                </a:solidFill>
                <a:latin typeface="Calibri"/>
                <a:ea typeface="Calibri"/>
                <a:cs typeface="Calibri"/>
                <a:sym typeface="Calibri"/>
              </a:rPr>
              <a:t>(e.g.,  mainframes, computing servers). These users share resources and may exchange information. The operating system in such cases is designed to maximize resource utilization -- to assure that all available CPU time, memory, and I/O are used </a:t>
            </a:r>
            <a:r>
              <a:rPr lang="en-US" b="1" dirty="0">
                <a:solidFill>
                  <a:srgbClr val="3366FF"/>
                </a:solidFill>
                <a:latin typeface="Calibri"/>
                <a:ea typeface="Calibri"/>
                <a:cs typeface="Calibri"/>
                <a:sym typeface="Calibri"/>
              </a:rPr>
              <a:t>efficiently</a:t>
            </a:r>
            <a:r>
              <a:rPr lang="en-US" sz="2800" b="0" i="0" u="none" dirty="0">
                <a:solidFill>
                  <a:schemeClr val="dk1"/>
                </a:solidFill>
                <a:latin typeface="Calibri"/>
                <a:ea typeface="Calibri"/>
                <a:cs typeface="Calibri"/>
                <a:sym typeface="Calibri"/>
              </a:rPr>
              <a:t> and that no individual users takes more than their air share.</a:t>
            </a:r>
            <a:endParaRPr dirty="0"/>
          </a:p>
        </p:txBody>
      </p:sp>
      <p:sp>
        <p:nvSpPr>
          <p:cNvPr id="198" name="Google Shape;198;p8"/>
          <p:cNvSpPr txBox="1"/>
          <p:nvPr/>
        </p:nvSpPr>
        <p:spPr>
          <a:xfrm>
            <a:off x="935037" y="1039812"/>
            <a:ext cx="10066337"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The user's view of the computer varies according to the interface being used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9"/>
          <p:cNvSpPr txBox="1">
            <a:spLocks noGrp="1"/>
          </p:cNvSpPr>
          <p:nvPr>
            <p:ph type="title" idx="4294967295"/>
          </p:nvPr>
        </p:nvSpPr>
        <p:spPr>
          <a:xfrm>
            <a:off x="773112" y="352425"/>
            <a:ext cx="10809287" cy="592137"/>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C00000"/>
              </a:buClr>
              <a:buSzPts val="4400"/>
              <a:buFont typeface="Calibri"/>
              <a:buNone/>
            </a:pPr>
            <a:r>
              <a:rPr lang="en-US" sz="4400" b="0" i="0" u="none" strike="noStrike" cap="none">
                <a:solidFill>
                  <a:srgbClr val="C00000"/>
                </a:solidFill>
                <a:latin typeface="Calibri"/>
                <a:ea typeface="Calibri"/>
                <a:cs typeface="Calibri"/>
                <a:sym typeface="Calibri"/>
              </a:rPr>
              <a:t>User View (Cont.)</a:t>
            </a:r>
            <a:endParaRPr/>
          </a:p>
        </p:txBody>
      </p:sp>
      <p:sp>
        <p:nvSpPr>
          <p:cNvPr id="205" name="Google Shape;205;p9"/>
          <p:cNvSpPr txBox="1">
            <a:spLocks noGrp="1"/>
          </p:cNvSpPr>
          <p:nvPr>
            <p:ph type="body" idx="4294967295"/>
          </p:nvPr>
        </p:nvSpPr>
        <p:spPr>
          <a:xfrm>
            <a:off x="773112" y="1244600"/>
            <a:ext cx="10461625" cy="4530725"/>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90000"/>
              </a:lnSpc>
              <a:spcBef>
                <a:spcPts val="0"/>
              </a:spcBef>
              <a:spcAft>
                <a:spcPts val="0"/>
              </a:spcAft>
              <a:buClr>
                <a:srgbClr val="3366FF"/>
              </a:buClr>
              <a:buSzPts val="3200"/>
              <a:buFont typeface="Arial"/>
              <a:buChar char="•"/>
            </a:pPr>
            <a:r>
              <a:rPr lang="en-US" sz="3200" b="1" i="0" u="none">
                <a:solidFill>
                  <a:srgbClr val="3366FF"/>
                </a:solidFill>
                <a:latin typeface="Calibri"/>
                <a:ea typeface="Calibri"/>
                <a:cs typeface="Calibri"/>
                <a:sym typeface="Calibri"/>
              </a:rPr>
              <a:t>Handheld computers </a:t>
            </a:r>
            <a:r>
              <a:rPr lang="en-US" sz="3200" b="0" i="0" u="none">
                <a:solidFill>
                  <a:srgbClr val="000000"/>
                </a:solidFill>
                <a:latin typeface="Calibri"/>
                <a:ea typeface="Calibri"/>
                <a:cs typeface="Calibri"/>
                <a:sym typeface="Calibri"/>
              </a:rPr>
              <a:t>(e.g., smartphones and tablets).  The user interface for mobile computers generally features a  </a:t>
            </a:r>
            <a:r>
              <a:rPr lang="en-US" sz="3200" b="1" i="0" u="none">
                <a:solidFill>
                  <a:srgbClr val="000000"/>
                </a:solidFill>
                <a:latin typeface="Calibri"/>
                <a:ea typeface="Calibri"/>
                <a:cs typeface="Calibri"/>
                <a:sym typeface="Calibri"/>
              </a:rPr>
              <a:t>touch screen. </a:t>
            </a:r>
            <a:r>
              <a:rPr lang="en-US" sz="3200" b="0" i="0" u="none">
                <a:solidFill>
                  <a:srgbClr val="000000"/>
                </a:solidFill>
                <a:latin typeface="Calibri"/>
                <a:ea typeface="Calibri"/>
                <a:cs typeface="Calibri"/>
                <a:sym typeface="Calibri"/>
              </a:rPr>
              <a:t>The systems  are resource poor,  optimized for usability and battery life.</a:t>
            </a:r>
            <a:endParaRPr/>
          </a:p>
          <a:p>
            <a:pPr marL="228600" marR="0" lvl="0" indent="-228600" algn="just" rtl="0">
              <a:lnSpc>
                <a:spcPct val="90000"/>
              </a:lnSpc>
              <a:spcBef>
                <a:spcPts val="1000"/>
              </a:spcBef>
              <a:spcAft>
                <a:spcPts val="0"/>
              </a:spcAft>
              <a:buClr>
                <a:srgbClr val="3366FF"/>
              </a:buClr>
              <a:buSzPts val="3200"/>
              <a:buFont typeface="Arial"/>
              <a:buChar char="•"/>
            </a:pPr>
            <a:r>
              <a:rPr lang="en-US" sz="3200" b="1" i="0" u="none">
                <a:solidFill>
                  <a:srgbClr val="3366FF"/>
                </a:solidFill>
                <a:latin typeface="Calibri"/>
                <a:ea typeface="Calibri"/>
                <a:cs typeface="Calibri"/>
                <a:sym typeface="Calibri"/>
              </a:rPr>
              <a:t>Embedded computers </a:t>
            </a:r>
            <a:r>
              <a:rPr lang="en-US" sz="3200" b="0" i="0" u="none">
                <a:solidFill>
                  <a:srgbClr val="000000"/>
                </a:solidFill>
                <a:latin typeface="Calibri"/>
                <a:ea typeface="Calibri"/>
                <a:cs typeface="Calibri"/>
                <a:sym typeface="Calibri"/>
              </a:rPr>
              <a:t>(e.g., computers in home devices and automobiles) The user interface may have numeric keypads and may turn indicator lights on or off to show status. The operating systems are designed primarily to run without user intervention.</a:t>
            </a:r>
            <a:endParaRPr/>
          </a:p>
          <a:p>
            <a:pPr marL="228600" marR="0" lvl="0" indent="-25400" algn="l" rtl="0">
              <a:lnSpc>
                <a:spcPct val="90000"/>
              </a:lnSpc>
              <a:spcBef>
                <a:spcPts val="1000"/>
              </a:spcBef>
              <a:spcAft>
                <a:spcPts val="0"/>
              </a:spcAft>
              <a:buClr>
                <a:schemeClr val="dk1"/>
              </a:buClr>
              <a:buSzPts val="3200"/>
              <a:buFont typeface="Arial"/>
              <a:buNone/>
            </a:pPr>
            <a:endParaRPr sz="3200" b="0" i="0" u="none">
              <a:solidFill>
                <a:srgbClr val="00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0"/>
          <p:cNvSpPr txBox="1">
            <a:spLocks noGrp="1"/>
          </p:cNvSpPr>
          <p:nvPr>
            <p:ph type="title" idx="4294967295"/>
          </p:nvPr>
        </p:nvSpPr>
        <p:spPr>
          <a:xfrm>
            <a:off x="1568450" y="166687"/>
            <a:ext cx="10013950" cy="5762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C00000"/>
              </a:buClr>
              <a:buSzPts val="4400"/>
              <a:buFont typeface="Calibri"/>
              <a:buNone/>
            </a:pPr>
            <a:r>
              <a:rPr lang="en-US" sz="4400" b="0" i="0" u="none" strike="noStrike" cap="none">
                <a:solidFill>
                  <a:srgbClr val="C00000"/>
                </a:solidFill>
                <a:latin typeface="Calibri"/>
                <a:ea typeface="Calibri"/>
                <a:cs typeface="Calibri"/>
                <a:sym typeface="Calibri"/>
              </a:rPr>
              <a:t>System View</a:t>
            </a:r>
            <a:endParaRPr/>
          </a:p>
        </p:txBody>
      </p:sp>
      <p:sp>
        <p:nvSpPr>
          <p:cNvPr id="212" name="Google Shape;212;p10"/>
          <p:cNvSpPr txBox="1">
            <a:spLocks noGrp="1"/>
          </p:cNvSpPr>
          <p:nvPr>
            <p:ph type="body" idx="4294967295"/>
          </p:nvPr>
        </p:nvSpPr>
        <p:spPr>
          <a:xfrm>
            <a:off x="2179637" y="1806575"/>
            <a:ext cx="8851900" cy="4265612"/>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90000"/>
              </a:lnSpc>
              <a:spcBef>
                <a:spcPts val="0"/>
              </a:spcBef>
              <a:spcAft>
                <a:spcPts val="0"/>
              </a:spcAft>
              <a:buClr>
                <a:schemeClr val="dk1"/>
              </a:buClr>
              <a:buSzPts val="2800"/>
              <a:buFont typeface="Arial"/>
              <a:buNone/>
            </a:pPr>
            <a:endParaRPr sz="2800" b="0" i="0" u="none">
              <a:solidFill>
                <a:schemeClr val="dk1"/>
              </a:solidFill>
              <a:latin typeface="Calibri"/>
              <a:ea typeface="Calibri"/>
              <a:cs typeface="Calibri"/>
              <a:sym typeface="Calibri"/>
            </a:endParaRPr>
          </a:p>
          <a:p>
            <a:pPr marL="228600" marR="0" lvl="0" indent="-228600" algn="just" rtl="0">
              <a:lnSpc>
                <a:spcPct val="90000"/>
              </a:lnSpc>
              <a:spcBef>
                <a:spcPts val="100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The operating system is a </a:t>
            </a:r>
            <a:r>
              <a:rPr lang="en-US" sz="2800" b="1" i="0" u="none">
                <a:solidFill>
                  <a:srgbClr val="3366FF"/>
                </a:solidFill>
                <a:latin typeface="Calibri"/>
                <a:ea typeface="Calibri"/>
                <a:cs typeface="Calibri"/>
                <a:sym typeface="Calibri"/>
              </a:rPr>
              <a:t>resource allocator</a:t>
            </a:r>
            <a:endParaRPr/>
          </a:p>
          <a:p>
            <a:pPr marL="685800" marR="0" lvl="1" indent="-228600" algn="just" rtl="0">
              <a:lnSpc>
                <a:spcPct val="90000"/>
              </a:lnSpc>
              <a:spcBef>
                <a:spcPts val="50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Manages all resources</a:t>
            </a:r>
            <a:endParaRPr/>
          </a:p>
          <a:p>
            <a:pPr marL="685800" marR="0" lvl="1" indent="-228600" algn="just" rtl="0">
              <a:lnSpc>
                <a:spcPct val="90000"/>
              </a:lnSpc>
              <a:spcBef>
                <a:spcPts val="50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Decides between conflicting requests for efficient and fair resource use</a:t>
            </a:r>
            <a:endParaRPr/>
          </a:p>
          <a:p>
            <a:pPr marL="228600" marR="0" lvl="0" indent="-228600" algn="just" rtl="0">
              <a:lnSpc>
                <a:spcPct val="90000"/>
              </a:lnSpc>
              <a:spcBef>
                <a:spcPts val="1000"/>
              </a:spcBef>
              <a:spcAft>
                <a:spcPts val="0"/>
              </a:spcAft>
              <a:buClr>
                <a:schemeClr val="dk1"/>
              </a:buClr>
              <a:buSzPts val="2800"/>
              <a:buFont typeface="Noto Sans Symbols"/>
              <a:buChar char="❑"/>
            </a:pPr>
            <a:r>
              <a:rPr lang="en-US" sz="2800" b="0" i="0" u="none">
                <a:solidFill>
                  <a:schemeClr val="dk1"/>
                </a:solidFill>
                <a:latin typeface="Calibri"/>
                <a:ea typeface="Calibri"/>
                <a:cs typeface="Calibri"/>
                <a:sym typeface="Calibri"/>
              </a:rPr>
              <a:t>The operating system  is a </a:t>
            </a:r>
            <a:r>
              <a:rPr lang="en-US" sz="2800" b="1" i="0" u="none">
                <a:solidFill>
                  <a:srgbClr val="3366FF"/>
                </a:solidFill>
                <a:latin typeface="Calibri"/>
                <a:ea typeface="Calibri"/>
                <a:cs typeface="Calibri"/>
                <a:sym typeface="Calibri"/>
              </a:rPr>
              <a:t>control program</a:t>
            </a:r>
            <a:endParaRPr/>
          </a:p>
          <a:p>
            <a:pPr marL="685800" marR="0" lvl="1" indent="-228600" algn="just" rtl="0">
              <a:lnSpc>
                <a:spcPct val="90000"/>
              </a:lnSpc>
              <a:spcBef>
                <a:spcPts val="50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Controls execution of programs to prevent errors and improper use of the computer</a:t>
            </a:r>
            <a:endParaRPr/>
          </a:p>
        </p:txBody>
      </p:sp>
      <p:sp>
        <p:nvSpPr>
          <p:cNvPr id="213" name="Google Shape;213;p10"/>
          <p:cNvSpPr txBox="1"/>
          <p:nvPr/>
        </p:nvSpPr>
        <p:spPr>
          <a:xfrm>
            <a:off x="477079" y="1143000"/>
            <a:ext cx="11065634" cy="7080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dirty="0">
                <a:solidFill>
                  <a:schemeClr val="dk1"/>
                </a:solidFill>
                <a:latin typeface="Arial"/>
                <a:ea typeface="Arial"/>
                <a:cs typeface="Arial"/>
                <a:sym typeface="Arial"/>
              </a:rPr>
              <a:t>From the computer's point of view, the operating system is the program most intimately involved with the hardware. There are two different views:</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89535">
              <a:lnSpc>
                <a:spcPct val="100000"/>
              </a:lnSpc>
              <a:spcBef>
                <a:spcPts val="100"/>
              </a:spcBef>
            </a:pPr>
            <a:r>
              <a:rPr dirty="0"/>
              <a:t>OS</a:t>
            </a:r>
            <a:r>
              <a:rPr spc="-65" dirty="0"/>
              <a:t> </a:t>
            </a:r>
            <a:r>
              <a:rPr dirty="0"/>
              <a:t>as</a:t>
            </a:r>
            <a:r>
              <a:rPr spc="-60" dirty="0"/>
              <a:t> </a:t>
            </a:r>
            <a:r>
              <a:rPr dirty="0"/>
              <a:t>a</a:t>
            </a:r>
            <a:r>
              <a:rPr spc="-60" dirty="0"/>
              <a:t> </a:t>
            </a:r>
            <a:r>
              <a:rPr dirty="0"/>
              <a:t>Resource</a:t>
            </a:r>
            <a:r>
              <a:rPr spc="-65" dirty="0"/>
              <a:t> </a:t>
            </a:r>
            <a:r>
              <a:rPr spc="-10" dirty="0"/>
              <a:t>Manager</a:t>
            </a:r>
          </a:p>
        </p:txBody>
      </p:sp>
      <p:sp>
        <p:nvSpPr>
          <p:cNvPr id="3" name="object 3"/>
          <p:cNvSpPr txBox="1"/>
          <p:nvPr/>
        </p:nvSpPr>
        <p:spPr>
          <a:xfrm>
            <a:off x="2059940" y="1635759"/>
            <a:ext cx="6536690" cy="513080"/>
          </a:xfrm>
          <a:prstGeom prst="rect">
            <a:avLst/>
          </a:prstGeom>
        </p:spPr>
        <p:txBody>
          <a:bodyPr vert="horz" wrap="square" lIns="0" tIns="12700" rIns="0" bIns="0" rtlCol="0">
            <a:spAutoFit/>
          </a:bodyPr>
          <a:lstStyle/>
          <a:p>
            <a:pPr marL="354965" indent="-342265">
              <a:spcBef>
                <a:spcPts val="100"/>
              </a:spcBef>
              <a:buChar char="•"/>
              <a:tabLst>
                <a:tab pos="354965" algn="l"/>
              </a:tabLst>
            </a:pPr>
            <a:r>
              <a:rPr sz="3200" dirty="0">
                <a:latin typeface="Arial MT"/>
                <a:cs typeface="Arial MT"/>
              </a:rPr>
              <a:t>Multiple</a:t>
            </a:r>
            <a:r>
              <a:rPr sz="3200" spc="-25" dirty="0">
                <a:latin typeface="Arial MT"/>
                <a:cs typeface="Arial MT"/>
              </a:rPr>
              <a:t> </a:t>
            </a:r>
            <a:r>
              <a:rPr sz="3200" dirty="0">
                <a:latin typeface="Arial MT"/>
                <a:cs typeface="Arial MT"/>
              </a:rPr>
              <a:t>apps</a:t>
            </a:r>
            <a:r>
              <a:rPr sz="3200" spc="-25" dirty="0">
                <a:latin typeface="Arial MT"/>
                <a:cs typeface="Arial MT"/>
              </a:rPr>
              <a:t> </a:t>
            </a:r>
            <a:r>
              <a:rPr sz="3200" dirty="0">
                <a:latin typeface="Arial MT"/>
                <a:cs typeface="Arial MT"/>
              </a:rPr>
              <a:t>but</a:t>
            </a:r>
            <a:r>
              <a:rPr sz="3200" spc="-35" dirty="0">
                <a:latin typeface="Arial MT"/>
                <a:cs typeface="Arial MT"/>
              </a:rPr>
              <a:t> </a:t>
            </a:r>
            <a:r>
              <a:rPr sz="3200" dirty="0">
                <a:latin typeface="Arial MT"/>
                <a:cs typeface="Arial MT"/>
              </a:rPr>
              <a:t>limited</a:t>
            </a:r>
            <a:r>
              <a:rPr sz="3200" spc="-25" dirty="0">
                <a:latin typeface="Arial MT"/>
                <a:cs typeface="Arial MT"/>
              </a:rPr>
              <a:t> </a:t>
            </a:r>
            <a:r>
              <a:rPr sz="3200" spc="-10" dirty="0">
                <a:latin typeface="Arial MT"/>
                <a:cs typeface="Arial MT"/>
              </a:rPr>
              <a:t>hardware</a:t>
            </a:r>
            <a:endParaRPr sz="3200">
              <a:latin typeface="Arial MT"/>
              <a:cs typeface="Arial MT"/>
            </a:endParaRPr>
          </a:p>
        </p:txBody>
      </p:sp>
      <p:sp>
        <p:nvSpPr>
          <p:cNvPr id="4" name="object 4"/>
          <p:cNvSpPr/>
          <p:nvPr/>
        </p:nvSpPr>
        <p:spPr>
          <a:xfrm>
            <a:off x="2286000" y="4038600"/>
            <a:ext cx="7696200" cy="1066800"/>
          </a:xfrm>
          <a:custGeom>
            <a:avLst/>
            <a:gdLst/>
            <a:ahLst/>
            <a:cxnLst/>
            <a:rect l="l" t="t" r="r" b="b"/>
            <a:pathLst>
              <a:path w="7696200" h="1066800">
                <a:moveTo>
                  <a:pt x="7696200" y="0"/>
                </a:moveTo>
                <a:lnTo>
                  <a:pt x="0" y="0"/>
                </a:lnTo>
                <a:lnTo>
                  <a:pt x="0" y="1066800"/>
                </a:lnTo>
                <a:lnTo>
                  <a:pt x="3848100" y="1066800"/>
                </a:lnTo>
                <a:lnTo>
                  <a:pt x="7696200" y="1066800"/>
                </a:lnTo>
                <a:lnTo>
                  <a:pt x="7696200" y="0"/>
                </a:lnTo>
                <a:close/>
              </a:path>
            </a:pathLst>
          </a:custGeom>
          <a:solidFill>
            <a:srgbClr val="BADFE2"/>
          </a:solidFill>
        </p:spPr>
        <p:txBody>
          <a:bodyPr wrap="square" lIns="0" tIns="0" rIns="0" bIns="0" rtlCol="0"/>
          <a:lstStyle/>
          <a:p>
            <a:endParaRPr/>
          </a:p>
        </p:txBody>
      </p:sp>
      <p:sp>
        <p:nvSpPr>
          <p:cNvPr id="5" name="object 5"/>
          <p:cNvSpPr txBox="1"/>
          <p:nvPr/>
        </p:nvSpPr>
        <p:spPr>
          <a:xfrm>
            <a:off x="2286000" y="4038600"/>
            <a:ext cx="7696200" cy="688650"/>
          </a:xfrm>
          <a:prstGeom prst="rect">
            <a:avLst/>
          </a:prstGeom>
          <a:ln w="9344">
            <a:solidFill>
              <a:srgbClr val="000000"/>
            </a:solidFill>
          </a:ln>
        </p:spPr>
        <p:txBody>
          <a:bodyPr vert="horz" wrap="square" lIns="0" tIns="133350" rIns="0" bIns="0" rtlCol="0">
            <a:spAutoFit/>
          </a:bodyPr>
          <a:lstStyle/>
          <a:p>
            <a:pPr>
              <a:spcBef>
                <a:spcPts val="1050"/>
              </a:spcBef>
            </a:pPr>
            <a:endParaRPr>
              <a:latin typeface="Times New Roman"/>
              <a:cs typeface="Times New Roman"/>
            </a:endParaRPr>
          </a:p>
          <a:p>
            <a:pPr marL="635" algn="ctr"/>
            <a:r>
              <a:rPr dirty="0">
                <a:latin typeface="Arial MT"/>
                <a:cs typeface="Arial MT"/>
              </a:rPr>
              <a:t>Operating</a:t>
            </a:r>
            <a:r>
              <a:rPr spc="-65" dirty="0">
                <a:latin typeface="Arial MT"/>
                <a:cs typeface="Arial MT"/>
              </a:rPr>
              <a:t> </a:t>
            </a:r>
            <a:r>
              <a:rPr spc="-10" dirty="0">
                <a:latin typeface="Arial MT"/>
                <a:cs typeface="Arial MT"/>
              </a:rPr>
              <a:t>Systems</a:t>
            </a:r>
            <a:endParaRPr>
              <a:latin typeface="Arial MT"/>
              <a:cs typeface="Arial MT"/>
            </a:endParaRPr>
          </a:p>
        </p:txBody>
      </p:sp>
      <p:pic>
        <p:nvPicPr>
          <p:cNvPr id="6" name="object 6"/>
          <p:cNvPicPr/>
          <p:nvPr/>
        </p:nvPicPr>
        <p:blipFill>
          <a:blip r:embed="rId2" cstate="print"/>
          <a:stretch>
            <a:fillRect/>
          </a:stretch>
        </p:blipFill>
        <p:spPr>
          <a:xfrm>
            <a:off x="5486400" y="5181600"/>
            <a:ext cx="1071196" cy="1587730"/>
          </a:xfrm>
          <a:prstGeom prst="rect">
            <a:avLst/>
          </a:prstGeom>
        </p:spPr>
      </p:pic>
      <p:pic>
        <p:nvPicPr>
          <p:cNvPr id="7" name="object 7"/>
          <p:cNvPicPr/>
          <p:nvPr/>
        </p:nvPicPr>
        <p:blipFill>
          <a:blip r:embed="rId3" cstate="print"/>
          <a:stretch>
            <a:fillRect/>
          </a:stretch>
        </p:blipFill>
        <p:spPr>
          <a:xfrm>
            <a:off x="8077201" y="2588260"/>
            <a:ext cx="1823067" cy="1167130"/>
          </a:xfrm>
          <a:prstGeom prst="rect">
            <a:avLst/>
          </a:prstGeom>
        </p:spPr>
      </p:pic>
      <p:pic>
        <p:nvPicPr>
          <p:cNvPr id="8" name="object 8"/>
          <p:cNvPicPr/>
          <p:nvPr/>
        </p:nvPicPr>
        <p:blipFill>
          <a:blip r:embed="rId4" cstate="print"/>
          <a:stretch>
            <a:fillRect/>
          </a:stretch>
        </p:blipFill>
        <p:spPr>
          <a:xfrm>
            <a:off x="2362200" y="2818129"/>
            <a:ext cx="1264920" cy="991870"/>
          </a:xfrm>
          <a:prstGeom prst="rect">
            <a:avLst/>
          </a:prstGeom>
        </p:spPr>
      </p:pic>
      <p:pic>
        <p:nvPicPr>
          <p:cNvPr id="9" name="object 9"/>
          <p:cNvPicPr/>
          <p:nvPr/>
        </p:nvPicPr>
        <p:blipFill>
          <a:blip r:embed="rId5" cstate="print"/>
          <a:stretch>
            <a:fillRect/>
          </a:stretch>
        </p:blipFill>
        <p:spPr>
          <a:xfrm>
            <a:off x="3886200" y="3045461"/>
            <a:ext cx="1524000" cy="627379"/>
          </a:xfrm>
          <a:prstGeom prst="rect">
            <a:avLst/>
          </a:prstGeom>
        </p:spPr>
      </p:pic>
      <p:pic>
        <p:nvPicPr>
          <p:cNvPr id="10" name="object 10"/>
          <p:cNvPicPr/>
          <p:nvPr/>
        </p:nvPicPr>
        <p:blipFill>
          <a:blip r:embed="rId6" cstate="print"/>
          <a:stretch>
            <a:fillRect/>
          </a:stretch>
        </p:blipFill>
        <p:spPr>
          <a:xfrm>
            <a:off x="6019800" y="2512060"/>
            <a:ext cx="1600200" cy="1111250"/>
          </a:xfrm>
          <a:prstGeom prst="rect">
            <a:avLst/>
          </a:prstGeom>
        </p:spPr>
      </p:pic>
      <p:sp>
        <p:nvSpPr>
          <p:cNvPr id="11" name="object 11"/>
          <p:cNvSpPr txBox="1"/>
          <p:nvPr/>
        </p:nvSpPr>
        <p:spPr>
          <a:xfrm>
            <a:off x="1898714" y="3131820"/>
            <a:ext cx="269304" cy="544830"/>
          </a:xfrm>
          <a:prstGeom prst="rect">
            <a:avLst/>
          </a:prstGeom>
        </p:spPr>
        <p:txBody>
          <a:bodyPr vert="vert270" wrap="square" lIns="0" tIns="0" rIns="0" bIns="0" rtlCol="0">
            <a:spAutoFit/>
          </a:bodyPr>
          <a:lstStyle/>
          <a:p>
            <a:pPr marL="12700">
              <a:lnSpc>
                <a:spcPts val="2090"/>
              </a:lnSpc>
            </a:pPr>
            <a:r>
              <a:rPr spc="-20" dirty="0">
                <a:latin typeface="Arial MT"/>
                <a:cs typeface="Arial MT"/>
              </a:rPr>
              <a:t>Apps</a:t>
            </a:r>
            <a:endParaRPr>
              <a:latin typeface="Arial MT"/>
              <a:cs typeface="Arial MT"/>
            </a:endParaRPr>
          </a:p>
        </p:txBody>
      </p:sp>
      <p:sp>
        <p:nvSpPr>
          <p:cNvPr id="12" name="object 12"/>
          <p:cNvSpPr txBox="1"/>
          <p:nvPr/>
        </p:nvSpPr>
        <p:spPr>
          <a:xfrm>
            <a:off x="6614159" y="6394450"/>
            <a:ext cx="1764030" cy="299720"/>
          </a:xfrm>
          <a:prstGeom prst="rect">
            <a:avLst/>
          </a:prstGeom>
        </p:spPr>
        <p:txBody>
          <a:bodyPr vert="horz" wrap="square" lIns="0" tIns="12700" rIns="0" bIns="0" rtlCol="0">
            <a:spAutoFit/>
          </a:bodyPr>
          <a:lstStyle/>
          <a:p>
            <a:pPr marL="12700">
              <a:spcBef>
                <a:spcPts val="100"/>
              </a:spcBef>
            </a:pPr>
            <a:r>
              <a:rPr dirty="0">
                <a:latin typeface="Arial MT"/>
                <a:cs typeface="Arial MT"/>
              </a:rPr>
              <a:t>A</a:t>
            </a:r>
            <a:r>
              <a:rPr spc="-110" dirty="0">
                <a:latin typeface="Arial MT"/>
                <a:cs typeface="Arial MT"/>
              </a:rPr>
              <a:t> </a:t>
            </a:r>
            <a:r>
              <a:rPr dirty="0">
                <a:latin typeface="Arial MT"/>
                <a:cs typeface="Arial MT"/>
              </a:rPr>
              <a:t>few</a:t>
            </a:r>
            <a:r>
              <a:rPr spc="-10" dirty="0">
                <a:latin typeface="Arial MT"/>
                <a:cs typeface="Arial MT"/>
              </a:rPr>
              <a:t> processors</a:t>
            </a:r>
            <a:endParaRPr>
              <a:latin typeface="Arial MT"/>
              <a:cs typeface="Arial M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3805288" y="1388086"/>
            <a:ext cx="6377093" cy="689932"/>
          </a:xfrm>
          <a:prstGeom prst="rect">
            <a:avLst/>
          </a:prstGeom>
        </p:spPr>
        <p:txBody>
          <a:bodyPr vert="horz" wrap="square" lIns="0" tIns="12700" rIns="0" bIns="0" rtlCol="0" anchor="ctr">
            <a:spAutoFit/>
          </a:bodyPr>
          <a:lstStyle/>
          <a:p>
            <a:pPr marL="12700">
              <a:lnSpc>
                <a:spcPct val="100000"/>
              </a:lnSpc>
              <a:spcBef>
                <a:spcPts val="100"/>
              </a:spcBef>
            </a:pPr>
            <a:r>
              <a:rPr dirty="0"/>
              <a:t>Operating</a:t>
            </a:r>
            <a:r>
              <a:rPr spc="-215" dirty="0"/>
              <a:t> </a:t>
            </a:r>
            <a:r>
              <a:rPr spc="-10" dirty="0"/>
              <a:t>Systems</a:t>
            </a:r>
          </a:p>
        </p:txBody>
      </p:sp>
      <p:sp>
        <p:nvSpPr>
          <p:cNvPr id="3" name="object 3"/>
          <p:cNvSpPr txBox="1"/>
          <p:nvPr/>
        </p:nvSpPr>
        <p:spPr>
          <a:xfrm>
            <a:off x="3683498" y="2606923"/>
            <a:ext cx="5117465" cy="695960"/>
          </a:xfrm>
          <a:prstGeom prst="rect">
            <a:avLst/>
          </a:prstGeom>
        </p:spPr>
        <p:txBody>
          <a:bodyPr vert="horz" wrap="square" lIns="0" tIns="12700" rIns="0" bIns="0" rtlCol="0">
            <a:spAutoFit/>
          </a:bodyPr>
          <a:lstStyle/>
          <a:p>
            <a:pPr marL="12700">
              <a:spcBef>
                <a:spcPts val="100"/>
              </a:spcBef>
            </a:pPr>
            <a:r>
              <a:rPr sz="4400" dirty="0">
                <a:solidFill>
                  <a:srgbClr val="0000CC"/>
                </a:solidFill>
                <a:latin typeface="Arial MT"/>
                <a:cs typeface="Arial MT"/>
              </a:rPr>
              <a:t>(How</a:t>
            </a:r>
            <a:r>
              <a:rPr sz="4400" spc="-30" dirty="0">
                <a:solidFill>
                  <a:srgbClr val="0000CC"/>
                </a:solidFill>
                <a:latin typeface="Arial MT"/>
                <a:cs typeface="Arial MT"/>
              </a:rPr>
              <a:t> </a:t>
            </a:r>
            <a:r>
              <a:rPr sz="4400" dirty="0">
                <a:solidFill>
                  <a:srgbClr val="0000CC"/>
                </a:solidFill>
                <a:latin typeface="Arial MT"/>
                <a:cs typeface="Arial MT"/>
              </a:rPr>
              <a:t>did</a:t>
            </a:r>
            <a:r>
              <a:rPr sz="4400" spc="-25" dirty="0">
                <a:solidFill>
                  <a:srgbClr val="0000CC"/>
                </a:solidFill>
                <a:latin typeface="Arial MT"/>
                <a:cs typeface="Arial MT"/>
              </a:rPr>
              <a:t> </a:t>
            </a:r>
            <a:r>
              <a:rPr sz="4400" dirty="0">
                <a:solidFill>
                  <a:srgbClr val="0000CC"/>
                </a:solidFill>
                <a:latin typeface="Arial MT"/>
                <a:cs typeface="Arial MT"/>
              </a:rPr>
              <a:t>it</a:t>
            </a:r>
            <a:r>
              <a:rPr sz="4400" spc="-25" dirty="0">
                <a:solidFill>
                  <a:srgbClr val="0000CC"/>
                </a:solidFill>
                <a:latin typeface="Arial MT"/>
                <a:cs typeface="Arial MT"/>
              </a:rPr>
              <a:t> </a:t>
            </a:r>
            <a:r>
              <a:rPr sz="4400" dirty="0">
                <a:solidFill>
                  <a:srgbClr val="0000CC"/>
                </a:solidFill>
                <a:latin typeface="Arial MT"/>
                <a:cs typeface="Arial MT"/>
              </a:rPr>
              <a:t>all</a:t>
            </a:r>
            <a:r>
              <a:rPr sz="4400" spc="-25" dirty="0">
                <a:solidFill>
                  <a:srgbClr val="0000CC"/>
                </a:solidFill>
                <a:latin typeface="Arial MT"/>
                <a:cs typeface="Arial MT"/>
              </a:rPr>
              <a:t> </a:t>
            </a:r>
            <a:r>
              <a:rPr sz="4400" spc="-10" dirty="0">
                <a:solidFill>
                  <a:srgbClr val="0000CC"/>
                </a:solidFill>
                <a:latin typeface="Arial MT"/>
                <a:cs typeface="Arial MT"/>
              </a:rPr>
              <a:t>start?)</a:t>
            </a:r>
            <a:endParaRPr sz="4400" dirty="0">
              <a:latin typeface="Arial MT"/>
              <a:cs typeface="Arial M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922145">
              <a:lnSpc>
                <a:spcPct val="100000"/>
              </a:lnSpc>
              <a:spcBef>
                <a:spcPts val="100"/>
              </a:spcBef>
            </a:pPr>
            <a:r>
              <a:rPr dirty="0"/>
              <a:t>OS</a:t>
            </a:r>
            <a:r>
              <a:rPr spc="-75" dirty="0"/>
              <a:t> </a:t>
            </a:r>
            <a:r>
              <a:rPr spc="-10" dirty="0"/>
              <a:t>Evolution</a:t>
            </a:r>
          </a:p>
        </p:txBody>
      </p:sp>
      <p:sp>
        <p:nvSpPr>
          <p:cNvPr id="3" name="object 3"/>
          <p:cNvSpPr txBox="1"/>
          <p:nvPr/>
        </p:nvSpPr>
        <p:spPr>
          <a:xfrm>
            <a:off x="725556" y="2141386"/>
            <a:ext cx="11072191" cy="3865161"/>
          </a:xfrm>
          <a:prstGeom prst="rect">
            <a:avLst/>
          </a:prstGeom>
        </p:spPr>
        <p:txBody>
          <a:bodyPr vert="horz" wrap="square" lIns="0" tIns="12700" rIns="0" bIns="0" rtlCol="0">
            <a:spAutoFit/>
          </a:bodyPr>
          <a:lstStyle/>
          <a:p>
            <a:pPr marL="354965" indent="-342265">
              <a:spcBef>
                <a:spcPts val="100"/>
              </a:spcBef>
              <a:buFont typeface="Arial MT"/>
              <a:buChar char="•"/>
              <a:tabLst>
                <a:tab pos="354965" algn="l"/>
              </a:tabLst>
            </a:pPr>
            <a:r>
              <a:rPr sz="2800" b="1" dirty="0">
                <a:solidFill>
                  <a:srgbClr val="0000CC"/>
                </a:solidFill>
                <a:latin typeface="Arial"/>
                <a:cs typeface="Arial"/>
              </a:rPr>
              <a:t>Evolution</a:t>
            </a:r>
            <a:r>
              <a:rPr sz="2800" b="1" spc="-125" dirty="0">
                <a:solidFill>
                  <a:srgbClr val="0000CC"/>
                </a:solidFill>
                <a:latin typeface="Arial"/>
                <a:cs typeface="Arial"/>
              </a:rPr>
              <a:t> </a:t>
            </a:r>
            <a:r>
              <a:rPr sz="2800" b="1" dirty="0">
                <a:solidFill>
                  <a:srgbClr val="0000CC"/>
                </a:solidFill>
                <a:latin typeface="Arial"/>
                <a:cs typeface="Arial"/>
              </a:rPr>
              <a:t>driven</a:t>
            </a:r>
            <a:r>
              <a:rPr sz="2800" b="1" spc="-125" dirty="0">
                <a:solidFill>
                  <a:srgbClr val="0000CC"/>
                </a:solidFill>
                <a:latin typeface="Arial"/>
                <a:cs typeface="Arial"/>
              </a:rPr>
              <a:t> </a:t>
            </a:r>
            <a:r>
              <a:rPr sz="2800" b="1" dirty="0">
                <a:solidFill>
                  <a:srgbClr val="0000CC"/>
                </a:solidFill>
                <a:latin typeface="Arial"/>
                <a:cs typeface="Arial"/>
              </a:rPr>
              <a:t>by</a:t>
            </a:r>
            <a:r>
              <a:rPr sz="2800" b="1" spc="-105" dirty="0">
                <a:solidFill>
                  <a:srgbClr val="0000CC"/>
                </a:solidFill>
                <a:latin typeface="Arial"/>
                <a:cs typeface="Arial"/>
              </a:rPr>
              <a:t> </a:t>
            </a:r>
            <a:r>
              <a:rPr sz="2800" b="1" dirty="0">
                <a:solidFill>
                  <a:srgbClr val="0000CC"/>
                </a:solidFill>
                <a:latin typeface="Arial"/>
                <a:cs typeface="Arial"/>
              </a:rPr>
              <a:t>Hardware</a:t>
            </a:r>
            <a:r>
              <a:rPr sz="2800" b="1" spc="-110" dirty="0">
                <a:solidFill>
                  <a:srgbClr val="0000CC"/>
                </a:solidFill>
                <a:latin typeface="Arial"/>
                <a:cs typeface="Arial"/>
              </a:rPr>
              <a:t> </a:t>
            </a:r>
            <a:r>
              <a:rPr sz="2800" b="1" spc="-10" dirty="0">
                <a:solidFill>
                  <a:srgbClr val="0000CC"/>
                </a:solidFill>
                <a:latin typeface="Arial"/>
                <a:cs typeface="Arial"/>
              </a:rPr>
              <a:t>improvements</a:t>
            </a:r>
            <a:r>
              <a:rPr lang="en-IN" sz="2800" b="1" spc="-10" dirty="0">
                <a:solidFill>
                  <a:srgbClr val="0000CC"/>
                </a:solidFill>
                <a:latin typeface="Arial"/>
                <a:cs typeface="Arial"/>
              </a:rPr>
              <a:t> </a:t>
            </a:r>
            <a:r>
              <a:rPr sz="2800" b="1" dirty="0">
                <a:solidFill>
                  <a:srgbClr val="0000CC"/>
                </a:solidFill>
                <a:latin typeface="Arial"/>
                <a:cs typeface="Arial"/>
              </a:rPr>
              <a:t>+</a:t>
            </a:r>
            <a:r>
              <a:rPr sz="2800" b="1" spc="-60" dirty="0">
                <a:solidFill>
                  <a:srgbClr val="0000CC"/>
                </a:solidFill>
                <a:latin typeface="Arial"/>
                <a:cs typeface="Arial"/>
              </a:rPr>
              <a:t> </a:t>
            </a:r>
            <a:r>
              <a:rPr sz="2800" b="1" dirty="0">
                <a:solidFill>
                  <a:srgbClr val="0000CC"/>
                </a:solidFill>
                <a:latin typeface="Arial"/>
                <a:cs typeface="Arial"/>
              </a:rPr>
              <a:t>User</a:t>
            </a:r>
            <a:r>
              <a:rPr sz="2800" b="1" spc="-45" dirty="0">
                <a:solidFill>
                  <a:srgbClr val="0000CC"/>
                </a:solidFill>
                <a:latin typeface="Arial"/>
                <a:cs typeface="Arial"/>
              </a:rPr>
              <a:t> </a:t>
            </a:r>
            <a:r>
              <a:rPr sz="2800" b="1" spc="-10" dirty="0">
                <a:solidFill>
                  <a:srgbClr val="0000CC"/>
                </a:solidFill>
                <a:latin typeface="Arial"/>
                <a:cs typeface="Arial"/>
              </a:rPr>
              <a:t>needs</a:t>
            </a:r>
            <a:endParaRPr sz="2800" dirty="0">
              <a:latin typeface="Arial"/>
              <a:cs typeface="Arial"/>
            </a:endParaRPr>
          </a:p>
          <a:p>
            <a:pPr marL="754380" marR="815975" lvl="1" indent="-284480">
              <a:spcBef>
                <a:spcPts val="710"/>
              </a:spcBef>
              <a:buChar char="–"/>
              <a:tabLst>
                <a:tab pos="755650" algn="l"/>
              </a:tabLst>
            </a:pPr>
            <a:r>
              <a:rPr sz="2800" dirty="0">
                <a:latin typeface="Arial MT"/>
                <a:cs typeface="Arial MT"/>
              </a:rPr>
              <a:t>eg.</a:t>
            </a:r>
            <a:r>
              <a:rPr sz="2800" spc="-105" dirty="0">
                <a:latin typeface="Arial MT"/>
                <a:cs typeface="Arial MT"/>
              </a:rPr>
              <a:t> </a:t>
            </a:r>
            <a:r>
              <a:rPr sz="2800" dirty="0">
                <a:latin typeface="Arial MT"/>
                <a:cs typeface="Arial MT"/>
              </a:rPr>
              <a:t>low</a:t>
            </a:r>
            <a:r>
              <a:rPr sz="2800" spc="-105" dirty="0">
                <a:latin typeface="Arial MT"/>
                <a:cs typeface="Arial MT"/>
              </a:rPr>
              <a:t> </a:t>
            </a:r>
            <a:r>
              <a:rPr sz="2800" dirty="0">
                <a:latin typeface="Arial MT"/>
                <a:cs typeface="Arial MT"/>
              </a:rPr>
              <a:t>power</a:t>
            </a:r>
            <a:r>
              <a:rPr sz="2800" spc="-95" dirty="0">
                <a:latin typeface="Arial MT"/>
                <a:cs typeface="Arial MT"/>
              </a:rPr>
              <a:t> </a:t>
            </a:r>
            <a:r>
              <a:rPr sz="2800" dirty="0">
                <a:latin typeface="Arial MT"/>
                <a:cs typeface="Arial MT"/>
              </a:rPr>
              <a:t>requirements,</a:t>
            </a:r>
            <a:endParaRPr lang="en-IN" sz="2800" dirty="0">
              <a:latin typeface="Arial MT"/>
              <a:cs typeface="Arial MT"/>
            </a:endParaRPr>
          </a:p>
          <a:p>
            <a:pPr marL="754380" marR="815975" lvl="1" indent="-284480">
              <a:spcBef>
                <a:spcPts val="710"/>
              </a:spcBef>
              <a:buChar char="–"/>
              <a:tabLst>
                <a:tab pos="755650" algn="l"/>
              </a:tabLst>
            </a:pPr>
            <a:r>
              <a:rPr sz="2800" spc="-105" dirty="0">
                <a:latin typeface="Arial MT"/>
                <a:cs typeface="Arial MT"/>
              </a:rPr>
              <a:t> </a:t>
            </a:r>
            <a:r>
              <a:rPr sz="2800" dirty="0">
                <a:latin typeface="Arial MT"/>
                <a:cs typeface="Arial MT"/>
              </a:rPr>
              <a:t>Increased</a:t>
            </a:r>
            <a:r>
              <a:rPr sz="2800" spc="-100" dirty="0">
                <a:latin typeface="Arial MT"/>
                <a:cs typeface="Arial MT"/>
              </a:rPr>
              <a:t> </a:t>
            </a:r>
            <a:r>
              <a:rPr sz="2800" spc="-50" dirty="0">
                <a:latin typeface="Arial MT"/>
                <a:cs typeface="Arial MT"/>
              </a:rPr>
              <a:t>/ 	</a:t>
            </a:r>
            <a:r>
              <a:rPr sz="2800" dirty="0">
                <a:latin typeface="Arial MT"/>
                <a:cs typeface="Arial MT"/>
              </a:rPr>
              <a:t>reduced</a:t>
            </a:r>
            <a:r>
              <a:rPr sz="2800" spc="-105" dirty="0">
                <a:latin typeface="Arial MT"/>
                <a:cs typeface="Arial MT"/>
              </a:rPr>
              <a:t> </a:t>
            </a:r>
            <a:r>
              <a:rPr sz="2800" spc="-20" dirty="0">
                <a:latin typeface="Arial MT"/>
                <a:cs typeface="Arial MT"/>
              </a:rPr>
              <a:t>security,</a:t>
            </a:r>
            <a:r>
              <a:rPr sz="2800" spc="-95" dirty="0">
                <a:latin typeface="Arial MT"/>
                <a:cs typeface="Arial MT"/>
              </a:rPr>
              <a:t> </a:t>
            </a:r>
            <a:endParaRPr lang="en-IN" sz="2800" spc="-95" dirty="0">
              <a:latin typeface="Arial MT"/>
              <a:cs typeface="Arial MT"/>
            </a:endParaRPr>
          </a:p>
          <a:p>
            <a:pPr marL="754380" marR="815975" lvl="1" indent="-284480">
              <a:spcBef>
                <a:spcPts val="710"/>
              </a:spcBef>
              <a:buChar char="–"/>
              <a:tabLst>
                <a:tab pos="755650" algn="l"/>
              </a:tabLst>
            </a:pPr>
            <a:r>
              <a:rPr sz="2800" dirty="0">
                <a:latin typeface="Arial MT"/>
                <a:cs typeface="Arial MT"/>
              </a:rPr>
              <a:t>lower</a:t>
            </a:r>
            <a:r>
              <a:rPr sz="2800" spc="-105" dirty="0">
                <a:latin typeface="Arial MT"/>
                <a:cs typeface="Arial MT"/>
              </a:rPr>
              <a:t> </a:t>
            </a:r>
            <a:r>
              <a:rPr sz="2800" spc="-10" dirty="0">
                <a:latin typeface="Arial MT"/>
                <a:cs typeface="Arial MT"/>
              </a:rPr>
              <a:t>latency</a:t>
            </a:r>
            <a:endParaRPr sz="2800" dirty="0">
              <a:latin typeface="Arial MT"/>
              <a:cs typeface="Arial MT"/>
            </a:endParaRPr>
          </a:p>
          <a:p>
            <a:pPr marL="754380" lvl="1" indent="-284480">
              <a:spcBef>
                <a:spcPts val="720"/>
              </a:spcBef>
              <a:buChar char="–"/>
              <a:tabLst>
                <a:tab pos="754380" algn="l"/>
              </a:tabLst>
            </a:pPr>
            <a:r>
              <a:rPr sz="2800" dirty="0">
                <a:latin typeface="Arial MT"/>
                <a:cs typeface="Arial MT"/>
              </a:rPr>
              <a:t>Evolution</a:t>
            </a:r>
            <a:r>
              <a:rPr sz="2800" spc="-130" dirty="0">
                <a:latin typeface="Arial MT"/>
                <a:cs typeface="Arial MT"/>
              </a:rPr>
              <a:t> </a:t>
            </a:r>
            <a:r>
              <a:rPr sz="2800" spc="-25" dirty="0">
                <a:latin typeface="Arial MT"/>
                <a:cs typeface="Arial MT"/>
              </a:rPr>
              <a:t>by</a:t>
            </a:r>
            <a:endParaRPr sz="2800" dirty="0">
              <a:latin typeface="Arial MT"/>
              <a:cs typeface="Arial MT"/>
            </a:endParaRPr>
          </a:p>
          <a:p>
            <a:pPr marL="1154430" lvl="2" indent="-227329">
              <a:spcBef>
                <a:spcPts val="610"/>
              </a:spcBef>
              <a:buChar char="•"/>
              <a:tabLst>
                <a:tab pos="1154430" algn="l"/>
              </a:tabLst>
            </a:pPr>
            <a:r>
              <a:rPr sz="2400" dirty="0">
                <a:latin typeface="Arial MT"/>
                <a:cs typeface="Arial MT"/>
              </a:rPr>
              <a:t>New/better</a:t>
            </a:r>
            <a:r>
              <a:rPr sz="2400" spc="-130" dirty="0">
                <a:latin typeface="Arial MT"/>
                <a:cs typeface="Arial MT"/>
              </a:rPr>
              <a:t> </a:t>
            </a:r>
            <a:r>
              <a:rPr sz="2400" spc="-10" dirty="0">
                <a:latin typeface="Arial MT"/>
                <a:cs typeface="Arial MT"/>
              </a:rPr>
              <a:t>abstractions</a:t>
            </a:r>
            <a:endParaRPr sz="2400" dirty="0">
              <a:latin typeface="Arial MT"/>
              <a:cs typeface="Arial MT"/>
            </a:endParaRPr>
          </a:p>
          <a:p>
            <a:pPr marL="1154430" lvl="2" indent="-227329">
              <a:spcBef>
                <a:spcPts val="610"/>
              </a:spcBef>
              <a:buChar char="•"/>
              <a:tabLst>
                <a:tab pos="1154430" algn="l"/>
              </a:tabLst>
            </a:pPr>
            <a:r>
              <a:rPr sz="2400" dirty="0">
                <a:latin typeface="Arial MT"/>
                <a:cs typeface="Arial MT"/>
              </a:rPr>
              <a:t>New/better</a:t>
            </a:r>
            <a:r>
              <a:rPr sz="2400" spc="-130" dirty="0">
                <a:latin typeface="Arial MT"/>
                <a:cs typeface="Arial MT"/>
              </a:rPr>
              <a:t> </a:t>
            </a:r>
            <a:r>
              <a:rPr sz="2400" dirty="0">
                <a:latin typeface="Arial MT"/>
                <a:cs typeface="Arial MT"/>
              </a:rPr>
              <a:t>resource</a:t>
            </a:r>
            <a:r>
              <a:rPr sz="2400" spc="-135" dirty="0">
                <a:latin typeface="Arial MT"/>
                <a:cs typeface="Arial MT"/>
              </a:rPr>
              <a:t> </a:t>
            </a:r>
            <a:r>
              <a:rPr sz="2400" spc="-10" dirty="0">
                <a:latin typeface="Arial MT"/>
                <a:cs typeface="Arial MT"/>
              </a:rPr>
              <a:t>management</a:t>
            </a:r>
            <a:endParaRPr sz="2400" dirty="0">
              <a:latin typeface="Arial MT"/>
              <a:cs typeface="Arial MT"/>
            </a:endParaRPr>
          </a:p>
          <a:p>
            <a:pPr marL="1154430" lvl="2" indent="-227329">
              <a:spcBef>
                <a:spcPts val="610"/>
              </a:spcBef>
              <a:buChar char="•"/>
              <a:tabLst>
                <a:tab pos="1154430" algn="l"/>
              </a:tabLst>
            </a:pPr>
            <a:r>
              <a:rPr sz="2400" dirty="0">
                <a:latin typeface="Arial MT"/>
                <a:cs typeface="Arial MT"/>
              </a:rPr>
              <a:t>New/better</a:t>
            </a:r>
            <a:r>
              <a:rPr sz="2400" spc="-85" dirty="0">
                <a:latin typeface="Arial MT"/>
                <a:cs typeface="Arial MT"/>
              </a:rPr>
              <a:t> </a:t>
            </a:r>
            <a:r>
              <a:rPr sz="2400" dirty="0">
                <a:latin typeface="Arial MT"/>
                <a:cs typeface="Arial MT"/>
              </a:rPr>
              <a:t>low</a:t>
            </a:r>
            <a:r>
              <a:rPr sz="2400" spc="-90" dirty="0">
                <a:latin typeface="Arial MT"/>
                <a:cs typeface="Arial MT"/>
              </a:rPr>
              <a:t> </a:t>
            </a:r>
            <a:r>
              <a:rPr sz="2400" dirty="0">
                <a:latin typeface="Arial MT"/>
                <a:cs typeface="Arial MT"/>
              </a:rPr>
              <a:t>level</a:t>
            </a:r>
            <a:r>
              <a:rPr sz="2400" spc="-95" dirty="0">
                <a:latin typeface="Arial MT"/>
                <a:cs typeface="Arial MT"/>
              </a:rPr>
              <a:t> </a:t>
            </a:r>
            <a:r>
              <a:rPr sz="2400" spc="-10" dirty="0">
                <a:latin typeface="Arial MT"/>
                <a:cs typeface="Arial MT"/>
              </a:rPr>
              <a:t>implementations</a:t>
            </a:r>
            <a:endParaRPr sz="2400" dirty="0">
              <a:latin typeface="Arial MT"/>
              <a:cs typeface="Arial M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795020">
              <a:lnSpc>
                <a:spcPct val="100000"/>
              </a:lnSpc>
              <a:spcBef>
                <a:spcPts val="100"/>
              </a:spcBef>
            </a:pPr>
            <a:r>
              <a:rPr b="1" dirty="0">
                <a:solidFill>
                  <a:srgbClr val="C00000"/>
                </a:solidFill>
              </a:rPr>
              <a:t>Gen</a:t>
            </a:r>
            <a:r>
              <a:rPr b="1" spc="-85" dirty="0">
                <a:solidFill>
                  <a:srgbClr val="C00000"/>
                </a:solidFill>
              </a:rPr>
              <a:t> </a:t>
            </a:r>
            <a:r>
              <a:rPr b="1" dirty="0">
                <a:solidFill>
                  <a:srgbClr val="C00000"/>
                </a:solidFill>
              </a:rPr>
              <a:t>1:</a:t>
            </a:r>
            <a:r>
              <a:rPr b="1" spc="-80" dirty="0">
                <a:solidFill>
                  <a:srgbClr val="C00000"/>
                </a:solidFill>
              </a:rPr>
              <a:t> </a:t>
            </a:r>
            <a:r>
              <a:rPr b="1" spc="-65" dirty="0">
                <a:solidFill>
                  <a:srgbClr val="C00000"/>
                </a:solidFill>
              </a:rPr>
              <a:t>Vacuum</a:t>
            </a:r>
            <a:r>
              <a:rPr b="1" spc="-165" dirty="0">
                <a:solidFill>
                  <a:srgbClr val="C00000"/>
                </a:solidFill>
              </a:rPr>
              <a:t> </a:t>
            </a:r>
            <a:r>
              <a:rPr b="1" spc="-10" dirty="0">
                <a:solidFill>
                  <a:srgbClr val="C00000"/>
                </a:solidFill>
              </a:rPr>
              <a:t>Tubes</a:t>
            </a:r>
          </a:p>
        </p:txBody>
      </p:sp>
      <p:sp>
        <p:nvSpPr>
          <p:cNvPr id="4" name="object 4"/>
          <p:cNvSpPr txBox="1"/>
          <p:nvPr/>
        </p:nvSpPr>
        <p:spPr>
          <a:xfrm>
            <a:off x="2059941" y="1621790"/>
            <a:ext cx="114935" cy="330200"/>
          </a:xfrm>
          <a:prstGeom prst="rect">
            <a:avLst/>
          </a:prstGeom>
        </p:spPr>
        <p:txBody>
          <a:bodyPr vert="horz" wrap="square" lIns="0" tIns="12700" rIns="0" bIns="0" rtlCol="0">
            <a:spAutoFit/>
          </a:bodyPr>
          <a:lstStyle/>
          <a:p>
            <a:pPr marL="12700">
              <a:spcBef>
                <a:spcPts val="100"/>
              </a:spcBef>
            </a:pPr>
            <a:r>
              <a:rPr sz="2000" spc="-50" dirty="0">
                <a:solidFill>
                  <a:srgbClr val="0000CC"/>
                </a:solidFill>
                <a:latin typeface="Arial MT"/>
                <a:cs typeface="Arial MT"/>
              </a:rPr>
              <a:t>•</a:t>
            </a:r>
            <a:endParaRPr sz="2000">
              <a:latin typeface="Arial MT"/>
              <a:cs typeface="Arial MT"/>
            </a:endParaRPr>
          </a:p>
        </p:txBody>
      </p:sp>
      <p:sp>
        <p:nvSpPr>
          <p:cNvPr id="5" name="object 5"/>
          <p:cNvSpPr txBox="1"/>
          <p:nvPr/>
        </p:nvSpPr>
        <p:spPr>
          <a:xfrm>
            <a:off x="2402840" y="1635759"/>
            <a:ext cx="1130935" cy="330200"/>
          </a:xfrm>
          <a:prstGeom prst="rect">
            <a:avLst/>
          </a:prstGeom>
        </p:spPr>
        <p:txBody>
          <a:bodyPr vert="horz" wrap="square" lIns="0" tIns="12700" rIns="0" bIns="0" rtlCol="0">
            <a:spAutoFit/>
          </a:bodyPr>
          <a:lstStyle/>
          <a:p>
            <a:pPr marL="12700">
              <a:spcBef>
                <a:spcPts val="100"/>
              </a:spcBef>
            </a:pPr>
            <a:r>
              <a:rPr sz="2000" spc="-10" dirty="0">
                <a:solidFill>
                  <a:srgbClr val="0000CC"/>
                </a:solidFill>
                <a:latin typeface="Arial MT"/>
                <a:cs typeface="Arial MT"/>
              </a:rPr>
              <a:t>Hardware</a:t>
            </a:r>
            <a:endParaRPr sz="2000">
              <a:latin typeface="Arial MT"/>
              <a:cs typeface="Arial MT"/>
            </a:endParaRPr>
          </a:p>
        </p:txBody>
      </p:sp>
      <p:sp>
        <p:nvSpPr>
          <p:cNvPr id="6" name="object 6"/>
          <p:cNvSpPr txBox="1"/>
          <p:nvPr/>
        </p:nvSpPr>
        <p:spPr>
          <a:xfrm>
            <a:off x="2517140" y="1929129"/>
            <a:ext cx="153035" cy="688340"/>
          </a:xfrm>
          <a:prstGeom prst="rect">
            <a:avLst/>
          </a:prstGeom>
        </p:spPr>
        <p:txBody>
          <a:bodyPr vert="horz" wrap="square" lIns="0" tIns="69850" rIns="0" bIns="0" rtlCol="0">
            <a:spAutoFit/>
          </a:bodyPr>
          <a:lstStyle/>
          <a:p>
            <a:pPr marL="12700">
              <a:spcBef>
                <a:spcPts val="550"/>
              </a:spcBef>
            </a:pPr>
            <a:r>
              <a:rPr spc="-50" dirty="0">
                <a:latin typeface="Arial MT"/>
                <a:cs typeface="Arial MT"/>
              </a:rPr>
              <a:t>–</a:t>
            </a:r>
            <a:endParaRPr>
              <a:latin typeface="Arial MT"/>
              <a:cs typeface="Arial MT"/>
            </a:endParaRPr>
          </a:p>
          <a:p>
            <a:pPr marL="12700">
              <a:spcBef>
                <a:spcPts val="450"/>
              </a:spcBef>
            </a:pPr>
            <a:r>
              <a:rPr spc="-50" dirty="0">
                <a:latin typeface="Arial MT"/>
                <a:cs typeface="Arial MT"/>
              </a:rPr>
              <a:t>–</a:t>
            </a:r>
            <a:endParaRPr>
              <a:latin typeface="Arial MT"/>
              <a:cs typeface="Arial MT"/>
            </a:endParaRPr>
          </a:p>
        </p:txBody>
      </p:sp>
      <p:sp>
        <p:nvSpPr>
          <p:cNvPr id="7" name="object 7"/>
          <p:cNvSpPr txBox="1"/>
          <p:nvPr/>
        </p:nvSpPr>
        <p:spPr>
          <a:xfrm>
            <a:off x="2802889" y="1940560"/>
            <a:ext cx="3926840" cy="651973"/>
          </a:xfrm>
          <a:prstGeom prst="rect">
            <a:avLst/>
          </a:prstGeom>
        </p:spPr>
        <p:txBody>
          <a:bodyPr vert="horz" wrap="square" lIns="0" tIns="12700" rIns="0" bIns="0" rtlCol="0">
            <a:spAutoFit/>
          </a:bodyPr>
          <a:lstStyle/>
          <a:p>
            <a:pPr marL="12700" marR="5080">
              <a:lnSpc>
                <a:spcPct val="121300"/>
              </a:lnSpc>
              <a:spcBef>
                <a:spcPts val="100"/>
              </a:spcBef>
            </a:pPr>
            <a:r>
              <a:rPr spc="-20" dirty="0">
                <a:latin typeface="Arial MT"/>
                <a:cs typeface="Arial MT"/>
              </a:rPr>
              <a:t>Vacuum</a:t>
            </a:r>
            <a:r>
              <a:rPr spc="-30" dirty="0">
                <a:latin typeface="Arial MT"/>
                <a:cs typeface="Arial MT"/>
              </a:rPr>
              <a:t> </a:t>
            </a:r>
            <a:r>
              <a:rPr dirty="0">
                <a:latin typeface="Arial MT"/>
                <a:cs typeface="Arial MT"/>
              </a:rPr>
              <a:t>tubes</a:t>
            </a:r>
            <a:r>
              <a:rPr spc="-35" dirty="0">
                <a:latin typeface="Arial MT"/>
                <a:cs typeface="Arial MT"/>
              </a:rPr>
              <a:t> </a:t>
            </a:r>
            <a:r>
              <a:rPr dirty="0">
                <a:latin typeface="Arial MT"/>
                <a:cs typeface="Arial MT"/>
              </a:rPr>
              <a:t>and</a:t>
            </a:r>
            <a:r>
              <a:rPr spc="-35" dirty="0">
                <a:latin typeface="Arial MT"/>
                <a:cs typeface="Arial MT"/>
              </a:rPr>
              <a:t> </a:t>
            </a:r>
            <a:r>
              <a:rPr dirty="0">
                <a:latin typeface="Arial MT"/>
                <a:cs typeface="Arial MT"/>
              </a:rPr>
              <a:t>IO</a:t>
            </a:r>
            <a:r>
              <a:rPr spc="-25" dirty="0">
                <a:latin typeface="Arial MT"/>
                <a:cs typeface="Arial MT"/>
              </a:rPr>
              <a:t> </a:t>
            </a:r>
            <a:r>
              <a:rPr dirty="0">
                <a:latin typeface="Arial MT"/>
                <a:cs typeface="Arial MT"/>
              </a:rPr>
              <a:t>with</a:t>
            </a:r>
            <a:r>
              <a:rPr spc="-35" dirty="0">
                <a:latin typeface="Arial MT"/>
                <a:cs typeface="Arial MT"/>
              </a:rPr>
              <a:t> </a:t>
            </a:r>
            <a:r>
              <a:rPr spc="-10" dirty="0">
                <a:latin typeface="Arial MT"/>
                <a:cs typeface="Arial MT"/>
              </a:rPr>
              <a:t>punchcards </a:t>
            </a:r>
            <a:r>
              <a:rPr dirty="0">
                <a:latin typeface="Arial MT"/>
                <a:cs typeface="Arial MT"/>
              </a:rPr>
              <a:t>Expensive</a:t>
            </a:r>
            <a:r>
              <a:rPr spc="-40" dirty="0">
                <a:latin typeface="Arial MT"/>
                <a:cs typeface="Arial MT"/>
              </a:rPr>
              <a:t> </a:t>
            </a:r>
            <a:r>
              <a:rPr dirty="0">
                <a:latin typeface="Arial MT"/>
                <a:cs typeface="Arial MT"/>
              </a:rPr>
              <a:t>and</a:t>
            </a:r>
            <a:r>
              <a:rPr spc="-40" dirty="0">
                <a:latin typeface="Arial MT"/>
                <a:cs typeface="Arial MT"/>
              </a:rPr>
              <a:t> </a:t>
            </a:r>
            <a:r>
              <a:rPr spc="-20" dirty="0">
                <a:latin typeface="Arial MT"/>
                <a:cs typeface="Arial MT"/>
              </a:rPr>
              <a:t>slow</a:t>
            </a:r>
            <a:endParaRPr>
              <a:latin typeface="Arial MT"/>
              <a:cs typeface="Arial MT"/>
            </a:endParaRPr>
          </a:p>
        </p:txBody>
      </p:sp>
      <p:sp>
        <p:nvSpPr>
          <p:cNvPr id="8" name="object 8"/>
          <p:cNvSpPr txBox="1"/>
          <p:nvPr/>
        </p:nvSpPr>
        <p:spPr>
          <a:xfrm>
            <a:off x="2059941" y="2656840"/>
            <a:ext cx="114935" cy="330200"/>
          </a:xfrm>
          <a:prstGeom prst="rect">
            <a:avLst/>
          </a:prstGeom>
        </p:spPr>
        <p:txBody>
          <a:bodyPr vert="horz" wrap="square" lIns="0" tIns="12700" rIns="0" bIns="0" rtlCol="0">
            <a:spAutoFit/>
          </a:bodyPr>
          <a:lstStyle/>
          <a:p>
            <a:pPr marL="12700">
              <a:spcBef>
                <a:spcPts val="100"/>
              </a:spcBef>
            </a:pPr>
            <a:r>
              <a:rPr sz="2000" spc="-50" dirty="0">
                <a:solidFill>
                  <a:srgbClr val="0000CC"/>
                </a:solidFill>
                <a:latin typeface="Arial MT"/>
                <a:cs typeface="Arial MT"/>
              </a:rPr>
              <a:t>•</a:t>
            </a:r>
            <a:endParaRPr sz="2000">
              <a:latin typeface="Arial MT"/>
              <a:cs typeface="Arial MT"/>
            </a:endParaRPr>
          </a:p>
        </p:txBody>
      </p:sp>
      <p:sp>
        <p:nvSpPr>
          <p:cNvPr id="9" name="object 9"/>
          <p:cNvSpPr txBox="1"/>
          <p:nvPr/>
        </p:nvSpPr>
        <p:spPr>
          <a:xfrm>
            <a:off x="2402840" y="2605899"/>
            <a:ext cx="7003415" cy="1003935"/>
          </a:xfrm>
          <a:prstGeom prst="rect">
            <a:avLst/>
          </a:prstGeom>
        </p:spPr>
        <p:txBody>
          <a:bodyPr vert="horz" wrap="square" lIns="0" tIns="77470" rIns="0" bIns="0" rtlCol="0">
            <a:spAutoFit/>
          </a:bodyPr>
          <a:lstStyle/>
          <a:p>
            <a:pPr marL="12700">
              <a:spcBef>
                <a:spcPts val="610"/>
              </a:spcBef>
            </a:pPr>
            <a:r>
              <a:rPr sz="2000" spc="-10" dirty="0">
                <a:solidFill>
                  <a:srgbClr val="0000CC"/>
                </a:solidFill>
                <a:latin typeface="Arial MT"/>
                <a:cs typeface="Arial MT"/>
              </a:rPr>
              <a:t>User</a:t>
            </a:r>
            <a:r>
              <a:rPr sz="2000" spc="-105" dirty="0">
                <a:solidFill>
                  <a:srgbClr val="0000CC"/>
                </a:solidFill>
                <a:latin typeface="Arial MT"/>
                <a:cs typeface="Arial MT"/>
              </a:rPr>
              <a:t> </a:t>
            </a:r>
            <a:r>
              <a:rPr sz="2000" spc="-20" dirty="0">
                <a:solidFill>
                  <a:srgbClr val="0000CC"/>
                </a:solidFill>
                <a:latin typeface="Arial MT"/>
                <a:cs typeface="Arial MT"/>
              </a:rPr>
              <a:t>Apps</a:t>
            </a:r>
            <a:endParaRPr sz="2000">
              <a:latin typeface="Arial MT"/>
              <a:cs typeface="Arial MT"/>
            </a:endParaRPr>
          </a:p>
          <a:p>
            <a:pPr marL="412750" marR="5080" indent="-285750">
              <a:lnSpc>
                <a:spcPct val="100499"/>
              </a:lnSpc>
              <a:spcBef>
                <a:spcPts val="450"/>
              </a:spcBef>
              <a:tabLst>
                <a:tab pos="412115" algn="l"/>
              </a:tabLst>
            </a:pPr>
            <a:r>
              <a:rPr sz="2700" spc="-75" baseline="3086" dirty="0">
                <a:latin typeface="Arial MT"/>
                <a:cs typeface="Arial MT"/>
              </a:rPr>
              <a:t>–</a:t>
            </a:r>
            <a:r>
              <a:rPr sz="2700" baseline="3086" dirty="0">
                <a:latin typeface="Arial MT"/>
                <a:cs typeface="Arial MT"/>
              </a:rPr>
              <a:t>	</a:t>
            </a:r>
            <a:r>
              <a:rPr dirty="0">
                <a:latin typeface="Arial MT"/>
                <a:cs typeface="Arial MT"/>
              </a:rPr>
              <a:t>Generally</a:t>
            </a:r>
            <a:r>
              <a:rPr spc="-65" dirty="0">
                <a:latin typeface="Arial MT"/>
                <a:cs typeface="Arial MT"/>
              </a:rPr>
              <a:t> </a:t>
            </a:r>
            <a:r>
              <a:rPr dirty="0">
                <a:latin typeface="Arial MT"/>
                <a:cs typeface="Arial MT"/>
              </a:rPr>
              <a:t>straightforward</a:t>
            </a:r>
            <a:r>
              <a:rPr spc="-65" dirty="0">
                <a:latin typeface="Arial MT"/>
                <a:cs typeface="Arial MT"/>
              </a:rPr>
              <a:t> </a:t>
            </a:r>
            <a:r>
              <a:rPr dirty="0">
                <a:latin typeface="Arial MT"/>
                <a:cs typeface="Arial MT"/>
              </a:rPr>
              <a:t>numeric</a:t>
            </a:r>
            <a:r>
              <a:rPr spc="-65" dirty="0">
                <a:latin typeface="Arial MT"/>
                <a:cs typeface="Arial MT"/>
              </a:rPr>
              <a:t> </a:t>
            </a:r>
            <a:r>
              <a:rPr dirty="0">
                <a:latin typeface="Arial MT"/>
                <a:cs typeface="Arial MT"/>
              </a:rPr>
              <a:t>computations</a:t>
            </a:r>
            <a:r>
              <a:rPr spc="-50" dirty="0">
                <a:latin typeface="Arial MT"/>
                <a:cs typeface="Arial MT"/>
              </a:rPr>
              <a:t> </a:t>
            </a:r>
            <a:r>
              <a:rPr dirty="0">
                <a:latin typeface="Arial MT"/>
                <a:cs typeface="Arial MT"/>
              </a:rPr>
              <a:t>done</a:t>
            </a:r>
            <a:r>
              <a:rPr spc="-55" dirty="0">
                <a:latin typeface="Arial MT"/>
                <a:cs typeface="Arial MT"/>
              </a:rPr>
              <a:t> </a:t>
            </a:r>
            <a:r>
              <a:rPr dirty="0">
                <a:latin typeface="Arial MT"/>
                <a:cs typeface="Arial MT"/>
              </a:rPr>
              <a:t>in</a:t>
            </a:r>
            <a:r>
              <a:rPr spc="-65" dirty="0">
                <a:latin typeface="Arial MT"/>
                <a:cs typeface="Arial MT"/>
              </a:rPr>
              <a:t> </a:t>
            </a:r>
            <a:r>
              <a:rPr spc="-10" dirty="0">
                <a:latin typeface="Arial MT"/>
                <a:cs typeface="Arial MT"/>
              </a:rPr>
              <a:t>machine language</a:t>
            </a:r>
            <a:endParaRPr>
              <a:latin typeface="Arial MT"/>
              <a:cs typeface="Arial MT"/>
            </a:endParaRPr>
          </a:p>
        </p:txBody>
      </p:sp>
      <p:pic>
        <p:nvPicPr>
          <p:cNvPr id="10" name="object 10"/>
          <p:cNvPicPr/>
          <p:nvPr/>
        </p:nvPicPr>
        <p:blipFill>
          <a:blip r:embed="rId2" cstate="print"/>
          <a:stretch>
            <a:fillRect/>
          </a:stretch>
        </p:blipFill>
        <p:spPr>
          <a:xfrm>
            <a:off x="5867400" y="3351529"/>
            <a:ext cx="4572000" cy="3110230"/>
          </a:xfrm>
          <a:prstGeom prst="rect">
            <a:avLst/>
          </a:prstGeom>
        </p:spPr>
      </p:pic>
      <p:sp>
        <p:nvSpPr>
          <p:cNvPr id="11" name="object 11"/>
          <p:cNvSpPr txBox="1"/>
          <p:nvPr/>
        </p:nvSpPr>
        <p:spPr>
          <a:xfrm>
            <a:off x="6766559" y="6511290"/>
            <a:ext cx="723900" cy="299720"/>
          </a:xfrm>
          <a:prstGeom prst="rect">
            <a:avLst/>
          </a:prstGeom>
        </p:spPr>
        <p:txBody>
          <a:bodyPr vert="horz" wrap="square" lIns="0" tIns="12700" rIns="0" bIns="0" rtlCol="0">
            <a:spAutoFit/>
          </a:bodyPr>
          <a:lstStyle/>
          <a:p>
            <a:pPr marL="12700">
              <a:spcBef>
                <a:spcPts val="100"/>
              </a:spcBef>
            </a:pPr>
            <a:r>
              <a:rPr spc="-10" dirty="0">
                <a:latin typeface="Arial MT"/>
                <a:cs typeface="Arial MT"/>
              </a:rPr>
              <a:t>ENIAC</a:t>
            </a:r>
            <a:endParaRPr>
              <a:latin typeface="Arial MT"/>
              <a:cs typeface="Arial MT"/>
            </a:endParaRPr>
          </a:p>
        </p:txBody>
      </p:sp>
      <p:pic>
        <p:nvPicPr>
          <p:cNvPr id="12" name="object 12"/>
          <p:cNvPicPr/>
          <p:nvPr/>
        </p:nvPicPr>
        <p:blipFill>
          <a:blip r:embed="rId3" cstate="print"/>
          <a:stretch>
            <a:fillRect/>
          </a:stretch>
        </p:blipFill>
        <p:spPr>
          <a:xfrm>
            <a:off x="1905000" y="4267200"/>
            <a:ext cx="3690620" cy="1690370"/>
          </a:xfrm>
          <a:prstGeom prst="rect">
            <a:avLst/>
          </a:prstGeom>
        </p:spPr>
      </p:pic>
      <p:sp>
        <p:nvSpPr>
          <p:cNvPr id="13" name="object 13"/>
          <p:cNvSpPr txBox="1"/>
          <p:nvPr/>
        </p:nvSpPr>
        <p:spPr>
          <a:xfrm>
            <a:off x="2973069" y="5915659"/>
            <a:ext cx="1649730" cy="299720"/>
          </a:xfrm>
          <a:prstGeom prst="rect">
            <a:avLst/>
          </a:prstGeom>
        </p:spPr>
        <p:txBody>
          <a:bodyPr vert="horz" wrap="square" lIns="0" tIns="12700" rIns="0" bIns="0" rtlCol="0">
            <a:spAutoFit/>
          </a:bodyPr>
          <a:lstStyle/>
          <a:p>
            <a:pPr marL="12700">
              <a:spcBef>
                <a:spcPts val="100"/>
              </a:spcBef>
            </a:pPr>
            <a:r>
              <a:rPr dirty="0">
                <a:latin typeface="Arial MT"/>
                <a:cs typeface="Arial MT"/>
              </a:rPr>
              <a:t>IBM</a:t>
            </a:r>
            <a:r>
              <a:rPr spc="-15" dirty="0">
                <a:latin typeface="Arial MT"/>
                <a:cs typeface="Arial MT"/>
              </a:rPr>
              <a:t> </a:t>
            </a:r>
            <a:r>
              <a:rPr dirty="0">
                <a:latin typeface="Arial MT"/>
                <a:cs typeface="Arial MT"/>
              </a:rPr>
              <a:t>Punch</a:t>
            </a:r>
            <a:r>
              <a:rPr spc="-15" dirty="0">
                <a:latin typeface="Arial MT"/>
                <a:cs typeface="Arial MT"/>
              </a:rPr>
              <a:t> </a:t>
            </a:r>
            <a:r>
              <a:rPr spc="-20" dirty="0">
                <a:latin typeface="Arial MT"/>
                <a:cs typeface="Arial MT"/>
              </a:rPr>
              <a:t>card</a:t>
            </a:r>
            <a:endParaRPr>
              <a:latin typeface="Arial MT"/>
              <a:cs typeface="Arial M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6317" y="594672"/>
            <a:ext cx="10515600" cy="689932"/>
          </a:xfrm>
          <a:prstGeom prst="rect">
            <a:avLst/>
          </a:prstGeom>
        </p:spPr>
        <p:txBody>
          <a:bodyPr vert="horz" wrap="square" lIns="0" tIns="12700" rIns="0" bIns="0" rtlCol="0" anchor="ctr">
            <a:spAutoFit/>
          </a:bodyPr>
          <a:lstStyle/>
          <a:p>
            <a:pPr marL="795020" algn="ctr">
              <a:lnSpc>
                <a:spcPct val="100000"/>
              </a:lnSpc>
              <a:spcBef>
                <a:spcPts val="100"/>
              </a:spcBef>
            </a:pPr>
            <a:r>
              <a:rPr b="1" dirty="0">
                <a:solidFill>
                  <a:srgbClr val="C00000"/>
                </a:solidFill>
              </a:rPr>
              <a:t>Gen 1 : OS</a:t>
            </a:r>
          </a:p>
        </p:txBody>
      </p:sp>
      <p:sp>
        <p:nvSpPr>
          <p:cNvPr id="3" name="object 3"/>
          <p:cNvSpPr txBox="1"/>
          <p:nvPr/>
        </p:nvSpPr>
        <p:spPr>
          <a:xfrm>
            <a:off x="2059940" y="1531619"/>
            <a:ext cx="7671434" cy="1209040"/>
          </a:xfrm>
          <a:prstGeom prst="rect">
            <a:avLst/>
          </a:prstGeom>
        </p:spPr>
        <p:txBody>
          <a:bodyPr vert="horz" wrap="square" lIns="0" tIns="116839" rIns="0" bIns="0" rtlCol="0">
            <a:spAutoFit/>
          </a:bodyPr>
          <a:lstStyle/>
          <a:p>
            <a:pPr marL="354965" indent="-342265">
              <a:spcBef>
                <a:spcPts val="919"/>
              </a:spcBef>
              <a:buChar char="•"/>
              <a:tabLst>
                <a:tab pos="354965" algn="l"/>
              </a:tabLst>
            </a:pPr>
            <a:r>
              <a:rPr sz="3200" dirty="0">
                <a:latin typeface="Arial MT"/>
                <a:cs typeface="Arial MT"/>
              </a:rPr>
              <a:t>OS:</a:t>
            </a:r>
            <a:r>
              <a:rPr sz="3200" spc="-25" dirty="0">
                <a:latin typeface="Arial MT"/>
                <a:cs typeface="Arial MT"/>
              </a:rPr>
              <a:t> </a:t>
            </a:r>
            <a:r>
              <a:rPr sz="3200" dirty="0">
                <a:latin typeface="Arial MT"/>
                <a:cs typeface="Arial MT"/>
              </a:rPr>
              <a:t>Unheard</a:t>
            </a:r>
            <a:r>
              <a:rPr sz="3200" spc="-15" dirty="0">
                <a:latin typeface="Arial MT"/>
                <a:cs typeface="Arial MT"/>
              </a:rPr>
              <a:t> </a:t>
            </a:r>
            <a:r>
              <a:rPr sz="3200" spc="-25" dirty="0">
                <a:latin typeface="Arial MT"/>
                <a:cs typeface="Arial MT"/>
              </a:rPr>
              <a:t>of</a:t>
            </a:r>
            <a:endParaRPr sz="3200">
              <a:latin typeface="Arial MT"/>
              <a:cs typeface="Arial MT"/>
            </a:endParaRPr>
          </a:p>
          <a:p>
            <a:pPr marL="354965" indent="-342265">
              <a:spcBef>
                <a:spcPts val="819"/>
              </a:spcBef>
              <a:buChar char="•"/>
              <a:tabLst>
                <a:tab pos="354965" algn="l"/>
                <a:tab pos="6526530" algn="l"/>
              </a:tabLst>
            </a:pPr>
            <a:r>
              <a:rPr sz="3200" dirty="0">
                <a:latin typeface="Arial MT"/>
                <a:cs typeface="Arial MT"/>
              </a:rPr>
              <a:t>Human feeds program</a:t>
            </a:r>
            <a:r>
              <a:rPr sz="3200" spc="-10" dirty="0">
                <a:latin typeface="Arial MT"/>
                <a:cs typeface="Arial MT"/>
              </a:rPr>
              <a:t> </a:t>
            </a:r>
            <a:r>
              <a:rPr sz="3200" dirty="0">
                <a:latin typeface="Arial MT"/>
                <a:cs typeface="Arial MT"/>
              </a:rPr>
              <a:t>and </a:t>
            </a:r>
            <a:r>
              <a:rPr sz="3200" spc="-10" dirty="0">
                <a:latin typeface="Arial MT"/>
                <a:cs typeface="Arial MT"/>
              </a:rPr>
              <a:t>prints</a:t>
            </a:r>
            <a:r>
              <a:rPr sz="3200" dirty="0">
                <a:latin typeface="Arial MT"/>
                <a:cs typeface="Arial MT"/>
              </a:rPr>
              <a:t>	</a:t>
            </a:r>
            <a:r>
              <a:rPr sz="3200" spc="-10" dirty="0">
                <a:latin typeface="Arial MT"/>
                <a:cs typeface="Arial MT"/>
              </a:rPr>
              <a:t>output</a:t>
            </a:r>
            <a:endParaRPr sz="3200">
              <a:latin typeface="Arial MT"/>
              <a:cs typeface="Arial MT"/>
            </a:endParaRPr>
          </a:p>
        </p:txBody>
      </p:sp>
      <p:grpSp>
        <p:nvGrpSpPr>
          <p:cNvPr id="4" name="object 4"/>
          <p:cNvGrpSpPr/>
          <p:nvPr/>
        </p:nvGrpSpPr>
        <p:grpSpPr>
          <a:xfrm>
            <a:off x="2733447" y="3495448"/>
            <a:ext cx="6877684" cy="1472565"/>
            <a:chOff x="1209447" y="3495447"/>
            <a:chExt cx="6877684" cy="1472565"/>
          </a:xfrm>
        </p:grpSpPr>
        <p:pic>
          <p:nvPicPr>
            <p:cNvPr id="5" name="object 5"/>
            <p:cNvPicPr/>
            <p:nvPr/>
          </p:nvPicPr>
          <p:blipFill>
            <a:blip r:embed="rId2" cstate="print"/>
            <a:stretch>
              <a:fillRect/>
            </a:stretch>
          </p:blipFill>
          <p:spPr>
            <a:xfrm>
              <a:off x="1309042" y="3610046"/>
              <a:ext cx="6663340" cy="1258164"/>
            </a:xfrm>
            <a:prstGeom prst="rect">
              <a:avLst/>
            </a:prstGeom>
          </p:spPr>
        </p:pic>
        <p:sp>
          <p:nvSpPr>
            <p:cNvPr id="6" name="object 6"/>
            <p:cNvSpPr/>
            <p:nvPr/>
          </p:nvSpPr>
          <p:spPr>
            <a:xfrm>
              <a:off x="1214120" y="3500119"/>
              <a:ext cx="6868159" cy="1463040"/>
            </a:xfrm>
            <a:custGeom>
              <a:avLst/>
              <a:gdLst/>
              <a:ahLst/>
              <a:cxnLst/>
              <a:rect l="l" t="t" r="r" b="b"/>
              <a:pathLst>
                <a:path w="6868159" h="1463039">
                  <a:moveTo>
                    <a:pt x="0" y="0"/>
                  </a:moveTo>
                  <a:lnTo>
                    <a:pt x="6868159" y="0"/>
                  </a:lnTo>
                  <a:lnTo>
                    <a:pt x="6868159" y="1463039"/>
                  </a:lnTo>
                  <a:lnTo>
                    <a:pt x="0" y="1463039"/>
                  </a:lnTo>
                  <a:lnTo>
                    <a:pt x="0" y="0"/>
                  </a:lnTo>
                  <a:close/>
                </a:path>
              </a:pathLst>
            </a:custGeom>
            <a:ln w="9344">
              <a:solidFill>
                <a:srgbClr val="BADFE2"/>
              </a:solidFill>
            </a:ln>
          </p:spPr>
          <p:txBody>
            <a:bodyPr wrap="square" lIns="0" tIns="0" rIns="0" bIns="0" rtlCol="0"/>
            <a:lstStyle/>
            <a:p>
              <a:endParaRPr/>
            </a:p>
          </p:txBody>
        </p:sp>
      </p:grpSp>
      <p:sp>
        <p:nvSpPr>
          <p:cNvPr id="7" name="object 7"/>
          <p:cNvSpPr txBox="1"/>
          <p:nvPr/>
        </p:nvSpPr>
        <p:spPr>
          <a:xfrm>
            <a:off x="2896869" y="3234690"/>
            <a:ext cx="4258310" cy="299720"/>
          </a:xfrm>
          <a:prstGeom prst="rect">
            <a:avLst/>
          </a:prstGeom>
        </p:spPr>
        <p:txBody>
          <a:bodyPr vert="horz" wrap="square" lIns="0" tIns="12700" rIns="0" bIns="0" rtlCol="0">
            <a:spAutoFit/>
          </a:bodyPr>
          <a:lstStyle/>
          <a:p>
            <a:pPr marL="12700">
              <a:spcBef>
                <a:spcPts val="100"/>
              </a:spcBef>
            </a:pPr>
            <a:r>
              <a:rPr dirty="0">
                <a:latin typeface="Arial MT"/>
                <a:cs typeface="Arial MT"/>
              </a:rPr>
              <a:t>George</a:t>
            </a:r>
            <a:r>
              <a:rPr spc="-45" dirty="0">
                <a:latin typeface="Arial MT"/>
                <a:cs typeface="Arial MT"/>
              </a:rPr>
              <a:t> </a:t>
            </a:r>
            <a:r>
              <a:rPr dirty="0">
                <a:latin typeface="Arial MT"/>
                <a:cs typeface="Arial MT"/>
              </a:rPr>
              <a:t>Ryckman,</a:t>
            </a:r>
            <a:r>
              <a:rPr spc="-40" dirty="0">
                <a:latin typeface="Arial MT"/>
                <a:cs typeface="Arial MT"/>
              </a:rPr>
              <a:t> </a:t>
            </a:r>
            <a:r>
              <a:rPr dirty="0">
                <a:latin typeface="Arial MT"/>
                <a:cs typeface="Arial MT"/>
              </a:rPr>
              <a:t>on</a:t>
            </a:r>
            <a:r>
              <a:rPr spc="-40" dirty="0">
                <a:latin typeface="Arial MT"/>
                <a:cs typeface="Arial MT"/>
              </a:rPr>
              <a:t> </a:t>
            </a:r>
            <a:r>
              <a:rPr dirty="0">
                <a:latin typeface="Arial MT"/>
                <a:cs typeface="Arial MT"/>
              </a:rPr>
              <a:t>IBM’s</a:t>
            </a:r>
            <a:r>
              <a:rPr spc="-30" dirty="0">
                <a:latin typeface="Arial MT"/>
                <a:cs typeface="Arial MT"/>
              </a:rPr>
              <a:t> </a:t>
            </a:r>
            <a:r>
              <a:rPr dirty="0">
                <a:latin typeface="Arial MT"/>
                <a:cs typeface="Arial MT"/>
              </a:rPr>
              <a:t>first</a:t>
            </a:r>
            <a:r>
              <a:rPr spc="-30" dirty="0">
                <a:latin typeface="Arial MT"/>
                <a:cs typeface="Arial MT"/>
              </a:rPr>
              <a:t> </a:t>
            </a:r>
            <a:r>
              <a:rPr spc="-10" dirty="0">
                <a:latin typeface="Arial MT"/>
                <a:cs typeface="Arial MT"/>
              </a:rPr>
              <a:t>computer</a:t>
            </a:r>
            <a:endParaRPr>
              <a:latin typeface="Arial MT"/>
              <a:cs typeface="Arial MT"/>
            </a:endParaRPr>
          </a:p>
        </p:txBody>
      </p:sp>
      <p:sp>
        <p:nvSpPr>
          <p:cNvPr id="8" name="object 8"/>
          <p:cNvSpPr txBox="1"/>
          <p:nvPr/>
        </p:nvSpPr>
        <p:spPr>
          <a:xfrm>
            <a:off x="2895600" y="5073650"/>
            <a:ext cx="6757034" cy="299720"/>
          </a:xfrm>
          <a:prstGeom prst="rect">
            <a:avLst/>
          </a:prstGeom>
        </p:spPr>
        <p:txBody>
          <a:bodyPr vert="horz" wrap="square" lIns="0" tIns="12700" rIns="0" bIns="0" rtlCol="0">
            <a:spAutoFit/>
          </a:bodyPr>
          <a:lstStyle/>
          <a:p>
            <a:pPr marL="12700">
              <a:spcBef>
                <a:spcPts val="100"/>
              </a:spcBef>
            </a:pPr>
            <a:r>
              <a:rPr dirty="0">
                <a:latin typeface="Arial MT"/>
                <a:cs typeface="Arial MT"/>
              </a:rPr>
              <a:t>The</a:t>
            </a:r>
            <a:r>
              <a:rPr spc="-40" dirty="0">
                <a:latin typeface="Arial MT"/>
                <a:cs typeface="Arial MT"/>
              </a:rPr>
              <a:t> </a:t>
            </a:r>
            <a:r>
              <a:rPr dirty="0">
                <a:latin typeface="Arial MT"/>
                <a:cs typeface="Arial MT"/>
              </a:rPr>
              <a:t>cost</a:t>
            </a:r>
            <a:r>
              <a:rPr spc="-15" dirty="0">
                <a:latin typeface="Arial MT"/>
                <a:cs typeface="Arial MT"/>
              </a:rPr>
              <a:t> </a:t>
            </a:r>
            <a:r>
              <a:rPr dirty="0">
                <a:latin typeface="Arial MT"/>
                <a:cs typeface="Arial MT"/>
              </a:rPr>
              <a:t>of</a:t>
            </a:r>
            <a:r>
              <a:rPr spc="-15" dirty="0">
                <a:latin typeface="Arial MT"/>
                <a:cs typeface="Arial MT"/>
              </a:rPr>
              <a:t> </a:t>
            </a:r>
            <a:r>
              <a:rPr dirty="0">
                <a:latin typeface="Arial MT"/>
                <a:cs typeface="Arial MT"/>
              </a:rPr>
              <a:t>wastage</a:t>
            </a:r>
            <a:r>
              <a:rPr spc="-30" dirty="0">
                <a:latin typeface="Arial MT"/>
                <a:cs typeface="Arial MT"/>
              </a:rPr>
              <a:t> </a:t>
            </a:r>
            <a:r>
              <a:rPr dirty="0">
                <a:latin typeface="Arial MT"/>
                <a:cs typeface="Arial MT"/>
              </a:rPr>
              <a:t>was</a:t>
            </a:r>
            <a:r>
              <a:rPr spc="-15" dirty="0">
                <a:latin typeface="Arial MT"/>
                <a:cs typeface="Arial MT"/>
              </a:rPr>
              <a:t> </a:t>
            </a:r>
            <a:r>
              <a:rPr dirty="0">
                <a:latin typeface="Arial MT"/>
                <a:cs typeface="Arial MT"/>
              </a:rPr>
              <a:t>$146,000</a:t>
            </a:r>
            <a:r>
              <a:rPr spc="-25" dirty="0">
                <a:latin typeface="Arial MT"/>
                <a:cs typeface="Arial MT"/>
              </a:rPr>
              <a:t> </a:t>
            </a:r>
            <a:r>
              <a:rPr dirty="0">
                <a:latin typeface="Arial MT"/>
                <a:cs typeface="Arial MT"/>
              </a:rPr>
              <a:t>per</a:t>
            </a:r>
            <a:r>
              <a:rPr spc="-30" dirty="0">
                <a:latin typeface="Arial MT"/>
                <a:cs typeface="Arial MT"/>
              </a:rPr>
              <a:t> </a:t>
            </a:r>
            <a:r>
              <a:rPr dirty="0">
                <a:latin typeface="Arial MT"/>
                <a:cs typeface="Arial MT"/>
              </a:rPr>
              <a:t>month</a:t>
            </a:r>
            <a:r>
              <a:rPr spc="-25" dirty="0">
                <a:latin typeface="Arial MT"/>
                <a:cs typeface="Arial MT"/>
              </a:rPr>
              <a:t> </a:t>
            </a:r>
            <a:r>
              <a:rPr dirty="0">
                <a:latin typeface="Arial MT"/>
                <a:cs typeface="Arial MT"/>
              </a:rPr>
              <a:t>(in</a:t>
            </a:r>
            <a:r>
              <a:rPr spc="-25" dirty="0">
                <a:latin typeface="Arial MT"/>
                <a:cs typeface="Arial MT"/>
              </a:rPr>
              <a:t> </a:t>
            </a:r>
            <a:r>
              <a:rPr dirty="0">
                <a:latin typeface="Arial MT"/>
                <a:cs typeface="Arial MT"/>
              </a:rPr>
              <a:t>1954</a:t>
            </a:r>
            <a:r>
              <a:rPr spc="-25" dirty="0">
                <a:latin typeface="Arial MT"/>
                <a:cs typeface="Arial MT"/>
              </a:rPr>
              <a:t> </a:t>
            </a:r>
            <a:r>
              <a:rPr dirty="0">
                <a:latin typeface="Arial MT"/>
                <a:cs typeface="Arial MT"/>
              </a:rPr>
              <a:t>US</a:t>
            </a:r>
            <a:r>
              <a:rPr spc="-30" dirty="0">
                <a:latin typeface="Arial MT"/>
                <a:cs typeface="Arial MT"/>
              </a:rPr>
              <a:t> </a:t>
            </a:r>
            <a:r>
              <a:rPr spc="-10" dirty="0">
                <a:latin typeface="Arial MT"/>
                <a:cs typeface="Arial MT"/>
              </a:rPr>
              <a:t>Dollars)</a:t>
            </a:r>
            <a:endParaRPr>
              <a:latin typeface="Arial MT"/>
              <a:cs typeface="Arial M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2430" y="245618"/>
            <a:ext cx="8087139" cy="689932"/>
          </a:xfrm>
          <a:prstGeom prst="rect">
            <a:avLst/>
          </a:prstGeom>
        </p:spPr>
        <p:txBody>
          <a:bodyPr vert="horz" wrap="square" lIns="0" tIns="12700" rIns="0" bIns="0" rtlCol="0" anchor="ctr">
            <a:spAutoFit/>
          </a:bodyPr>
          <a:lstStyle/>
          <a:p>
            <a:pPr marL="795020" algn="ctr">
              <a:lnSpc>
                <a:spcPct val="100000"/>
              </a:lnSpc>
              <a:spcBef>
                <a:spcPts val="100"/>
              </a:spcBef>
            </a:pPr>
            <a:r>
              <a:rPr b="1" dirty="0">
                <a:solidFill>
                  <a:srgbClr val="C00000"/>
                </a:solidFill>
              </a:rPr>
              <a:t>Gen 2 : Mainframes</a:t>
            </a:r>
          </a:p>
        </p:txBody>
      </p:sp>
      <p:sp>
        <p:nvSpPr>
          <p:cNvPr id="3" name="object 3"/>
          <p:cNvSpPr txBox="1"/>
          <p:nvPr/>
        </p:nvSpPr>
        <p:spPr>
          <a:xfrm>
            <a:off x="2059941" y="1582057"/>
            <a:ext cx="9061946" cy="3829253"/>
          </a:xfrm>
          <a:prstGeom prst="rect">
            <a:avLst/>
          </a:prstGeom>
        </p:spPr>
        <p:txBody>
          <a:bodyPr vert="horz" wrap="square" lIns="0" tIns="66040" rIns="0" bIns="0" rtlCol="0">
            <a:spAutoFit/>
          </a:bodyPr>
          <a:lstStyle/>
          <a:p>
            <a:pPr marL="354965" indent="-342265">
              <a:spcBef>
                <a:spcPts val="520"/>
              </a:spcBef>
              <a:buChar char="•"/>
              <a:tabLst>
                <a:tab pos="354965" algn="l"/>
              </a:tabLst>
            </a:pPr>
            <a:r>
              <a:rPr sz="3200" spc="-10" dirty="0">
                <a:solidFill>
                  <a:srgbClr val="0000CC"/>
                </a:solidFill>
                <a:latin typeface="Arial MT"/>
                <a:cs typeface="Arial MT"/>
              </a:rPr>
              <a:t>Hardware</a:t>
            </a:r>
            <a:endParaRPr sz="3200" dirty="0">
              <a:latin typeface="Arial MT"/>
              <a:cs typeface="Arial MT"/>
            </a:endParaRPr>
          </a:p>
          <a:p>
            <a:pPr marL="754380" lvl="1" indent="-284480">
              <a:spcBef>
                <a:spcPts val="370"/>
              </a:spcBef>
              <a:buChar char="–"/>
              <a:tabLst>
                <a:tab pos="754380" algn="l"/>
              </a:tabLst>
            </a:pPr>
            <a:r>
              <a:rPr sz="2800" spc="-10" dirty="0">
                <a:latin typeface="Arial MT"/>
                <a:cs typeface="Arial MT"/>
              </a:rPr>
              <a:t>transistors</a:t>
            </a:r>
            <a:endParaRPr sz="2800" dirty="0">
              <a:latin typeface="Arial MT"/>
              <a:cs typeface="Arial MT"/>
            </a:endParaRPr>
          </a:p>
          <a:p>
            <a:pPr marL="354965" indent="-342265">
              <a:spcBef>
                <a:spcPts val="430"/>
              </a:spcBef>
              <a:buChar char="•"/>
              <a:tabLst>
                <a:tab pos="354965" algn="l"/>
              </a:tabLst>
            </a:pPr>
            <a:r>
              <a:rPr sz="3200" dirty="0">
                <a:solidFill>
                  <a:srgbClr val="0000CC"/>
                </a:solidFill>
                <a:latin typeface="Arial MT"/>
                <a:cs typeface="Arial MT"/>
              </a:rPr>
              <a:t>User</a:t>
            </a:r>
            <a:r>
              <a:rPr sz="3200" spc="-35" dirty="0">
                <a:solidFill>
                  <a:srgbClr val="0000CC"/>
                </a:solidFill>
                <a:latin typeface="Arial MT"/>
                <a:cs typeface="Arial MT"/>
              </a:rPr>
              <a:t> </a:t>
            </a:r>
            <a:r>
              <a:rPr sz="3200" spc="-10" dirty="0">
                <a:solidFill>
                  <a:srgbClr val="0000CC"/>
                </a:solidFill>
                <a:latin typeface="Arial MT"/>
                <a:cs typeface="Arial MT"/>
              </a:rPr>
              <a:t>Programs</a:t>
            </a:r>
            <a:endParaRPr sz="3200" dirty="0">
              <a:latin typeface="Arial MT"/>
              <a:cs typeface="Arial MT"/>
            </a:endParaRPr>
          </a:p>
          <a:p>
            <a:pPr marL="754380" marR="74930" lvl="1" indent="-284480">
              <a:lnSpc>
                <a:spcPts val="3040"/>
              </a:lnSpc>
              <a:spcBef>
                <a:spcPts val="740"/>
              </a:spcBef>
              <a:buChar char="–"/>
              <a:tabLst>
                <a:tab pos="755650" algn="l"/>
              </a:tabLst>
            </a:pPr>
            <a:r>
              <a:rPr sz="2800" dirty="0">
                <a:latin typeface="Arial MT"/>
                <a:cs typeface="Arial MT"/>
              </a:rPr>
              <a:t>Assembly</a:t>
            </a:r>
            <a:r>
              <a:rPr sz="2800" spc="-80" dirty="0">
                <a:latin typeface="Arial MT"/>
                <a:cs typeface="Arial MT"/>
              </a:rPr>
              <a:t> </a:t>
            </a:r>
            <a:r>
              <a:rPr sz="2800" dirty="0">
                <a:latin typeface="Arial MT"/>
                <a:cs typeface="Arial MT"/>
              </a:rPr>
              <a:t>or</a:t>
            </a:r>
            <a:r>
              <a:rPr sz="2800" spc="-70" dirty="0">
                <a:latin typeface="Arial MT"/>
                <a:cs typeface="Arial MT"/>
              </a:rPr>
              <a:t> </a:t>
            </a:r>
            <a:r>
              <a:rPr sz="2800" dirty="0">
                <a:latin typeface="Arial MT"/>
                <a:cs typeface="Arial MT"/>
              </a:rPr>
              <a:t>Fortran</a:t>
            </a:r>
            <a:r>
              <a:rPr sz="2800" spc="-75" dirty="0">
                <a:latin typeface="Arial MT"/>
                <a:cs typeface="Arial MT"/>
              </a:rPr>
              <a:t> </a:t>
            </a:r>
            <a:r>
              <a:rPr sz="2800" dirty="0">
                <a:latin typeface="Arial MT"/>
                <a:cs typeface="Arial MT"/>
              </a:rPr>
              <a:t>entered</a:t>
            </a:r>
            <a:r>
              <a:rPr sz="2800" spc="-75" dirty="0">
                <a:latin typeface="Arial MT"/>
                <a:cs typeface="Arial MT"/>
              </a:rPr>
              <a:t> </a:t>
            </a:r>
            <a:r>
              <a:rPr sz="2800" dirty="0">
                <a:latin typeface="Arial MT"/>
                <a:cs typeface="Arial MT"/>
              </a:rPr>
              <a:t>using</a:t>
            </a:r>
            <a:r>
              <a:rPr sz="2800" spc="-75" dirty="0">
                <a:latin typeface="Arial MT"/>
                <a:cs typeface="Arial MT"/>
              </a:rPr>
              <a:t> </a:t>
            </a:r>
            <a:r>
              <a:rPr sz="2800" spc="-20" dirty="0">
                <a:latin typeface="Arial MT"/>
                <a:cs typeface="Arial MT"/>
              </a:rPr>
              <a:t>punch</a:t>
            </a:r>
            <a:r>
              <a:rPr lang="en-IN" sz="2800" spc="-20" dirty="0">
                <a:latin typeface="Arial MT"/>
                <a:cs typeface="Arial MT"/>
              </a:rPr>
              <a:t> </a:t>
            </a:r>
            <a:r>
              <a:rPr sz="2800" spc="-20" dirty="0">
                <a:latin typeface="Arial MT"/>
                <a:cs typeface="Arial MT"/>
              </a:rPr>
              <a:t>cards</a:t>
            </a:r>
            <a:endParaRPr sz="2800" dirty="0">
              <a:latin typeface="Arial MT"/>
              <a:cs typeface="Arial MT"/>
            </a:endParaRPr>
          </a:p>
          <a:p>
            <a:pPr marL="354965" indent="-342265">
              <a:spcBef>
                <a:spcPts val="370"/>
              </a:spcBef>
              <a:buChar char="•"/>
              <a:tabLst>
                <a:tab pos="354965" algn="l"/>
              </a:tabLst>
            </a:pPr>
            <a:r>
              <a:rPr sz="3200" dirty="0">
                <a:solidFill>
                  <a:srgbClr val="FF0000"/>
                </a:solidFill>
                <a:latin typeface="Arial MT"/>
                <a:cs typeface="Arial MT"/>
              </a:rPr>
              <a:t>OS</a:t>
            </a:r>
            <a:r>
              <a:rPr sz="3200" spc="-20" dirty="0">
                <a:solidFill>
                  <a:srgbClr val="FF0000"/>
                </a:solidFill>
                <a:latin typeface="Arial MT"/>
                <a:cs typeface="Arial MT"/>
              </a:rPr>
              <a:t> </a:t>
            </a:r>
            <a:r>
              <a:rPr sz="3200" dirty="0">
                <a:solidFill>
                  <a:srgbClr val="FF0000"/>
                </a:solidFill>
                <a:latin typeface="Arial MT"/>
                <a:cs typeface="Arial MT"/>
              </a:rPr>
              <a:t>:</a:t>
            </a:r>
            <a:r>
              <a:rPr sz="3200" spc="-25" dirty="0">
                <a:solidFill>
                  <a:srgbClr val="FF0000"/>
                </a:solidFill>
                <a:latin typeface="Arial MT"/>
                <a:cs typeface="Arial MT"/>
              </a:rPr>
              <a:t> </a:t>
            </a:r>
            <a:r>
              <a:rPr sz="3200" dirty="0">
                <a:solidFill>
                  <a:srgbClr val="FF0000"/>
                </a:solidFill>
                <a:latin typeface="Arial MT"/>
                <a:cs typeface="Arial MT"/>
              </a:rPr>
              <a:t>Batch</a:t>
            </a:r>
            <a:r>
              <a:rPr sz="3200" spc="-15" dirty="0">
                <a:solidFill>
                  <a:srgbClr val="FF0000"/>
                </a:solidFill>
                <a:latin typeface="Arial MT"/>
                <a:cs typeface="Arial MT"/>
              </a:rPr>
              <a:t> </a:t>
            </a:r>
            <a:r>
              <a:rPr sz="3200" spc="-10" dirty="0">
                <a:solidFill>
                  <a:srgbClr val="FF0000"/>
                </a:solidFill>
                <a:latin typeface="Arial MT"/>
                <a:cs typeface="Arial MT"/>
              </a:rPr>
              <a:t>systems</a:t>
            </a:r>
            <a:endParaRPr sz="3200" dirty="0">
              <a:solidFill>
                <a:srgbClr val="FF0000"/>
              </a:solidFill>
              <a:latin typeface="Arial MT"/>
              <a:cs typeface="Arial MT"/>
            </a:endParaRPr>
          </a:p>
          <a:p>
            <a:pPr marL="754380" lvl="1" indent="-284480">
              <a:spcBef>
                <a:spcPts val="380"/>
              </a:spcBef>
              <a:buChar char="–"/>
              <a:tabLst>
                <a:tab pos="754380" algn="l"/>
              </a:tabLst>
            </a:pPr>
            <a:r>
              <a:rPr sz="2800" dirty="0">
                <a:latin typeface="Arial MT"/>
                <a:cs typeface="Arial MT"/>
              </a:rPr>
              <a:t>Possibly</a:t>
            </a:r>
            <a:r>
              <a:rPr sz="2800" spc="-85" dirty="0">
                <a:latin typeface="Arial MT"/>
                <a:cs typeface="Arial MT"/>
              </a:rPr>
              <a:t> </a:t>
            </a:r>
            <a:r>
              <a:rPr sz="2800" dirty="0">
                <a:latin typeface="Arial MT"/>
                <a:cs typeface="Arial MT"/>
              </a:rPr>
              <a:t>greatest</a:t>
            </a:r>
            <a:r>
              <a:rPr sz="2800" spc="-85" dirty="0">
                <a:latin typeface="Arial MT"/>
                <a:cs typeface="Arial MT"/>
              </a:rPr>
              <a:t> </a:t>
            </a:r>
            <a:r>
              <a:rPr sz="2800" dirty="0">
                <a:latin typeface="Arial MT"/>
                <a:cs typeface="Arial MT"/>
              </a:rPr>
              <a:t>invention</a:t>
            </a:r>
            <a:r>
              <a:rPr sz="2800" spc="-85" dirty="0">
                <a:latin typeface="Arial MT"/>
                <a:cs typeface="Arial MT"/>
              </a:rPr>
              <a:t> </a:t>
            </a:r>
            <a:r>
              <a:rPr sz="2800" dirty="0">
                <a:latin typeface="Arial MT"/>
                <a:cs typeface="Arial MT"/>
              </a:rPr>
              <a:t>in</a:t>
            </a:r>
            <a:r>
              <a:rPr sz="2800" spc="-90" dirty="0">
                <a:latin typeface="Arial MT"/>
                <a:cs typeface="Arial MT"/>
              </a:rPr>
              <a:t> </a:t>
            </a:r>
            <a:r>
              <a:rPr sz="2800" spc="-25" dirty="0">
                <a:latin typeface="Arial MT"/>
                <a:cs typeface="Arial MT"/>
              </a:rPr>
              <a:t>OS</a:t>
            </a:r>
            <a:endParaRPr sz="2800" dirty="0">
              <a:latin typeface="Arial MT"/>
              <a:cs typeface="Arial MT"/>
            </a:endParaRPr>
          </a:p>
          <a:p>
            <a:pPr marL="1153795" marR="5080" lvl="2" indent="-227329">
              <a:lnSpc>
                <a:spcPts val="2600"/>
              </a:lnSpc>
              <a:spcBef>
                <a:spcPts val="640"/>
              </a:spcBef>
              <a:buChar char="•"/>
              <a:tabLst>
                <a:tab pos="1155065" algn="l"/>
              </a:tabLst>
            </a:pPr>
            <a:r>
              <a:rPr sz="2400" dirty="0">
                <a:latin typeface="Arial MT"/>
                <a:cs typeface="Arial MT"/>
              </a:rPr>
              <a:t>Computers</a:t>
            </a:r>
            <a:r>
              <a:rPr sz="2400" spc="-75" dirty="0">
                <a:latin typeface="Arial MT"/>
                <a:cs typeface="Arial MT"/>
              </a:rPr>
              <a:t> </a:t>
            </a:r>
            <a:r>
              <a:rPr sz="2400" dirty="0">
                <a:latin typeface="Arial MT"/>
                <a:cs typeface="Arial MT"/>
              </a:rPr>
              <a:t>may</a:t>
            </a:r>
            <a:r>
              <a:rPr sz="2400" spc="-60" dirty="0">
                <a:latin typeface="Arial MT"/>
                <a:cs typeface="Arial MT"/>
              </a:rPr>
              <a:t> </a:t>
            </a:r>
            <a:r>
              <a:rPr sz="2400" dirty="0">
                <a:latin typeface="Arial MT"/>
                <a:cs typeface="Arial MT"/>
              </a:rPr>
              <a:t>be</a:t>
            </a:r>
            <a:r>
              <a:rPr sz="2400" spc="-75" dirty="0">
                <a:latin typeface="Arial MT"/>
                <a:cs typeface="Arial MT"/>
              </a:rPr>
              <a:t> </a:t>
            </a:r>
            <a:r>
              <a:rPr sz="2400" dirty="0">
                <a:latin typeface="Arial MT"/>
                <a:cs typeface="Arial MT"/>
              </a:rPr>
              <a:t>able</a:t>
            </a:r>
            <a:r>
              <a:rPr sz="2400" spc="-75" dirty="0">
                <a:latin typeface="Arial MT"/>
                <a:cs typeface="Arial MT"/>
              </a:rPr>
              <a:t> </a:t>
            </a:r>
            <a:r>
              <a:rPr sz="2400" dirty="0">
                <a:latin typeface="Arial MT"/>
                <a:cs typeface="Arial MT"/>
              </a:rPr>
              <a:t>to</a:t>
            </a:r>
            <a:r>
              <a:rPr sz="2400" spc="-75" dirty="0">
                <a:latin typeface="Arial MT"/>
                <a:cs typeface="Arial MT"/>
              </a:rPr>
              <a:t> </a:t>
            </a:r>
            <a:r>
              <a:rPr sz="2400" dirty="0">
                <a:latin typeface="Arial MT"/>
                <a:cs typeface="Arial MT"/>
              </a:rPr>
              <a:t>schedule</a:t>
            </a:r>
            <a:r>
              <a:rPr sz="2400" spc="-75" dirty="0">
                <a:latin typeface="Arial MT"/>
                <a:cs typeface="Arial MT"/>
              </a:rPr>
              <a:t> </a:t>
            </a:r>
            <a:r>
              <a:rPr sz="2400" dirty="0">
                <a:latin typeface="Arial MT"/>
                <a:cs typeface="Arial MT"/>
              </a:rPr>
              <a:t>their</a:t>
            </a:r>
            <a:r>
              <a:rPr sz="2400" spc="-70" dirty="0">
                <a:latin typeface="Arial MT"/>
                <a:cs typeface="Arial MT"/>
              </a:rPr>
              <a:t> </a:t>
            </a:r>
            <a:r>
              <a:rPr sz="2400" spc="-25" dirty="0">
                <a:latin typeface="Arial MT"/>
                <a:cs typeface="Arial MT"/>
              </a:rPr>
              <a:t>own 	</a:t>
            </a:r>
            <a:r>
              <a:rPr sz="2400" dirty="0">
                <a:latin typeface="Arial MT"/>
                <a:cs typeface="Arial MT"/>
              </a:rPr>
              <a:t>workload</a:t>
            </a:r>
            <a:r>
              <a:rPr sz="2400" spc="-75" dirty="0">
                <a:latin typeface="Arial MT"/>
                <a:cs typeface="Arial MT"/>
              </a:rPr>
              <a:t> </a:t>
            </a:r>
            <a:r>
              <a:rPr sz="2400" dirty="0">
                <a:latin typeface="Arial MT"/>
                <a:cs typeface="Arial MT"/>
              </a:rPr>
              <a:t>by</a:t>
            </a:r>
            <a:r>
              <a:rPr sz="2400" spc="-65" dirty="0">
                <a:latin typeface="Arial MT"/>
                <a:cs typeface="Arial MT"/>
              </a:rPr>
              <a:t> </a:t>
            </a:r>
            <a:r>
              <a:rPr sz="2400" dirty="0">
                <a:latin typeface="Arial MT"/>
                <a:cs typeface="Arial MT"/>
              </a:rPr>
              <a:t>means</a:t>
            </a:r>
            <a:r>
              <a:rPr sz="2400" spc="-60" dirty="0">
                <a:latin typeface="Arial MT"/>
                <a:cs typeface="Arial MT"/>
              </a:rPr>
              <a:t> </a:t>
            </a:r>
            <a:r>
              <a:rPr sz="2400" dirty="0">
                <a:latin typeface="Arial MT"/>
                <a:cs typeface="Arial MT"/>
              </a:rPr>
              <a:t>of</a:t>
            </a:r>
            <a:r>
              <a:rPr sz="2400" spc="-65" dirty="0">
                <a:latin typeface="Arial MT"/>
                <a:cs typeface="Arial MT"/>
              </a:rPr>
              <a:t> </a:t>
            </a:r>
            <a:r>
              <a:rPr sz="2400" spc="-10" dirty="0">
                <a:latin typeface="Arial MT"/>
                <a:cs typeface="Arial MT"/>
              </a:rPr>
              <a:t>software</a:t>
            </a:r>
            <a:endParaRPr sz="2400" dirty="0">
              <a:latin typeface="Arial MT"/>
              <a:cs typeface="Arial M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75522" y="80119"/>
            <a:ext cx="10515600" cy="689932"/>
          </a:xfrm>
          <a:prstGeom prst="rect">
            <a:avLst/>
          </a:prstGeom>
        </p:spPr>
        <p:txBody>
          <a:bodyPr vert="horz" wrap="square" lIns="0" tIns="12700" rIns="0" bIns="0" rtlCol="0" anchor="ctr">
            <a:spAutoFit/>
          </a:bodyPr>
          <a:lstStyle/>
          <a:p>
            <a:pPr marL="1689100">
              <a:lnSpc>
                <a:spcPct val="100000"/>
              </a:lnSpc>
              <a:spcBef>
                <a:spcPts val="100"/>
              </a:spcBef>
            </a:pPr>
            <a:r>
              <a:rPr dirty="0"/>
              <a:t>Batch</a:t>
            </a:r>
            <a:r>
              <a:rPr spc="-120" dirty="0"/>
              <a:t> </a:t>
            </a:r>
            <a:r>
              <a:rPr spc="-10" dirty="0"/>
              <a:t>Systems</a:t>
            </a:r>
          </a:p>
        </p:txBody>
      </p:sp>
      <p:sp>
        <p:nvSpPr>
          <p:cNvPr id="4" name="object 4"/>
          <p:cNvSpPr txBox="1"/>
          <p:nvPr/>
        </p:nvSpPr>
        <p:spPr>
          <a:xfrm>
            <a:off x="763487" y="4023193"/>
            <a:ext cx="11529391" cy="2293641"/>
          </a:xfrm>
          <a:prstGeom prst="rect">
            <a:avLst/>
          </a:prstGeom>
        </p:spPr>
        <p:txBody>
          <a:bodyPr vert="horz" wrap="square" lIns="0" tIns="16510" rIns="0" bIns="0" rtlCol="0">
            <a:spAutoFit/>
          </a:bodyPr>
          <a:lstStyle/>
          <a:p>
            <a:pPr marL="298450" indent="-285750">
              <a:lnSpc>
                <a:spcPct val="150000"/>
              </a:lnSpc>
              <a:spcBef>
                <a:spcPts val="130"/>
              </a:spcBef>
              <a:buFont typeface="Arial" panose="020B0604020202020204" pitchFamily="34" charset="0"/>
              <a:buChar char="•"/>
            </a:pPr>
            <a:r>
              <a:rPr sz="2000" dirty="0">
                <a:latin typeface="Arial MT"/>
                <a:cs typeface="Arial MT"/>
              </a:rPr>
              <a:t>Operator</a:t>
            </a:r>
            <a:r>
              <a:rPr sz="2000" spc="65" dirty="0">
                <a:latin typeface="Arial MT"/>
                <a:cs typeface="Arial MT"/>
              </a:rPr>
              <a:t> </a:t>
            </a:r>
            <a:r>
              <a:rPr sz="2000" dirty="0">
                <a:latin typeface="Arial MT"/>
                <a:cs typeface="Arial MT"/>
              </a:rPr>
              <a:t>collects</a:t>
            </a:r>
            <a:r>
              <a:rPr sz="2000" spc="90" dirty="0">
                <a:latin typeface="Arial MT"/>
                <a:cs typeface="Arial MT"/>
              </a:rPr>
              <a:t> </a:t>
            </a:r>
            <a:r>
              <a:rPr sz="2000" dirty="0">
                <a:latin typeface="Arial MT"/>
                <a:cs typeface="Arial MT"/>
              </a:rPr>
              <a:t>jobs</a:t>
            </a:r>
            <a:r>
              <a:rPr sz="2000" spc="70" dirty="0">
                <a:latin typeface="Arial MT"/>
                <a:cs typeface="Arial MT"/>
              </a:rPr>
              <a:t> </a:t>
            </a:r>
            <a:r>
              <a:rPr sz="2000" dirty="0">
                <a:latin typeface="Arial MT"/>
                <a:cs typeface="Arial MT"/>
              </a:rPr>
              <a:t>(through</a:t>
            </a:r>
            <a:r>
              <a:rPr sz="2000" spc="80" dirty="0">
                <a:latin typeface="Arial MT"/>
                <a:cs typeface="Arial MT"/>
              </a:rPr>
              <a:t> </a:t>
            </a:r>
            <a:r>
              <a:rPr sz="2000" dirty="0">
                <a:latin typeface="Arial MT"/>
                <a:cs typeface="Arial MT"/>
              </a:rPr>
              <a:t>punch</a:t>
            </a:r>
            <a:r>
              <a:rPr sz="2000" spc="75" dirty="0">
                <a:latin typeface="Arial MT"/>
                <a:cs typeface="Arial MT"/>
              </a:rPr>
              <a:t> </a:t>
            </a:r>
            <a:r>
              <a:rPr sz="2000" dirty="0">
                <a:latin typeface="Arial MT"/>
                <a:cs typeface="Arial MT"/>
              </a:rPr>
              <a:t>cards)</a:t>
            </a:r>
            <a:r>
              <a:rPr sz="2000" spc="65" dirty="0">
                <a:latin typeface="Arial MT"/>
                <a:cs typeface="Arial MT"/>
              </a:rPr>
              <a:t> </a:t>
            </a:r>
            <a:r>
              <a:rPr sz="2000" dirty="0">
                <a:latin typeface="Arial MT"/>
                <a:cs typeface="Arial MT"/>
              </a:rPr>
              <a:t>and</a:t>
            </a:r>
            <a:r>
              <a:rPr sz="2000" spc="80" dirty="0">
                <a:latin typeface="Arial MT"/>
                <a:cs typeface="Arial MT"/>
              </a:rPr>
              <a:t> </a:t>
            </a:r>
            <a:r>
              <a:rPr sz="2000" dirty="0">
                <a:latin typeface="Arial MT"/>
                <a:cs typeface="Arial MT"/>
              </a:rPr>
              <a:t>feeds</a:t>
            </a:r>
            <a:r>
              <a:rPr sz="2000" spc="90" dirty="0">
                <a:latin typeface="Arial MT"/>
                <a:cs typeface="Arial MT"/>
              </a:rPr>
              <a:t> </a:t>
            </a:r>
            <a:r>
              <a:rPr sz="2000" dirty="0">
                <a:latin typeface="Arial MT"/>
                <a:cs typeface="Arial MT"/>
              </a:rPr>
              <a:t>it</a:t>
            </a:r>
            <a:r>
              <a:rPr sz="2000" spc="65" dirty="0">
                <a:latin typeface="Arial MT"/>
                <a:cs typeface="Arial MT"/>
              </a:rPr>
              <a:t> </a:t>
            </a:r>
            <a:r>
              <a:rPr sz="2000" dirty="0">
                <a:latin typeface="Arial MT"/>
                <a:cs typeface="Arial MT"/>
              </a:rPr>
              <a:t>into</a:t>
            </a:r>
            <a:r>
              <a:rPr sz="2000" spc="80" dirty="0">
                <a:latin typeface="Arial MT"/>
                <a:cs typeface="Arial MT"/>
              </a:rPr>
              <a:t> </a:t>
            </a:r>
            <a:r>
              <a:rPr sz="2000" dirty="0">
                <a:latin typeface="Arial MT"/>
                <a:cs typeface="Arial MT"/>
              </a:rPr>
              <a:t>a</a:t>
            </a:r>
            <a:r>
              <a:rPr sz="2000" spc="75" dirty="0">
                <a:latin typeface="Arial MT"/>
                <a:cs typeface="Arial MT"/>
              </a:rPr>
              <a:t> </a:t>
            </a:r>
            <a:r>
              <a:rPr sz="2000" dirty="0">
                <a:latin typeface="Arial MT"/>
                <a:cs typeface="Arial MT"/>
              </a:rPr>
              <a:t>magnetic</a:t>
            </a:r>
            <a:r>
              <a:rPr sz="2000" spc="90" dirty="0">
                <a:latin typeface="Arial MT"/>
                <a:cs typeface="Arial MT"/>
              </a:rPr>
              <a:t> </a:t>
            </a:r>
            <a:r>
              <a:rPr sz="2000" dirty="0">
                <a:latin typeface="Arial MT"/>
                <a:cs typeface="Arial MT"/>
              </a:rPr>
              <a:t>tape</a:t>
            </a:r>
            <a:r>
              <a:rPr sz="2000" spc="80" dirty="0">
                <a:latin typeface="Arial MT"/>
                <a:cs typeface="Arial MT"/>
              </a:rPr>
              <a:t> </a:t>
            </a:r>
            <a:r>
              <a:rPr sz="2000" spc="-10" dirty="0">
                <a:latin typeface="Arial MT"/>
                <a:cs typeface="Arial MT"/>
              </a:rPr>
              <a:t>drive</a:t>
            </a:r>
            <a:endParaRPr lang="en-IN" sz="2000" spc="-10" dirty="0">
              <a:latin typeface="Arial MT"/>
              <a:cs typeface="Arial MT"/>
            </a:endParaRPr>
          </a:p>
          <a:p>
            <a:pPr marL="298450" indent="-285750">
              <a:lnSpc>
                <a:spcPct val="150000"/>
              </a:lnSpc>
              <a:spcBef>
                <a:spcPts val="130"/>
              </a:spcBef>
              <a:buFont typeface="Arial" panose="020B0604020202020204" pitchFamily="34" charset="0"/>
              <a:buChar char="•"/>
            </a:pPr>
            <a:r>
              <a:rPr sz="2000" dirty="0">
                <a:latin typeface="Arial MT"/>
                <a:cs typeface="Arial MT"/>
              </a:rPr>
              <a:t>Special</a:t>
            </a:r>
            <a:r>
              <a:rPr sz="2000" spc="65" dirty="0">
                <a:latin typeface="Arial MT"/>
                <a:cs typeface="Arial MT"/>
              </a:rPr>
              <a:t> </a:t>
            </a:r>
            <a:r>
              <a:rPr sz="2000" dirty="0">
                <a:latin typeface="Arial MT"/>
                <a:cs typeface="Arial MT"/>
              </a:rPr>
              <a:t>Program</a:t>
            </a:r>
            <a:r>
              <a:rPr sz="2000" spc="85" dirty="0">
                <a:latin typeface="Arial MT"/>
                <a:cs typeface="Arial MT"/>
              </a:rPr>
              <a:t> </a:t>
            </a:r>
            <a:r>
              <a:rPr sz="2000" dirty="0">
                <a:latin typeface="Arial MT"/>
                <a:cs typeface="Arial MT"/>
              </a:rPr>
              <a:t>reads</a:t>
            </a:r>
            <a:r>
              <a:rPr sz="2000" spc="85" dirty="0">
                <a:latin typeface="Arial MT"/>
                <a:cs typeface="Arial MT"/>
              </a:rPr>
              <a:t> </a:t>
            </a:r>
            <a:r>
              <a:rPr sz="2000" dirty="0">
                <a:latin typeface="Arial MT"/>
                <a:cs typeface="Arial MT"/>
              </a:rPr>
              <a:t>a</a:t>
            </a:r>
            <a:r>
              <a:rPr sz="2000" spc="70" dirty="0">
                <a:latin typeface="Arial MT"/>
                <a:cs typeface="Arial MT"/>
              </a:rPr>
              <a:t> </a:t>
            </a:r>
            <a:r>
              <a:rPr sz="2000" dirty="0">
                <a:latin typeface="Arial MT"/>
                <a:cs typeface="Arial MT"/>
              </a:rPr>
              <a:t>job</a:t>
            </a:r>
            <a:r>
              <a:rPr sz="2000" spc="70" dirty="0">
                <a:latin typeface="Arial MT"/>
                <a:cs typeface="Arial MT"/>
              </a:rPr>
              <a:t> </a:t>
            </a:r>
            <a:r>
              <a:rPr sz="2000" dirty="0">
                <a:latin typeface="Arial MT"/>
                <a:cs typeface="Arial MT"/>
              </a:rPr>
              <a:t>from</a:t>
            </a:r>
            <a:r>
              <a:rPr sz="2000" spc="90" dirty="0">
                <a:latin typeface="Arial MT"/>
                <a:cs typeface="Arial MT"/>
              </a:rPr>
              <a:t> </a:t>
            </a:r>
            <a:r>
              <a:rPr sz="2000" dirty="0">
                <a:latin typeface="Arial MT"/>
                <a:cs typeface="Arial MT"/>
              </a:rPr>
              <a:t>input</a:t>
            </a:r>
            <a:r>
              <a:rPr sz="2000" spc="70" dirty="0">
                <a:latin typeface="Arial MT"/>
                <a:cs typeface="Arial MT"/>
              </a:rPr>
              <a:t> </a:t>
            </a:r>
            <a:r>
              <a:rPr sz="2000" dirty="0">
                <a:latin typeface="Arial MT"/>
                <a:cs typeface="Arial MT"/>
              </a:rPr>
              <a:t>tape</a:t>
            </a:r>
            <a:r>
              <a:rPr sz="2000" spc="75" dirty="0">
                <a:latin typeface="Arial MT"/>
                <a:cs typeface="Arial MT"/>
              </a:rPr>
              <a:t> </a:t>
            </a:r>
            <a:r>
              <a:rPr sz="2000" dirty="0">
                <a:latin typeface="Arial MT"/>
                <a:cs typeface="Arial MT"/>
              </a:rPr>
              <a:t>drive</a:t>
            </a:r>
            <a:r>
              <a:rPr sz="2000" spc="70" dirty="0">
                <a:latin typeface="Arial MT"/>
                <a:cs typeface="Arial MT"/>
              </a:rPr>
              <a:t> </a:t>
            </a:r>
            <a:r>
              <a:rPr sz="2000" dirty="0">
                <a:latin typeface="Arial MT"/>
                <a:cs typeface="Arial MT"/>
              </a:rPr>
              <a:t>and</a:t>
            </a:r>
            <a:r>
              <a:rPr sz="2000" spc="70" dirty="0">
                <a:latin typeface="Arial MT"/>
                <a:cs typeface="Arial MT"/>
              </a:rPr>
              <a:t> </a:t>
            </a:r>
            <a:r>
              <a:rPr sz="2000" dirty="0">
                <a:latin typeface="Arial MT"/>
                <a:cs typeface="Arial MT"/>
              </a:rPr>
              <a:t>on</a:t>
            </a:r>
            <a:r>
              <a:rPr sz="2000" spc="75" dirty="0">
                <a:latin typeface="Arial MT"/>
                <a:cs typeface="Arial MT"/>
              </a:rPr>
              <a:t> </a:t>
            </a:r>
            <a:r>
              <a:rPr sz="2000" dirty="0">
                <a:latin typeface="Arial MT"/>
                <a:cs typeface="Arial MT"/>
              </a:rPr>
              <a:t>completion</a:t>
            </a:r>
            <a:r>
              <a:rPr sz="2000" spc="70" dirty="0">
                <a:latin typeface="Arial MT"/>
                <a:cs typeface="Arial MT"/>
              </a:rPr>
              <a:t> </a:t>
            </a:r>
            <a:r>
              <a:rPr sz="2000" dirty="0">
                <a:latin typeface="Arial MT"/>
                <a:cs typeface="Arial MT"/>
              </a:rPr>
              <a:t>writes</a:t>
            </a:r>
            <a:r>
              <a:rPr sz="2000" spc="80" dirty="0">
                <a:latin typeface="Arial MT"/>
                <a:cs typeface="Arial MT"/>
              </a:rPr>
              <a:t> </a:t>
            </a:r>
            <a:r>
              <a:rPr sz="2000" dirty="0">
                <a:latin typeface="Arial MT"/>
                <a:cs typeface="Arial MT"/>
              </a:rPr>
              <a:t>result</a:t>
            </a:r>
            <a:r>
              <a:rPr sz="2000" spc="75" dirty="0">
                <a:latin typeface="Arial MT"/>
                <a:cs typeface="Arial MT"/>
              </a:rPr>
              <a:t> </a:t>
            </a:r>
            <a:r>
              <a:rPr sz="2000" spc="-25" dirty="0">
                <a:latin typeface="Arial MT"/>
                <a:cs typeface="Arial MT"/>
              </a:rPr>
              <a:t>to </a:t>
            </a:r>
            <a:r>
              <a:rPr sz="2000" dirty="0">
                <a:latin typeface="Arial MT"/>
                <a:cs typeface="Arial MT"/>
              </a:rPr>
              <a:t>output</a:t>
            </a:r>
            <a:r>
              <a:rPr sz="2000" spc="75" dirty="0">
                <a:latin typeface="Arial MT"/>
                <a:cs typeface="Arial MT"/>
              </a:rPr>
              <a:t> </a:t>
            </a:r>
            <a:r>
              <a:rPr sz="2000" dirty="0">
                <a:latin typeface="Arial MT"/>
                <a:cs typeface="Arial MT"/>
              </a:rPr>
              <a:t>tape</a:t>
            </a:r>
            <a:r>
              <a:rPr sz="2000" spc="80" dirty="0">
                <a:latin typeface="Arial MT"/>
                <a:cs typeface="Arial MT"/>
              </a:rPr>
              <a:t> </a:t>
            </a:r>
            <a:r>
              <a:rPr sz="2000" spc="-20" dirty="0">
                <a:latin typeface="Arial MT"/>
                <a:cs typeface="Arial MT"/>
              </a:rPr>
              <a:t>drive</a:t>
            </a:r>
            <a:endParaRPr sz="2000" dirty="0">
              <a:latin typeface="Arial MT"/>
              <a:cs typeface="Arial MT"/>
            </a:endParaRPr>
          </a:p>
          <a:p>
            <a:pPr marL="298450" marR="3552825" indent="-285750">
              <a:lnSpc>
                <a:spcPct val="150000"/>
              </a:lnSpc>
              <a:spcBef>
                <a:spcPts val="70"/>
              </a:spcBef>
              <a:buFont typeface="Arial" panose="020B0604020202020204" pitchFamily="34" charset="0"/>
              <a:buChar char="•"/>
            </a:pPr>
            <a:r>
              <a:rPr sz="2000" dirty="0">
                <a:latin typeface="Arial MT"/>
                <a:cs typeface="Arial MT"/>
              </a:rPr>
              <a:t>The</a:t>
            </a:r>
            <a:r>
              <a:rPr sz="2000" spc="55" dirty="0">
                <a:latin typeface="Arial MT"/>
                <a:cs typeface="Arial MT"/>
              </a:rPr>
              <a:t> </a:t>
            </a:r>
            <a:r>
              <a:rPr sz="2000" dirty="0">
                <a:latin typeface="Arial MT"/>
                <a:cs typeface="Arial MT"/>
              </a:rPr>
              <a:t>next</a:t>
            </a:r>
            <a:r>
              <a:rPr sz="2000" spc="60" dirty="0">
                <a:latin typeface="Arial MT"/>
                <a:cs typeface="Arial MT"/>
              </a:rPr>
              <a:t> </a:t>
            </a:r>
            <a:r>
              <a:rPr sz="2000" dirty="0">
                <a:latin typeface="Arial MT"/>
                <a:cs typeface="Arial MT"/>
              </a:rPr>
              <a:t>program</a:t>
            </a:r>
            <a:r>
              <a:rPr sz="2000" spc="75" dirty="0">
                <a:latin typeface="Arial MT"/>
                <a:cs typeface="Arial MT"/>
              </a:rPr>
              <a:t> </a:t>
            </a:r>
            <a:r>
              <a:rPr sz="2000" dirty="0">
                <a:latin typeface="Arial MT"/>
                <a:cs typeface="Arial MT"/>
              </a:rPr>
              <a:t>is</a:t>
            </a:r>
            <a:r>
              <a:rPr sz="2000" spc="50" dirty="0">
                <a:latin typeface="Arial MT"/>
                <a:cs typeface="Arial MT"/>
              </a:rPr>
              <a:t> </a:t>
            </a:r>
            <a:r>
              <a:rPr sz="2000" dirty="0">
                <a:latin typeface="Arial MT"/>
                <a:cs typeface="Arial MT"/>
              </a:rPr>
              <a:t>then</a:t>
            </a:r>
            <a:r>
              <a:rPr sz="2000" spc="70" dirty="0">
                <a:latin typeface="Arial MT"/>
                <a:cs typeface="Arial MT"/>
              </a:rPr>
              <a:t> </a:t>
            </a:r>
            <a:r>
              <a:rPr sz="2000" dirty="0">
                <a:latin typeface="Arial MT"/>
                <a:cs typeface="Arial MT"/>
              </a:rPr>
              <a:t>read</a:t>
            </a:r>
            <a:r>
              <a:rPr sz="2000" spc="60" dirty="0">
                <a:latin typeface="Arial MT"/>
                <a:cs typeface="Arial MT"/>
              </a:rPr>
              <a:t> </a:t>
            </a:r>
            <a:r>
              <a:rPr sz="2000" dirty="0">
                <a:latin typeface="Arial MT"/>
                <a:cs typeface="Arial MT"/>
              </a:rPr>
              <a:t>and</a:t>
            </a:r>
            <a:r>
              <a:rPr sz="2000" spc="55" dirty="0">
                <a:latin typeface="Arial MT"/>
                <a:cs typeface="Arial MT"/>
              </a:rPr>
              <a:t> </a:t>
            </a:r>
            <a:r>
              <a:rPr sz="2000" spc="-10" dirty="0">
                <a:latin typeface="Arial MT"/>
                <a:cs typeface="Arial MT"/>
              </a:rPr>
              <a:t>executed </a:t>
            </a:r>
            <a:r>
              <a:rPr sz="2000" dirty="0">
                <a:latin typeface="Arial MT"/>
                <a:cs typeface="Arial MT"/>
              </a:rPr>
              <a:t>Printing</a:t>
            </a:r>
            <a:r>
              <a:rPr sz="2000" spc="65" dirty="0">
                <a:latin typeface="Arial MT"/>
                <a:cs typeface="Arial MT"/>
              </a:rPr>
              <a:t> </a:t>
            </a:r>
            <a:r>
              <a:rPr sz="2000" dirty="0">
                <a:latin typeface="Arial MT"/>
                <a:cs typeface="Arial MT"/>
              </a:rPr>
              <a:t>was</a:t>
            </a:r>
            <a:r>
              <a:rPr sz="2000" spc="75" dirty="0">
                <a:latin typeface="Arial MT"/>
                <a:cs typeface="Arial MT"/>
              </a:rPr>
              <a:t> </a:t>
            </a:r>
            <a:r>
              <a:rPr sz="2000" dirty="0">
                <a:latin typeface="Arial MT"/>
                <a:cs typeface="Arial MT"/>
              </a:rPr>
              <a:t>done</a:t>
            </a:r>
            <a:r>
              <a:rPr sz="2000" spc="80" dirty="0">
                <a:latin typeface="Arial MT"/>
                <a:cs typeface="Arial MT"/>
              </a:rPr>
              <a:t> </a:t>
            </a:r>
            <a:r>
              <a:rPr sz="2000" spc="-10" dirty="0">
                <a:latin typeface="Arial MT"/>
                <a:cs typeface="Arial MT"/>
              </a:rPr>
              <a:t>offline</a:t>
            </a:r>
            <a:endParaRPr sz="2000" dirty="0">
              <a:latin typeface="Arial MT"/>
              <a:cs typeface="Arial MT"/>
            </a:endParaRPr>
          </a:p>
        </p:txBody>
      </p:sp>
      <p:pic>
        <p:nvPicPr>
          <p:cNvPr id="6" name="object 6"/>
          <p:cNvPicPr/>
          <p:nvPr/>
        </p:nvPicPr>
        <p:blipFill>
          <a:blip r:embed="rId2" cstate="print"/>
          <a:stretch>
            <a:fillRect/>
          </a:stretch>
        </p:blipFill>
        <p:spPr>
          <a:xfrm>
            <a:off x="3712757" y="770051"/>
            <a:ext cx="5630853" cy="29288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2461" y="156166"/>
            <a:ext cx="10515600" cy="689932"/>
          </a:xfrm>
          <a:prstGeom prst="rect">
            <a:avLst/>
          </a:prstGeom>
        </p:spPr>
        <p:txBody>
          <a:bodyPr vert="horz" wrap="square" lIns="0" tIns="12700" rIns="0" bIns="0" rtlCol="0" anchor="ctr">
            <a:spAutoFit/>
          </a:bodyPr>
          <a:lstStyle/>
          <a:p>
            <a:pPr marL="803910">
              <a:lnSpc>
                <a:spcPct val="100000"/>
              </a:lnSpc>
              <a:spcBef>
                <a:spcPts val="100"/>
              </a:spcBef>
            </a:pPr>
            <a:r>
              <a:rPr dirty="0"/>
              <a:t>Batch</a:t>
            </a:r>
            <a:r>
              <a:rPr spc="-125" dirty="0"/>
              <a:t> </a:t>
            </a:r>
            <a:r>
              <a:rPr dirty="0"/>
              <a:t>Systems</a:t>
            </a:r>
            <a:r>
              <a:rPr spc="-120" dirty="0"/>
              <a:t> </a:t>
            </a:r>
            <a:r>
              <a:rPr spc="-10" dirty="0"/>
              <a:t>(pros.)</a:t>
            </a:r>
          </a:p>
        </p:txBody>
      </p:sp>
      <p:sp>
        <p:nvSpPr>
          <p:cNvPr id="3" name="object 3"/>
          <p:cNvSpPr txBox="1"/>
          <p:nvPr/>
        </p:nvSpPr>
        <p:spPr>
          <a:xfrm>
            <a:off x="668462" y="781305"/>
            <a:ext cx="5136515" cy="1133475"/>
          </a:xfrm>
          <a:prstGeom prst="rect">
            <a:avLst/>
          </a:prstGeom>
        </p:spPr>
        <p:txBody>
          <a:bodyPr vert="horz" wrap="square" lIns="0" tIns="115570" rIns="0" bIns="0" rtlCol="0">
            <a:spAutoFit/>
          </a:bodyPr>
          <a:lstStyle/>
          <a:p>
            <a:pPr marL="354965" indent="-342265">
              <a:spcBef>
                <a:spcPts val="910"/>
              </a:spcBef>
              <a:buChar char="•"/>
              <a:tabLst>
                <a:tab pos="354965" algn="l"/>
              </a:tabLst>
            </a:pPr>
            <a:r>
              <a:rPr sz="3200" spc="-20" dirty="0">
                <a:solidFill>
                  <a:srgbClr val="0000CC"/>
                </a:solidFill>
                <a:latin typeface="Arial MT"/>
                <a:cs typeface="Arial MT"/>
              </a:rPr>
              <a:t>Pros</a:t>
            </a:r>
            <a:endParaRPr sz="3200" dirty="0">
              <a:latin typeface="Arial MT"/>
              <a:cs typeface="Arial MT"/>
            </a:endParaRPr>
          </a:p>
          <a:p>
            <a:pPr marL="469900">
              <a:spcBef>
                <a:spcPts val="710"/>
              </a:spcBef>
            </a:pPr>
            <a:r>
              <a:rPr sz="4200" baseline="2976" dirty="0">
                <a:latin typeface="Arial MT"/>
                <a:cs typeface="Arial MT"/>
              </a:rPr>
              <a:t>–</a:t>
            </a:r>
            <a:r>
              <a:rPr sz="4200" spc="-209" baseline="2976" dirty="0">
                <a:latin typeface="Arial MT"/>
                <a:cs typeface="Arial MT"/>
              </a:rPr>
              <a:t> </a:t>
            </a:r>
            <a:r>
              <a:rPr sz="2800" dirty="0">
                <a:latin typeface="Arial MT"/>
                <a:cs typeface="Arial MT"/>
              </a:rPr>
              <a:t>Better</a:t>
            </a:r>
            <a:r>
              <a:rPr sz="2800" spc="-45" dirty="0">
                <a:latin typeface="Arial MT"/>
                <a:cs typeface="Arial MT"/>
              </a:rPr>
              <a:t> </a:t>
            </a:r>
            <a:r>
              <a:rPr sz="2800" dirty="0">
                <a:latin typeface="Arial MT"/>
                <a:cs typeface="Arial MT"/>
              </a:rPr>
              <a:t>utilization</a:t>
            </a:r>
            <a:r>
              <a:rPr sz="2800" spc="-55" dirty="0">
                <a:latin typeface="Arial MT"/>
                <a:cs typeface="Arial MT"/>
              </a:rPr>
              <a:t> </a:t>
            </a:r>
            <a:r>
              <a:rPr sz="2800" dirty="0">
                <a:latin typeface="Arial MT"/>
                <a:cs typeface="Arial MT"/>
              </a:rPr>
              <a:t>of</a:t>
            </a:r>
            <a:r>
              <a:rPr sz="2800" spc="-60" dirty="0">
                <a:latin typeface="Arial MT"/>
                <a:cs typeface="Arial MT"/>
              </a:rPr>
              <a:t> </a:t>
            </a:r>
            <a:r>
              <a:rPr sz="2800" spc="-10" dirty="0">
                <a:latin typeface="Arial MT"/>
                <a:cs typeface="Arial MT"/>
              </a:rPr>
              <a:t>machine</a:t>
            </a:r>
            <a:endParaRPr sz="2800" dirty="0">
              <a:latin typeface="Arial MT"/>
              <a:cs typeface="Arial MT"/>
            </a:endParaRPr>
          </a:p>
        </p:txBody>
      </p:sp>
      <p:sp>
        <p:nvSpPr>
          <p:cNvPr id="6" name="TextBox 5">
            <a:extLst>
              <a:ext uri="{FF2B5EF4-FFF2-40B4-BE49-F238E27FC236}">
                <a16:creationId xmlns:a16="http://schemas.microsoft.com/office/drawing/2014/main" id="{3260D461-CC68-EA9C-C445-6B0BF3FC2177}"/>
              </a:ext>
            </a:extLst>
          </p:cNvPr>
          <p:cNvSpPr txBox="1"/>
          <p:nvPr/>
        </p:nvSpPr>
        <p:spPr>
          <a:xfrm>
            <a:off x="188843" y="2009428"/>
            <a:ext cx="6440556" cy="769441"/>
          </a:xfrm>
          <a:prstGeom prst="rect">
            <a:avLst/>
          </a:prstGeom>
          <a:noFill/>
        </p:spPr>
        <p:txBody>
          <a:bodyPr wrap="square">
            <a:spAutoFit/>
          </a:bodyPr>
          <a:lstStyle/>
          <a:p>
            <a:r>
              <a:rPr lang="en-IN" sz="4400" dirty="0">
                <a:latin typeface="+mj-lt"/>
                <a:ea typeface="+mj-ea"/>
                <a:cs typeface="+mj-cs"/>
              </a:rPr>
              <a:t>Batch Systems (cons.)</a:t>
            </a:r>
          </a:p>
        </p:txBody>
      </p:sp>
      <p:sp>
        <p:nvSpPr>
          <p:cNvPr id="7" name="object 3">
            <a:extLst>
              <a:ext uri="{FF2B5EF4-FFF2-40B4-BE49-F238E27FC236}">
                <a16:creationId xmlns:a16="http://schemas.microsoft.com/office/drawing/2014/main" id="{B76E186A-CFCD-999B-1CB1-2BB33B72EFD6}"/>
              </a:ext>
            </a:extLst>
          </p:cNvPr>
          <p:cNvSpPr txBox="1"/>
          <p:nvPr/>
        </p:nvSpPr>
        <p:spPr>
          <a:xfrm>
            <a:off x="1006394" y="3078110"/>
            <a:ext cx="9946528" cy="2357120"/>
          </a:xfrm>
          <a:prstGeom prst="rect">
            <a:avLst/>
          </a:prstGeom>
        </p:spPr>
        <p:txBody>
          <a:bodyPr vert="horz" wrap="square" lIns="0" tIns="12700" rIns="0" bIns="0" rtlCol="0">
            <a:spAutoFit/>
          </a:bodyPr>
          <a:lstStyle/>
          <a:p>
            <a:pPr marL="355600" marR="5080" indent="-342900">
              <a:spcBef>
                <a:spcPts val="100"/>
              </a:spcBef>
              <a:buChar char="•"/>
              <a:tabLst>
                <a:tab pos="355600" algn="l"/>
              </a:tabLst>
            </a:pPr>
            <a:r>
              <a:rPr sz="2800" dirty="0">
                <a:latin typeface="Arial MT"/>
                <a:cs typeface="Arial MT"/>
              </a:rPr>
              <a:t>In</a:t>
            </a:r>
            <a:r>
              <a:rPr sz="2800" spc="-70" dirty="0">
                <a:latin typeface="Arial MT"/>
                <a:cs typeface="Arial MT"/>
              </a:rPr>
              <a:t> </a:t>
            </a:r>
            <a:r>
              <a:rPr sz="2800" dirty="0">
                <a:latin typeface="Arial MT"/>
                <a:cs typeface="Arial MT"/>
              </a:rPr>
              <a:t>Batch</a:t>
            </a:r>
            <a:r>
              <a:rPr sz="2800" spc="-70" dirty="0">
                <a:latin typeface="Arial MT"/>
                <a:cs typeface="Arial MT"/>
              </a:rPr>
              <a:t> </a:t>
            </a:r>
            <a:r>
              <a:rPr sz="2800" dirty="0">
                <a:latin typeface="Arial MT"/>
                <a:cs typeface="Arial MT"/>
              </a:rPr>
              <a:t>Systems</a:t>
            </a:r>
            <a:r>
              <a:rPr sz="2800" spc="-70" dirty="0">
                <a:latin typeface="Arial MT"/>
                <a:cs typeface="Arial MT"/>
              </a:rPr>
              <a:t> </a:t>
            </a:r>
            <a:r>
              <a:rPr sz="2800" dirty="0">
                <a:latin typeface="Arial MT"/>
                <a:cs typeface="Arial MT"/>
              </a:rPr>
              <a:t>execute</a:t>
            </a:r>
            <a:r>
              <a:rPr sz="2800" spc="-70" dirty="0">
                <a:latin typeface="Arial MT"/>
                <a:cs typeface="Arial MT"/>
              </a:rPr>
              <a:t> </a:t>
            </a:r>
            <a:r>
              <a:rPr sz="2800" dirty="0">
                <a:latin typeface="Arial MT"/>
                <a:cs typeface="Arial MT"/>
              </a:rPr>
              <a:t>time</a:t>
            </a:r>
            <a:r>
              <a:rPr sz="2800" spc="-70" dirty="0">
                <a:latin typeface="Arial MT"/>
                <a:cs typeface="Arial MT"/>
              </a:rPr>
              <a:t> </a:t>
            </a:r>
            <a:r>
              <a:rPr sz="2800" dirty="0">
                <a:latin typeface="Arial MT"/>
                <a:cs typeface="Arial MT"/>
              </a:rPr>
              <a:t>includes</a:t>
            </a:r>
            <a:r>
              <a:rPr sz="2800" spc="-65" dirty="0">
                <a:latin typeface="Arial MT"/>
                <a:cs typeface="Arial MT"/>
              </a:rPr>
              <a:t> </a:t>
            </a:r>
            <a:r>
              <a:rPr sz="2800" spc="-10" dirty="0">
                <a:latin typeface="Arial MT"/>
                <a:cs typeface="Arial MT"/>
              </a:rPr>
              <a:t>reading </a:t>
            </a:r>
            <a:r>
              <a:rPr sz="2800" dirty="0">
                <a:latin typeface="Arial MT"/>
                <a:cs typeface="Arial MT"/>
              </a:rPr>
              <a:t>from</a:t>
            </a:r>
            <a:r>
              <a:rPr sz="2800" spc="-70" dirty="0">
                <a:latin typeface="Arial MT"/>
                <a:cs typeface="Arial MT"/>
              </a:rPr>
              <a:t> </a:t>
            </a:r>
            <a:r>
              <a:rPr sz="2800" dirty="0">
                <a:latin typeface="Arial MT"/>
                <a:cs typeface="Arial MT"/>
              </a:rPr>
              <a:t>input</a:t>
            </a:r>
            <a:r>
              <a:rPr sz="2800" spc="-55" dirty="0">
                <a:latin typeface="Arial MT"/>
                <a:cs typeface="Arial MT"/>
              </a:rPr>
              <a:t> </a:t>
            </a:r>
            <a:r>
              <a:rPr sz="2800" dirty="0">
                <a:latin typeface="Arial MT"/>
                <a:cs typeface="Arial MT"/>
              </a:rPr>
              <a:t>and</a:t>
            </a:r>
            <a:r>
              <a:rPr sz="2800" spc="-55" dirty="0">
                <a:latin typeface="Arial MT"/>
                <a:cs typeface="Arial MT"/>
              </a:rPr>
              <a:t> </a:t>
            </a:r>
            <a:r>
              <a:rPr sz="2800" dirty="0">
                <a:latin typeface="Arial MT"/>
                <a:cs typeface="Arial MT"/>
              </a:rPr>
              <a:t>writing</a:t>
            </a:r>
            <a:r>
              <a:rPr sz="2800" spc="-55" dirty="0">
                <a:latin typeface="Arial MT"/>
                <a:cs typeface="Arial MT"/>
              </a:rPr>
              <a:t> </a:t>
            </a:r>
            <a:r>
              <a:rPr sz="2800" dirty="0">
                <a:latin typeface="Arial MT"/>
                <a:cs typeface="Arial MT"/>
              </a:rPr>
              <a:t>to</a:t>
            </a:r>
            <a:r>
              <a:rPr sz="2800" spc="-60" dirty="0">
                <a:latin typeface="Arial MT"/>
                <a:cs typeface="Arial MT"/>
              </a:rPr>
              <a:t> </a:t>
            </a:r>
            <a:r>
              <a:rPr sz="2800" spc="-10" dirty="0">
                <a:latin typeface="Arial MT"/>
                <a:cs typeface="Arial MT"/>
              </a:rPr>
              <a:t>output.</a:t>
            </a:r>
            <a:endParaRPr sz="2800" dirty="0">
              <a:latin typeface="Arial MT"/>
              <a:cs typeface="Arial MT"/>
            </a:endParaRPr>
          </a:p>
          <a:p>
            <a:pPr marL="354965" indent="-342265">
              <a:spcBef>
                <a:spcPts val="720"/>
              </a:spcBef>
              <a:buChar char="•"/>
              <a:tabLst>
                <a:tab pos="354965" algn="l"/>
              </a:tabLst>
            </a:pPr>
            <a:r>
              <a:rPr sz="2800" dirty="0">
                <a:latin typeface="Arial MT"/>
                <a:cs typeface="Arial MT"/>
              </a:rPr>
              <a:t>I/O</a:t>
            </a:r>
            <a:r>
              <a:rPr sz="2800" spc="-90" dirty="0">
                <a:latin typeface="Arial MT"/>
                <a:cs typeface="Arial MT"/>
              </a:rPr>
              <a:t> </a:t>
            </a:r>
            <a:r>
              <a:rPr sz="2800" dirty="0">
                <a:latin typeface="Arial MT"/>
                <a:cs typeface="Arial MT"/>
              </a:rPr>
              <a:t>considerably</a:t>
            </a:r>
            <a:r>
              <a:rPr sz="2800" spc="-75" dirty="0">
                <a:latin typeface="Arial MT"/>
                <a:cs typeface="Arial MT"/>
              </a:rPr>
              <a:t> </a:t>
            </a:r>
            <a:r>
              <a:rPr sz="2800" dirty="0">
                <a:latin typeface="Arial MT"/>
                <a:cs typeface="Arial MT"/>
              </a:rPr>
              <a:t>slower</a:t>
            </a:r>
            <a:r>
              <a:rPr sz="2800" spc="-75" dirty="0">
                <a:latin typeface="Arial MT"/>
                <a:cs typeface="Arial MT"/>
              </a:rPr>
              <a:t> </a:t>
            </a:r>
            <a:r>
              <a:rPr sz="2800" dirty="0">
                <a:latin typeface="Arial MT"/>
                <a:cs typeface="Arial MT"/>
              </a:rPr>
              <a:t>than</a:t>
            </a:r>
            <a:r>
              <a:rPr sz="2800" spc="-80" dirty="0">
                <a:latin typeface="Arial MT"/>
                <a:cs typeface="Arial MT"/>
              </a:rPr>
              <a:t> </a:t>
            </a:r>
            <a:r>
              <a:rPr sz="2800" spc="-10" dirty="0">
                <a:latin typeface="Arial MT"/>
                <a:cs typeface="Arial MT"/>
              </a:rPr>
              <a:t>execution</a:t>
            </a:r>
            <a:endParaRPr sz="2800" dirty="0">
              <a:latin typeface="Arial MT"/>
              <a:cs typeface="Arial MT"/>
            </a:endParaRPr>
          </a:p>
          <a:p>
            <a:pPr marL="469900">
              <a:spcBef>
                <a:spcPts val="610"/>
              </a:spcBef>
            </a:pPr>
            <a:r>
              <a:rPr sz="3600" baseline="3472" dirty="0">
                <a:latin typeface="Arial MT"/>
                <a:cs typeface="Arial MT"/>
              </a:rPr>
              <a:t>–</a:t>
            </a:r>
            <a:r>
              <a:rPr sz="3600" spc="247" baseline="3472" dirty="0">
                <a:latin typeface="Arial MT"/>
                <a:cs typeface="Arial MT"/>
              </a:rPr>
              <a:t> </a:t>
            </a:r>
            <a:r>
              <a:rPr sz="2400" dirty="0">
                <a:latin typeface="Arial MT"/>
                <a:cs typeface="Arial MT"/>
              </a:rPr>
              <a:t>Magnetic</a:t>
            </a:r>
            <a:r>
              <a:rPr sz="2400" spc="-60" dirty="0">
                <a:latin typeface="Arial MT"/>
                <a:cs typeface="Arial MT"/>
              </a:rPr>
              <a:t> </a:t>
            </a:r>
            <a:r>
              <a:rPr sz="2400" dirty="0">
                <a:latin typeface="Arial MT"/>
                <a:cs typeface="Arial MT"/>
              </a:rPr>
              <a:t>tapes</a:t>
            </a:r>
            <a:r>
              <a:rPr sz="2400" spc="-60" dirty="0">
                <a:latin typeface="Arial MT"/>
                <a:cs typeface="Arial MT"/>
              </a:rPr>
              <a:t> </a:t>
            </a:r>
            <a:r>
              <a:rPr sz="2400" dirty="0">
                <a:latin typeface="Arial MT"/>
                <a:cs typeface="Arial MT"/>
              </a:rPr>
              <a:t>were</a:t>
            </a:r>
            <a:r>
              <a:rPr sz="2400" spc="-60" dirty="0">
                <a:latin typeface="Arial MT"/>
                <a:cs typeface="Arial MT"/>
              </a:rPr>
              <a:t> </a:t>
            </a:r>
            <a:r>
              <a:rPr sz="2400" dirty="0">
                <a:latin typeface="Arial MT"/>
                <a:cs typeface="Arial MT"/>
              </a:rPr>
              <a:t>best</a:t>
            </a:r>
            <a:r>
              <a:rPr sz="2400" spc="-50" dirty="0">
                <a:latin typeface="Arial MT"/>
                <a:cs typeface="Arial MT"/>
              </a:rPr>
              <a:t> </a:t>
            </a:r>
            <a:r>
              <a:rPr sz="2400" dirty="0">
                <a:latin typeface="Arial MT"/>
                <a:cs typeface="Arial MT"/>
              </a:rPr>
              <a:t>read</a:t>
            </a:r>
            <a:r>
              <a:rPr sz="2400" spc="-60" dirty="0">
                <a:latin typeface="Arial MT"/>
                <a:cs typeface="Arial MT"/>
              </a:rPr>
              <a:t> </a:t>
            </a:r>
            <a:r>
              <a:rPr sz="2400" spc="-10" dirty="0">
                <a:latin typeface="Arial MT"/>
                <a:cs typeface="Arial MT"/>
              </a:rPr>
              <a:t>sequentially</a:t>
            </a:r>
            <a:endParaRPr sz="2400" dirty="0">
              <a:latin typeface="Arial MT"/>
              <a:cs typeface="Arial MT"/>
            </a:endParaRPr>
          </a:p>
          <a:p>
            <a:pPr marL="354965" indent="-342265">
              <a:spcBef>
                <a:spcPts val="710"/>
              </a:spcBef>
              <a:buChar char="•"/>
              <a:tabLst>
                <a:tab pos="354965" algn="l"/>
              </a:tabLst>
            </a:pPr>
            <a:r>
              <a:rPr sz="2800" dirty="0">
                <a:latin typeface="Arial MT"/>
                <a:cs typeface="Arial MT"/>
              </a:rPr>
              <a:t>Therefore</a:t>
            </a:r>
            <a:r>
              <a:rPr sz="2800" spc="-90" dirty="0">
                <a:latin typeface="Arial MT"/>
                <a:cs typeface="Arial MT"/>
              </a:rPr>
              <a:t> </a:t>
            </a:r>
            <a:r>
              <a:rPr sz="2800" dirty="0">
                <a:latin typeface="Arial MT"/>
                <a:cs typeface="Arial MT"/>
              </a:rPr>
              <a:t>programmer</a:t>
            </a:r>
            <a:r>
              <a:rPr sz="2800" spc="-85" dirty="0">
                <a:latin typeface="Arial MT"/>
                <a:cs typeface="Arial MT"/>
              </a:rPr>
              <a:t> </a:t>
            </a:r>
            <a:r>
              <a:rPr sz="2800" dirty="0">
                <a:latin typeface="Arial MT"/>
                <a:cs typeface="Arial MT"/>
              </a:rPr>
              <a:t>must</a:t>
            </a:r>
            <a:r>
              <a:rPr sz="2800" spc="-90" dirty="0">
                <a:latin typeface="Arial MT"/>
                <a:cs typeface="Arial MT"/>
              </a:rPr>
              <a:t> </a:t>
            </a:r>
            <a:r>
              <a:rPr sz="2800" dirty="0">
                <a:latin typeface="Arial MT"/>
                <a:cs typeface="Arial MT"/>
              </a:rPr>
              <a:t>wait</a:t>
            </a:r>
            <a:r>
              <a:rPr sz="2800" spc="-90" dirty="0">
                <a:latin typeface="Arial MT"/>
                <a:cs typeface="Arial MT"/>
              </a:rPr>
              <a:t> </a:t>
            </a:r>
            <a:r>
              <a:rPr sz="2800" dirty="0">
                <a:latin typeface="Arial MT"/>
                <a:cs typeface="Arial MT"/>
              </a:rPr>
              <a:t>for</a:t>
            </a:r>
            <a:r>
              <a:rPr sz="2800" spc="-85" dirty="0">
                <a:latin typeface="Arial MT"/>
                <a:cs typeface="Arial MT"/>
              </a:rPr>
              <a:t> </a:t>
            </a:r>
            <a:r>
              <a:rPr sz="2800" dirty="0">
                <a:latin typeface="Arial MT"/>
                <a:cs typeface="Arial MT"/>
              </a:rPr>
              <a:t>long</a:t>
            </a:r>
            <a:r>
              <a:rPr sz="2800" spc="-90" dirty="0">
                <a:latin typeface="Arial MT"/>
                <a:cs typeface="Arial MT"/>
              </a:rPr>
              <a:t> </a:t>
            </a:r>
            <a:r>
              <a:rPr sz="2800" spc="-20" dirty="0">
                <a:latin typeface="Arial MT"/>
                <a:cs typeface="Arial MT"/>
              </a:rPr>
              <a:t>time</a:t>
            </a:r>
            <a:endParaRPr sz="2800" dirty="0">
              <a:latin typeface="Arial MT"/>
              <a:cs typeface="Arial MT"/>
            </a:endParaRPr>
          </a:p>
        </p:txBody>
      </p:sp>
      <p:pic>
        <p:nvPicPr>
          <p:cNvPr id="9" name="Picture 8">
            <a:extLst>
              <a:ext uri="{FF2B5EF4-FFF2-40B4-BE49-F238E27FC236}">
                <a16:creationId xmlns:a16="http://schemas.microsoft.com/office/drawing/2014/main" id="{43A79658-9C5B-A277-A0A2-69101C31E387}"/>
              </a:ext>
            </a:extLst>
          </p:cNvPr>
          <p:cNvPicPr>
            <a:picLocks noChangeAspect="1"/>
          </p:cNvPicPr>
          <p:nvPr/>
        </p:nvPicPr>
        <p:blipFill>
          <a:blip r:embed="rId2"/>
          <a:stretch>
            <a:fillRect/>
          </a:stretch>
        </p:blipFill>
        <p:spPr>
          <a:xfrm>
            <a:off x="1956575" y="5600403"/>
            <a:ext cx="6317527" cy="95258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4739" y="245618"/>
            <a:ext cx="10515600" cy="689932"/>
          </a:xfrm>
          <a:prstGeom prst="rect">
            <a:avLst/>
          </a:prstGeom>
        </p:spPr>
        <p:txBody>
          <a:bodyPr vert="horz" wrap="square" lIns="0" tIns="12700" rIns="0" bIns="0" rtlCol="0" anchor="ctr">
            <a:spAutoFit/>
          </a:bodyPr>
          <a:lstStyle/>
          <a:p>
            <a:pPr marL="795020" algn="ctr">
              <a:lnSpc>
                <a:spcPct val="100000"/>
              </a:lnSpc>
              <a:spcBef>
                <a:spcPts val="100"/>
              </a:spcBef>
            </a:pPr>
            <a:r>
              <a:rPr b="1" dirty="0">
                <a:solidFill>
                  <a:srgbClr val="C00000"/>
                </a:solidFill>
              </a:rPr>
              <a:t>Gen 3 : Mini computers</a:t>
            </a:r>
          </a:p>
        </p:txBody>
      </p:sp>
      <p:sp>
        <p:nvSpPr>
          <p:cNvPr id="3" name="object 3"/>
          <p:cNvSpPr txBox="1">
            <a:spLocks noGrp="1"/>
          </p:cNvSpPr>
          <p:nvPr>
            <p:ph type="body" idx="1"/>
          </p:nvPr>
        </p:nvSpPr>
        <p:spPr>
          <a:prstGeom prst="rect">
            <a:avLst/>
          </a:prstGeom>
        </p:spPr>
        <p:txBody>
          <a:bodyPr vert="horz" wrap="square" lIns="0" tIns="102870" rIns="0" bIns="0" rtlCol="0">
            <a:spAutoFit/>
          </a:bodyPr>
          <a:lstStyle/>
          <a:p>
            <a:pPr marL="354965" indent="-342265">
              <a:lnSpc>
                <a:spcPct val="100000"/>
              </a:lnSpc>
              <a:spcBef>
                <a:spcPts val="810"/>
              </a:spcBef>
              <a:tabLst>
                <a:tab pos="354965" algn="l"/>
              </a:tabLst>
            </a:pPr>
            <a:r>
              <a:rPr spc="-10" dirty="0"/>
              <a:t>Hardware</a:t>
            </a:r>
            <a:endParaRPr dirty="0"/>
          </a:p>
          <a:p>
            <a:pPr marL="754380" lvl="1" indent="-284480">
              <a:lnSpc>
                <a:spcPct val="100000"/>
              </a:lnSpc>
              <a:spcBef>
                <a:spcPts val="610"/>
              </a:spcBef>
              <a:buChar char="–"/>
              <a:tabLst>
                <a:tab pos="754380" algn="l"/>
              </a:tabLst>
            </a:pPr>
            <a:r>
              <a:rPr dirty="0">
                <a:latin typeface="Arial MT"/>
                <a:cs typeface="Arial MT"/>
              </a:rPr>
              <a:t>SSI/MSI/LSI</a:t>
            </a:r>
            <a:r>
              <a:rPr spc="-70" dirty="0">
                <a:latin typeface="Arial MT"/>
                <a:cs typeface="Arial MT"/>
              </a:rPr>
              <a:t> </a:t>
            </a:r>
            <a:r>
              <a:rPr spc="-25" dirty="0">
                <a:latin typeface="Arial MT"/>
                <a:cs typeface="Arial MT"/>
              </a:rPr>
              <a:t>ICs</a:t>
            </a:r>
            <a:endParaRPr dirty="0">
              <a:latin typeface="Arial MT"/>
              <a:cs typeface="Arial MT"/>
            </a:endParaRPr>
          </a:p>
          <a:p>
            <a:pPr marL="754380" lvl="1" indent="-284480">
              <a:lnSpc>
                <a:spcPct val="100000"/>
              </a:lnSpc>
              <a:spcBef>
                <a:spcPts val="610"/>
              </a:spcBef>
              <a:buChar char="–"/>
              <a:tabLst>
                <a:tab pos="754380" algn="l"/>
              </a:tabLst>
            </a:pPr>
            <a:r>
              <a:rPr dirty="0">
                <a:latin typeface="Arial MT"/>
                <a:cs typeface="Arial MT"/>
              </a:rPr>
              <a:t>Random</a:t>
            </a:r>
            <a:r>
              <a:rPr spc="-100" dirty="0">
                <a:latin typeface="Arial MT"/>
                <a:cs typeface="Arial MT"/>
              </a:rPr>
              <a:t> </a:t>
            </a:r>
            <a:r>
              <a:rPr dirty="0">
                <a:latin typeface="Arial MT"/>
                <a:cs typeface="Arial MT"/>
              </a:rPr>
              <a:t>access</a:t>
            </a:r>
            <a:r>
              <a:rPr spc="-110" dirty="0">
                <a:latin typeface="Arial MT"/>
                <a:cs typeface="Arial MT"/>
              </a:rPr>
              <a:t> </a:t>
            </a:r>
            <a:r>
              <a:rPr spc="-10" dirty="0">
                <a:latin typeface="Arial MT"/>
                <a:cs typeface="Arial MT"/>
              </a:rPr>
              <a:t>memories</a:t>
            </a:r>
            <a:endParaRPr dirty="0">
              <a:latin typeface="Arial MT"/>
              <a:cs typeface="Arial MT"/>
            </a:endParaRPr>
          </a:p>
          <a:p>
            <a:pPr marL="754380" lvl="1" indent="-284480">
              <a:lnSpc>
                <a:spcPct val="100000"/>
              </a:lnSpc>
              <a:spcBef>
                <a:spcPts val="620"/>
              </a:spcBef>
              <a:buChar char="–"/>
              <a:tabLst>
                <a:tab pos="754380" algn="l"/>
                <a:tab pos="2212975" algn="l"/>
              </a:tabLst>
            </a:pPr>
            <a:r>
              <a:rPr spc="-10" dirty="0">
                <a:latin typeface="Arial MT"/>
                <a:cs typeface="Arial MT"/>
              </a:rPr>
              <a:t>Interrupts</a:t>
            </a:r>
            <a:r>
              <a:rPr dirty="0">
                <a:latin typeface="Arial MT"/>
                <a:cs typeface="Arial MT"/>
              </a:rPr>
              <a:t>	(used</a:t>
            </a:r>
            <a:r>
              <a:rPr spc="-90" dirty="0">
                <a:latin typeface="Arial MT"/>
                <a:cs typeface="Arial MT"/>
              </a:rPr>
              <a:t> </a:t>
            </a:r>
            <a:r>
              <a:rPr dirty="0">
                <a:latin typeface="Arial MT"/>
                <a:cs typeface="Arial MT"/>
              </a:rPr>
              <a:t>to</a:t>
            </a:r>
            <a:r>
              <a:rPr spc="-90" dirty="0">
                <a:latin typeface="Arial MT"/>
                <a:cs typeface="Arial MT"/>
              </a:rPr>
              <a:t> </a:t>
            </a:r>
            <a:r>
              <a:rPr dirty="0">
                <a:latin typeface="Arial MT"/>
                <a:cs typeface="Arial MT"/>
              </a:rPr>
              <a:t>simulate</a:t>
            </a:r>
            <a:r>
              <a:rPr spc="-95" dirty="0">
                <a:latin typeface="Arial MT"/>
                <a:cs typeface="Arial MT"/>
              </a:rPr>
              <a:t> </a:t>
            </a:r>
            <a:r>
              <a:rPr dirty="0">
                <a:latin typeface="Arial MT"/>
                <a:cs typeface="Arial MT"/>
              </a:rPr>
              <a:t>concurrent</a:t>
            </a:r>
            <a:r>
              <a:rPr spc="-80" dirty="0">
                <a:latin typeface="Arial MT"/>
                <a:cs typeface="Arial MT"/>
              </a:rPr>
              <a:t> </a:t>
            </a:r>
            <a:r>
              <a:rPr spc="-10" dirty="0">
                <a:latin typeface="Arial MT"/>
                <a:cs typeface="Arial MT"/>
              </a:rPr>
              <a:t>execution)</a:t>
            </a:r>
            <a:endParaRPr dirty="0">
              <a:latin typeface="Arial MT"/>
              <a:cs typeface="Arial MT"/>
            </a:endParaRPr>
          </a:p>
          <a:p>
            <a:pPr marL="354965" indent="-342265">
              <a:lnSpc>
                <a:spcPct val="100000"/>
              </a:lnSpc>
              <a:spcBef>
                <a:spcPts val="700"/>
              </a:spcBef>
              <a:tabLst>
                <a:tab pos="354965" algn="l"/>
              </a:tabLst>
            </a:pPr>
            <a:r>
              <a:rPr dirty="0"/>
              <a:t>User</a:t>
            </a:r>
            <a:r>
              <a:rPr spc="-65" dirty="0"/>
              <a:t> </a:t>
            </a:r>
            <a:r>
              <a:rPr spc="-10" dirty="0"/>
              <a:t>Programs</a:t>
            </a:r>
            <a:endParaRPr dirty="0"/>
          </a:p>
          <a:p>
            <a:pPr marL="754380" lvl="1" indent="-284480">
              <a:lnSpc>
                <a:spcPct val="100000"/>
              </a:lnSpc>
              <a:spcBef>
                <a:spcPts val="620"/>
              </a:spcBef>
              <a:buChar char="–"/>
              <a:tabLst>
                <a:tab pos="754380" algn="l"/>
              </a:tabLst>
            </a:pPr>
            <a:r>
              <a:rPr dirty="0">
                <a:latin typeface="Arial MT"/>
                <a:cs typeface="Arial MT"/>
              </a:rPr>
              <a:t>High</a:t>
            </a:r>
            <a:r>
              <a:rPr spc="-85" dirty="0">
                <a:latin typeface="Arial MT"/>
                <a:cs typeface="Arial MT"/>
              </a:rPr>
              <a:t> </a:t>
            </a:r>
            <a:r>
              <a:rPr dirty="0">
                <a:latin typeface="Arial MT"/>
                <a:cs typeface="Arial MT"/>
              </a:rPr>
              <a:t>level</a:t>
            </a:r>
            <a:r>
              <a:rPr spc="-80" dirty="0">
                <a:latin typeface="Arial MT"/>
                <a:cs typeface="Arial MT"/>
              </a:rPr>
              <a:t> </a:t>
            </a:r>
            <a:r>
              <a:rPr dirty="0">
                <a:latin typeface="Arial MT"/>
                <a:cs typeface="Arial MT"/>
              </a:rPr>
              <a:t>languages</a:t>
            </a:r>
            <a:r>
              <a:rPr spc="-75" dirty="0">
                <a:latin typeface="Arial MT"/>
                <a:cs typeface="Arial MT"/>
              </a:rPr>
              <a:t> </a:t>
            </a:r>
            <a:r>
              <a:rPr dirty="0">
                <a:latin typeface="Arial MT"/>
                <a:cs typeface="Arial MT"/>
              </a:rPr>
              <a:t>(Fotran,</a:t>
            </a:r>
            <a:r>
              <a:rPr spc="-80" dirty="0">
                <a:latin typeface="Arial MT"/>
                <a:cs typeface="Arial MT"/>
              </a:rPr>
              <a:t> </a:t>
            </a:r>
            <a:r>
              <a:rPr dirty="0">
                <a:latin typeface="Arial MT"/>
                <a:cs typeface="Arial MT"/>
              </a:rPr>
              <a:t>COBOL,</a:t>
            </a:r>
            <a:r>
              <a:rPr spc="-65" dirty="0">
                <a:latin typeface="Arial MT"/>
                <a:cs typeface="Arial MT"/>
              </a:rPr>
              <a:t> </a:t>
            </a:r>
            <a:r>
              <a:rPr dirty="0">
                <a:latin typeface="Arial MT"/>
                <a:cs typeface="Arial MT"/>
              </a:rPr>
              <a:t>C,</a:t>
            </a:r>
            <a:r>
              <a:rPr spc="-70" dirty="0">
                <a:latin typeface="Arial MT"/>
                <a:cs typeface="Arial MT"/>
              </a:rPr>
              <a:t> </a:t>
            </a:r>
            <a:r>
              <a:rPr spc="-25" dirty="0">
                <a:latin typeface="Arial MT"/>
                <a:cs typeface="Arial MT"/>
              </a:rPr>
              <a:t>…)</a:t>
            </a:r>
            <a:endParaRPr dirty="0">
              <a:latin typeface="Arial MT"/>
              <a:cs typeface="Arial MT"/>
            </a:endParaRPr>
          </a:p>
          <a:p>
            <a:pPr marL="354965" indent="-342265">
              <a:lnSpc>
                <a:spcPct val="100000"/>
              </a:lnSpc>
              <a:spcBef>
                <a:spcPts val="700"/>
              </a:spcBef>
              <a:tabLst>
                <a:tab pos="354965" algn="l"/>
              </a:tabLst>
            </a:pPr>
            <a:r>
              <a:rPr dirty="0">
                <a:solidFill>
                  <a:srgbClr val="FF0000"/>
                </a:solidFill>
              </a:rPr>
              <a:t>Operating</a:t>
            </a:r>
            <a:r>
              <a:rPr spc="-125" dirty="0">
                <a:solidFill>
                  <a:srgbClr val="FF0000"/>
                </a:solidFill>
              </a:rPr>
              <a:t> </a:t>
            </a:r>
            <a:r>
              <a:rPr spc="-10" dirty="0">
                <a:solidFill>
                  <a:srgbClr val="FF0000"/>
                </a:solidFill>
              </a:rPr>
              <a:t>Systems</a:t>
            </a:r>
            <a:endParaRPr dirty="0">
              <a:solidFill>
                <a:srgbClr val="FF0000"/>
              </a:solidFill>
            </a:endParaRPr>
          </a:p>
          <a:p>
            <a:pPr marL="754380" lvl="1" indent="-284480">
              <a:lnSpc>
                <a:spcPct val="100000"/>
              </a:lnSpc>
              <a:spcBef>
                <a:spcPts val="620"/>
              </a:spcBef>
              <a:buChar char="–"/>
              <a:tabLst>
                <a:tab pos="754380" algn="l"/>
              </a:tabLst>
            </a:pPr>
            <a:r>
              <a:rPr spc="-10" dirty="0">
                <a:solidFill>
                  <a:srgbClr val="FF0000"/>
                </a:solidFill>
                <a:latin typeface="Arial MT"/>
                <a:cs typeface="Arial MT"/>
              </a:rPr>
              <a:t>Multiprogramming</a:t>
            </a:r>
            <a:endParaRPr dirty="0">
              <a:solidFill>
                <a:srgbClr val="FF0000"/>
              </a:solidFill>
              <a:latin typeface="Arial MT"/>
              <a:cs typeface="Arial MT"/>
            </a:endParaRPr>
          </a:p>
          <a:p>
            <a:pPr marL="754380" lvl="1" indent="-284480">
              <a:lnSpc>
                <a:spcPct val="100000"/>
              </a:lnSpc>
              <a:spcBef>
                <a:spcPts val="610"/>
              </a:spcBef>
              <a:buChar char="–"/>
              <a:tabLst>
                <a:tab pos="754380" algn="l"/>
              </a:tabLst>
            </a:pPr>
            <a:r>
              <a:rPr spc="-10" dirty="0">
                <a:solidFill>
                  <a:srgbClr val="FF0000"/>
                </a:solidFill>
                <a:latin typeface="Arial MT"/>
                <a:cs typeface="Arial MT"/>
              </a:rPr>
              <a:t>Spooling</a:t>
            </a:r>
            <a:endParaRPr dirty="0">
              <a:solidFill>
                <a:srgbClr val="FF0000"/>
              </a:solidFill>
              <a:latin typeface="Arial MT"/>
              <a:cs typeface="Arial M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316355">
              <a:lnSpc>
                <a:spcPct val="100000"/>
              </a:lnSpc>
              <a:spcBef>
                <a:spcPts val="100"/>
              </a:spcBef>
            </a:pPr>
            <a:r>
              <a:rPr b="1" spc="-10" dirty="0">
                <a:solidFill>
                  <a:srgbClr val="FF0000"/>
                </a:solidFill>
              </a:rPr>
              <a:t>Multiprogramming</a:t>
            </a:r>
          </a:p>
        </p:txBody>
      </p:sp>
      <p:grpSp>
        <p:nvGrpSpPr>
          <p:cNvPr id="3" name="object 3"/>
          <p:cNvGrpSpPr/>
          <p:nvPr/>
        </p:nvGrpSpPr>
        <p:grpSpPr>
          <a:xfrm>
            <a:off x="7239000" y="4114800"/>
            <a:ext cx="1219200" cy="1219200"/>
            <a:chOff x="5715000" y="4114800"/>
            <a:chExt cx="1219200" cy="1219200"/>
          </a:xfrm>
        </p:grpSpPr>
        <p:sp>
          <p:nvSpPr>
            <p:cNvPr id="4" name="object 4"/>
            <p:cNvSpPr/>
            <p:nvPr/>
          </p:nvSpPr>
          <p:spPr>
            <a:xfrm>
              <a:off x="5715000" y="4114800"/>
              <a:ext cx="1219200" cy="304800"/>
            </a:xfrm>
            <a:custGeom>
              <a:avLst/>
              <a:gdLst/>
              <a:ahLst/>
              <a:cxnLst/>
              <a:rect l="l" t="t" r="r" b="b"/>
              <a:pathLst>
                <a:path w="1219200" h="304800">
                  <a:moveTo>
                    <a:pt x="1219200" y="0"/>
                  </a:moveTo>
                  <a:lnTo>
                    <a:pt x="0" y="0"/>
                  </a:lnTo>
                  <a:lnTo>
                    <a:pt x="0" y="304800"/>
                  </a:lnTo>
                  <a:lnTo>
                    <a:pt x="609600" y="304800"/>
                  </a:lnTo>
                  <a:lnTo>
                    <a:pt x="1219200" y="304800"/>
                  </a:lnTo>
                  <a:lnTo>
                    <a:pt x="1219200" y="0"/>
                  </a:lnTo>
                  <a:close/>
                </a:path>
              </a:pathLst>
            </a:custGeom>
            <a:solidFill>
              <a:srgbClr val="C6C5D7"/>
            </a:solidFill>
          </p:spPr>
          <p:txBody>
            <a:bodyPr wrap="square" lIns="0" tIns="0" rIns="0" bIns="0" rtlCol="0"/>
            <a:lstStyle/>
            <a:p>
              <a:endParaRPr/>
            </a:p>
          </p:txBody>
        </p:sp>
        <p:sp>
          <p:nvSpPr>
            <p:cNvPr id="5" name="object 5"/>
            <p:cNvSpPr/>
            <p:nvPr/>
          </p:nvSpPr>
          <p:spPr>
            <a:xfrm>
              <a:off x="5715000" y="4419599"/>
              <a:ext cx="1219200" cy="914400"/>
            </a:xfrm>
            <a:custGeom>
              <a:avLst/>
              <a:gdLst/>
              <a:ahLst/>
              <a:cxnLst/>
              <a:rect l="l" t="t" r="r" b="b"/>
              <a:pathLst>
                <a:path w="1219200" h="914400">
                  <a:moveTo>
                    <a:pt x="1219200" y="0"/>
                  </a:moveTo>
                  <a:lnTo>
                    <a:pt x="0" y="0"/>
                  </a:lnTo>
                  <a:lnTo>
                    <a:pt x="0" y="304800"/>
                  </a:lnTo>
                  <a:lnTo>
                    <a:pt x="0" y="609600"/>
                  </a:lnTo>
                  <a:lnTo>
                    <a:pt x="0" y="914400"/>
                  </a:lnTo>
                  <a:lnTo>
                    <a:pt x="609600" y="914400"/>
                  </a:lnTo>
                  <a:lnTo>
                    <a:pt x="1219200" y="914400"/>
                  </a:lnTo>
                  <a:lnTo>
                    <a:pt x="1219200" y="609600"/>
                  </a:lnTo>
                  <a:lnTo>
                    <a:pt x="1219200" y="304800"/>
                  </a:lnTo>
                  <a:lnTo>
                    <a:pt x="1219200" y="0"/>
                  </a:lnTo>
                  <a:close/>
                </a:path>
              </a:pathLst>
            </a:custGeom>
            <a:solidFill>
              <a:srgbClr val="BADFE2"/>
            </a:solidFill>
          </p:spPr>
          <p:txBody>
            <a:bodyPr wrap="square" lIns="0" tIns="0" rIns="0" bIns="0" rtlCol="0"/>
            <a:lstStyle/>
            <a:p>
              <a:endParaRPr/>
            </a:p>
          </p:txBody>
        </p:sp>
      </p:grpSp>
      <p:graphicFrame>
        <p:nvGraphicFramePr>
          <p:cNvPr id="6" name="object 6"/>
          <p:cNvGraphicFramePr>
            <a:graphicFrameLocks noGrp="1"/>
          </p:cNvGraphicFramePr>
          <p:nvPr/>
        </p:nvGraphicFramePr>
        <p:xfrm>
          <a:off x="7234327" y="4110127"/>
          <a:ext cx="1219200" cy="1219200"/>
        </p:xfrm>
        <a:graphic>
          <a:graphicData uri="http://schemas.openxmlformats.org/drawingml/2006/table">
            <a:tbl>
              <a:tblPr firstRow="1" bandRow="1">
                <a:tableStyleId>{2D5ABB26-0587-4C30-8999-92F81FD0307C}</a:tableStyleId>
              </a:tblPr>
              <a:tblGrid>
                <a:gridCol w="1219200">
                  <a:extLst>
                    <a:ext uri="{9D8B030D-6E8A-4147-A177-3AD203B41FA5}">
                      <a16:colId xmlns:a16="http://schemas.microsoft.com/office/drawing/2014/main" val="20000"/>
                    </a:ext>
                  </a:extLst>
                </a:gridCol>
              </a:tblGrid>
              <a:tr h="304800">
                <a:tc>
                  <a:txBody>
                    <a:bodyPr/>
                    <a:lstStyle/>
                    <a:p>
                      <a:pPr algn="ctr">
                        <a:lnSpc>
                          <a:spcPct val="100000"/>
                        </a:lnSpc>
                        <a:spcBef>
                          <a:spcPts val="120"/>
                        </a:spcBef>
                      </a:pPr>
                      <a:r>
                        <a:rPr sz="1800" spc="-25" dirty="0">
                          <a:latin typeface="Arial MT"/>
                          <a:cs typeface="Arial MT"/>
                        </a:rPr>
                        <a:t>OS</a:t>
                      </a:r>
                      <a:endParaRPr sz="1800">
                        <a:latin typeface="Arial MT"/>
                        <a:cs typeface="Arial MT"/>
                      </a:endParaRPr>
                    </a:p>
                  </a:txBody>
                  <a:tcPr marL="0" marR="0" marT="1524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r h="304800">
                <a:tc>
                  <a:txBody>
                    <a:bodyPr/>
                    <a:lstStyle/>
                    <a:p>
                      <a:pPr algn="ctr">
                        <a:lnSpc>
                          <a:spcPct val="100000"/>
                        </a:lnSpc>
                        <a:spcBef>
                          <a:spcPts val="120"/>
                        </a:spcBef>
                      </a:pPr>
                      <a:r>
                        <a:rPr sz="1800" dirty="0">
                          <a:latin typeface="Arial MT"/>
                          <a:cs typeface="Arial MT"/>
                        </a:rPr>
                        <a:t>Job</a:t>
                      </a:r>
                      <a:r>
                        <a:rPr sz="1800" spc="-15" dirty="0">
                          <a:latin typeface="Arial MT"/>
                          <a:cs typeface="Arial MT"/>
                        </a:rPr>
                        <a:t> </a:t>
                      </a:r>
                      <a:r>
                        <a:rPr sz="1800" spc="-50" dirty="0">
                          <a:latin typeface="Arial MT"/>
                          <a:cs typeface="Arial MT"/>
                        </a:rPr>
                        <a:t>1</a:t>
                      </a:r>
                      <a:endParaRPr sz="1800">
                        <a:latin typeface="Arial MT"/>
                        <a:cs typeface="Arial MT"/>
                      </a:endParaRPr>
                    </a:p>
                  </a:txBody>
                  <a:tcPr marL="0" marR="0" marT="1524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r h="304800">
                <a:tc>
                  <a:txBody>
                    <a:bodyPr/>
                    <a:lstStyle/>
                    <a:p>
                      <a:pPr algn="ctr">
                        <a:lnSpc>
                          <a:spcPct val="100000"/>
                        </a:lnSpc>
                        <a:spcBef>
                          <a:spcPts val="120"/>
                        </a:spcBef>
                      </a:pPr>
                      <a:r>
                        <a:rPr sz="1800" dirty="0">
                          <a:latin typeface="Arial MT"/>
                          <a:cs typeface="Arial MT"/>
                        </a:rPr>
                        <a:t>Job</a:t>
                      </a:r>
                      <a:r>
                        <a:rPr sz="1800" spc="-15" dirty="0">
                          <a:latin typeface="Arial MT"/>
                          <a:cs typeface="Arial MT"/>
                        </a:rPr>
                        <a:t> </a:t>
                      </a:r>
                      <a:r>
                        <a:rPr sz="1800" spc="-50" dirty="0">
                          <a:latin typeface="Arial MT"/>
                          <a:cs typeface="Arial MT"/>
                        </a:rPr>
                        <a:t>2</a:t>
                      </a:r>
                      <a:endParaRPr sz="1800">
                        <a:latin typeface="Arial MT"/>
                        <a:cs typeface="Arial MT"/>
                      </a:endParaRPr>
                    </a:p>
                  </a:txBody>
                  <a:tcPr marL="0" marR="0" marT="1524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304800">
                <a:tc>
                  <a:txBody>
                    <a:bodyPr/>
                    <a:lstStyle/>
                    <a:p>
                      <a:pPr algn="ctr">
                        <a:lnSpc>
                          <a:spcPct val="100000"/>
                        </a:lnSpc>
                        <a:spcBef>
                          <a:spcPts val="120"/>
                        </a:spcBef>
                      </a:pPr>
                      <a:r>
                        <a:rPr sz="1800" dirty="0">
                          <a:latin typeface="Arial MT"/>
                          <a:cs typeface="Arial MT"/>
                        </a:rPr>
                        <a:t>Job</a:t>
                      </a:r>
                      <a:r>
                        <a:rPr sz="1800" spc="-15" dirty="0">
                          <a:latin typeface="Arial MT"/>
                          <a:cs typeface="Arial MT"/>
                        </a:rPr>
                        <a:t> </a:t>
                      </a:r>
                      <a:r>
                        <a:rPr sz="1800" spc="-50" dirty="0">
                          <a:latin typeface="Arial MT"/>
                          <a:cs typeface="Arial MT"/>
                        </a:rPr>
                        <a:t>3</a:t>
                      </a:r>
                      <a:endParaRPr sz="1800">
                        <a:latin typeface="Arial MT"/>
                        <a:cs typeface="Arial MT"/>
                      </a:endParaRPr>
                    </a:p>
                  </a:txBody>
                  <a:tcPr marL="0" marR="0" marT="1524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3"/>
                  </a:ext>
                </a:extLst>
              </a:tr>
            </a:tbl>
          </a:graphicData>
        </a:graphic>
      </p:graphicFrame>
      <p:grpSp>
        <p:nvGrpSpPr>
          <p:cNvPr id="7" name="object 7"/>
          <p:cNvGrpSpPr/>
          <p:nvPr/>
        </p:nvGrpSpPr>
        <p:grpSpPr>
          <a:xfrm>
            <a:off x="8453527" y="4262528"/>
            <a:ext cx="690880" cy="923925"/>
            <a:chOff x="6929527" y="4262527"/>
            <a:chExt cx="690880" cy="923925"/>
          </a:xfrm>
        </p:grpSpPr>
        <p:sp>
          <p:nvSpPr>
            <p:cNvPr id="8" name="object 8"/>
            <p:cNvSpPr/>
            <p:nvPr/>
          </p:nvSpPr>
          <p:spPr>
            <a:xfrm>
              <a:off x="6934199" y="4267200"/>
              <a:ext cx="533400" cy="914400"/>
            </a:xfrm>
            <a:custGeom>
              <a:avLst/>
              <a:gdLst/>
              <a:ahLst/>
              <a:cxnLst/>
              <a:rect l="l" t="t" r="r" b="b"/>
              <a:pathLst>
                <a:path w="533400" h="914400">
                  <a:moveTo>
                    <a:pt x="0" y="304800"/>
                  </a:moveTo>
                  <a:lnTo>
                    <a:pt x="533400" y="457200"/>
                  </a:lnTo>
                </a:path>
                <a:path w="533400" h="914400">
                  <a:moveTo>
                    <a:pt x="0" y="0"/>
                  </a:moveTo>
                  <a:lnTo>
                    <a:pt x="533400" y="457200"/>
                  </a:lnTo>
                </a:path>
                <a:path w="533400" h="914400">
                  <a:moveTo>
                    <a:pt x="0" y="609600"/>
                  </a:moveTo>
                  <a:lnTo>
                    <a:pt x="533400" y="457200"/>
                  </a:lnTo>
                </a:path>
                <a:path w="533400" h="914400">
                  <a:moveTo>
                    <a:pt x="0" y="914400"/>
                  </a:moveTo>
                  <a:lnTo>
                    <a:pt x="533400" y="457200"/>
                  </a:lnTo>
                </a:path>
              </a:pathLst>
            </a:custGeom>
            <a:ln w="9344">
              <a:solidFill>
                <a:srgbClr val="000000"/>
              </a:solidFill>
            </a:ln>
          </p:spPr>
          <p:txBody>
            <a:bodyPr wrap="square" lIns="0" tIns="0" rIns="0" bIns="0" rtlCol="0"/>
            <a:lstStyle/>
            <a:p>
              <a:endParaRPr/>
            </a:p>
          </p:txBody>
        </p:sp>
        <p:sp>
          <p:nvSpPr>
            <p:cNvPr id="9" name="object 9"/>
            <p:cNvSpPr/>
            <p:nvPr/>
          </p:nvSpPr>
          <p:spPr>
            <a:xfrm>
              <a:off x="7467599" y="4724400"/>
              <a:ext cx="82550" cy="0"/>
            </a:xfrm>
            <a:custGeom>
              <a:avLst/>
              <a:gdLst/>
              <a:ahLst/>
              <a:cxnLst/>
              <a:rect l="l" t="t" r="r" b="b"/>
              <a:pathLst>
                <a:path w="82550">
                  <a:moveTo>
                    <a:pt x="0" y="0"/>
                  </a:moveTo>
                  <a:lnTo>
                    <a:pt x="82550" y="0"/>
                  </a:lnTo>
                </a:path>
              </a:pathLst>
            </a:custGeom>
            <a:ln w="9344">
              <a:solidFill>
                <a:srgbClr val="000000"/>
              </a:solidFill>
            </a:ln>
          </p:spPr>
          <p:txBody>
            <a:bodyPr wrap="square" lIns="0" tIns="0" rIns="0" bIns="0" rtlCol="0"/>
            <a:lstStyle/>
            <a:p>
              <a:endParaRPr/>
            </a:p>
          </p:txBody>
        </p:sp>
        <p:sp>
          <p:nvSpPr>
            <p:cNvPr id="10" name="object 10"/>
            <p:cNvSpPr/>
            <p:nvPr/>
          </p:nvSpPr>
          <p:spPr>
            <a:xfrm>
              <a:off x="7545069" y="4686300"/>
              <a:ext cx="74930" cy="76200"/>
            </a:xfrm>
            <a:custGeom>
              <a:avLst/>
              <a:gdLst/>
              <a:ahLst/>
              <a:cxnLst/>
              <a:rect l="l" t="t" r="r" b="b"/>
              <a:pathLst>
                <a:path w="74929" h="76200">
                  <a:moveTo>
                    <a:pt x="0" y="0"/>
                  </a:moveTo>
                  <a:lnTo>
                    <a:pt x="0" y="76200"/>
                  </a:lnTo>
                  <a:lnTo>
                    <a:pt x="74929" y="38100"/>
                  </a:lnTo>
                  <a:lnTo>
                    <a:pt x="0" y="0"/>
                  </a:lnTo>
                  <a:close/>
                </a:path>
              </a:pathLst>
            </a:custGeom>
            <a:solidFill>
              <a:srgbClr val="000000"/>
            </a:solidFill>
          </p:spPr>
          <p:txBody>
            <a:bodyPr wrap="square" lIns="0" tIns="0" rIns="0" bIns="0" rtlCol="0"/>
            <a:lstStyle/>
            <a:p>
              <a:endParaRPr/>
            </a:p>
          </p:txBody>
        </p:sp>
      </p:grpSp>
      <p:sp>
        <p:nvSpPr>
          <p:cNvPr id="11" name="object 11"/>
          <p:cNvSpPr txBox="1"/>
          <p:nvPr/>
        </p:nvSpPr>
        <p:spPr>
          <a:xfrm>
            <a:off x="2059940" y="1544108"/>
            <a:ext cx="8173084" cy="4597412"/>
          </a:xfrm>
          <a:prstGeom prst="rect">
            <a:avLst/>
          </a:prstGeom>
        </p:spPr>
        <p:txBody>
          <a:bodyPr vert="horz" wrap="square" lIns="0" tIns="102870" rIns="0" bIns="0" rtlCol="0">
            <a:spAutoFit/>
          </a:bodyPr>
          <a:lstStyle/>
          <a:p>
            <a:pPr marL="354965" indent="-342265">
              <a:spcBef>
                <a:spcPts val="810"/>
              </a:spcBef>
              <a:buChar char="•"/>
              <a:tabLst>
                <a:tab pos="354965" algn="l"/>
              </a:tabLst>
            </a:pPr>
            <a:r>
              <a:rPr sz="2800" dirty="0">
                <a:latin typeface="Arial MT"/>
                <a:cs typeface="Arial MT"/>
              </a:rPr>
              <a:t>Multiple</a:t>
            </a:r>
            <a:r>
              <a:rPr sz="2800" spc="-65" dirty="0">
                <a:latin typeface="Arial MT"/>
                <a:cs typeface="Arial MT"/>
              </a:rPr>
              <a:t> </a:t>
            </a:r>
            <a:r>
              <a:rPr sz="2800" dirty="0">
                <a:latin typeface="Arial MT"/>
                <a:cs typeface="Arial MT"/>
              </a:rPr>
              <a:t>jobs</a:t>
            </a:r>
            <a:r>
              <a:rPr sz="2800" spc="-60" dirty="0">
                <a:latin typeface="Arial MT"/>
                <a:cs typeface="Arial MT"/>
              </a:rPr>
              <a:t> </a:t>
            </a:r>
            <a:r>
              <a:rPr sz="2800" dirty="0">
                <a:latin typeface="Arial MT"/>
                <a:cs typeface="Arial MT"/>
              </a:rPr>
              <a:t>in</a:t>
            </a:r>
            <a:r>
              <a:rPr sz="2800" spc="-65" dirty="0">
                <a:latin typeface="Arial MT"/>
                <a:cs typeface="Arial MT"/>
              </a:rPr>
              <a:t> </a:t>
            </a:r>
            <a:r>
              <a:rPr sz="2800" spc="-10" dirty="0">
                <a:latin typeface="Arial MT"/>
                <a:cs typeface="Arial MT"/>
              </a:rPr>
              <a:t>memory</a:t>
            </a:r>
            <a:endParaRPr sz="2800">
              <a:latin typeface="Arial MT"/>
              <a:cs typeface="Arial MT"/>
            </a:endParaRPr>
          </a:p>
          <a:p>
            <a:pPr marL="754380" lvl="1" indent="-284480">
              <a:spcBef>
                <a:spcPts val="610"/>
              </a:spcBef>
              <a:buChar char="–"/>
              <a:tabLst>
                <a:tab pos="754380" algn="l"/>
              </a:tabLst>
            </a:pPr>
            <a:r>
              <a:rPr sz="2400" dirty="0">
                <a:latin typeface="Arial MT"/>
                <a:cs typeface="Arial MT"/>
              </a:rPr>
              <a:t>When</a:t>
            </a:r>
            <a:r>
              <a:rPr sz="2400" spc="-45" dirty="0">
                <a:latin typeface="Arial MT"/>
                <a:cs typeface="Arial MT"/>
              </a:rPr>
              <a:t> </a:t>
            </a:r>
            <a:r>
              <a:rPr sz="2400" dirty="0">
                <a:latin typeface="Arial MT"/>
                <a:cs typeface="Arial MT"/>
              </a:rPr>
              <a:t>one</a:t>
            </a:r>
            <a:r>
              <a:rPr sz="2400" spc="-45" dirty="0">
                <a:latin typeface="Arial MT"/>
                <a:cs typeface="Arial MT"/>
              </a:rPr>
              <a:t> </a:t>
            </a:r>
            <a:r>
              <a:rPr sz="2400" dirty="0">
                <a:latin typeface="Arial MT"/>
                <a:cs typeface="Arial MT"/>
              </a:rPr>
              <a:t>waits</a:t>
            </a:r>
            <a:r>
              <a:rPr sz="2400" spc="-40" dirty="0">
                <a:latin typeface="Arial MT"/>
                <a:cs typeface="Arial MT"/>
              </a:rPr>
              <a:t> </a:t>
            </a:r>
            <a:r>
              <a:rPr sz="2400" dirty="0">
                <a:latin typeface="Arial MT"/>
                <a:cs typeface="Arial MT"/>
              </a:rPr>
              <a:t>for</a:t>
            </a:r>
            <a:r>
              <a:rPr sz="2400" spc="-30" dirty="0">
                <a:latin typeface="Arial MT"/>
                <a:cs typeface="Arial MT"/>
              </a:rPr>
              <a:t> </a:t>
            </a:r>
            <a:r>
              <a:rPr sz="2400" dirty="0">
                <a:latin typeface="Arial MT"/>
                <a:cs typeface="Arial MT"/>
              </a:rPr>
              <a:t>I/O</a:t>
            </a:r>
            <a:r>
              <a:rPr sz="2400" spc="-40" dirty="0">
                <a:latin typeface="Arial MT"/>
                <a:cs typeface="Arial MT"/>
              </a:rPr>
              <a:t> </a:t>
            </a:r>
            <a:r>
              <a:rPr sz="2400" dirty="0">
                <a:latin typeface="Arial MT"/>
                <a:cs typeface="Arial MT"/>
              </a:rPr>
              <a:t>the</a:t>
            </a:r>
            <a:r>
              <a:rPr sz="2400" spc="-40" dirty="0">
                <a:latin typeface="Arial MT"/>
                <a:cs typeface="Arial MT"/>
              </a:rPr>
              <a:t> </a:t>
            </a:r>
            <a:r>
              <a:rPr sz="2400" dirty="0">
                <a:latin typeface="Arial MT"/>
                <a:cs typeface="Arial MT"/>
              </a:rPr>
              <a:t>next</a:t>
            </a:r>
            <a:r>
              <a:rPr sz="2400" spc="-30" dirty="0">
                <a:latin typeface="Arial MT"/>
                <a:cs typeface="Arial MT"/>
              </a:rPr>
              <a:t> </a:t>
            </a:r>
            <a:r>
              <a:rPr sz="2400" dirty="0">
                <a:latin typeface="Arial MT"/>
                <a:cs typeface="Arial MT"/>
              </a:rPr>
              <a:t>job</a:t>
            </a:r>
            <a:r>
              <a:rPr sz="2400" spc="-45" dirty="0">
                <a:latin typeface="Arial MT"/>
                <a:cs typeface="Arial MT"/>
              </a:rPr>
              <a:t> </a:t>
            </a:r>
            <a:r>
              <a:rPr sz="2400" spc="-10" dirty="0">
                <a:latin typeface="Arial MT"/>
                <a:cs typeface="Arial MT"/>
              </a:rPr>
              <a:t>executes</a:t>
            </a:r>
            <a:endParaRPr sz="2400">
              <a:latin typeface="Arial MT"/>
              <a:cs typeface="Arial MT"/>
            </a:endParaRPr>
          </a:p>
          <a:p>
            <a:pPr marL="354965" indent="-342265">
              <a:spcBef>
                <a:spcPts val="710"/>
              </a:spcBef>
              <a:buChar char="•"/>
              <a:tabLst>
                <a:tab pos="354965" algn="l"/>
              </a:tabLst>
            </a:pPr>
            <a:r>
              <a:rPr sz="2800" dirty="0">
                <a:latin typeface="Arial MT"/>
                <a:cs typeface="Arial MT"/>
              </a:rPr>
              <a:t>OS</a:t>
            </a:r>
            <a:r>
              <a:rPr sz="2800" spc="-20" dirty="0">
                <a:latin typeface="Arial MT"/>
                <a:cs typeface="Arial MT"/>
              </a:rPr>
              <a:t> </a:t>
            </a:r>
            <a:r>
              <a:rPr sz="2800" spc="-10" dirty="0">
                <a:latin typeface="Arial MT"/>
                <a:cs typeface="Arial MT"/>
              </a:rPr>
              <a:t>controls</a:t>
            </a:r>
            <a:endParaRPr sz="2800">
              <a:latin typeface="Arial MT"/>
              <a:cs typeface="Arial MT"/>
            </a:endParaRPr>
          </a:p>
          <a:p>
            <a:pPr marL="754380" lvl="1" indent="-284480">
              <a:spcBef>
                <a:spcPts val="610"/>
              </a:spcBef>
              <a:buChar char="–"/>
              <a:tabLst>
                <a:tab pos="754380" algn="l"/>
              </a:tabLst>
            </a:pPr>
            <a:r>
              <a:rPr sz="2400" spc="-10" dirty="0">
                <a:latin typeface="Arial MT"/>
                <a:cs typeface="Arial MT"/>
              </a:rPr>
              <a:t>scheduling</a:t>
            </a:r>
            <a:r>
              <a:rPr sz="2400" spc="-55" dirty="0">
                <a:latin typeface="Arial MT"/>
                <a:cs typeface="Arial MT"/>
              </a:rPr>
              <a:t> </a:t>
            </a:r>
            <a:r>
              <a:rPr sz="2400" dirty="0">
                <a:latin typeface="Arial MT"/>
                <a:cs typeface="Arial MT"/>
              </a:rPr>
              <a:t>of</a:t>
            </a:r>
            <a:r>
              <a:rPr sz="2400" spc="-55" dirty="0">
                <a:latin typeface="Arial MT"/>
                <a:cs typeface="Arial MT"/>
              </a:rPr>
              <a:t> </a:t>
            </a:r>
            <a:r>
              <a:rPr sz="2400" spc="-20" dirty="0">
                <a:latin typeface="Arial MT"/>
                <a:cs typeface="Arial MT"/>
              </a:rPr>
              <a:t>jobs</a:t>
            </a:r>
            <a:endParaRPr sz="2400">
              <a:latin typeface="Arial MT"/>
              <a:cs typeface="Arial MT"/>
            </a:endParaRPr>
          </a:p>
          <a:p>
            <a:pPr marL="754380" lvl="1" indent="-284480">
              <a:spcBef>
                <a:spcPts val="610"/>
              </a:spcBef>
              <a:buChar char="–"/>
              <a:tabLst>
                <a:tab pos="754380" algn="l"/>
              </a:tabLst>
            </a:pPr>
            <a:r>
              <a:rPr sz="2400" dirty="0">
                <a:latin typeface="Arial MT"/>
                <a:cs typeface="Arial MT"/>
              </a:rPr>
              <a:t>Protection</a:t>
            </a:r>
            <a:r>
              <a:rPr sz="2400" spc="-114" dirty="0">
                <a:latin typeface="Arial MT"/>
                <a:cs typeface="Arial MT"/>
              </a:rPr>
              <a:t> </a:t>
            </a:r>
            <a:r>
              <a:rPr sz="2400" dirty="0">
                <a:latin typeface="Arial MT"/>
                <a:cs typeface="Arial MT"/>
              </a:rPr>
              <a:t>between</a:t>
            </a:r>
            <a:r>
              <a:rPr sz="2400" spc="-114" dirty="0">
                <a:latin typeface="Arial MT"/>
                <a:cs typeface="Arial MT"/>
              </a:rPr>
              <a:t> </a:t>
            </a:r>
            <a:r>
              <a:rPr sz="2400" spc="-20" dirty="0">
                <a:latin typeface="Arial MT"/>
                <a:cs typeface="Arial MT"/>
              </a:rPr>
              <a:t>jobs</a:t>
            </a:r>
            <a:endParaRPr sz="2400">
              <a:latin typeface="Arial MT"/>
              <a:cs typeface="Arial MT"/>
            </a:endParaRPr>
          </a:p>
          <a:p>
            <a:pPr>
              <a:spcBef>
                <a:spcPts val="1820"/>
              </a:spcBef>
            </a:pPr>
            <a:endParaRPr sz="2400">
              <a:latin typeface="Arial MT"/>
              <a:cs typeface="Arial MT"/>
            </a:endParaRPr>
          </a:p>
          <a:p>
            <a:pPr marL="7233284" marR="5080"/>
            <a:r>
              <a:rPr spc="-10" dirty="0">
                <a:latin typeface="Arial MT"/>
                <a:cs typeface="Arial MT"/>
              </a:rPr>
              <a:t>Memory partitions</a:t>
            </a:r>
            <a:endParaRPr>
              <a:latin typeface="Arial MT"/>
              <a:cs typeface="Arial MT"/>
            </a:endParaRPr>
          </a:p>
          <a:p>
            <a:pPr>
              <a:spcBef>
                <a:spcPts val="1730"/>
              </a:spcBef>
            </a:pPr>
            <a:endParaRPr>
              <a:latin typeface="Arial MT"/>
              <a:cs typeface="Arial MT"/>
            </a:endParaRPr>
          </a:p>
          <a:p>
            <a:pPr marL="5017770" marR="1130935" indent="-278130"/>
            <a:r>
              <a:rPr spc="-10" dirty="0">
                <a:latin typeface="Arial MT"/>
                <a:cs typeface="Arial MT"/>
              </a:rPr>
              <a:t>Multiprogramming</a:t>
            </a:r>
            <a:r>
              <a:rPr spc="10" dirty="0">
                <a:latin typeface="Arial MT"/>
                <a:cs typeface="Arial MT"/>
              </a:rPr>
              <a:t> </a:t>
            </a:r>
            <a:r>
              <a:rPr spc="-20" dirty="0">
                <a:latin typeface="Arial MT"/>
                <a:cs typeface="Arial MT"/>
              </a:rPr>
              <a:t>with </a:t>
            </a:r>
            <a:r>
              <a:rPr dirty="0">
                <a:latin typeface="Arial MT"/>
                <a:cs typeface="Arial MT"/>
              </a:rPr>
              <a:t>3</a:t>
            </a:r>
            <a:r>
              <a:rPr spc="-20" dirty="0">
                <a:latin typeface="Arial MT"/>
                <a:cs typeface="Arial MT"/>
              </a:rPr>
              <a:t> </a:t>
            </a:r>
            <a:r>
              <a:rPr dirty="0">
                <a:latin typeface="Arial MT"/>
                <a:cs typeface="Arial MT"/>
              </a:rPr>
              <a:t>jobs</a:t>
            </a:r>
            <a:r>
              <a:rPr spc="-5" dirty="0">
                <a:latin typeface="Arial MT"/>
                <a:cs typeface="Arial MT"/>
              </a:rPr>
              <a:t> </a:t>
            </a:r>
            <a:r>
              <a:rPr dirty="0">
                <a:latin typeface="Arial MT"/>
                <a:cs typeface="Arial MT"/>
              </a:rPr>
              <a:t>in</a:t>
            </a:r>
            <a:r>
              <a:rPr spc="-15" dirty="0">
                <a:latin typeface="Arial MT"/>
                <a:cs typeface="Arial MT"/>
              </a:rPr>
              <a:t> </a:t>
            </a:r>
            <a:r>
              <a:rPr spc="-10" dirty="0">
                <a:latin typeface="Arial MT"/>
                <a:cs typeface="Arial MT"/>
              </a:rPr>
              <a:t>memory</a:t>
            </a:r>
            <a:endParaRPr>
              <a:latin typeface="Arial MT"/>
              <a:cs typeface="Arial M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2466975">
              <a:lnSpc>
                <a:spcPct val="100000"/>
              </a:lnSpc>
              <a:spcBef>
                <a:spcPts val="100"/>
              </a:spcBef>
            </a:pPr>
            <a:r>
              <a:rPr spc="-10" dirty="0">
                <a:solidFill>
                  <a:srgbClr val="FF0000"/>
                </a:solidFill>
              </a:rPr>
              <a:t>Spooling</a:t>
            </a:r>
          </a:p>
        </p:txBody>
      </p:sp>
      <p:sp>
        <p:nvSpPr>
          <p:cNvPr id="3" name="object 3"/>
          <p:cNvSpPr txBox="1"/>
          <p:nvPr/>
        </p:nvSpPr>
        <p:spPr>
          <a:xfrm>
            <a:off x="2059941" y="1619249"/>
            <a:ext cx="125095" cy="365760"/>
          </a:xfrm>
          <a:prstGeom prst="rect">
            <a:avLst/>
          </a:prstGeom>
        </p:spPr>
        <p:txBody>
          <a:bodyPr vert="horz" wrap="square" lIns="0" tIns="16510" rIns="0" bIns="0" rtlCol="0">
            <a:spAutoFit/>
          </a:bodyPr>
          <a:lstStyle/>
          <a:p>
            <a:pPr marL="12700">
              <a:spcBef>
                <a:spcPts val="130"/>
              </a:spcBef>
            </a:pPr>
            <a:r>
              <a:rPr sz="2200" spc="-50" dirty="0">
                <a:latin typeface="Arial MT"/>
                <a:cs typeface="Arial MT"/>
              </a:rPr>
              <a:t>•</a:t>
            </a:r>
            <a:endParaRPr sz="2200">
              <a:latin typeface="Arial MT"/>
              <a:cs typeface="Arial MT"/>
            </a:endParaRPr>
          </a:p>
        </p:txBody>
      </p:sp>
      <p:sp>
        <p:nvSpPr>
          <p:cNvPr id="4" name="object 4"/>
          <p:cNvSpPr txBox="1"/>
          <p:nvPr/>
        </p:nvSpPr>
        <p:spPr>
          <a:xfrm>
            <a:off x="2378711" y="1634489"/>
            <a:ext cx="7273925" cy="678840"/>
          </a:xfrm>
          <a:prstGeom prst="rect">
            <a:avLst/>
          </a:prstGeom>
        </p:spPr>
        <p:txBody>
          <a:bodyPr vert="horz" wrap="square" lIns="0" tIns="10160" rIns="0" bIns="0" rtlCol="0">
            <a:spAutoFit/>
          </a:bodyPr>
          <a:lstStyle/>
          <a:p>
            <a:pPr marL="12700" marR="5080">
              <a:lnSpc>
                <a:spcPct val="101899"/>
              </a:lnSpc>
              <a:spcBef>
                <a:spcPts val="80"/>
              </a:spcBef>
            </a:pPr>
            <a:r>
              <a:rPr sz="2200" dirty="0">
                <a:latin typeface="Arial MT"/>
                <a:cs typeface="Arial MT"/>
              </a:rPr>
              <a:t>Uses</a:t>
            </a:r>
            <a:r>
              <a:rPr sz="2200" spc="80" dirty="0">
                <a:latin typeface="Arial MT"/>
                <a:cs typeface="Arial MT"/>
              </a:rPr>
              <a:t> </a:t>
            </a:r>
            <a:r>
              <a:rPr sz="2200" dirty="0">
                <a:latin typeface="Arial MT"/>
                <a:cs typeface="Arial MT"/>
              </a:rPr>
              <a:t>buffers</a:t>
            </a:r>
            <a:r>
              <a:rPr sz="2200" spc="100" dirty="0">
                <a:latin typeface="Arial MT"/>
                <a:cs typeface="Arial MT"/>
              </a:rPr>
              <a:t> </a:t>
            </a:r>
            <a:r>
              <a:rPr sz="2200" dirty="0">
                <a:latin typeface="Arial MT"/>
                <a:cs typeface="Arial MT"/>
              </a:rPr>
              <a:t>to</a:t>
            </a:r>
            <a:r>
              <a:rPr sz="2200" spc="80" dirty="0">
                <a:latin typeface="Arial MT"/>
                <a:cs typeface="Arial MT"/>
              </a:rPr>
              <a:t> </a:t>
            </a:r>
            <a:r>
              <a:rPr sz="2200" dirty="0">
                <a:latin typeface="Arial MT"/>
                <a:cs typeface="Arial MT"/>
              </a:rPr>
              <a:t>continuously</a:t>
            </a:r>
            <a:r>
              <a:rPr sz="2200" spc="80" dirty="0">
                <a:latin typeface="Arial MT"/>
                <a:cs typeface="Arial MT"/>
              </a:rPr>
              <a:t> </a:t>
            </a:r>
            <a:r>
              <a:rPr sz="2200" dirty="0">
                <a:latin typeface="Arial MT"/>
                <a:cs typeface="Arial MT"/>
              </a:rPr>
              <a:t>stream</a:t>
            </a:r>
            <a:r>
              <a:rPr sz="2200" spc="95" dirty="0">
                <a:latin typeface="Arial MT"/>
                <a:cs typeface="Arial MT"/>
              </a:rPr>
              <a:t> </a:t>
            </a:r>
            <a:r>
              <a:rPr sz="2200" dirty="0">
                <a:latin typeface="Arial MT"/>
                <a:cs typeface="Arial MT"/>
              </a:rPr>
              <a:t>inputs</a:t>
            </a:r>
            <a:r>
              <a:rPr sz="2200" spc="80" dirty="0">
                <a:latin typeface="Arial MT"/>
                <a:cs typeface="Arial MT"/>
              </a:rPr>
              <a:t> </a:t>
            </a:r>
            <a:r>
              <a:rPr sz="2200" dirty="0">
                <a:latin typeface="Arial MT"/>
                <a:cs typeface="Arial MT"/>
              </a:rPr>
              <a:t>and</a:t>
            </a:r>
            <a:r>
              <a:rPr sz="2200" spc="85" dirty="0">
                <a:latin typeface="Arial MT"/>
                <a:cs typeface="Arial MT"/>
              </a:rPr>
              <a:t> </a:t>
            </a:r>
            <a:r>
              <a:rPr sz="2200" dirty="0">
                <a:latin typeface="Arial MT"/>
                <a:cs typeface="Arial MT"/>
              </a:rPr>
              <a:t>outputs</a:t>
            </a:r>
            <a:r>
              <a:rPr sz="2200" spc="80" dirty="0">
                <a:latin typeface="Arial MT"/>
                <a:cs typeface="Arial MT"/>
              </a:rPr>
              <a:t> </a:t>
            </a:r>
            <a:r>
              <a:rPr sz="2200" spc="-25" dirty="0">
                <a:latin typeface="Arial MT"/>
                <a:cs typeface="Arial MT"/>
              </a:rPr>
              <a:t>to </a:t>
            </a:r>
            <a:r>
              <a:rPr sz="2200" dirty="0">
                <a:latin typeface="Arial MT"/>
                <a:cs typeface="Arial MT"/>
              </a:rPr>
              <a:t>the</a:t>
            </a:r>
            <a:r>
              <a:rPr sz="2200" spc="45" dirty="0">
                <a:latin typeface="Arial MT"/>
                <a:cs typeface="Arial MT"/>
              </a:rPr>
              <a:t> </a:t>
            </a:r>
            <a:r>
              <a:rPr sz="2200" spc="-10" dirty="0">
                <a:latin typeface="Arial MT"/>
                <a:cs typeface="Arial MT"/>
              </a:rPr>
              <a:t>system</a:t>
            </a:r>
            <a:endParaRPr sz="2200">
              <a:latin typeface="Arial MT"/>
              <a:cs typeface="Arial MT"/>
            </a:endParaRPr>
          </a:p>
        </p:txBody>
      </p:sp>
      <p:sp>
        <p:nvSpPr>
          <p:cNvPr id="5" name="object 5"/>
          <p:cNvSpPr txBox="1"/>
          <p:nvPr/>
        </p:nvSpPr>
        <p:spPr>
          <a:xfrm>
            <a:off x="2059941" y="5187441"/>
            <a:ext cx="125095" cy="848360"/>
          </a:xfrm>
          <a:prstGeom prst="rect">
            <a:avLst/>
          </a:prstGeom>
        </p:spPr>
        <p:txBody>
          <a:bodyPr vert="horz" wrap="square" lIns="0" tIns="88265" rIns="0" bIns="0" rtlCol="0">
            <a:spAutoFit/>
          </a:bodyPr>
          <a:lstStyle/>
          <a:p>
            <a:pPr marL="12700">
              <a:spcBef>
                <a:spcPts val="695"/>
              </a:spcBef>
            </a:pPr>
            <a:r>
              <a:rPr sz="2200" spc="-50" dirty="0">
                <a:solidFill>
                  <a:srgbClr val="0000CC"/>
                </a:solidFill>
                <a:latin typeface="Arial MT"/>
                <a:cs typeface="Arial MT"/>
              </a:rPr>
              <a:t>•</a:t>
            </a:r>
            <a:endParaRPr sz="2200">
              <a:latin typeface="Arial MT"/>
              <a:cs typeface="Arial MT"/>
            </a:endParaRPr>
          </a:p>
          <a:p>
            <a:pPr marL="12700">
              <a:spcBef>
                <a:spcPts val="600"/>
              </a:spcBef>
            </a:pPr>
            <a:r>
              <a:rPr sz="2200" spc="-50" dirty="0">
                <a:solidFill>
                  <a:srgbClr val="0000CC"/>
                </a:solidFill>
                <a:latin typeface="Arial MT"/>
                <a:cs typeface="Arial MT"/>
              </a:rPr>
              <a:t>•</a:t>
            </a:r>
            <a:endParaRPr sz="2200">
              <a:latin typeface="Arial MT"/>
              <a:cs typeface="Arial MT"/>
            </a:endParaRPr>
          </a:p>
        </p:txBody>
      </p:sp>
      <p:sp>
        <p:nvSpPr>
          <p:cNvPr id="6" name="object 6"/>
          <p:cNvSpPr txBox="1"/>
          <p:nvPr/>
        </p:nvSpPr>
        <p:spPr>
          <a:xfrm>
            <a:off x="2378710" y="5202682"/>
            <a:ext cx="4443730" cy="805092"/>
          </a:xfrm>
          <a:prstGeom prst="rect">
            <a:avLst/>
          </a:prstGeom>
        </p:spPr>
        <p:txBody>
          <a:bodyPr vert="horz" wrap="square" lIns="0" tIns="12065" rIns="0" bIns="0" rtlCol="0">
            <a:spAutoFit/>
          </a:bodyPr>
          <a:lstStyle/>
          <a:p>
            <a:pPr marL="12700" marR="5080">
              <a:lnSpc>
                <a:spcPct val="122700"/>
              </a:lnSpc>
              <a:spcBef>
                <a:spcPts val="95"/>
              </a:spcBef>
            </a:pPr>
            <a:r>
              <a:rPr sz="2200" dirty="0">
                <a:solidFill>
                  <a:srgbClr val="0000CC"/>
                </a:solidFill>
                <a:latin typeface="Arial MT"/>
                <a:cs typeface="Arial MT"/>
              </a:rPr>
              <a:t>Pros</a:t>
            </a:r>
            <a:r>
              <a:rPr sz="2200" spc="60" dirty="0">
                <a:solidFill>
                  <a:srgbClr val="0000CC"/>
                </a:solidFill>
                <a:latin typeface="Arial MT"/>
                <a:cs typeface="Arial MT"/>
              </a:rPr>
              <a:t> </a:t>
            </a:r>
            <a:r>
              <a:rPr sz="2200" dirty="0">
                <a:solidFill>
                  <a:srgbClr val="0000CC"/>
                </a:solidFill>
                <a:latin typeface="Arial MT"/>
                <a:cs typeface="Arial MT"/>
              </a:rPr>
              <a:t>:</a:t>
            </a:r>
            <a:r>
              <a:rPr sz="2200" spc="70" dirty="0">
                <a:solidFill>
                  <a:srgbClr val="0000CC"/>
                </a:solidFill>
                <a:latin typeface="Arial MT"/>
                <a:cs typeface="Arial MT"/>
              </a:rPr>
              <a:t> </a:t>
            </a:r>
            <a:r>
              <a:rPr sz="2200" dirty="0">
                <a:latin typeface="Arial MT"/>
                <a:cs typeface="Arial MT"/>
              </a:rPr>
              <a:t>better</a:t>
            </a:r>
            <a:r>
              <a:rPr sz="2200" spc="55" dirty="0">
                <a:latin typeface="Arial MT"/>
                <a:cs typeface="Arial MT"/>
              </a:rPr>
              <a:t> </a:t>
            </a:r>
            <a:r>
              <a:rPr sz="2200" dirty="0">
                <a:latin typeface="Arial MT"/>
                <a:cs typeface="Arial MT"/>
              </a:rPr>
              <a:t>utilization</a:t>
            </a:r>
            <a:r>
              <a:rPr sz="2200" spc="65" dirty="0">
                <a:latin typeface="Arial MT"/>
                <a:cs typeface="Arial MT"/>
              </a:rPr>
              <a:t> </a:t>
            </a:r>
            <a:r>
              <a:rPr sz="2200" dirty="0">
                <a:latin typeface="Arial MT"/>
                <a:cs typeface="Arial MT"/>
              </a:rPr>
              <a:t>/</a:t>
            </a:r>
            <a:r>
              <a:rPr sz="2200" spc="65" dirty="0">
                <a:latin typeface="Arial MT"/>
                <a:cs typeface="Arial MT"/>
              </a:rPr>
              <a:t> </a:t>
            </a:r>
            <a:r>
              <a:rPr sz="2200" spc="-10" dirty="0">
                <a:latin typeface="Arial MT"/>
                <a:cs typeface="Arial MT"/>
              </a:rPr>
              <a:t>throughput </a:t>
            </a:r>
            <a:r>
              <a:rPr sz="2200" dirty="0">
                <a:solidFill>
                  <a:srgbClr val="0000CC"/>
                </a:solidFill>
                <a:latin typeface="Arial MT"/>
                <a:cs typeface="Arial MT"/>
              </a:rPr>
              <a:t>Cons</a:t>
            </a:r>
            <a:r>
              <a:rPr sz="2200" spc="70" dirty="0">
                <a:solidFill>
                  <a:srgbClr val="0000CC"/>
                </a:solidFill>
                <a:latin typeface="Arial MT"/>
                <a:cs typeface="Arial MT"/>
              </a:rPr>
              <a:t> </a:t>
            </a:r>
            <a:r>
              <a:rPr sz="2200" dirty="0">
                <a:latin typeface="Arial MT"/>
                <a:cs typeface="Arial MT"/>
              </a:rPr>
              <a:t>:</a:t>
            </a:r>
            <a:r>
              <a:rPr sz="2200" spc="40" dirty="0">
                <a:latin typeface="Arial MT"/>
                <a:cs typeface="Arial MT"/>
              </a:rPr>
              <a:t> </a:t>
            </a:r>
            <a:r>
              <a:rPr sz="2200" dirty="0">
                <a:latin typeface="Arial MT"/>
                <a:cs typeface="Arial MT"/>
              </a:rPr>
              <a:t>still</a:t>
            </a:r>
            <a:r>
              <a:rPr sz="2200" spc="55" dirty="0">
                <a:latin typeface="Arial MT"/>
                <a:cs typeface="Arial MT"/>
              </a:rPr>
              <a:t> </a:t>
            </a:r>
            <a:r>
              <a:rPr sz="2200" dirty="0">
                <a:latin typeface="Arial MT"/>
                <a:cs typeface="Arial MT"/>
              </a:rPr>
              <a:t>not</a:t>
            </a:r>
            <a:r>
              <a:rPr sz="2200" spc="50" dirty="0">
                <a:latin typeface="Arial MT"/>
                <a:cs typeface="Arial MT"/>
              </a:rPr>
              <a:t> </a:t>
            </a:r>
            <a:r>
              <a:rPr sz="2200" spc="-10" dirty="0">
                <a:latin typeface="Arial MT"/>
                <a:cs typeface="Arial MT"/>
              </a:rPr>
              <a:t>interactive</a:t>
            </a:r>
            <a:endParaRPr sz="2200">
              <a:latin typeface="Arial MT"/>
              <a:cs typeface="Arial MT"/>
            </a:endParaRPr>
          </a:p>
        </p:txBody>
      </p:sp>
      <p:grpSp>
        <p:nvGrpSpPr>
          <p:cNvPr id="7" name="object 7"/>
          <p:cNvGrpSpPr/>
          <p:nvPr/>
        </p:nvGrpSpPr>
        <p:grpSpPr>
          <a:xfrm>
            <a:off x="5570538" y="2205038"/>
            <a:ext cx="1076325" cy="1224915"/>
            <a:chOff x="4046537" y="2205037"/>
            <a:chExt cx="1076325" cy="1224915"/>
          </a:xfrm>
        </p:grpSpPr>
        <p:sp>
          <p:nvSpPr>
            <p:cNvPr id="8" name="object 8"/>
            <p:cNvSpPr/>
            <p:nvPr/>
          </p:nvSpPr>
          <p:spPr>
            <a:xfrm>
              <a:off x="4051300" y="2209800"/>
              <a:ext cx="1066800" cy="1215390"/>
            </a:xfrm>
            <a:custGeom>
              <a:avLst/>
              <a:gdLst/>
              <a:ahLst/>
              <a:cxnLst/>
              <a:rect l="l" t="t" r="r" b="b"/>
              <a:pathLst>
                <a:path w="1066800" h="1215389">
                  <a:moveTo>
                    <a:pt x="533400" y="0"/>
                  </a:moveTo>
                  <a:lnTo>
                    <a:pt x="461810" y="1397"/>
                  </a:lnTo>
                  <a:lnTo>
                    <a:pt x="392906" y="5462"/>
                  </a:lnTo>
                  <a:lnTo>
                    <a:pt x="327362" y="12005"/>
                  </a:lnTo>
                  <a:lnTo>
                    <a:pt x="265853" y="20837"/>
                  </a:lnTo>
                  <a:lnTo>
                    <a:pt x="209053" y="31768"/>
                  </a:lnTo>
                  <a:lnTo>
                    <a:pt x="157638" y="44608"/>
                  </a:lnTo>
                  <a:lnTo>
                    <a:pt x="112282" y="59168"/>
                  </a:lnTo>
                  <a:lnTo>
                    <a:pt x="73659" y="75259"/>
                  </a:lnTo>
                  <a:lnTo>
                    <a:pt x="19314" y="111271"/>
                  </a:lnTo>
                  <a:lnTo>
                    <a:pt x="0" y="151129"/>
                  </a:lnTo>
                  <a:lnTo>
                    <a:pt x="0" y="1062989"/>
                  </a:lnTo>
                  <a:lnTo>
                    <a:pt x="19314" y="1102942"/>
                  </a:lnTo>
                  <a:lnTo>
                    <a:pt x="73660" y="1139189"/>
                  </a:lnTo>
                  <a:lnTo>
                    <a:pt x="112282" y="1155428"/>
                  </a:lnTo>
                  <a:lnTo>
                    <a:pt x="157638" y="1170146"/>
                  </a:lnTo>
                  <a:lnTo>
                    <a:pt x="209053" y="1183143"/>
                  </a:lnTo>
                  <a:lnTo>
                    <a:pt x="265853" y="1194223"/>
                  </a:lnTo>
                  <a:lnTo>
                    <a:pt x="327362" y="1203186"/>
                  </a:lnTo>
                  <a:lnTo>
                    <a:pt x="392906" y="1209833"/>
                  </a:lnTo>
                  <a:lnTo>
                    <a:pt x="461810" y="1213967"/>
                  </a:lnTo>
                  <a:lnTo>
                    <a:pt x="533400" y="1215389"/>
                  </a:lnTo>
                  <a:lnTo>
                    <a:pt x="604989" y="1213967"/>
                  </a:lnTo>
                  <a:lnTo>
                    <a:pt x="673893" y="1209833"/>
                  </a:lnTo>
                  <a:lnTo>
                    <a:pt x="739437" y="1203186"/>
                  </a:lnTo>
                  <a:lnTo>
                    <a:pt x="800946" y="1194223"/>
                  </a:lnTo>
                  <a:lnTo>
                    <a:pt x="857746" y="1183143"/>
                  </a:lnTo>
                  <a:lnTo>
                    <a:pt x="909161" y="1170146"/>
                  </a:lnTo>
                  <a:lnTo>
                    <a:pt x="954517" y="1155428"/>
                  </a:lnTo>
                  <a:lnTo>
                    <a:pt x="993139" y="1139189"/>
                  </a:lnTo>
                  <a:lnTo>
                    <a:pt x="1047485" y="1102942"/>
                  </a:lnTo>
                  <a:lnTo>
                    <a:pt x="1066800" y="1062989"/>
                  </a:lnTo>
                  <a:lnTo>
                    <a:pt x="1066800" y="151129"/>
                  </a:lnTo>
                  <a:lnTo>
                    <a:pt x="1047485" y="111271"/>
                  </a:lnTo>
                  <a:lnTo>
                    <a:pt x="993139" y="75259"/>
                  </a:lnTo>
                  <a:lnTo>
                    <a:pt x="954517" y="59168"/>
                  </a:lnTo>
                  <a:lnTo>
                    <a:pt x="909161" y="44608"/>
                  </a:lnTo>
                  <a:lnTo>
                    <a:pt x="857746" y="31768"/>
                  </a:lnTo>
                  <a:lnTo>
                    <a:pt x="800946" y="20837"/>
                  </a:lnTo>
                  <a:lnTo>
                    <a:pt x="739437" y="12005"/>
                  </a:lnTo>
                  <a:lnTo>
                    <a:pt x="673893" y="5462"/>
                  </a:lnTo>
                  <a:lnTo>
                    <a:pt x="604989" y="1397"/>
                  </a:lnTo>
                  <a:lnTo>
                    <a:pt x="533400" y="0"/>
                  </a:lnTo>
                  <a:close/>
                </a:path>
              </a:pathLst>
            </a:custGeom>
            <a:solidFill>
              <a:srgbClr val="BADFE2"/>
            </a:solidFill>
          </p:spPr>
          <p:txBody>
            <a:bodyPr wrap="square" lIns="0" tIns="0" rIns="0" bIns="0" rtlCol="0"/>
            <a:lstStyle/>
            <a:p>
              <a:endParaRPr/>
            </a:p>
          </p:txBody>
        </p:sp>
        <p:sp>
          <p:nvSpPr>
            <p:cNvPr id="9" name="object 9"/>
            <p:cNvSpPr/>
            <p:nvPr/>
          </p:nvSpPr>
          <p:spPr>
            <a:xfrm>
              <a:off x="4051300" y="2209800"/>
              <a:ext cx="1066800" cy="1215390"/>
            </a:xfrm>
            <a:custGeom>
              <a:avLst/>
              <a:gdLst/>
              <a:ahLst/>
              <a:cxnLst/>
              <a:rect l="l" t="t" r="r" b="b"/>
              <a:pathLst>
                <a:path w="1066800" h="1215389">
                  <a:moveTo>
                    <a:pt x="533400" y="0"/>
                  </a:moveTo>
                  <a:lnTo>
                    <a:pt x="461810" y="1397"/>
                  </a:lnTo>
                  <a:lnTo>
                    <a:pt x="392906" y="5462"/>
                  </a:lnTo>
                  <a:lnTo>
                    <a:pt x="327362" y="12005"/>
                  </a:lnTo>
                  <a:lnTo>
                    <a:pt x="265853" y="20837"/>
                  </a:lnTo>
                  <a:lnTo>
                    <a:pt x="209053" y="31768"/>
                  </a:lnTo>
                  <a:lnTo>
                    <a:pt x="157638" y="44608"/>
                  </a:lnTo>
                  <a:lnTo>
                    <a:pt x="112282" y="59168"/>
                  </a:lnTo>
                  <a:lnTo>
                    <a:pt x="73660" y="75259"/>
                  </a:lnTo>
                  <a:lnTo>
                    <a:pt x="19314" y="111271"/>
                  </a:lnTo>
                  <a:lnTo>
                    <a:pt x="0" y="151129"/>
                  </a:lnTo>
                  <a:lnTo>
                    <a:pt x="0" y="1062989"/>
                  </a:lnTo>
                  <a:lnTo>
                    <a:pt x="19314" y="1102942"/>
                  </a:lnTo>
                  <a:lnTo>
                    <a:pt x="73660" y="1139189"/>
                  </a:lnTo>
                  <a:lnTo>
                    <a:pt x="112282" y="1155428"/>
                  </a:lnTo>
                  <a:lnTo>
                    <a:pt x="157638" y="1170146"/>
                  </a:lnTo>
                  <a:lnTo>
                    <a:pt x="209053" y="1183143"/>
                  </a:lnTo>
                  <a:lnTo>
                    <a:pt x="265853" y="1194223"/>
                  </a:lnTo>
                  <a:lnTo>
                    <a:pt x="327362" y="1203186"/>
                  </a:lnTo>
                  <a:lnTo>
                    <a:pt x="392906" y="1209833"/>
                  </a:lnTo>
                  <a:lnTo>
                    <a:pt x="461810" y="1213967"/>
                  </a:lnTo>
                  <a:lnTo>
                    <a:pt x="533400" y="1215389"/>
                  </a:lnTo>
                  <a:lnTo>
                    <a:pt x="604989" y="1213967"/>
                  </a:lnTo>
                  <a:lnTo>
                    <a:pt x="673893" y="1209833"/>
                  </a:lnTo>
                  <a:lnTo>
                    <a:pt x="739437" y="1203186"/>
                  </a:lnTo>
                  <a:lnTo>
                    <a:pt x="800946" y="1194223"/>
                  </a:lnTo>
                  <a:lnTo>
                    <a:pt x="857746" y="1183143"/>
                  </a:lnTo>
                  <a:lnTo>
                    <a:pt x="909161" y="1170146"/>
                  </a:lnTo>
                  <a:lnTo>
                    <a:pt x="954517" y="1155428"/>
                  </a:lnTo>
                  <a:lnTo>
                    <a:pt x="993139" y="1139189"/>
                  </a:lnTo>
                  <a:lnTo>
                    <a:pt x="1047485" y="1102942"/>
                  </a:lnTo>
                  <a:lnTo>
                    <a:pt x="1066800" y="1062989"/>
                  </a:lnTo>
                  <a:lnTo>
                    <a:pt x="1066800" y="151129"/>
                  </a:lnTo>
                  <a:lnTo>
                    <a:pt x="1047485" y="111271"/>
                  </a:lnTo>
                  <a:lnTo>
                    <a:pt x="993139" y="75259"/>
                  </a:lnTo>
                  <a:lnTo>
                    <a:pt x="954517" y="59168"/>
                  </a:lnTo>
                  <a:lnTo>
                    <a:pt x="909161" y="44608"/>
                  </a:lnTo>
                  <a:lnTo>
                    <a:pt x="857746" y="31768"/>
                  </a:lnTo>
                  <a:lnTo>
                    <a:pt x="800946" y="20837"/>
                  </a:lnTo>
                  <a:lnTo>
                    <a:pt x="739437" y="12005"/>
                  </a:lnTo>
                  <a:lnTo>
                    <a:pt x="673893" y="5462"/>
                  </a:lnTo>
                  <a:lnTo>
                    <a:pt x="604989" y="1397"/>
                  </a:lnTo>
                  <a:lnTo>
                    <a:pt x="533400" y="0"/>
                  </a:lnTo>
                  <a:close/>
                </a:path>
              </a:pathLst>
            </a:custGeom>
            <a:ln w="9344">
              <a:solidFill>
                <a:srgbClr val="000000"/>
              </a:solidFill>
            </a:ln>
          </p:spPr>
          <p:txBody>
            <a:bodyPr wrap="square" lIns="0" tIns="0" rIns="0" bIns="0" rtlCol="0"/>
            <a:lstStyle/>
            <a:p>
              <a:endParaRPr/>
            </a:p>
          </p:txBody>
        </p:sp>
        <p:sp>
          <p:nvSpPr>
            <p:cNvPr id="10" name="object 10"/>
            <p:cNvSpPr/>
            <p:nvPr/>
          </p:nvSpPr>
          <p:spPr>
            <a:xfrm>
              <a:off x="4046626" y="2205138"/>
              <a:ext cx="1076325" cy="1224915"/>
            </a:xfrm>
            <a:custGeom>
              <a:avLst/>
              <a:gdLst/>
              <a:ahLst/>
              <a:cxnLst/>
              <a:rect l="l" t="t" r="r" b="b"/>
              <a:pathLst>
                <a:path w="1076325" h="1224914">
                  <a:moveTo>
                    <a:pt x="9334" y="4660"/>
                  </a:moveTo>
                  <a:lnTo>
                    <a:pt x="7975" y="1358"/>
                  </a:lnTo>
                  <a:lnTo>
                    <a:pt x="4673" y="0"/>
                  </a:lnTo>
                  <a:lnTo>
                    <a:pt x="1358" y="1358"/>
                  </a:lnTo>
                  <a:lnTo>
                    <a:pt x="0" y="4660"/>
                  </a:lnTo>
                  <a:lnTo>
                    <a:pt x="1358" y="7975"/>
                  </a:lnTo>
                  <a:lnTo>
                    <a:pt x="4673" y="9334"/>
                  </a:lnTo>
                  <a:lnTo>
                    <a:pt x="7975" y="7975"/>
                  </a:lnTo>
                  <a:lnTo>
                    <a:pt x="9334" y="4660"/>
                  </a:lnTo>
                  <a:close/>
                </a:path>
                <a:path w="1076325" h="1224914">
                  <a:moveTo>
                    <a:pt x="1076134" y="1220050"/>
                  </a:moveTo>
                  <a:lnTo>
                    <a:pt x="1074775" y="1216748"/>
                  </a:lnTo>
                  <a:lnTo>
                    <a:pt x="1071473" y="1215390"/>
                  </a:lnTo>
                  <a:lnTo>
                    <a:pt x="1068158" y="1216748"/>
                  </a:lnTo>
                  <a:lnTo>
                    <a:pt x="1066800" y="1220050"/>
                  </a:lnTo>
                  <a:lnTo>
                    <a:pt x="1068158" y="1223365"/>
                  </a:lnTo>
                  <a:lnTo>
                    <a:pt x="1071473" y="1224724"/>
                  </a:lnTo>
                  <a:lnTo>
                    <a:pt x="1074775" y="1223365"/>
                  </a:lnTo>
                  <a:lnTo>
                    <a:pt x="1076134" y="1220050"/>
                  </a:lnTo>
                  <a:close/>
                </a:path>
              </a:pathLst>
            </a:custGeom>
            <a:solidFill>
              <a:srgbClr val="000000"/>
            </a:solidFill>
          </p:spPr>
          <p:txBody>
            <a:bodyPr wrap="square" lIns="0" tIns="0" rIns="0" bIns="0" rtlCol="0"/>
            <a:lstStyle/>
            <a:p>
              <a:endParaRPr/>
            </a:p>
          </p:txBody>
        </p:sp>
        <p:sp>
          <p:nvSpPr>
            <p:cNvPr id="11" name="object 11"/>
            <p:cNvSpPr/>
            <p:nvPr/>
          </p:nvSpPr>
          <p:spPr>
            <a:xfrm>
              <a:off x="4051300" y="2209800"/>
              <a:ext cx="1066800" cy="303530"/>
            </a:xfrm>
            <a:custGeom>
              <a:avLst/>
              <a:gdLst/>
              <a:ahLst/>
              <a:cxnLst/>
              <a:rect l="l" t="t" r="r" b="b"/>
              <a:pathLst>
                <a:path w="1066800" h="303530">
                  <a:moveTo>
                    <a:pt x="533400" y="0"/>
                  </a:moveTo>
                  <a:lnTo>
                    <a:pt x="461810" y="1397"/>
                  </a:lnTo>
                  <a:lnTo>
                    <a:pt x="392906" y="5462"/>
                  </a:lnTo>
                  <a:lnTo>
                    <a:pt x="327362" y="12005"/>
                  </a:lnTo>
                  <a:lnTo>
                    <a:pt x="265853" y="20837"/>
                  </a:lnTo>
                  <a:lnTo>
                    <a:pt x="209053" y="31768"/>
                  </a:lnTo>
                  <a:lnTo>
                    <a:pt x="157638" y="44608"/>
                  </a:lnTo>
                  <a:lnTo>
                    <a:pt x="112282" y="59168"/>
                  </a:lnTo>
                  <a:lnTo>
                    <a:pt x="73659" y="75259"/>
                  </a:lnTo>
                  <a:lnTo>
                    <a:pt x="19314" y="111271"/>
                  </a:lnTo>
                  <a:lnTo>
                    <a:pt x="0" y="151129"/>
                  </a:lnTo>
                  <a:lnTo>
                    <a:pt x="4941" y="171469"/>
                  </a:lnTo>
                  <a:lnTo>
                    <a:pt x="42445" y="209768"/>
                  </a:lnTo>
                  <a:lnTo>
                    <a:pt x="112282" y="243568"/>
                  </a:lnTo>
                  <a:lnTo>
                    <a:pt x="157638" y="258286"/>
                  </a:lnTo>
                  <a:lnTo>
                    <a:pt x="209053" y="271283"/>
                  </a:lnTo>
                  <a:lnTo>
                    <a:pt x="265853" y="282363"/>
                  </a:lnTo>
                  <a:lnTo>
                    <a:pt x="327362" y="291326"/>
                  </a:lnTo>
                  <a:lnTo>
                    <a:pt x="392906" y="297973"/>
                  </a:lnTo>
                  <a:lnTo>
                    <a:pt x="461810" y="302107"/>
                  </a:lnTo>
                  <a:lnTo>
                    <a:pt x="533400" y="303529"/>
                  </a:lnTo>
                  <a:lnTo>
                    <a:pt x="604989" y="302107"/>
                  </a:lnTo>
                  <a:lnTo>
                    <a:pt x="673893" y="297973"/>
                  </a:lnTo>
                  <a:lnTo>
                    <a:pt x="739437" y="291326"/>
                  </a:lnTo>
                  <a:lnTo>
                    <a:pt x="800946" y="282363"/>
                  </a:lnTo>
                  <a:lnTo>
                    <a:pt x="857746" y="271283"/>
                  </a:lnTo>
                  <a:lnTo>
                    <a:pt x="909161" y="258286"/>
                  </a:lnTo>
                  <a:lnTo>
                    <a:pt x="954517" y="243568"/>
                  </a:lnTo>
                  <a:lnTo>
                    <a:pt x="993139" y="227329"/>
                  </a:lnTo>
                  <a:lnTo>
                    <a:pt x="1047485" y="191082"/>
                  </a:lnTo>
                  <a:lnTo>
                    <a:pt x="1066800" y="151129"/>
                  </a:lnTo>
                  <a:lnTo>
                    <a:pt x="1061858" y="130815"/>
                  </a:lnTo>
                  <a:lnTo>
                    <a:pt x="1024354" y="92690"/>
                  </a:lnTo>
                  <a:lnTo>
                    <a:pt x="954517" y="59168"/>
                  </a:lnTo>
                  <a:lnTo>
                    <a:pt x="909161" y="44608"/>
                  </a:lnTo>
                  <a:lnTo>
                    <a:pt x="857746" y="31768"/>
                  </a:lnTo>
                  <a:lnTo>
                    <a:pt x="800946" y="20837"/>
                  </a:lnTo>
                  <a:lnTo>
                    <a:pt x="739437" y="12005"/>
                  </a:lnTo>
                  <a:lnTo>
                    <a:pt x="673893" y="5462"/>
                  </a:lnTo>
                  <a:lnTo>
                    <a:pt x="604989" y="1397"/>
                  </a:lnTo>
                  <a:lnTo>
                    <a:pt x="533400" y="0"/>
                  </a:lnTo>
                  <a:close/>
                </a:path>
              </a:pathLst>
            </a:custGeom>
            <a:solidFill>
              <a:srgbClr val="D4EBED"/>
            </a:solidFill>
          </p:spPr>
          <p:txBody>
            <a:bodyPr wrap="square" lIns="0" tIns="0" rIns="0" bIns="0" rtlCol="0"/>
            <a:lstStyle/>
            <a:p>
              <a:endParaRPr/>
            </a:p>
          </p:txBody>
        </p:sp>
        <p:sp>
          <p:nvSpPr>
            <p:cNvPr id="12" name="object 12"/>
            <p:cNvSpPr/>
            <p:nvPr/>
          </p:nvSpPr>
          <p:spPr>
            <a:xfrm>
              <a:off x="4051300" y="2209800"/>
              <a:ext cx="1066800" cy="303530"/>
            </a:xfrm>
            <a:custGeom>
              <a:avLst/>
              <a:gdLst/>
              <a:ahLst/>
              <a:cxnLst/>
              <a:rect l="l" t="t" r="r" b="b"/>
              <a:pathLst>
                <a:path w="1066800" h="303530">
                  <a:moveTo>
                    <a:pt x="533400" y="0"/>
                  </a:moveTo>
                  <a:lnTo>
                    <a:pt x="461810" y="1397"/>
                  </a:lnTo>
                  <a:lnTo>
                    <a:pt x="392906" y="5462"/>
                  </a:lnTo>
                  <a:lnTo>
                    <a:pt x="327362" y="12005"/>
                  </a:lnTo>
                  <a:lnTo>
                    <a:pt x="265853" y="20837"/>
                  </a:lnTo>
                  <a:lnTo>
                    <a:pt x="209053" y="31768"/>
                  </a:lnTo>
                  <a:lnTo>
                    <a:pt x="157638" y="44608"/>
                  </a:lnTo>
                  <a:lnTo>
                    <a:pt x="112282" y="59168"/>
                  </a:lnTo>
                  <a:lnTo>
                    <a:pt x="73660" y="75259"/>
                  </a:lnTo>
                  <a:lnTo>
                    <a:pt x="19314" y="111271"/>
                  </a:lnTo>
                  <a:lnTo>
                    <a:pt x="0" y="151129"/>
                  </a:lnTo>
                  <a:lnTo>
                    <a:pt x="4941" y="171469"/>
                  </a:lnTo>
                  <a:lnTo>
                    <a:pt x="42445" y="209768"/>
                  </a:lnTo>
                  <a:lnTo>
                    <a:pt x="112282" y="243568"/>
                  </a:lnTo>
                  <a:lnTo>
                    <a:pt x="157638" y="258286"/>
                  </a:lnTo>
                  <a:lnTo>
                    <a:pt x="209053" y="271283"/>
                  </a:lnTo>
                  <a:lnTo>
                    <a:pt x="265853" y="282363"/>
                  </a:lnTo>
                  <a:lnTo>
                    <a:pt x="327362" y="291326"/>
                  </a:lnTo>
                  <a:lnTo>
                    <a:pt x="392906" y="297973"/>
                  </a:lnTo>
                  <a:lnTo>
                    <a:pt x="461810" y="302107"/>
                  </a:lnTo>
                  <a:lnTo>
                    <a:pt x="533400" y="303529"/>
                  </a:lnTo>
                  <a:lnTo>
                    <a:pt x="604989" y="302107"/>
                  </a:lnTo>
                  <a:lnTo>
                    <a:pt x="673893" y="297973"/>
                  </a:lnTo>
                  <a:lnTo>
                    <a:pt x="739437" y="291326"/>
                  </a:lnTo>
                  <a:lnTo>
                    <a:pt x="800946" y="282363"/>
                  </a:lnTo>
                  <a:lnTo>
                    <a:pt x="857746" y="271283"/>
                  </a:lnTo>
                  <a:lnTo>
                    <a:pt x="909161" y="258286"/>
                  </a:lnTo>
                  <a:lnTo>
                    <a:pt x="954517" y="243568"/>
                  </a:lnTo>
                  <a:lnTo>
                    <a:pt x="993139" y="227329"/>
                  </a:lnTo>
                  <a:lnTo>
                    <a:pt x="1047485" y="191082"/>
                  </a:lnTo>
                  <a:lnTo>
                    <a:pt x="1066800" y="151129"/>
                  </a:lnTo>
                  <a:lnTo>
                    <a:pt x="1061858" y="130815"/>
                  </a:lnTo>
                  <a:lnTo>
                    <a:pt x="1024354" y="92690"/>
                  </a:lnTo>
                  <a:lnTo>
                    <a:pt x="954517" y="59168"/>
                  </a:lnTo>
                  <a:lnTo>
                    <a:pt x="909161" y="44608"/>
                  </a:lnTo>
                  <a:lnTo>
                    <a:pt x="857746" y="31768"/>
                  </a:lnTo>
                  <a:lnTo>
                    <a:pt x="800946" y="20837"/>
                  </a:lnTo>
                  <a:lnTo>
                    <a:pt x="739437" y="12005"/>
                  </a:lnTo>
                  <a:lnTo>
                    <a:pt x="673893" y="5462"/>
                  </a:lnTo>
                  <a:lnTo>
                    <a:pt x="604989" y="1397"/>
                  </a:lnTo>
                  <a:lnTo>
                    <a:pt x="533400" y="0"/>
                  </a:lnTo>
                  <a:close/>
                </a:path>
              </a:pathLst>
            </a:custGeom>
            <a:ln w="9344">
              <a:solidFill>
                <a:srgbClr val="000000"/>
              </a:solidFill>
            </a:ln>
          </p:spPr>
          <p:txBody>
            <a:bodyPr wrap="square" lIns="0" tIns="0" rIns="0" bIns="0" rtlCol="0"/>
            <a:lstStyle/>
            <a:p>
              <a:endParaRPr/>
            </a:p>
          </p:txBody>
        </p:sp>
        <p:sp>
          <p:nvSpPr>
            <p:cNvPr id="13" name="object 13"/>
            <p:cNvSpPr/>
            <p:nvPr/>
          </p:nvSpPr>
          <p:spPr>
            <a:xfrm>
              <a:off x="4046626" y="2205138"/>
              <a:ext cx="1076325" cy="1224915"/>
            </a:xfrm>
            <a:custGeom>
              <a:avLst/>
              <a:gdLst/>
              <a:ahLst/>
              <a:cxnLst/>
              <a:rect l="l" t="t" r="r" b="b"/>
              <a:pathLst>
                <a:path w="1076325" h="1224914">
                  <a:moveTo>
                    <a:pt x="9334" y="4660"/>
                  </a:moveTo>
                  <a:lnTo>
                    <a:pt x="7975" y="1358"/>
                  </a:lnTo>
                  <a:lnTo>
                    <a:pt x="4673" y="0"/>
                  </a:lnTo>
                  <a:lnTo>
                    <a:pt x="1358" y="1358"/>
                  </a:lnTo>
                  <a:lnTo>
                    <a:pt x="0" y="4660"/>
                  </a:lnTo>
                  <a:lnTo>
                    <a:pt x="1358" y="7975"/>
                  </a:lnTo>
                  <a:lnTo>
                    <a:pt x="4673" y="9334"/>
                  </a:lnTo>
                  <a:lnTo>
                    <a:pt x="7975" y="7975"/>
                  </a:lnTo>
                  <a:lnTo>
                    <a:pt x="9334" y="4660"/>
                  </a:lnTo>
                  <a:close/>
                </a:path>
                <a:path w="1076325" h="1224914">
                  <a:moveTo>
                    <a:pt x="1076134" y="1220050"/>
                  </a:moveTo>
                  <a:lnTo>
                    <a:pt x="1074775" y="1216748"/>
                  </a:lnTo>
                  <a:lnTo>
                    <a:pt x="1071473" y="1215390"/>
                  </a:lnTo>
                  <a:lnTo>
                    <a:pt x="1068158" y="1216748"/>
                  </a:lnTo>
                  <a:lnTo>
                    <a:pt x="1066800" y="1220050"/>
                  </a:lnTo>
                  <a:lnTo>
                    <a:pt x="1068158" y="1223365"/>
                  </a:lnTo>
                  <a:lnTo>
                    <a:pt x="1071473" y="1224724"/>
                  </a:lnTo>
                  <a:lnTo>
                    <a:pt x="1074775" y="1223365"/>
                  </a:lnTo>
                  <a:lnTo>
                    <a:pt x="1076134" y="1220050"/>
                  </a:lnTo>
                  <a:close/>
                </a:path>
              </a:pathLst>
            </a:custGeom>
            <a:solidFill>
              <a:srgbClr val="000000"/>
            </a:solidFill>
          </p:spPr>
          <p:txBody>
            <a:bodyPr wrap="square" lIns="0" tIns="0" rIns="0" bIns="0" rtlCol="0"/>
            <a:lstStyle/>
            <a:p>
              <a:endParaRPr/>
            </a:p>
          </p:txBody>
        </p:sp>
      </p:grpSp>
      <p:sp>
        <p:nvSpPr>
          <p:cNvPr id="14" name="object 14"/>
          <p:cNvSpPr txBox="1"/>
          <p:nvPr/>
        </p:nvSpPr>
        <p:spPr>
          <a:xfrm>
            <a:off x="5873750" y="2743200"/>
            <a:ext cx="468630" cy="299720"/>
          </a:xfrm>
          <a:prstGeom prst="rect">
            <a:avLst/>
          </a:prstGeom>
        </p:spPr>
        <p:txBody>
          <a:bodyPr vert="horz" wrap="square" lIns="0" tIns="12700" rIns="0" bIns="0" rtlCol="0">
            <a:spAutoFit/>
          </a:bodyPr>
          <a:lstStyle/>
          <a:p>
            <a:pPr marL="12700">
              <a:spcBef>
                <a:spcPts val="100"/>
              </a:spcBef>
            </a:pPr>
            <a:r>
              <a:rPr spc="-20" dirty="0">
                <a:latin typeface="Arial MT"/>
                <a:cs typeface="Arial MT"/>
              </a:rPr>
              <a:t>Disk</a:t>
            </a:r>
            <a:endParaRPr>
              <a:latin typeface="Arial MT"/>
              <a:cs typeface="Arial MT"/>
            </a:endParaRPr>
          </a:p>
        </p:txBody>
      </p:sp>
      <p:grpSp>
        <p:nvGrpSpPr>
          <p:cNvPr id="15" name="object 15"/>
          <p:cNvGrpSpPr/>
          <p:nvPr/>
        </p:nvGrpSpPr>
        <p:grpSpPr>
          <a:xfrm>
            <a:off x="5557838" y="4135438"/>
            <a:ext cx="1076325" cy="923925"/>
            <a:chOff x="4033837" y="4135437"/>
            <a:chExt cx="1076325" cy="923925"/>
          </a:xfrm>
        </p:grpSpPr>
        <p:sp>
          <p:nvSpPr>
            <p:cNvPr id="16" name="object 16"/>
            <p:cNvSpPr/>
            <p:nvPr/>
          </p:nvSpPr>
          <p:spPr>
            <a:xfrm>
              <a:off x="4038600" y="4140200"/>
              <a:ext cx="1066800" cy="914400"/>
            </a:xfrm>
            <a:custGeom>
              <a:avLst/>
              <a:gdLst/>
              <a:ahLst/>
              <a:cxnLst/>
              <a:rect l="l" t="t" r="r" b="b"/>
              <a:pathLst>
                <a:path w="1066800" h="914400">
                  <a:moveTo>
                    <a:pt x="1066800" y="0"/>
                  </a:moveTo>
                  <a:lnTo>
                    <a:pt x="0" y="0"/>
                  </a:lnTo>
                  <a:lnTo>
                    <a:pt x="0" y="914400"/>
                  </a:lnTo>
                  <a:lnTo>
                    <a:pt x="533400" y="914400"/>
                  </a:lnTo>
                  <a:lnTo>
                    <a:pt x="1066800" y="914400"/>
                  </a:lnTo>
                  <a:lnTo>
                    <a:pt x="1066800" y="0"/>
                  </a:lnTo>
                  <a:close/>
                </a:path>
              </a:pathLst>
            </a:custGeom>
            <a:solidFill>
              <a:srgbClr val="BADFE2"/>
            </a:solidFill>
          </p:spPr>
          <p:txBody>
            <a:bodyPr wrap="square" lIns="0" tIns="0" rIns="0" bIns="0" rtlCol="0"/>
            <a:lstStyle/>
            <a:p>
              <a:endParaRPr/>
            </a:p>
          </p:txBody>
        </p:sp>
        <p:sp>
          <p:nvSpPr>
            <p:cNvPr id="17" name="object 17"/>
            <p:cNvSpPr/>
            <p:nvPr/>
          </p:nvSpPr>
          <p:spPr>
            <a:xfrm>
              <a:off x="4038600" y="4140200"/>
              <a:ext cx="1066800" cy="914400"/>
            </a:xfrm>
            <a:custGeom>
              <a:avLst/>
              <a:gdLst/>
              <a:ahLst/>
              <a:cxnLst/>
              <a:rect l="l" t="t" r="r" b="b"/>
              <a:pathLst>
                <a:path w="1066800" h="914400">
                  <a:moveTo>
                    <a:pt x="533400" y="914400"/>
                  </a:moveTo>
                  <a:lnTo>
                    <a:pt x="0" y="914400"/>
                  </a:lnTo>
                  <a:lnTo>
                    <a:pt x="0" y="0"/>
                  </a:lnTo>
                  <a:lnTo>
                    <a:pt x="1066800" y="0"/>
                  </a:lnTo>
                  <a:lnTo>
                    <a:pt x="1066800" y="914400"/>
                  </a:lnTo>
                  <a:lnTo>
                    <a:pt x="533400" y="914400"/>
                  </a:lnTo>
                  <a:close/>
                </a:path>
              </a:pathLst>
            </a:custGeom>
            <a:ln w="9344">
              <a:solidFill>
                <a:srgbClr val="000000"/>
              </a:solidFill>
            </a:ln>
          </p:spPr>
          <p:txBody>
            <a:bodyPr wrap="square" lIns="0" tIns="0" rIns="0" bIns="0" rtlCol="0"/>
            <a:lstStyle/>
            <a:p>
              <a:endParaRPr/>
            </a:p>
          </p:txBody>
        </p:sp>
      </p:grpSp>
      <p:sp>
        <p:nvSpPr>
          <p:cNvPr id="18" name="object 18"/>
          <p:cNvSpPr txBox="1"/>
          <p:nvPr/>
        </p:nvSpPr>
        <p:spPr>
          <a:xfrm>
            <a:off x="5842000" y="4584700"/>
            <a:ext cx="508000" cy="299720"/>
          </a:xfrm>
          <a:prstGeom prst="rect">
            <a:avLst/>
          </a:prstGeom>
        </p:spPr>
        <p:txBody>
          <a:bodyPr vert="horz" wrap="square" lIns="0" tIns="12700" rIns="0" bIns="0" rtlCol="0">
            <a:spAutoFit/>
          </a:bodyPr>
          <a:lstStyle/>
          <a:p>
            <a:pPr marL="12700">
              <a:spcBef>
                <a:spcPts val="100"/>
              </a:spcBef>
            </a:pPr>
            <a:r>
              <a:rPr spc="-25" dirty="0">
                <a:latin typeface="Arial MT"/>
                <a:cs typeface="Arial MT"/>
              </a:rPr>
              <a:t>CPU</a:t>
            </a:r>
            <a:endParaRPr>
              <a:latin typeface="Arial MT"/>
              <a:cs typeface="Arial MT"/>
            </a:endParaRPr>
          </a:p>
        </p:txBody>
      </p:sp>
      <p:sp>
        <p:nvSpPr>
          <p:cNvPr id="19" name="object 19"/>
          <p:cNvSpPr/>
          <p:nvPr/>
        </p:nvSpPr>
        <p:spPr>
          <a:xfrm>
            <a:off x="2209800" y="4140200"/>
            <a:ext cx="1066800" cy="914400"/>
          </a:xfrm>
          <a:custGeom>
            <a:avLst/>
            <a:gdLst/>
            <a:ahLst/>
            <a:cxnLst/>
            <a:rect l="l" t="t" r="r" b="b"/>
            <a:pathLst>
              <a:path w="1066800" h="914400">
                <a:moveTo>
                  <a:pt x="1066800" y="0"/>
                </a:moveTo>
                <a:lnTo>
                  <a:pt x="0" y="0"/>
                </a:lnTo>
                <a:lnTo>
                  <a:pt x="0" y="914400"/>
                </a:lnTo>
                <a:lnTo>
                  <a:pt x="533400" y="914400"/>
                </a:lnTo>
                <a:lnTo>
                  <a:pt x="1066800" y="914400"/>
                </a:lnTo>
                <a:lnTo>
                  <a:pt x="1066800" y="0"/>
                </a:lnTo>
                <a:close/>
              </a:path>
            </a:pathLst>
          </a:custGeom>
          <a:solidFill>
            <a:srgbClr val="BADFE2"/>
          </a:solidFill>
        </p:spPr>
        <p:txBody>
          <a:bodyPr wrap="square" lIns="0" tIns="0" rIns="0" bIns="0" rtlCol="0"/>
          <a:lstStyle/>
          <a:p>
            <a:endParaRPr/>
          </a:p>
        </p:txBody>
      </p:sp>
      <p:sp>
        <p:nvSpPr>
          <p:cNvPr id="20" name="object 20"/>
          <p:cNvSpPr txBox="1"/>
          <p:nvPr/>
        </p:nvSpPr>
        <p:spPr>
          <a:xfrm>
            <a:off x="2209800" y="4140200"/>
            <a:ext cx="1066800" cy="832920"/>
          </a:xfrm>
          <a:prstGeom prst="rect">
            <a:avLst/>
          </a:prstGeom>
          <a:ln w="9344">
            <a:solidFill>
              <a:srgbClr val="000000"/>
            </a:solidFill>
          </a:ln>
        </p:spPr>
        <p:txBody>
          <a:bodyPr vert="horz" wrap="square" lIns="0" tIns="93345" rIns="0" bIns="0" rtlCol="0">
            <a:spAutoFit/>
          </a:bodyPr>
          <a:lstStyle/>
          <a:p>
            <a:pPr marL="120650" marR="114935" indent="635" algn="ctr">
              <a:lnSpc>
                <a:spcPct val="99700"/>
              </a:lnSpc>
              <a:spcBef>
                <a:spcPts val="735"/>
              </a:spcBef>
            </a:pPr>
            <a:r>
              <a:rPr sz="1600" spc="-20" dirty="0">
                <a:latin typeface="Arial MT"/>
                <a:cs typeface="Arial MT"/>
              </a:rPr>
              <a:t>Input </a:t>
            </a:r>
            <a:r>
              <a:rPr sz="1600" spc="-10" dirty="0">
                <a:latin typeface="Arial MT"/>
                <a:cs typeface="Arial MT"/>
              </a:rPr>
              <a:t>Magnetic </a:t>
            </a:r>
            <a:r>
              <a:rPr sz="1600" spc="-20" dirty="0">
                <a:latin typeface="Arial MT"/>
                <a:cs typeface="Arial MT"/>
              </a:rPr>
              <a:t>Tape</a:t>
            </a:r>
            <a:endParaRPr sz="1600">
              <a:latin typeface="Arial MT"/>
              <a:cs typeface="Arial MT"/>
            </a:endParaRPr>
          </a:p>
        </p:txBody>
      </p:sp>
      <p:sp>
        <p:nvSpPr>
          <p:cNvPr id="21" name="object 21"/>
          <p:cNvSpPr/>
          <p:nvPr/>
        </p:nvSpPr>
        <p:spPr>
          <a:xfrm>
            <a:off x="8915400" y="4140200"/>
            <a:ext cx="1066800" cy="914400"/>
          </a:xfrm>
          <a:custGeom>
            <a:avLst/>
            <a:gdLst/>
            <a:ahLst/>
            <a:cxnLst/>
            <a:rect l="l" t="t" r="r" b="b"/>
            <a:pathLst>
              <a:path w="1066800" h="914400">
                <a:moveTo>
                  <a:pt x="1066800" y="0"/>
                </a:moveTo>
                <a:lnTo>
                  <a:pt x="0" y="0"/>
                </a:lnTo>
                <a:lnTo>
                  <a:pt x="0" y="914400"/>
                </a:lnTo>
                <a:lnTo>
                  <a:pt x="533400" y="914400"/>
                </a:lnTo>
                <a:lnTo>
                  <a:pt x="1066800" y="914400"/>
                </a:lnTo>
                <a:lnTo>
                  <a:pt x="1066800" y="0"/>
                </a:lnTo>
                <a:close/>
              </a:path>
            </a:pathLst>
          </a:custGeom>
          <a:solidFill>
            <a:srgbClr val="BADFE2"/>
          </a:solidFill>
        </p:spPr>
        <p:txBody>
          <a:bodyPr wrap="square" lIns="0" tIns="0" rIns="0" bIns="0" rtlCol="0"/>
          <a:lstStyle/>
          <a:p>
            <a:endParaRPr/>
          </a:p>
        </p:txBody>
      </p:sp>
      <p:sp>
        <p:nvSpPr>
          <p:cNvPr id="22" name="object 22"/>
          <p:cNvSpPr txBox="1"/>
          <p:nvPr/>
        </p:nvSpPr>
        <p:spPr>
          <a:xfrm>
            <a:off x="8915400" y="4140200"/>
            <a:ext cx="1066800" cy="832920"/>
          </a:xfrm>
          <a:prstGeom prst="rect">
            <a:avLst/>
          </a:prstGeom>
          <a:ln w="9344">
            <a:solidFill>
              <a:srgbClr val="000000"/>
            </a:solidFill>
          </a:ln>
        </p:spPr>
        <p:txBody>
          <a:bodyPr vert="horz" wrap="square" lIns="0" tIns="93345" rIns="0" bIns="0" rtlCol="0">
            <a:spAutoFit/>
          </a:bodyPr>
          <a:lstStyle/>
          <a:p>
            <a:pPr marL="120014" marR="114935" indent="635" algn="ctr">
              <a:lnSpc>
                <a:spcPct val="99700"/>
              </a:lnSpc>
              <a:spcBef>
                <a:spcPts val="735"/>
              </a:spcBef>
            </a:pPr>
            <a:r>
              <a:rPr sz="1600" spc="-10" dirty="0">
                <a:latin typeface="Arial MT"/>
                <a:cs typeface="Arial MT"/>
              </a:rPr>
              <a:t>Output Magnetic </a:t>
            </a:r>
            <a:r>
              <a:rPr sz="1600" spc="-20" dirty="0">
                <a:latin typeface="Arial MT"/>
                <a:cs typeface="Arial MT"/>
              </a:rPr>
              <a:t>Tape</a:t>
            </a:r>
            <a:endParaRPr sz="1600">
              <a:latin typeface="Arial MT"/>
              <a:cs typeface="Arial MT"/>
            </a:endParaRPr>
          </a:p>
        </p:txBody>
      </p:sp>
      <p:grpSp>
        <p:nvGrpSpPr>
          <p:cNvPr id="23" name="object 23"/>
          <p:cNvGrpSpPr/>
          <p:nvPr/>
        </p:nvGrpSpPr>
        <p:grpSpPr>
          <a:xfrm>
            <a:off x="3276600" y="3378200"/>
            <a:ext cx="5638800" cy="1238250"/>
            <a:chOff x="1752600" y="3378200"/>
            <a:chExt cx="5638800" cy="1238250"/>
          </a:xfrm>
        </p:grpSpPr>
        <p:sp>
          <p:nvSpPr>
            <p:cNvPr id="24" name="object 24"/>
            <p:cNvSpPr/>
            <p:nvPr/>
          </p:nvSpPr>
          <p:spPr>
            <a:xfrm>
              <a:off x="1752600" y="4597400"/>
              <a:ext cx="2438400" cy="0"/>
            </a:xfrm>
            <a:custGeom>
              <a:avLst/>
              <a:gdLst/>
              <a:ahLst/>
              <a:cxnLst/>
              <a:rect l="l" t="t" r="r" b="b"/>
              <a:pathLst>
                <a:path w="2438400">
                  <a:moveTo>
                    <a:pt x="0" y="0"/>
                  </a:moveTo>
                  <a:lnTo>
                    <a:pt x="2438400" y="0"/>
                  </a:lnTo>
                </a:path>
              </a:pathLst>
            </a:custGeom>
            <a:ln w="38097">
              <a:solidFill>
                <a:srgbClr val="000000"/>
              </a:solidFill>
            </a:ln>
          </p:spPr>
          <p:txBody>
            <a:bodyPr wrap="square" lIns="0" tIns="0" rIns="0" bIns="0" rtlCol="0"/>
            <a:lstStyle/>
            <a:p>
              <a:endParaRPr/>
            </a:p>
          </p:txBody>
        </p:sp>
        <p:sp>
          <p:nvSpPr>
            <p:cNvPr id="25" name="object 25"/>
            <p:cNvSpPr/>
            <p:nvPr/>
          </p:nvSpPr>
          <p:spPr>
            <a:xfrm>
              <a:off x="4191000" y="3484879"/>
              <a:ext cx="0" cy="1112520"/>
            </a:xfrm>
            <a:custGeom>
              <a:avLst/>
              <a:gdLst/>
              <a:ahLst/>
              <a:cxnLst/>
              <a:rect l="l" t="t" r="r" b="b"/>
              <a:pathLst>
                <a:path h="1112520">
                  <a:moveTo>
                    <a:pt x="0" y="1112520"/>
                  </a:moveTo>
                  <a:lnTo>
                    <a:pt x="0" y="0"/>
                  </a:lnTo>
                </a:path>
              </a:pathLst>
            </a:custGeom>
            <a:ln w="38097">
              <a:solidFill>
                <a:srgbClr val="000000"/>
              </a:solidFill>
            </a:ln>
          </p:spPr>
          <p:txBody>
            <a:bodyPr wrap="square" lIns="0" tIns="0" rIns="0" bIns="0" rtlCol="0"/>
            <a:lstStyle/>
            <a:p>
              <a:endParaRPr/>
            </a:p>
          </p:txBody>
        </p:sp>
        <p:sp>
          <p:nvSpPr>
            <p:cNvPr id="26" name="object 26"/>
            <p:cNvSpPr/>
            <p:nvPr/>
          </p:nvSpPr>
          <p:spPr>
            <a:xfrm>
              <a:off x="4133850" y="3378200"/>
              <a:ext cx="114300" cy="114300"/>
            </a:xfrm>
            <a:custGeom>
              <a:avLst/>
              <a:gdLst/>
              <a:ahLst/>
              <a:cxnLst/>
              <a:rect l="l" t="t" r="r" b="b"/>
              <a:pathLst>
                <a:path w="114300" h="114300">
                  <a:moveTo>
                    <a:pt x="57150" y="0"/>
                  </a:moveTo>
                  <a:lnTo>
                    <a:pt x="0" y="114300"/>
                  </a:lnTo>
                  <a:lnTo>
                    <a:pt x="114300" y="114300"/>
                  </a:lnTo>
                  <a:lnTo>
                    <a:pt x="57150" y="0"/>
                  </a:lnTo>
                  <a:close/>
                </a:path>
              </a:pathLst>
            </a:custGeom>
            <a:solidFill>
              <a:srgbClr val="000000"/>
            </a:solidFill>
          </p:spPr>
          <p:txBody>
            <a:bodyPr wrap="square" lIns="0" tIns="0" rIns="0" bIns="0" rtlCol="0"/>
            <a:lstStyle/>
            <a:p>
              <a:endParaRPr/>
            </a:p>
          </p:txBody>
        </p:sp>
        <p:sp>
          <p:nvSpPr>
            <p:cNvPr id="27" name="object 27"/>
            <p:cNvSpPr/>
            <p:nvPr/>
          </p:nvSpPr>
          <p:spPr>
            <a:xfrm>
              <a:off x="4953000" y="3378200"/>
              <a:ext cx="2438400" cy="1219200"/>
            </a:xfrm>
            <a:custGeom>
              <a:avLst/>
              <a:gdLst/>
              <a:ahLst/>
              <a:cxnLst/>
              <a:rect l="l" t="t" r="r" b="b"/>
              <a:pathLst>
                <a:path w="2438400" h="1219200">
                  <a:moveTo>
                    <a:pt x="0" y="1219200"/>
                  </a:moveTo>
                  <a:lnTo>
                    <a:pt x="0" y="0"/>
                  </a:lnTo>
                </a:path>
                <a:path w="2438400" h="1219200">
                  <a:moveTo>
                    <a:pt x="0" y="1219200"/>
                  </a:moveTo>
                  <a:lnTo>
                    <a:pt x="2438400" y="1219200"/>
                  </a:lnTo>
                </a:path>
              </a:pathLst>
            </a:custGeom>
            <a:ln w="38097">
              <a:solidFill>
                <a:srgbClr val="000000"/>
              </a:solidFill>
            </a:ln>
          </p:spPr>
          <p:txBody>
            <a:bodyPr wrap="square" lIns="0" tIns="0" rIns="0" bIns="0" rtlCol="0"/>
            <a:lstStyle/>
            <a:p>
              <a:endParaRPr/>
            </a:p>
          </p:txBody>
        </p:sp>
        <p:sp>
          <p:nvSpPr>
            <p:cNvPr id="28" name="object 28"/>
            <p:cNvSpPr/>
            <p:nvPr/>
          </p:nvSpPr>
          <p:spPr>
            <a:xfrm>
              <a:off x="4724400" y="3484879"/>
              <a:ext cx="0" cy="960119"/>
            </a:xfrm>
            <a:custGeom>
              <a:avLst/>
              <a:gdLst/>
              <a:ahLst/>
              <a:cxnLst/>
              <a:rect l="l" t="t" r="r" b="b"/>
              <a:pathLst>
                <a:path h="960120">
                  <a:moveTo>
                    <a:pt x="0" y="960120"/>
                  </a:moveTo>
                  <a:lnTo>
                    <a:pt x="0" y="0"/>
                  </a:lnTo>
                </a:path>
              </a:pathLst>
            </a:custGeom>
            <a:ln w="38097">
              <a:solidFill>
                <a:srgbClr val="000000"/>
              </a:solidFill>
            </a:ln>
          </p:spPr>
          <p:txBody>
            <a:bodyPr wrap="square" lIns="0" tIns="0" rIns="0" bIns="0" rtlCol="0"/>
            <a:lstStyle/>
            <a:p>
              <a:endParaRPr/>
            </a:p>
          </p:txBody>
        </p:sp>
        <p:sp>
          <p:nvSpPr>
            <p:cNvPr id="29" name="object 29"/>
            <p:cNvSpPr/>
            <p:nvPr/>
          </p:nvSpPr>
          <p:spPr>
            <a:xfrm>
              <a:off x="4667250" y="3378200"/>
              <a:ext cx="114300" cy="114300"/>
            </a:xfrm>
            <a:custGeom>
              <a:avLst/>
              <a:gdLst/>
              <a:ahLst/>
              <a:cxnLst/>
              <a:rect l="l" t="t" r="r" b="b"/>
              <a:pathLst>
                <a:path w="114300" h="114300">
                  <a:moveTo>
                    <a:pt x="57150" y="0"/>
                  </a:moveTo>
                  <a:lnTo>
                    <a:pt x="0" y="114300"/>
                  </a:lnTo>
                  <a:lnTo>
                    <a:pt x="114300" y="114300"/>
                  </a:lnTo>
                  <a:lnTo>
                    <a:pt x="57150" y="0"/>
                  </a:lnTo>
                  <a:close/>
                </a:path>
              </a:pathLst>
            </a:custGeom>
            <a:solidFill>
              <a:srgbClr val="000000"/>
            </a:solidFill>
          </p:spPr>
          <p:txBody>
            <a:bodyPr wrap="square" lIns="0" tIns="0" rIns="0" bIns="0" rtlCol="0"/>
            <a:lstStyle/>
            <a:p>
              <a:endParaRPr/>
            </a:p>
          </p:txBody>
        </p:sp>
        <p:sp>
          <p:nvSpPr>
            <p:cNvPr id="30" name="object 30"/>
            <p:cNvSpPr/>
            <p:nvPr/>
          </p:nvSpPr>
          <p:spPr>
            <a:xfrm>
              <a:off x="4419600" y="3378200"/>
              <a:ext cx="0" cy="958850"/>
            </a:xfrm>
            <a:custGeom>
              <a:avLst/>
              <a:gdLst/>
              <a:ahLst/>
              <a:cxnLst/>
              <a:rect l="l" t="t" r="r" b="b"/>
              <a:pathLst>
                <a:path h="958850">
                  <a:moveTo>
                    <a:pt x="0" y="958850"/>
                  </a:moveTo>
                  <a:lnTo>
                    <a:pt x="0" y="0"/>
                  </a:lnTo>
                </a:path>
              </a:pathLst>
            </a:custGeom>
            <a:ln w="38097">
              <a:solidFill>
                <a:srgbClr val="000000"/>
              </a:solidFill>
            </a:ln>
          </p:spPr>
          <p:txBody>
            <a:bodyPr wrap="square" lIns="0" tIns="0" rIns="0" bIns="0" rtlCol="0"/>
            <a:lstStyle/>
            <a:p>
              <a:endParaRPr/>
            </a:p>
          </p:txBody>
        </p:sp>
        <p:sp>
          <p:nvSpPr>
            <p:cNvPr id="31" name="object 31"/>
            <p:cNvSpPr/>
            <p:nvPr/>
          </p:nvSpPr>
          <p:spPr>
            <a:xfrm>
              <a:off x="4362450" y="4330700"/>
              <a:ext cx="114300" cy="114300"/>
            </a:xfrm>
            <a:custGeom>
              <a:avLst/>
              <a:gdLst/>
              <a:ahLst/>
              <a:cxnLst/>
              <a:rect l="l" t="t" r="r" b="b"/>
              <a:pathLst>
                <a:path w="114300" h="114300">
                  <a:moveTo>
                    <a:pt x="114300" y="0"/>
                  </a:moveTo>
                  <a:lnTo>
                    <a:pt x="0" y="0"/>
                  </a:lnTo>
                  <a:lnTo>
                    <a:pt x="57150" y="114300"/>
                  </a:lnTo>
                  <a:lnTo>
                    <a:pt x="114300" y="0"/>
                  </a:lnTo>
                  <a:close/>
                </a:path>
              </a:pathLst>
            </a:custGeom>
            <a:solidFill>
              <a:srgbClr val="000000"/>
            </a:solidFill>
          </p:spPr>
          <p:txBody>
            <a:bodyPr wrap="square" lIns="0" tIns="0" rIns="0" bIns="0" rtlCol="0"/>
            <a:lstStyle/>
            <a:p>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2026920">
              <a:lnSpc>
                <a:spcPct val="100000"/>
              </a:lnSpc>
              <a:spcBef>
                <a:spcPts val="100"/>
              </a:spcBef>
            </a:pPr>
            <a:r>
              <a:rPr spc="-20" dirty="0"/>
              <a:t>Timesharing</a:t>
            </a:r>
          </a:p>
        </p:txBody>
      </p:sp>
      <p:pic>
        <p:nvPicPr>
          <p:cNvPr id="3" name="object 3"/>
          <p:cNvPicPr/>
          <p:nvPr/>
        </p:nvPicPr>
        <p:blipFill>
          <a:blip r:embed="rId2" cstate="print"/>
          <a:stretch>
            <a:fillRect/>
          </a:stretch>
        </p:blipFill>
        <p:spPr>
          <a:xfrm>
            <a:off x="4114800" y="1752600"/>
            <a:ext cx="4114800" cy="3856924"/>
          </a:xfrm>
          <a:prstGeom prst="rect">
            <a:avLst/>
          </a:prstGeom>
        </p:spPr>
      </p:pic>
      <p:grpSp>
        <p:nvGrpSpPr>
          <p:cNvPr id="4" name="object 4"/>
          <p:cNvGrpSpPr/>
          <p:nvPr/>
        </p:nvGrpSpPr>
        <p:grpSpPr>
          <a:xfrm>
            <a:off x="2133600" y="5715000"/>
            <a:ext cx="8229600" cy="304800"/>
            <a:chOff x="609600" y="5715000"/>
            <a:chExt cx="8229600" cy="304800"/>
          </a:xfrm>
        </p:grpSpPr>
        <p:sp>
          <p:nvSpPr>
            <p:cNvPr id="5" name="object 5"/>
            <p:cNvSpPr/>
            <p:nvPr/>
          </p:nvSpPr>
          <p:spPr>
            <a:xfrm>
              <a:off x="609600" y="5715000"/>
              <a:ext cx="2514600" cy="304800"/>
            </a:xfrm>
            <a:custGeom>
              <a:avLst/>
              <a:gdLst/>
              <a:ahLst/>
              <a:cxnLst/>
              <a:rect l="l" t="t" r="r" b="b"/>
              <a:pathLst>
                <a:path w="2514600" h="304800">
                  <a:moveTo>
                    <a:pt x="2514600" y="0"/>
                  </a:moveTo>
                  <a:lnTo>
                    <a:pt x="0" y="0"/>
                  </a:lnTo>
                  <a:lnTo>
                    <a:pt x="0" y="304800"/>
                  </a:lnTo>
                  <a:lnTo>
                    <a:pt x="1257300" y="304800"/>
                  </a:lnTo>
                  <a:lnTo>
                    <a:pt x="2514600" y="304800"/>
                  </a:lnTo>
                  <a:lnTo>
                    <a:pt x="2514600" y="0"/>
                  </a:lnTo>
                  <a:close/>
                </a:path>
              </a:pathLst>
            </a:custGeom>
            <a:solidFill>
              <a:srgbClr val="BADFE2"/>
            </a:solidFill>
          </p:spPr>
          <p:txBody>
            <a:bodyPr wrap="square" lIns="0" tIns="0" rIns="0" bIns="0" rtlCol="0"/>
            <a:lstStyle/>
            <a:p>
              <a:endParaRPr/>
            </a:p>
          </p:txBody>
        </p:sp>
        <p:sp>
          <p:nvSpPr>
            <p:cNvPr id="6" name="object 6"/>
            <p:cNvSpPr/>
            <p:nvPr/>
          </p:nvSpPr>
          <p:spPr>
            <a:xfrm>
              <a:off x="3124200" y="5715000"/>
              <a:ext cx="1295400" cy="304800"/>
            </a:xfrm>
            <a:custGeom>
              <a:avLst/>
              <a:gdLst/>
              <a:ahLst/>
              <a:cxnLst/>
              <a:rect l="l" t="t" r="r" b="b"/>
              <a:pathLst>
                <a:path w="1295400" h="304800">
                  <a:moveTo>
                    <a:pt x="1295400" y="0"/>
                  </a:moveTo>
                  <a:lnTo>
                    <a:pt x="0" y="0"/>
                  </a:lnTo>
                  <a:lnTo>
                    <a:pt x="0" y="304800"/>
                  </a:lnTo>
                  <a:lnTo>
                    <a:pt x="647700" y="304800"/>
                  </a:lnTo>
                  <a:lnTo>
                    <a:pt x="1295400" y="304800"/>
                  </a:lnTo>
                  <a:lnTo>
                    <a:pt x="1295400" y="0"/>
                  </a:lnTo>
                  <a:close/>
                </a:path>
              </a:pathLst>
            </a:custGeom>
            <a:solidFill>
              <a:srgbClr val="7F7F7F"/>
            </a:solidFill>
          </p:spPr>
          <p:txBody>
            <a:bodyPr wrap="square" lIns="0" tIns="0" rIns="0" bIns="0" rtlCol="0"/>
            <a:lstStyle/>
            <a:p>
              <a:endParaRPr/>
            </a:p>
          </p:txBody>
        </p:sp>
        <p:sp>
          <p:nvSpPr>
            <p:cNvPr id="7" name="object 7"/>
            <p:cNvSpPr/>
            <p:nvPr/>
          </p:nvSpPr>
          <p:spPr>
            <a:xfrm>
              <a:off x="4419600" y="5715000"/>
              <a:ext cx="1905000" cy="304800"/>
            </a:xfrm>
            <a:custGeom>
              <a:avLst/>
              <a:gdLst/>
              <a:ahLst/>
              <a:cxnLst/>
              <a:rect l="l" t="t" r="r" b="b"/>
              <a:pathLst>
                <a:path w="1905000" h="304800">
                  <a:moveTo>
                    <a:pt x="1905000" y="0"/>
                  </a:moveTo>
                  <a:lnTo>
                    <a:pt x="0" y="0"/>
                  </a:lnTo>
                  <a:lnTo>
                    <a:pt x="0" y="304800"/>
                  </a:lnTo>
                  <a:lnTo>
                    <a:pt x="952500" y="304800"/>
                  </a:lnTo>
                  <a:lnTo>
                    <a:pt x="1905000" y="304800"/>
                  </a:lnTo>
                  <a:lnTo>
                    <a:pt x="1905000" y="0"/>
                  </a:lnTo>
                  <a:close/>
                </a:path>
              </a:pathLst>
            </a:custGeom>
            <a:solidFill>
              <a:srgbClr val="99CC00"/>
            </a:solidFill>
          </p:spPr>
          <p:txBody>
            <a:bodyPr wrap="square" lIns="0" tIns="0" rIns="0" bIns="0" rtlCol="0"/>
            <a:lstStyle/>
            <a:p>
              <a:endParaRPr/>
            </a:p>
          </p:txBody>
        </p:sp>
        <p:sp>
          <p:nvSpPr>
            <p:cNvPr id="8" name="object 8"/>
            <p:cNvSpPr/>
            <p:nvPr/>
          </p:nvSpPr>
          <p:spPr>
            <a:xfrm>
              <a:off x="6324600" y="5715000"/>
              <a:ext cx="2514600" cy="304800"/>
            </a:xfrm>
            <a:custGeom>
              <a:avLst/>
              <a:gdLst/>
              <a:ahLst/>
              <a:cxnLst/>
              <a:rect l="l" t="t" r="r" b="b"/>
              <a:pathLst>
                <a:path w="2514600" h="304800">
                  <a:moveTo>
                    <a:pt x="2514600" y="0"/>
                  </a:moveTo>
                  <a:lnTo>
                    <a:pt x="0" y="0"/>
                  </a:lnTo>
                  <a:lnTo>
                    <a:pt x="0" y="304800"/>
                  </a:lnTo>
                  <a:lnTo>
                    <a:pt x="1257300" y="304800"/>
                  </a:lnTo>
                  <a:lnTo>
                    <a:pt x="2514600" y="304800"/>
                  </a:lnTo>
                  <a:lnTo>
                    <a:pt x="2514600" y="0"/>
                  </a:lnTo>
                  <a:close/>
                </a:path>
              </a:pathLst>
            </a:custGeom>
            <a:solidFill>
              <a:srgbClr val="EBB1E7"/>
            </a:solidFill>
          </p:spPr>
          <p:txBody>
            <a:bodyPr wrap="square" lIns="0" tIns="0" rIns="0" bIns="0" rtlCol="0"/>
            <a:lstStyle/>
            <a:p>
              <a:endParaRPr/>
            </a:p>
          </p:txBody>
        </p:sp>
      </p:grpSp>
      <p:graphicFrame>
        <p:nvGraphicFramePr>
          <p:cNvPr id="9" name="object 9"/>
          <p:cNvGraphicFramePr>
            <a:graphicFrameLocks noGrp="1"/>
          </p:cNvGraphicFramePr>
          <p:nvPr/>
        </p:nvGraphicFramePr>
        <p:xfrm>
          <a:off x="2128927" y="5710327"/>
          <a:ext cx="8229600" cy="304800"/>
        </p:xfrm>
        <a:graphic>
          <a:graphicData uri="http://schemas.openxmlformats.org/drawingml/2006/table">
            <a:tbl>
              <a:tblPr firstRow="1" bandRow="1">
                <a:tableStyleId>{2D5ABB26-0587-4C30-8999-92F81FD0307C}</a:tableStyleId>
              </a:tblPr>
              <a:tblGrid>
                <a:gridCol w="25146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304800">
                <a:tc>
                  <a:txBody>
                    <a:bodyPr/>
                    <a:lstStyle/>
                    <a:p>
                      <a:pPr marL="730885">
                        <a:lnSpc>
                          <a:spcPct val="100000"/>
                        </a:lnSpc>
                        <a:spcBef>
                          <a:spcPts val="120"/>
                        </a:spcBef>
                      </a:pPr>
                      <a:r>
                        <a:rPr sz="1800" spc="-30" dirty="0">
                          <a:latin typeface="Arial MT"/>
                          <a:cs typeface="Arial MT"/>
                        </a:rPr>
                        <a:t>Terminal</a:t>
                      </a:r>
                      <a:r>
                        <a:rPr sz="1800" spc="-65" dirty="0">
                          <a:latin typeface="Arial MT"/>
                          <a:cs typeface="Arial MT"/>
                        </a:rPr>
                        <a:t> </a:t>
                      </a:r>
                      <a:r>
                        <a:rPr sz="1800" spc="-50" dirty="0">
                          <a:latin typeface="Arial MT"/>
                          <a:cs typeface="Arial MT"/>
                        </a:rPr>
                        <a:t>1</a:t>
                      </a:r>
                      <a:endParaRPr sz="1800">
                        <a:latin typeface="Arial MT"/>
                        <a:cs typeface="Arial MT"/>
                      </a:endParaRPr>
                    </a:p>
                  </a:txBody>
                  <a:tcPr marL="0" marR="0" marT="1524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121285">
                        <a:lnSpc>
                          <a:spcPct val="100000"/>
                        </a:lnSpc>
                        <a:spcBef>
                          <a:spcPts val="120"/>
                        </a:spcBef>
                      </a:pPr>
                      <a:r>
                        <a:rPr sz="1800" spc="-25" dirty="0">
                          <a:latin typeface="Arial MT"/>
                          <a:cs typeface="Arial MT"/>
                        </a:rPr>
                        <a:t>Terminal</a:t>
                      </a:r>
                      <a:r>
                        <a:rPr sz="1800" spc="-70" dirty="0">
                          <a:latin typeface="Arial MT"/>
                          <a:cs typeface="Arial MT"/>
                        </a:rPr>
                        <a:t> </a:t>
                      </a:r>
                      <a:r>
                        <a:rPr sz="1800" spc="-50" dirty="0">
                          <a:latin typeface="Arial MT"/>
                          <a:cs typeface="Arial MT"/>
                        </a:rPr>
                        <a:t>2</a:t>
                      </a:r>
                      <a:endParaRPr sz="1800">
                        <a:latin typeface="Arial MT"/>
                        <a:cs typeface="Arial MT"/>
                      </a:endParaRPr>
                    </a:p>
                  </a:txBody>
                  <a:tcPr marL="0" marR="0" marT="1524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426720">
                        <a:lnSpc>
                          <a:spcPct val="100000"/>
                        </a:lnSpc>
                        <a:spcBef>
                          <a:spcPts val="120"/>
                        </a:spcBef>
                      </a:pPr>
                      <a:r>
                        <a:rPr sz="1800" spc="-25" dirty="0">
                          <a:latin typeface="Arial MT"/>
                          <a:cs typeface="Arial MT"/>
                        </a:rPr>
                        <a:t>Terminal</a:t>
                      </a:r>
                      <a:r>
                        <a:rPr sz="1800" spc="-70" dirty="0">
                          <a:latin typeface="Arial MT"/>
                          <a:cs typeface="Arial MT"/>
                        </a:rPr>
                        <a:t> </a:t>
                      </a:r>
                      <a:r>
                        <a:rPr sz="1800" spc="-50" dirty="0">
                          <a:latin typeface="Arial MT"/>
                          <a:cs typeface="Arial MT"/>
                        </a:rPr>
                        <a:t>3</a:t>
                      </a:r>
                      <a:endParaRPr sz="1800">
                        <a:latin typeface="Arial MT"/>
                        <a:cs typeface="Arial MT"/>
                      </a:endParaRPr>
                    </a:p>
                  </a:txBody>
                  <a:tcPr marL="0" marR="0" marT="1524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31520">
                        <a:lnSpc>
                          <a:spcPct val="100000"/>
                        </a:lnSpc>
                        <a:spcBef>
                          <a:spcPts val="120"/>
                        </a:spcBef>
                      </a:pPr>
                      <a:r>
                        <a:rPr sz="1800" spc="-30" dirty="0">
                          <a:latin typeface="Arial MT"/>
                          <a:cs typeface="Arial MT"/>
                        </a:rPr>
                        <a:t>Terminal</a:t>
                      </a:r>
                      <a:r>
                        <a:rPr sz="1800" spc="-65" dirty="0">
                          <a:latin typeface="Arial MT"/>
                          <a:cs typeface="Arial MT"/>
                        </a:rPr>
                        <a:t> </a:t>
                      </a:r>
                      <a:r>
                        <a:rPr sz="1800" spc="-50" dirty="0">
                          <a:latin typeface="Arial MT"/>
                          <a:cs typeface="Arial MT"/>
                        </a:rPr>
                        <a:t>4</a:t>
                      </a:r>
                      <a:endParaRPr sz="1800">
                        <a:latin typeface="Arial MT"/>
                        <a:cs typeface="Arial MT"/>
                      </a:endParaRPr>
                    </a:p>
                  </a:txBody>
                  <a:tcPr marL="0" marR="0" marT="1524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pSp>
        <p:nvGrpSpPr>
          <p:cNvPr id="10" name="object 10"/>
          <p:cNvGrpSpPr/>
          <p:nvPr/>
        </p:nvGrpSpPr>
        <p:grpSpPr>
          <a:xfrm>
            <a:off x="3429000" y="6496050"/>
            <a:ext cx="6096000" cy="114300"/>
            <a:chOff x="1905000" y="6496050"/>
            <a:chExt cx="6096000" cy="114300"/>
          </a:xfrm>
        </p:grpSpPr>
        <p:sp>
          <p:nvSpPr>
            <p:cNvPr id="11" name="object 11"/>
            <p:cNvSpPr/>
            <p:nvPr/>
          </p:nvSpPr>
          <p:spPr>
            <a:xfrm>
              <a:off x="1905000" y="6553200"/>
              <a:ext cx="5989320" cy="0"/>
            </a:xfrm>
            <a:custGeom>
              <a:avLst/>
              <a:gdLst/>
              <a:ahLst/>
              <a:cxnLst/>
              <a:rect l="l" t="t" r="r" b="b"/>
              <a:pathLst>
                <a:path w="5989320">
                  <a:moveTo>
                    <a:pt x="0" y="0"/>
                  </a:moveTo>
                  <a:lnTo>
                    <a:pt x="5989320" y="0"/>
                  </a:lnTo>
                </a:path>
              </a:pathLst>
            </a:custGeom>
            <a:ln w="38097">
              <a:solidFill>
                <a:srgbClr val="000000"/>
              </a:solidFill>
            </a:ln>
          </p:spPr>
          <p:txBody>
            <a:bodyPr wrap="square" lIns="0" tIns="0" rIns="0" bIns="0" rtlCol="0"/>
            <a:lstStyle/>
            <a:p>
              <a:endParaRPr/>
            </a:p>
          </p:txBody>
        </p:sp>
        <p:sp>
          <p:nvSpPr>
            <p:cNvPr id="12" name="object 12"/>
            <p:cNvSpPr/>
            <p:nvPr/>
          </p:nvSpPr>
          <p:spPr>
            <a:xfrm>
              <a:off x="7886700" y="6496050"/>
              <a:ext cx="114300" cy="114300"/>
            </a:xfrm>
            <a:custGeom>
              <a:avLst/>
              <a:gdLst/>
              <a:ahLst/>
              <a:cxnLst/>
              <a:rect l="l" t="t" r="r" b="b"/>
              <a:pathLst>
                <a:path w="114300" h="114300">
                  <a:moveTo>
                    <a:pt x="0" y="0"/>
                  </a:moveTo>
                  <a:lnTo>
                    <a:pt x="0" y="114300"/>
                  </a:lnTo>
                  <a:lnTo>
                    <a:pt x="114300" y="57150"/>
                  </a:lnTo>
                  <a:lnTo>
                    <a:pt x="0" y="0"/>
                  </a:lnTo>
                  <a:close/>
                </a:path>
              </a:pathLst>
            </a:custGeom>
            <a:solidFill>
              <a:srgbClr val="000000"/>
            </a:solidFill>
          </p:spPr>
          <p:txBody>
            <a:bodyPr wrap="square" lIns="0" tIns="0" rIns="0" bIns="0" rtlCol="0"/>
            <a:lstStyle/>
            <a:p>
              <a:endParaRPr/>
            </a:p>
          </p:txBody>
        </p:sp>
      </p:grpSp>
      <p:sp>
        <p:nvSpPr>
          <p:cNvPr id="13" name="object 13"/>
          <p:cNvSpPr txBox="1"/>
          <p:nvPr/>
        </p:nvSpPr>
        <p:spPr>
          <a:xfrm>
            <a:off x="6080759" y="6242050"/>
            <a:ext cx="457200" cy="299720"/>
          </a:xfrm>
          <a:prstGeom prst="rect">
            <a:avLst/>
          </a:prstGeom>
        </p:spPr>
        <p:txBody>
          <a:bodyPr vert="horz" wrap="square" lIns="0" tIns="12700" rIns="0" bIns="0" rtlCol="0">
            <a:spAutoFit/>
          </a:bodyPr>
          <a:lstStyle/>
          <a:p>
            <a:pPr marL="12700">
              <a:spcBef>
                <a:spcPts val="100"/>
              </a:spcBef>
            </a:pPr>
            <a:r>
              <a:rPr spc="-20" dirty="0">
                <a:latin typeface="Arial MT"/>
                <a:cs typeface="Arial MT"/>
              </a:rPr>
              <a:t>time</a:t>
            </a:r>
            <a:endParaRPr>
              <a:latin typeface="Arial MT"/>
              <a:cs typeface="Arial MT"/>
            </a:endParaRPr>
          </a:p>
        </p:txBody>
      </p:sp>
      <p:sp>
        <p:nvSpPr>
          <p:cNvPr id="14" name="object 14"/>
          <p:cNvSpPr txBox="1"/>
          <p:nvPr/>
        </p:nvSpPr>
        <p:spPr>
          <a:xfrm>
            <a:off x="1601469" y="5368290"/>
            <a:ext cx="2092960" cy="299720"/>
          </a:xfrm>
          <a:prstGeom prst="rect">
            <a:avLst/>
          </a:prstGeom>
        </p:spPr>
        <p:txBody>
          <a:bodyPr vert="horz" wrap="square" lIns="0" tIns="12700" rIns="0" bIns="0" rtlCol="0">
            <a:spAutoFit/>
          </a:bodyPr>
          <a:lstStyle/>
          <a:p>
            <a:pPr marL="12700">
              <a:spcBef>
                <a:spcPts val="100"/>
              </a:spcBef>
            </a:pPr>
            <a:r>
              <a:rPr dirty="0">
                <a:latin typeface="Arial MT"/>
                <a:cs typeface="Arial MT"/>
              </a:rPr>
              <a:t>Who</a:t>
            </a:r>
            <a:r>
              <a:rPr spc="-20" dirty="0">
                <a:latin typeface="Arial MT"/>
                <a:cs typeface="Arial MT"/>
              </a:rPr>
              <a:t> </a:t>
            </a:r>
            <a:r>
              <a:rPr dirty="0">
                <a:latin typeface="Arial MT"/>
                <a:cs typeface="Arial MT"/>
              </a:rPr>
              <a:t>uses</a:t>
            </a:r>
            <a:r>
              <a:rPr spc="-15" dirty="0">
                <a:latin typeface="Arial MT"/>
                <a:cs typeface="Arial MT"/>
              </a:rPr>
              <a:t> </a:t>
            </a:r>
            <a:r>
              <a:rPr dirty="0">
                <a:latin typeface="Arial MT"/>
                <a:cs typeface="Arial MT"/>
              </a:rPr>
              <a:t>the</a:t>
            </a:r>
            <a:r>
              <a:rPr spc="-15" dirty="0">
                <a:latin typeface="Arial MT"/>
                <a:cs typeface="Arial MT"/>
              </a:rPr>
              <a:t> </a:t>
            </a:r>
            <a:r>
              <a:rPr spc="-20" dirty="0">
                <a:latin typeface="Arial MT"/>
                <a:cs typeface="Arial MT"/>
              </a:rPr>
              <a:t>CPU?</a:t>
            </a:r>
            <a:endParaRPr>
              <a:latin typeface="Arial MT"/>
              <a:cs typeface="Arial M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54220" y="497840"/>
            <a:ext cx="3079750" cy="695960"/>
          </a:xfrm>
          <a:prstGeom prst="rect">
            <a:avLst/>
          </a:prstGeom>
        </p:spPr>
        <p:txBody>
          <a:bodyPr vert="horz" wrap="square" lIns="0" tIns="12700" rIns="0" bIns="0" rtlCol="0">
            <a:spAutoFit/>
          </a:bodyPr>
          <a:lstStyle/>
          <a:p>
            <a:pPr marL="12700">
              <a:spcBef>
                <a:spcPts val="100"/>
              </a:spcBef>
            </a:pPr>
            <a:r>
              <a:rPr sz="4400" spc="-20" dirty="0">
                <a:solidFill>
                  <a:srgbClr val="0000CC"/>
                </a:solidFill>
                <a:latin typeface="Arial MT"/>
                <a:cs typeface="Arial MT"/>
              </a:rPr>
              <a:t>Timesharing</a:t>
            </a:r>
            <a:endParaRPr sz="4400">
              <a:latin typeface="Arial MT"/>
              <a:cs typeface="Arial MT"/>
            </a:endParaRPr>
          </a:p>
        </p:txBody>
      </p:sp>
      <p:grpSp>
        <p:nvGrpSpPr>
          <p:cNvPr id="3" name="object 3"/>
          <p:cNvGrpSpPr/>
          <p:nvPr/>
        </p:nvGrpSpPr>
        <p:grpSpPr>
          <a:xfrm>
            <a:off x="2809648" y="2200048"/>
            <a:ext cx="6423025" cy="3700145"/>
            <a:chOff x="1285647" y="2200047"/>
            <a:chExt cx="6423025" cy="3700145"/>
          </a:xfrm>
        </p:grpSpPr>
        <p:pic>
          <p:nvPicPr>
            <p:cNvPr id="4" name="object 4"/>
            <p:cNvPicPr/>
            <p:nvPr/>
          </p:nvPicPr>
          <p:blipFill>
            <a:blip r:embed="rId2" cstate="print"/>
            <a:stretch>
              <a:fillRect/>
            </a:stretch>
          </p:blipFill>
          <p:spPr>
            <a:xfrm>
              <a:off x="1337721" y="2321379"/>
              <a:ext cx="6277646" cy="3456030"/>
            </a:xfrm>
            <a:prstGeom prst="rect">
              <a:avLst/>
            </a:prstGeom>
          </p:spPr>
        </p:pic>
        <p:sp>
          <p:nvSpPr>
            <p:cNvPr id="5" name="object 5"/>
            <p:cNvSpPr/>
            <p:nvPr/>
          </p:nvSpPr>
          <p:spPr>
            <a:xfrm>
              <a:off x="1290320" y="2204720"/>
              <a:ext cx="6413500" cy="3690620"/>
            </a:xfrm>
            <a:custGeom>
              <a:avLst/>
              <a:gdLst/>
              <a:ahLst/>
              <a:cxnLst/>
              <a:rect l="l" t="t" r="r" b="b"/>
              <a:pathLst>
                <a:path w="6413500" h="3690620">
                  <a:moveTo>
                    <a:pt x="0" y="0"/>
                  </a:moveTo>
                  <a:lnTo>
                    <a:pt x="6413500" y="0"/>
                  </a:lnTo>
                  <a:lnTo>
                    <a:pt x="6413500" y="3690619"/>
                  </a:lnTo>
                  <a:lnTo>
                    <a:pt x="0" y="3690619"/>
                  </a:lnTo>
                  <a:lnTo>
                    <a:pt x="0" y="0"/>
                  </a:lnTo>
                  <a:close/>
                </a:path>
              </a:pathLst>
            </a:custGeom>
            <a:ln w="9344">
              <a:solidFill>
                <a:srgbClr val="BADFE2"/>
              </a:solidFill>
            </a:ln>
          </p:spPr>
          <p:txBody>
            <a:bodyPr wrap="square" lIns="0" tIns="0" rIns="0" bIns="0" rtlCol="0"/>
            <a:lstStyle/>
            <a:p>
              <a:endParaRPr/>
            </a:p>
          </p:txBody>
        </p:sp>
      </p:grpSp>
      <p:sp>
        <p:nvSpPr>
          <p:cNvPr id="6" name="object 6"/>
          <p:cNvSpPr txBox="1"/>
          <p:nvPr/>
        </p:nvSpPr>
        <p:spPr>
          <a:xfrm>
            <a:off x="2895600" y="1939290"/>
            <a:ext cx="2176780" cy="299720"/>
          </a:xfrm>
          <a:prstGeom prst="rect">
            <a:avLst/>
          </a:prstGeom>
        </p:spPr>
        <p:txBody>
          <a:bodyPr vert="horz" wrap="square" lIns="0" tIns="12700" rIns="0" bIns="0" rtlCol="0">
            <a:spAutoFit/>
          </a:bodyPr>
          <a:lstStyle/>
          <a:p>
            <a:pPr marL="12700">
              <a:spcBef>
                <a:spcPts val="100"/>
              </a:spcBef>
            </a:pPr>
            <a:r>
              <a:rPr dirty="0">
                <a:latin typeface="Arial MT"/>
                <a:cs typeface="Arial MT"/>
              </a:rPr>
              <a:t>John</a:t>
            </a:r>
            <a:r>
              <a:rPr spc="-75" dirty="0">
                <a:latin typeface="Arial MT"/>
                <a:cs typeface="Arial MT"/>
              </a:rPr>
              <a:t> </a:t>
            </a:r>
            <a:r>
              <a:rPr spc="-10" dirty="0">
                <a:latin typeface="Arial MT"/>
                <a:cs typeface="Arial MT"/>
              </a:rPr>
              <a:t>McCarthy,</a:t>
            </a:r>
            <a:r>
              <a:rPr spc="-60" dirty="0">
                <a:latin typeface="Arial MT"/>
                <a:cs typeface="Arial MT"/>
              </a:rPr>
              <a:t> </a:t>
            </a:r>
            <a:r>
              <a:rPr spc="-20" dirty="0">
                <a:latin typeface="Arial MT"/>
                <a:cs typeface="Arial MT"/>
              </a:rPr>
              <a:t>1962</a:t>
            </a:r>
            <a:endParaRPr>
              <a:latin typeface="Arial MT"/>
              <a:cs typeface="Arial M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906905">
              <a:lnSpc>
                <a:spcPct val="100000"/>
              </a:lnSpc>
              <a:spcBef>
                <a:spcPts val="100"/>
              </a:spcBef>
            </a:pPr>
            <a:r>
              <a:rPr dirty="0">
                <a:solidFill>
                  <a:srgbClr val="FF0000"/>
                </a:solidFill>
              </a:rPr>
              <a:t>Multics,</a:t>
            </a:r>
            <a:r>
              <a:rPr spc="-120" dirty="0">
                <a:solidFill>
                  <a:srgbClr val="FF0000"/>
                </a:solidFill>
              </a:rPr>
              <a:t> </a:t>
            </a:r>
            <a:r>
              <a:rPr spc="-20" dirty="0">
                <a:solidFill>
                  <a:srgbClr val="FF0000"/>
                </a:solidFill>
              </a:rPr>
              <a:t>1964</a:t>
            </a:r>
          </a:p>
        </p:txBody>
      </p:sp>
      <p:sp>
        <p:nvSpPr>
          <p:cNvPr id="3" name="object 3"/>
          <p:cNvSpPr txBox="1"/>
          <p:nvPr/>
        </p:nvSpPr>
        <p:spPr>
          <a:xfrm>
            <a:off x="2059941" y="1539239"/>
            <a:ext cx="132715" cy="1357630"/>
          </a:xfrm>
          <a:prstGeom prst="rect">
            <a:avLst/>
          </a:prstGeom>
        </p:spPr>
        <p:txBody>
          <a:bodyPr vert="horz" wrap="square" lIns="0" tIns="91440" rIns="0" bIns="0" rtlCol="0">
            <a:spAutoFit/>
          </a:bodyPr>
          <a:lstStyle/>
          <a:p>
            <a:pPr marL="12700">
              <a:spcBef>
                <a:spcPts val="720"/>
              </a:spcBef>
            </a:pPr>
            <a:r>
              <a:rPr sz="2400" spc="-50" dirty="0">
                <a:latin typeface="Arial MT"/>
                <a:cs typeface="Arial MT"/>
              </a:rPr>
              <a:t>•</a:t>
            </a:r>
            <a:endParaRPr sz="2400">
              <a:latin typeface="Arial MT"/>
              <a:cs typeface="Arial MT"/>
            </a:endParaRPr>
          </a:p>
          <a:p>
            <a:pPr marL="12700">
              <a:spcBef>
                <a:spcPts val="620"/>
              </a:spcBef>
            </a:pPr>
            <a:r>
              <a:rPr sz="2400" spc="-50" dirty="0">
                <a:latin typeface="Arial MT"/>
                <a:cs typeface="Arial MT"/>
              </a:rPr>
              <a:t>•</a:t>
            </a:r>
            <a:endParaRPr sz="2400">
              <a:latin typeface="Arial MT"/>
              <a:cs typeface="Arial MT"/>
            </a:endParaRPr>
          </a:p>
          <a:p>
            <a:pPr marL="12700">
              <a:spcBef>
                <a:spcPts val="610"/>
              </a:spcBef>
            </a:pPr>
            <a:r>
              <a:rPr sz="2400" spc="-50" dirty="0">
                <a:latin typeface="Arial MT"/>
                <a:cs typeface="Arial MT"/>
              </a:rPr>
              <a:t>•</a:t>
            </a:r>
            <a:endParaRPr sz="2400">
              <a:latin typeface="Arial MT"/>
              <a:cs typeface="Arial MT"/>
            </a:endParaRPr>
          </a:p>
        </p:txBody>
      </p:sp>
      <p:sp>
        <p:nvSpPr>
          <p:cNvPr id="4" name="object 4"/>
          <p:cNvSpPr txBox="1"/>
          <p:nvPr/>
        </p:nvSpPr>
        <p:spPr>
          <a:xfrm>
            <a:off x="2402840" y="1557020"/>
            <a:ext cx="6524625" cy="4316730"/>
          </a:xfrm>
          <a:prstGeom prst="rect">
            <a:avLst/>
          </a:prstGeom>
        </p:spPr>
        <p:txBody>
          <a:bodyPr vert="horz" wrap="square" lIns="0" tIns="12700" rIns="0" bIns="0" rtlCol="0">
            <a:spAutoFit/>
          </a:bodyPr>
          <a:lstStyle/>
          <a:p>
            <a:pPr marL="12700" marR="109220">
              <a:lnSpc>
                <a:spcPct val="121200"/>
              </a:lnSpc>
              <a:spcBef>
                <a:spcPts val="100"/>
              </a:spcBef>
            </a:pPr>
            <a:r>
              <a:rPr sz="2400" dirty="0">
                <a:latin typeface="Arial MT"/>
                <a:cs typeface="Arial MT"/>
              </a:rPr>
              <a:t>Multiplexed</a:t>
            </a:r>
            <a:r>
              <a:rPr sz="2400" spc="-130" dirty="0">
                <a:latin typeface="Arial MT"/>
                <a:cs typeface="Arial MT"/>
              </a:rPr>
              <a:t> </a:t>
            </a:r>
            <a:r>
              <a:rPr sz="2400" dirty="0">
                <a:latin typeface="Arial MT"/>
                <a:cs typeface="Arial MT"/>
              </a:rPr>
              <a:t>Information</a:t>
            </a:r>
            <a:r>
              <a:rPr sz="2400" spc="-125" dirty="0">
                <a:latin typeface="Arial MT"/>
                <a:cs typeface="Arial MT"/>
              </a:rPr>
              <a:t> </a:t>
            </a:r>
            <a:r>
              <a:rPr sz="2400" dirty="0">
                <a:latin typeface="Arial MT"/>
                <a:cs typeface="Arial MT"/>
              </a:rPr>
              <a:t>and</a:t>
            </a:r>
            <a:r>
              <a:rPr sz="2400" spc="-130" dirty="0">
                <a:latin typeface="Arial MT"/>
                <a:cs typeface="Arial MT"/>
              </a:rPr>
              <a:t> </a:t>
            </a:r>
            <a:r>
              <a:rPr sz="2400" dirty="0">
                <a:latin typeface="Arial MT"/>
                <a:cs typeface="Arial MT"/>
              </a:rPr>
              <a:t>Computing</a:t>
            </a:r>
            <a:r>
              <a:rPr sz="2400" spc="-120" dirty="0">
                <a:latin typeface="Arial MT"/>
                <a:cs typeface="Arial MT"/>
              </a:rPr>
              <a:t> </a:t>
            </a:r>
            <a:r>
              <a:rPr sz="2400" spc="-10" dirty="0">
                <a:latin typeface="Arial MT"/>
                <a:cs typeface="Arial MT"/>
              </a:rPr>
              <a:t>Service </a:t>
            </a:r>
            <a:r>
              <a:rPr sz="2400" dirty="0">
                <a:latin typeface="Arial MT"/>
                <a:cs typeface="Arial MT"/>
              </a:rPr>
              <a:t>Ambitious</a:t>
            </a:r>
            <a:r>
              <a:rPr sz="2400" spc="-70" dirty="0">
                <a:latin typeface="Arial MT"/>
                <a:cs typeface="Arial MT"/>
              </a:rPr>
              <a:t> </a:t>
            </a:r>
            <a:r>
              <a:rPr sz="2400" dirty="0">
                <a:latin typeface="Arial MT"/>
                <a:cs typeface="Arial MT"/>
              </a:rPr>
              <a:t>project</a:t>
            </a:r>
            <a:r>
              <a:rPr sz="2400" spc="-70" dirty="0">
                <a:latin typeface="Arial MT"/>
                <a:cs typeface="Arial MT"/>
              </a:rPr>
              <a:t> </a:t>
            </a:r>
            <a:r>
              <a:rPr sz="2400" dirty="0">
                <a:latin typeface="Arial MT"/>
                <a:cs typeface="Arial MT"/>
              </a:rPr>
              <a:t>started</a:t>
            </a:r>
            <a:r>
              <a:rPr sz="2400" spc="-80" dirty="0">
                <a:latin typeface="Arial MT"/>
                <a:cs typeface="Arial MT"/>
              </a:rPr>
              <a:t> </a:t>
            </a:r>
            <a:r>
              <a:rPr sz="2400" dirty="0">
                <a:latin typeface="Arial MT"/>
                <a:cs typeface="Arial MT"/>
              </a:rPr>
              <a:t>in</a:t>
            </a:r>
            <a:r>
              <a:rPr sz="2400" spc="-85" dirty="0">
                <a:latin typeface="Arial MT"/>
                <a:cs typeface="Arial MT"/>
              </a:rPr>
              <a:t> </a:t>
            </a:r>
            <a:r>
              <a:rPr sz="2400" spc="-25" dirty="0">
                <a:latin typeface="Arial MT"/>
                <a:cs typeface="Arial MT"/>
              </a:rPr>
              <a:t>MIT</a:t>
            </a:r>
            <a:endParaRPr sz="2400">
              <a:latin typeface="Arial MT"/>
              <a:cs typeface="Arial MT"/>
            </a:endParaRPr>
          </a:p>
          <a:p>
            <a:pPr marL="12700" marR="5080">
              <a:spcBef>
                <a:spcPts val="620"/>
              </a:spcBef>
            </a:pPr>
            <a:r>
              <a:rPr sz="2400" dirty="0">
                <a:latin typeface="Arial MT"/>
                <a:cs typeface="Arial MT"/>
              </a:rPr>
              <a:t>Introduced</a:t>
            </a:r>
            <a:r>
              <a:rPr sz="2400" spc="-70" dirty="0">
                <a:latin typeface="Arial MT"/>
                <a:cs typeface="Arial MT"/>
              </a:rPr>
              <a:t> </a:t>
            </a:r>
            <a:r>
              <a:rPr sz="2400" dirty="0">
                <a:latin typeface="Arial MT"/>
                <a:cs typeface="Arial MT"/>
              </a:rPr>
              <a:t>several</a:t>
            </a:r>
            <a:r>
              <a:rPr sz="2400" spc="-70" dirty="0">
                <a:latin typeface="Arial MT"/>
                <a:cs typeface="Arial MT"/>
              </a:rPr>
              <a:t> </a:t>
            </a:r>
            <a:r>
              <a:rPr sz="2400" dirty="0">
                <a:latin typeface="Arial MT"/>
                <a:cs typeface="Arial MT"/>
              </a:rPr>
              <a:t>new</a:t>
            </a:r>
            <a:r>
              <a:rPr sz="2400" spc="-80" dirty="0">
                <a:latin typeface="Arial MT"/>
                <a:cs typeface="Arial MT"/>
              </a:rPr>
              <a:t> </a:t>
            </a:r>
            <a:r>
              <a:rPr sz="2400" dirty="0">
                <a:latin typeface="Arial MT"/>
                <a:cs typeface="Arial MT"/>
              </a:rPr>
              <a:t>OS</a:t>
            </a:r>
            <a:r>
              <a:rPr sz="2400" spc="-80" dirty="0">
                <a:latin typeface="Arial MT"/>
                <a:cs typeface="Arial MT"/>
              </a:rPr>
              <a:t> </a:t>
            </a:r>
            <a:r>
              <a:rPr sz="2400" dirty="0">
                <a:latin typeface="Arial MT"/>
                <a:cs typeface="Arial MT"/>
              </a:rPr>
              <a:t>features</a:t>
            </a:r>
            <a:r>
              <a:rPr sz="2400" spc="-65" dirty="0">
                <a:latin typeface="Arial MT"/>
                <a:cs typeface="Arial MT"/>
              </a:rPr>
              <a:t> </a:t>
            </a:r>
            <a:r>
              <a:rPr sz="2400" dirty="0">
                <a:latin typeface="Arial MT"/>
                <a:cs typeface="Arial MT"/>
              </a:rPr>
              <a:t>but</a:t>
            </a:r>
            <a:r>
              <a:rPr sz="2400" spc="-65" dirty="0">
                <a:latin typeface="Arial MT"/>
                <a:cs typeface="Arial MT"/>
              </a:rPr>
              <a:t> </a:t>
            </a:r>
            <a:r>
              <a:rPr sz="2400" dirty="0">
                <a:latin typeface="Arial MT"/>
                <a:cs typeface="Arial MT"/>
              </a:rPr>
              <a:t>was</a:t>
            </a:r>
            <a:r>
              <a:rPr sz="2400" spc="-65" dirty="0">
                <a:latin typeface="Arial MT"/>
                <a:cs typeface="Arial MT"/>
              </a:rPr>
              <a:t> </a:t>
            </a:r>
            <a:r>
              <a:rPr sz="2400" spc="-25" dirty="0">
                <a:latin typeface="Arial MT"/>
                <a:cs typeface="Arial MT"/>
              </a:rPr>
              <a:t>not </a:t>
            </a:r>
            <a:r>
              <a:rPr sz="2400" dirty="0">
                <a:latin typeface="Arial MT"/>
                <a:cs typeface="Arial MT"/>
              </a:rPr>
              <a:t>successful</a:t>
            </a:r>
            <a:r>
              <a:rPr sz="2400" spc="-80" dirty="0">
                <a:latin typeface="Arial MT"/>
                <a:cs typeface="Arial MT"/>
              </a:rPr>
              <a:t> </a:t>
            </a:r>
            <a:r>
              <a:rPr sz="2400" dirty="0">
                <a:latin typeface="Arial MT"/>
                <a:cs typeface="Arial MT"/>
              </a:rPr>
              <a:t>by</a:t>
            </a:r>
            <a:r>
              <a:rPr sz="2400" spc="-75" dirty="0">
                <a:latin typeface="Arial MT"/>
                <a:cs typeface="Arial MT"/>
              </a:rPr>
              <a:t> </a:t>
            </a:r>
            <a:r>
              <a:rPr sz="2400" spc="-10" dirty="0">
                <a:latin typeface="Arial MT"/>
                <a:cs typeface="Arial MT"/>
              </a:rPr>
              <a:t>itself</a:t>
            </a:r>
            <a:endParaRPr sz="2400">
              <a:latin typeface="Arial MT"/>
              <a:cs typeface="Arial MT"/>
            </a:endParaRPr>
          </a:p>
          <a:p>
            <a:pPr marL="412115" indent="-285115">
              <a:spcBef>
                <a:spcPts val="530"/>
              </a:spcBef>
              <a:buChar char="–"/>
              <a:tabLst>
                <a:tab pos="412115" algn="l"/>
              </a:tabLst>
            </a:pPr>
            <a:r>
              <a:rPr sz="2000" dirty="0">
                <a:latin typeface="Arial MT"/>
                <a:cs typeface="Arial MT"/>
              </a:rPr>
              <a:t>Segmented</a:t>
            </a:r>
            <a:r>
              <a:rPr sz="2000" spc="-80" dirty="0">
                <a:latin typeface="Arial MT"/>
                <a:cs typeface="Arial MT"/>
              </a:rPr>
              <a:t> </a:t>
            </a:r>
            <a:r>
              <a:rPr sz="2000" dirty="0">
                <a:latin typeface="Arial MT"/>
                <a:cs typeface="Arial MT"/>
              </a:rPr>
              <a:t>and</a:t>
            </a:r>
            <a:r>
              <a:rPr sz="2000" spc="-75" dirty="0">
                <a:latin typeface="Arial MT"/>
                <a:cs typeface="Arial MT"/>
              </a:rPr>
              <a:t> </a:t>
            </a:r>
            <a:r>
              <a:rPr sz="2000" dirty="0">
                <a:latin typeface="Arial MT"/>
                <a:cs typeface="Arial MT"/>
              </a:rPr>
              <a:t>Virtual</a:t>
            </a:r>
            <a:r>
              <a:rPr sz="2000" spc="-80" dirty="0">
                <a:latin typeface="Arial MT"/>
                <a:cs typeface="Arial MT"/>
              </a:rPr>
              <a:t> </a:t>
            </a:r>
            <a:r>
              <a:rPr sz="2000" spc="-10" dirty="0">
                <a:latin typeface="Arial MT"/>
                <a:cs typeface="Arial MT"/>
              </a:rPr>
              <a:t>memory</a:t>
            </a:r>
            <a:endParaRPr sz="2000">
              <a:latin typeface="Arial MT"/>
              <a:cs typeface="Arial MT"/>
            </a:endParaRPr>
          </a:p>
          <a:p>
            <a:pPr marL="412115" indent="-285115">
              <a:spcBef>
                <a:spcPts val="509"/>
              </a:spcBef>
              <a:buChar char="–"/>
              <a:tabLst>
                <a:tab pos="412115" algn="l"/>
              </a:tabLst>
            </a:pPr>
            <a:r>
              <a:rPr sz="2000" dirty="0">
                <a:latin typeface="Arial MT"/>
                <a:cs typeface="Arial MT"/>
              </a:rPr>
              <a:t>High</a:t>
            </a:r>
            <a:r>
              <a:rPr sz="2000" spc="-60" dirty="0">
                <a:latin typeface="Arial MT"/>
                <a:cs typeface="Arial MT"/>
              </a:rPr>
              <a:t> </a:t>
            </a:r>
            <a:r>
              <a:rPr sz="2000" dirty="0">
                <a:latin typeface="Arial MT"/>
                <a:cs typeface="Arial MT"/>
              </a:rPr>
              <a:t>level</a:t>
            </a:r>
            <a:r>
              <a:rPr sz="2000" spc="-60" dirty="0">
                <a:latin typeface="Arial MT"/>
                <a:cs typeface="Arial MT"/>
              </a:rPr>
              <a:t> </a:t>
            </a:r>
            <a:r>
              <a:rPr sz="2000" dirty="0">
                <a:latin typeface="Arial MT"/>
                <a:cs typeface="Arial MT"/>
              </a:rPr>
              <a:t>language</a:t>
            </a:r>
            <a:r>
              <a:rPr sz="2000" spc="-55" dirty="0">
                <a:latin typeface="Arial MT"/>
                <a:cs typeface="Arial MT"/>
              </a:rPr>
              <a:t> </a:t>
            </a:r>
            <a:r>
              <a:rPr sz="2000" spc="-10" dirty="0">
                <a:latin typeface="Arial MT"/>
                <a:cs typeface="Arial MT"/>
              </a:rPr>
              <a:t>support</a:t>
            </a:r>
            <a:endParaRPr sz="2000">
              <a:latin typeface="Arial MT"/>
              <a:cs typeface="Arial MT"/>
            </a:endParaRPr>
          </a:p>
          <a:p>
            <a:pPr marL="412115" indent="-285115">
              <a:spcBef>
                <a:spcPts val="520"/>
              </a:spcBef>
              <a:buChar char="–"/>
              <a:tabLst>
                <a:tab pos="412115" algn="l"/>
              </a:tabLst>
            </a:pPr>
            <a:r>
              <a:rPr sz="2000" dirty="0">
                <a:latin typeface="Arial MT"/>
                <a:cs typeface="Arial MT"/>
              </a:rPr>
              <a:t>Multi</a:t>
            </a:r>
            <a:r>
              <a:rPr sz="2000" spc="-75" dirty="0">
                <a:latin typeface="Arial MT"/>
                <a:cs typeface="Arial MT"/>
              </a:rPr>
              <a:t> </a:t>
            </a:r>
            <a:r>
              <a:rPr sz="2000" dirty="0">
                <a:latin typeface="Arial MT"/>
                <a:cs typeface="Arial MT"/>
              </a:rPr>
              <a:t>language</a:t>
            </a:r>
            <a:r>
              <a:rPr sz="2000" spc="-65" dirty="0">
                <a:latin typeface="Arial MT"/>
                <a:cs typeface="Arial MT"/>
              </a:rPr>
              <a:t> </a:t>
            </a:r>
            <a:r>
              <a:rPr sz="2000" spc="-10" dirty="0">
                <a:latin typeface="Arial MT"/>
                <a:cs typeface="Arial MT"/>
              </a:rPr>
              <a:t>support</a:t>
            </a:r>
            <a:endParaRPr sz="2000">
              <a:latin typeface="Arial MT"/>
              <a:cs typeface="Arial MT"/>
            </a:endParaRPr>
          </a:p>
          <a:p>
            <a:pPr marL="412115" indent="-285115">
              <a:spcBef>
                <a:spcPts val="520"/>
              </a:spcBef>
              <a:buFont typeface="Arial MT"/>
              <a:buChar char="–"/>
              <a:tabLst>
                <a:tab pos="412115" algn="l"/>
              </a:tabLst>
            </a:pPr>
            <a:r>
              <a:rPr sz="2000" b="1" spc="-10" dirty="0">
                <a:latin typeface="Arial"/>
                <a:cs typeface="Arial"/>
              </a:rPr>
              <a:t>Security</a:t>
            </a:r>
            <a:endParaRPr sz="2000">
              <a:latin typeface="Arial"/>
              <a:cs typeface="Arial"/>
            </a:endParaRPr>
          </a:p>
          <a:p>
            <a:pPr marL="412115" indent="-285115">
              <a:spcBef>
                <a:spcPts val="509"/>
              </a:spcBef>
              <a:buChar char="–"/>
              <a:tabLst>
                <a:tab pos="412115" algn="l"/>
              </a:tabLst>
            </a:pPr>
            <a:r>
              <a:rPr sz="2000" dirty="0">
                <a:latin typeface="Arial MT"/>
                <a:cs typeface="Arial MT"/>
              </a:rPr>
              <a:t>File</a:t>
            </a:r>
            <a:r>
              <a:rPr sz="2000" spc="-25" dirty="0">
                <a:latin typeface="Arial MT"/>
                <a:cs typeface="Arial MT"/>
              </a:rPr>
              <a:t> </a:t>
            </a:r>
            <a:r>
              <a:rPr sz="2000" dirty="0">
                <a:latin typeface="Arial MT"/>
                <a:cs typeface="Arial MT"/>
              </a:rPr>
              <a:t>system</a:t>
            </a:r>
            <a:r>
              <a:rPr sz="2000" spc="-30" dirty="0">
                <a:latin typeface="Arial MT"/>
                <a:cs typeface="Arial MT"/>
              </a:rPr>
              <a:t> </a:t>
            </a:r>
            <a:r>
              <a:rPr sz="2000" spc="-10" dirty="0">
                <a:latin typeface="Arial MT"/>
                <a:cs typeface="Arial MT"/>
              </a:rPr>
              <a:t>hierarchies</a:t>
            </a:r>
            <a:endParaRPr sz="2000">
              <a:latin typeface="Arial MT"/>
              <a:cs typeface="Arial MT"/>
            </a:endParaRPr>
          </a:p>
          <a:p>
            <a:pPr marL="412115" indent="-285115">
              <a:spcBef>
                <a:spcPts val="520"/>
              </a:spcBef>
              <a:buChar char="–"/>
              <a:tabLst>
                <a:tab pos="412115" algn="l"/>
              </a:tabLst>
            </a:pPr>
            <a:r>
              <a:rPr sz="2000" dirty="0">
                <a:latin typeface="Arial MT"/>
                <a:cs typeface="Arial MT"/>
              </a:rPr>
              <a:t>Relational</a:t>
            </a:r>
            <a:r>
              <a:rPr sz="2000" spc="-105" dirty="0">
                <a:latin typeface="Arial MT"/>
                <a:cs typeface="Arial MT"/>
              </a:rPr>
              <a:t> </a:t>
            </a:r>
            <a:r>
              <a:rPr sz="2000" spc="-10" dirty="0">
                <a:latin typeface="Arial MT"/>
                <a:cs typeface="Arial MT"/>
              </a:rPr>
              <a:t>databases</a:t>
            </a:r>
            <a:endParaRPr sz="2000">
              <a:latin typeface="Arial MT"/>
              <a:cs typeface="Arial MT"/>
            </a:endParaRPr>
          </a:p>
          <a:p>
            <a:pPr marL="412115" indent="-285115">
              <a:spcBef>
                <a:spcPts val="520"/>
              </a:spcBef>
              <a:buChar char="–"/>
              <a:tabLst>
                <a:tab pos="412115" algn="l"/>
              </a:tabLst>
            </a:pPr>
            <a:r>
              <a:rPr sz="2000" dirty="0">
                <a:latin typeface="Arial MT"/>
                <a:cs typeface="Arial MT"/>
              </a:rPr>
              <a:t>Shared</a:t>
            </a:r>
            <a:r>
              <a:rPr sz="2000" spc="-45" dirty="0">
                <a:latin typeface="Arial MT"/>
                <a:cs typeface="Arial MT"/>
              </a:rPr>
              <a:t> </a:t>
            </a:r>
            <a:r>
              <a:rPr sz="2000" dirty="0">
                <a:latin typeface="Arial MT"/>
                <a:cs typeface="Arial MT"/>
              </a:rPr>
              <a:t>memory</a:t>
            </a:r>
            <a:r>
              <a:rPr sz="2000" spc="-40" dirty="0">
                <a:latin typeface="Arial MT"/>
                <a:cs typeface="Arial MT"/>
              </a:rPr>
              <a:t> </a:t>
            </a:r>
            <a:r>
              <a:rPr sz="2000" spc="-10" dirty="0">
                <a:latin typeface="Arial MT"/>
                <a:cs typeface="Arial MT"/>
              </a:rPr>
              <a:t>multiprocessor</a:t>
            </a:r>
            <a:endParaRPr sz="2000">
              <a:latin typeface="Arial MT"/>
              <a:cs typeface="Arial M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54696" y="265497"/>
            <a:ext cx="7558406" cy="689932"/>
          </a:xfrm>
          <a:prstGeom prst="rect">
            <a:avLst/>
          </a:prstGeom>
        </p:spPr>
        <p:txBody>
          <a:bodyPr vert="horz" wrap="square" lIns="0" tIns="12700" rIns="0" bIns="0" rtlCol="0" anchor="ctr">
            <a:spAutoFit/>
          </a:bodyPr>
          <a:lstStyle/>
          <a:p>
            <a:pPr marL="12700">
              <a:lnSpc>
                <a:spcPct val="100000"/>
              </a:lnSpc>
              <a:spcBef>
                <a:spcPts val="100"/>
              </a:spcBef>
              <a:tabLst>
                <a:tab pos="1689735" algn="l"/>
              </a:tabLst>
            </a:pPr>
            <a:r>
              <a:rPr b="1" dirty="0">
                <a:solidFill>
                  <a:srgbClr val="C00000"/>
                </a:solidFill>
              </a:rPr>
              <a:t>Gen 4	: Personal Computers</a:t>
            </a:r>
          </a:p>
        </p:txBody>
      </p:sp>
      <p:sp>
        <p:nvSpPr>
          <p:cNvPr id="3" name="object 3"/>
          <p:cNvSpPr txBox="1"/>
          <p:nvPr/>
        </p:nvSpPr>
        <p:spPr>
          <a:xfrm>
            <a:off x="2059941" y="1544109"/>
            <a:ext cx="7860665" cy="4376839"/>
          </a:xfrm>
          <a:prstGeom prst="rect">
            <a:avLst/>
          </a:prstGeom>
        </p:spPr>
        <p:txBody>
          <a:bodyPr vert="horz" wrap="square" lIns="0" tIns="102870" rIns="0" bIns="0" rtlCol="0">
            <a:spAutoFit/>
          </a:bodyPr>
          <a:lstStyle/>
          <a:p>
            <a:pPr marL="354965" indent="-342265">
              <a:spcBef>
                <a:spcPts val="810"/>
              </a:spcBef>
              <a:buChar char="•"/>
              <a:tabLst>
                <a:tab pos="354965" algn="l"/>
              </a:tabLst>
            </a:pPr>
            <a:r>
              <a:rPr sz="2800" spc="-10" dirty="0">
                <a:solidFill>
                  <a:srgbClr val="0000CC"/>
                </a:solidFill>
                <a:latin typeface="Arial MT"/>
                <a:cs typeface="Arial MT"/>
              </a:rPr>
              <a:t>Hardware</a:t>
            </a:r>
            <a:endParaRPr sz="2800" dirty="0">
              <a:latin typeface="Arial MT"/>
              <a:cs typeface="Arial MT"/>
            </a:endParaRPr>
          </a:p>
          <a:p>
            <a:pPr marL="754380" lvl="1" indent="-284480">
              <a:spcBef>
                <a:spcPts val="610"/>
              </a:spcBef>
              <a:buChar char="–"/>
              <a:tabLst>
                <a:tab pos="754380" algn="l"/>
              </a:tabLst>
            </a:pPr>
            <a:r>
              <a:rPr sz="2400" dirty="0">
                <a:latin typeface="Arial MT"/>
                <a:cs typeface="Arial MT"/>
              </a:rPr>
              <a:t>VLSI</a:t>
            </a:r>
            <a:r>
              <a:rPr sz="2400" spc="-35" dirty="0">
                <a:latin typeface="Arial MT"/>
                <a:cs typeface="Arial MT"/>
              </a:rPr>
              <a:t> </a:t>
            </a:r>
            <a:r>
              <a:rPr sz="2400" spc="-25" dirty="0">
                <a:latin typeface="Arial MT"/>
                <a:cs typeface="Arial MT"/>
              </a:rPr>
              <a:t>ICs</a:t>
            </a:r>
            <a:endParaRPr sz="2400" dirty="0">
              <a:latin typeface="Arial MT"/>
              <a:cs typeface="Arial MT"/>
            </a:endParaRPr>
          </a:p>
          <a:p>
            <a:pPr marL="354965" indent="-342265">
              <a:spcBef>
                <a:spcPts val="710"/>
              </a:spcBef>
              <a:buChar char="•"/>
              <a:tabLst>
                <a:tab pos="354965" algn="l"/>
              </a:tabLst>
            </a:pPr>
            <a:r>
              <a:rPr sz="2800" dirty="0">
                <a:solidFill>
                  <a:srgbClr val="0000CC"/>
                </a:solidFill>
                <a:latin typeface="Arial MT"/>
                <a:cs typeface="Arial MT"/>
              </a:rPr>
              <a:t>User</a:t>
            </a:r>
            <a:r>
              <a:rPr sz="2800" spc="-65" dirty="0">
                <a:solidFill>
                  <a:srgbClr val="0000CC"/>
                </a:solidFill>
                <a:latin typeface="Arial MT"/>
                <a:cs typeface="Arial MT"/>
              </a:rPr>
              <a:t> </a:t>
            </a:r>
            <a:r>
              <a:rPr sz="2800" spc="-10" dirty="0">
                <a:solidFill>
                  <a:srgbClr val="0000CC"/>
                </a:solidFill>
                <a:latin typeface="Arial MT"/>
                <a:cs typeface="Arial MT"/>
              </a:rPr>
              <a:t>Programs</a:t>
            </a:r>
            <a:endParaRPr sz="2800" dirty="0">
              <a:latin typeface="Arial MT"/>
              <a:cs typeface="Arial MT"/>
            </a:endParaRPr>
          </a:p>
          <a:p>
            <a:pPr marL="754380" lvl="1" indent="-284480">
              <a:spcBef>
                <a:spcPts val="610"/>
              </a:spcBef>
              <a:buChar char="–"/>
              <a:tabLst>
                <a:tab pos="754380" algn="l"/>
              </a:tabLst>
            </a:pPr>
            <a:r>
              <a:rPr sz="2400" dirty="0">
                <a:latin typeface="Arial MT"/>
                <a:cs typeface="Arial MT"/>
              </a:rPr>
              <a:t>High</a:t>
            </a:r>
            <a:r>
              <a:rPr sz="2400" spc="-80" dirty="0">
                <a:latin typeface="Arial MT"/>
                <a:cs typeface="Arial MT"/>
              </a:rPr>
              <a:t> </a:t>
            </a:r>
            <a:r>
              <a:rPr sz="2400" dirty="0">
                <a:latin typeface="Arial MT"/>
                <a:cs typeface="Arial MT"/>
              </a:rPr>
              <a:t>level</a:t>
            </a:r>
            <a:r>
              <a:rPr sz="2400" spc="-80" dirty="0">
                <a:latin typeface="Arial MT"/>
                <a:cs typeface="Arial MT"/>
              </a:rPr>
              <a:t> </a:t>
            </a:r>
            <a:r>
              <a:rPr sz="2400" spc="-10" dirty="0">
                <a:latin typeface="Arial MT"/>
                <a:cs typeface="Arial MT"/>
              </a:rPr>
              <a:t>languages</a:t>
            </a:r>
            <a:endParaRPr sz="2400" dirty="0">
              <a:latin typeface="Arial MT"/>
              <a:cs typeface="Arial MT"/>
            </a:endParaRPr>
          </a:p>
          <a:p>
            <a:pPr marL="354965" indent="-342265">
              <a:spcBef>
                <a:spcPts val="710"/>
              </a:spcBef>
              <a:buChar char="•"/>
              <a:tabLst>
                <a:tab pos="354965" algn="l"/>
              </a:tabLst>
            </a:pPr>
            <a:r>
              <a:rPr sz="2800" dirty="0">
                <a:solidFill>
                  <a:srgbClr val="0000CC"/>
                </a:solidFill>
                <a:latin typeface="Arial MT"/>
                <a:cs typeface="Arial MT"/>
              </a:rPr>
              <a:t>Operating</a:t>
            </a:r>
            <a:r>
              <a:rPr sz="2800" spc="-125" dirty="0">
                <a:solidFill>
                  <a:srgbClr val="0000CC"/>
                </a:solidFill>
                <a:latin typeface="Arial MT"/>
                <a:cs typeface="Arial MT"/>
              </a:rPr>
              <a:t> </a:t>
            </a:r>
            <a:r>
              <a:rPr sz="2800" spc="-10" dirty="0">
                <a:solidFill>
                  <a:srgbClr val="0000CC"/>
                </a:solidFill>
                <a:latin typeface="Arial MT"/>
                <a:cs typeface="Arial MT"/>
              </a:rPr>
              <a:t>Systems</a:t>
            </a:r>
            <a:endParaRPr sz="2800" dirty="0">
              <a:latin typeface="Arial MT"/>
              <a:cs typeface="Arial MT"/>
            </a:endParaRPr>
          </a:p>
          <a:p>
            <a:pPr marL="754380" lvl="1" indent="-284480">
              <a:spcBef>
                <a:spcPts val="610"/>
              </a:spcBef>
              <a:buChar char="–"/>
              <a:tabLst>
                <a:tab pos="754380" algn="l"/>
              </a:tabLst>
            </a:pPr>
            <a:r>
              <a:rPr sz="3200" dirty="0">
                <a:solidFill>
                  <a:srgbClr val="FF0000"/>
                </a:solidFill>
                <a:latin typeface="Arial MT"/>
                <a:cs typeface="Arial MT"/>
              </a:rPr>
              <a:t>Multi</a:t>
            </a:r>
            <a:r>
              <a:rPr sz="3200" spc="-60" dirty="0">
                <a:solidFill>
                  <a:srgbClr val="FF0000"/>
                </a:solidFill>
                <a:latin typeface="Arial MT"/>
                <a:cs typeface="Arial MT"/>
              </a:rPr>
              <a:t> </a:t>
            </a:r>
            <a:r>
              <a:rPr sz="3200" spc="-10" dirty="0">
                <a:solidFill>
                  <a:srgbClr val="FF0000"/>
                </a:solidFill>
                <a:latin typeface="Arial MT"/>
                <a:cs typeface="Arial MT"/>
              </a:rPr>
              <a:t>tasking</a:t>
            </a:r>
            <a:endParaRPr sz="3200" dirty="0">
              <a:solidFill>
                <a:srgbClr val="FF0000"/>
              </a:solidFill>
              <a:latin typeface="Arial MT"/>
              <a:cs typeface="Arial MT"/>
            </a:endParaRPr>
          </a:p>
          <a:p>
            <a:pPr marL="754380" lvl="1" indent="-284480">
              <a:spcBef>
                <a:spcPts val="610"/>
              </a:spcBef>
              <a:buChar char="–"/>
              <a:tabLst>
                <a:tab pos="754380" algn="l"/>
              </a:tabLst>
            </a:pPr>
            <a:r>
              <a:rPr sz="2400" dirty="0">
                <a:latin typeface="Arial MT"/>
                <a:cs typeface="Arial MT"/>
              </a:rPr>
              <a:t>More</a:t>
            </a:r>
            <a:r>
              <a:rPr sz="2400" spc="-90" dirty="0">
                <a:latin typeface="Arial MT"/>
                <a:cs typeface="Arial MT"/>
              </a:rPr>
              <a:t> </a:t>
            </a:r>
            <a:r>
              <a:rPr sz="2400" dirty="0">
                <a:latin typeface="Arial MT"/>
                <a:cs typeface="Arial MT"/>
              </a:rPr>
              <a:t>complex</a:t>
            </a:r>
            <a:r>
              <a:rPr sz="2400" spc="-85" dirty="0">
                <a:latin typeface="Arial MT"/>
                <a:cs typeface="Arial MT"/>
              </a:rPr>
              <a:t> </a:t>
            </a:r>
            <a:r>
              <a:rPr sz="2400" dirty="0">
                <a:latin typeface="Arial MT"/>
                <a:cs typeface="Arial MT"/>
              </a:rPr>
              <a:t>memory</a:t>
            </a:r>
            <a:r>
              <a:rPr sz="2400" spc="-85" dirty="0">
                <a:latin typeface="Arial MT"/>
                <a:cs typeface="Arial MT"/>
              </a:rPr>
              <a:t> </a:t>
            </a:r>
            <a:r>
              <a:rPr sz="2400" spc="-10" dirty="0">
                <a:latin typeface="Arial MT"/>
                <a:cs typeface="Arial MT"/>
              </a:rPr>
              <a:t>management</a:t>
            </a:r>
            <a:r>
              <a:rPr sz="2400" spc="-75" dirty="0">
                <a:latin typeface="Arial MT"/>
                <a:cs typeface="Arial MT"/>
              </a:rPr>
              <a:t> </a:t>
            </a:r>
            <a:r>
              <a:rPr sz="2400" dirty="0">
                <a:latin typeface="Arial MT"/>
                <a:cs typeface="Arial MT"/>
              </a:rPr>
              <a:t>and</a:t>
            </a:r>
            <a:r>
              <a:rPr sz="2400" spc="-90" dirty="0">
                <a:latin typeface="Arial MT"/>
                <a:cs typeface="Arial MT"/>
              </a:rPr>
              <a:t> </a:t>
            </a:r>
            <a:r>
              <a:rPr sz="2400" spc="-10" dirty="0">
                <a:latin typeface="Arial MT"/>
                <a:cs typeface="Arial MT"/>
              </a:rPr>
              <a:t>scheduling</a:t>
            </a:r>
            <a:endParaRPr sz="2400" dirty="0">
              <a:latin typeface="Arial MT"/>
              <a:cs typeface="Arial MT"/>
            </a:endParaRPr>
          </a:p>
          <a:p>
            <a:pPr marL="754380" lvl="1" indent="-284480">
              <a:spcBef>
                <a:spcPts val="620"/>
              </a:spcBef>
              <a:buChar char="–"/>
              <a:tabLst>
                <a:tab pos="754380" algn="l"/>
              </a:tabLst>
            </a:pPr>
            <a:r>
              <a:rPr sz="2400" spc="-10" dirty="0">
                <a:latin typeface="Arial MT"/>
                <a:cs typeface="Arial MT"/>
              </a:rPr>
              <a:t>Synchronization</a:t>
            </a:r>
            <a:endParaRPr sz="2400" dirty="0">
              <a:latin typeface="Arial MT"/>
              <a:cs typeface="Arial MT"/>
            </a:endParaRPr>
          </a:p>
          <a:p>
            <a:pPr marL="754380" lvl="1" indent="-284480">
              <a:spcBef>
                <a:spcPts val="610"/>
              </a:spcBef>
              <a:buChar char="–"/>
              <a:tabLst>
                <a:tab pos="754380" algn="l"/>
              </a:tabLst>
            </a:pPr>
            <a:r>
              <a:rPr sz="2400" dirty="0">
                <a:latin typeface="Arial MT"/>
                <a:cs typeface="Arial MT"/>
              </a:rPr>
              <a:t>Examples</a:t>
            </a:r>
            <a:r>
              <a:rPr sz="2400" spc="-80" dirty="0">
                <a:latin typeface="Arial MT"/>
                <a:cs typeface="Arial MT"/>
              </a:rPr>
              <a:t> </a:t>
            </a:r>
            <a:r>
              <a:rPr sz="2400" dirty="0">
                <a:latin typeface="Arial MT"/>
                <a:cs typeface="Arial MT"/>
              </a:rPr>
              <a:t>:</a:t>
            </a:r>
            <a:r>
              <a:rPr sz="2400" spc="-70" dirty="0">
                <a:latin typeface="Arial MT"/>
                <a:cs typeface="Arial MT"/>
              </a:rPr>
              <a:t> </a:t>
            </a:r>
            <a:r>
              <a:rPr sz="2400" dirty="0">
                <a:latin typeface="Arial MT"/>
                <a:cs typeface="Arial MT"/>
              </a:rPr>
              <a:t>Windows,</a:t>
            </a:r>
            <a:r>
              <a:rPr sz="2400" spc="-75" dirty="0">
                <a:latin typeface="Arial MT"/>
                <a:cs typeface="Arial MT"/>
              </a:rPr>
              <a:t> </a:t>
            </a:r>
            <a:r>
              <a:rPr sz="2400" dirty="0">
                <a:latin typeface="Arial MT"/>
                <a:cs typeface="Arial MT"/>
              </a:rPr>
              <a:t>Linux,</a:t>
            </a:r>
            <a:r>
              <a:rPr sz="2400" spc="-80" dirty="0">
                <a:latin typeface="Arial MT"/>
                <a:cs typeface="Arial MT"/>
              </a:rPr>
              <a:t> </a:t>
            </a:r>
            <a:r>
              <a:rPr sz="2400" spc="-25" dirty="0">
                <a:latin typeface="Arial MT"/>
                <a:cs typeface="Arial MT"/>
              </a:rPr>
              <a:t>etc</a:t>
            </a:r>
            <a:endParaRPr sz="2400" dirty="0">
              <a:latin typeface="Arial MT"/>
              <a:cs typeface="Arial M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2995295">
              <a:lnSpc>
                <a:spcPct val="100000"/>
              </a:lnSpc>
              <a:spcBef>
                <a:spcPts val="100"/>
              </a:spcBef>
            </a:pPr>
            <a:r>
              <a:rPr spc="-20" dirty="0"/>
              <a:t>Unix</a:t>
            </a:r>
          </a:p>
        </p:txBody>
      </p:sp>
      <p:sp>
        <p:nvSpPr>
          <p:cNvPr id="3" name="object 3"/>
          <p:cNvSpPr txBox="1"/>
          <p:nvPr/>
        </p:nvSpPr>
        <p:spPr>
          <a:xfrm>
            <a:off x="2059941" y="1617979"/>
            <a:ext cx="132715" cy="391160"/>
          </a:xfrm>
          <a:prstGeom prst="rect">
            <a:avLst/>
          </a:prstGeom>
        </p:spPr>
        <p:txBody>
          <a:bodyPr vert="horz" wrap="square" lIns="0" tIns="12700" rIns="0" bIns="0" rtlCol="0">
            <a:spAutoFit/>
          </a:bodyPr>
          <a:lstStyle/>
          <a:p>
            <a:pPr marL="12700">
              <a:spcBef>
                <a:spcPts val="100"/>
              </a:spcBef>
            </a:pPr>
            <a:r>
              <a:rPr sz="2400" spc="-50" dirty="0">
                <a:latin typeface="Arial MT"/>
                <a:cs typeface="Arial MT"/>
              </a:rPr>
              <a:t>•</a:t>
            </a:r>
            <a:endParaRPr sz="2400">
              <a:latin typeface="Arial MT"/>
              <a:cs typeface="Arial MT"/>
            </a:endParaRPr>
          </a:p>
        </p:txBody>
      </p:sp>
      <p:sp>
        <p:nvSpPr>
          <p:cNvPr id="4" name="object 4"/>
          <p:cNvSpPr txBox="1"/>
          <p:nvPr/>
        </p:nvSpPr>
        <p:spPr>
          <a:xfrm>
            <a:off x="2402839" y="1634490"/>
            <a:ext cx="6567170" cy="1202690"/>
          </a:xfrm>
          <a:prstGeom prst="rect">
            <a:avLst/>
          </a:prstGeom>
        </p:spPr>
        <p:txBody>
          <a:bodyPr vert="horz" wrap="square" lIns="0" tIns="10160" rIns="0" bIns="0" rtlCol="0">
            <a:spAutoFit/>
          </a:bodyPr>
          <a:lstStyle/>
          <a:p>
            <a:pPr marL="12700" marR="5080">
              <a:lnSpc>
                <a:spcPct val="100699"/>
              </a:lnSpc>
              <a:spcBef>
                <a:spcPts val="80"/>
              </a:spcBef>
            </a:pPr>
            <a:r>
              <a:rPr sz="2400" dirty="0">
                <a:latin typeface="Arial MT"/>
                <a:cs typeface="Arial MT"/>
              </a:rPr>
              <a:t>Dennis</a:t>
            </a:r>
            <a:r>
              <a:rPr sz="2400" spc="-70" dirty="0">
                <a:latin typeface="Arial MT"/>
                <a:cs typeface="Arial MT"/>
              </a:rPr>
              <a:t> </a:t>
            </a:r>
            <a:r>
              <a:rPr sz="2400" dirty="0">
                <a:latin typeface="Arial MT"/>
                <a:cs typeface="Arial MT"/>
              </a:rPr>
              <a:t>Ritchie</a:t>
            </a:r>
            <a:r>
              <a:rPr sz="2400" spc="-75" dirty="0">
                <a:latin typeface="Arial MT"/>
                <a:cs typeface="Arial MT"/>
              </a:rPr>
              <a:t> </a:t>
            </a:r>
            <a:r>
              <a:rPr sz="2400" dirty="0">
                <a:latin typeface="Arial MT"/>
                <a:cs typeface="Arial MT"/>
              </a:rPr>
              <a:t>and</a:t>
            </a:r>
            <a:r>
              <a:rPr sz="2400" spc="-75" dirty="0">
                <a:latin typeface="Arial MT"/>
                <a:cs typeface="Arial MT"/>
              </a:rPr>
              <a:t> </a:t>
            </a:r>
            <a:r>
              <a:rPr sz="2400" dirty="0">
                <a:latin typeface="Arial MT"/>
                <a:cs typeface="Arial MT"/>
              </a:rPr>
              <a:t>Ken</a:t>
            </a:r>
            <a:r>
              <a:rPr sz="2400" spc="-105" dirty="0">
                <a:latin typeface="Arial MT"/>
                <a:cs typeface="Arial MT"/>
              </a:rPr>
              <a:t> </a:t>
            </a:r>
            <a:r>
              <a:rPr sz="2400" dirty="0">
                <a:latin typeface="Arial MT"/>
                <a:cs typeface="Arial MT"/>
              </a:rPr>
              <a:t>Thomson</a:t>
            </a:r>
            <a:r>
              <a:rPr sz="2400" spc="-70" dirty="0">
                <a:latin typeface="Arial MT"/>
                <a:cs typeface="Arial MT"/>
              </a:rPr>
              <a:t> </a:t>
            </a:r>
            <a:r>
              <a:rPr sz="2400" dirty="0">
                <a:latin typeface="Arial MT"/>
                <a:cs typeface="Arial MT"/>
              </a:rPr>
              <a:t>tried</a:t>
            </a:r>
            <a:r>
              <a:rPr sz="2400" spc="-75" dirty="0">
                <a:latin typeface="Arial MT"/>
                <a:cs typeface="Arial MT"/>
              </a:rPr>
              <a:t> </a:t>
            </a:r>
            <a:r>
              <a:rPr sz="2400" dirty="0">
                <a:latin typeface="Arial MT"/>
                <a:cs typeface="Arial MT"/>
              </a:rPr>
              <a:t>to</a:t>
            </a:r>
            <a:r>
              <a:rPr sz="2400" spc="-70" dirty="0">
                <a:latin typeface="Arial MT"/>
                <a:cs typeface="Arial MT"/>
              </a:rPr>
              <a:t> </a:t>
            </a:r>
            <a:r>
              <a:rPr sz="2400" dirty="0">
                <a:latin typeface="Arial MT"/>
                <a:cs typeface="Arial MT"/>
              </a:rPr>
              <a:t>find</a:t>
            </a:r>
            <a:r>
              <a:rPr sz="2400" spc="-70" dirty="0">
                <a:latin typeface="Arial MT"/>
                <a:cs typeface="Arial MT"/>
              </a:rPr>
              <a:t> </a:t>
            </a:r>
            <a:r>
              <a:rPr sz="2400" spc="-25" dirty="0">
                <a:latin typeface="Arial MT"/>
                <a:cs typeface="Arial MT"/>
              </a:rPr>
              <a:t>an </a:t>
            </a:r>
            <a:r>
              <a:rPr sz="2400" dirty="0">
                <a:latin typeface="Arial MT"/>
                <a:cs typeface="Arial MT"/>
              </a:rPr>
              <a:t>alternative</a:t>
            </a:r>
            <a:r>
              <a:rPr sz="2400" spc="-90" dirty="0">
                <a:latin typeface="Arial MT"/>
                <a:cs typeface="Arial MT"/>
              </a:rPr>
              <a:t> </a:t>
            </a:r>
            <a:r>
              <a:rPr sz="2400" dirty="0">
                <a:latin typeface="Arial MT"/>
                <a:cs typeface="Arial MT"/>
              </a:rPr>
              <a:t>for</a:t>
            </a:r>
            <a:r>
              <a:rPr sz="2400" spc="-85" dirty="0">
                <a:latin typeface="Arial MT"/>
                <a:cs typeface="Arial MT"/>
              </a:rPr>
              <a:t> </a:t>
            </a:r>
            <a:r>
              <a:rPr sz="2400" spc="-10" dirty="0">
                <a:latin typeface="Arial MT"/>
                <a:cs typeface="Arial MT"/>
              </a:rPr>
              <a:t>Multics</a:t>
            </a:r>
            <a:endParaRPr sz="2400">
              <a:latin typeface="Arial MT"/>
              <a:cs typeface="Arial MT"/>
            </a:endParaRPr>
          </a:p>
          <a:p>
            <a:pPr marL="12700">
              <a:spcBef>
                <a:spcPts val="610"/>
              </a:spcBef>
            </a:pPr>
            <a:r>
              <a:rPr sz="2400" dirty="0">
                <a:latin typeface="Arial MT"/>
                <a:cs typeface="Arial MT"/>
              </a:rPr>
              <a:t>Appeared</a:t>
            </a:r>
            <a:r>
              <a:rPr sz="2400" spc="-75" dirty="0">
                <a:latin typeface="Arial MT"/>
                <a:cs typeface="Arial MT"/>
              </a:rPr>
              <a:t> </a:t>
            </a:r>
            <a:r>
              <a:rPr sz="2400" dirty="0">
                <a:latin typeface="Arial MT"/>
                <a:cs typeface="Arial MT"/>
              </a:rPr>
              <a:t>at</a:t>
            </a:r>
            <a:r>
              <a:rPr sz="2400" spc="-55" dirty="0">
                <a:latin typeface="Arial MT"/>
                <a:cs typeface="Arial MT"/>
              </a:rPr>
              <a:t> </a:t>
            </a:r>
            <a:r>
              <a:rPr sz="2400" dirty="0">
                <a:latin typeface="Arial MT"/>
                <a:cs typeface="Arial MT"/>
              </a:rPr>
              <a:t>the</a:t>
            </a:r>
            <a:r>
              <a:rPr sz="2400" spc="-70" dirty="0">
                <a:latin typeface="Arial MT"/>
                <a:cs typeface="Arial MT"/>
              </a:rPr>
              <a:t> </a:t>
            </a:r>
            <a:r>
              <a:rPr sz="2400" dirty="0">
                <a:latin typeface="Arial MT"/>
                <a:cs typeface="Arial MT"/>
              </a:rPr>
              <a:t>right</a:t>
            </a:r>
            <a:r>
              <a:rPr sz="2400" spc="-55" dirty="0">
                <a:latin typeface="Arial MT"/>
                <a:cs typeface="Arial MT"/>
              </a:rPr>
              <a:t> </a:t>
            </a:r>
            <a:r>
              <a:rPr sz="2400" spc="-20" dirty="0">
                <a:latin typeface="Arial MT"/>
                <a:cs typeface="Arial MT"/>
              </a:rPr>
              <a:t>time</a:t>
            </a:r>
            <a:endParaRPr sz="2400">
              <a:latin typeface="Arial MT"/>
              <a:cs typeface="Arial MT"/>
            </a:endParaRPr>
          </a:p>
        </p:txBody>
      </p:sp>
      <p:sp>
        <p:nvSpPr>
          <p:cNvPr id="5" name="object 5"/>
          <p:cNvSpPr txBox="1"/>
          <p:nvPr/>
        </p:nvSpPr>
        <p:spPr>
          <a:xfrm>
            <a:off x="2059941" y="2429509"/>
            <a:ext cx="132715" cy="391160"/>
          </a:xfrm>
          <a:prstGeom prst="rect">
            <a:avLst/>
          </a:prstGeom>
        </p:spPr>
        <p:txBody>
          <a:bodyPr vert="horz" wrap="square" lIns="0" tIns="12700" rIns="0" bIns="0" rtlCol="0">
            <a:spAutoFit/>
          </a:bodyPr>
          <a:lstStyle/>
          <a:p>
            <a:pPr marL="12700">
              <a:spcBef>
                <a:spcPts val="100"/>
              </a:spcBef>
            </a:pPr>
            <a:r>
              <a:rPr sz="2400" spc="-50" dirty="0">
                <a:latin typeface="Arial MT"/>
                <a:cs typeface="Arial MT"/>
              </a:rPr>
              <a:t>•</a:t>
            </a:r>
            <a:endParaRPr sz="2400">
              <a:latin typeface="Arial MT"/>
              <a:cs typeface="Arial MT"/>
            </a:endParaRPr>
          </a:p>
        </p:txBody>
      </p:sp>
      <p:grpSp>
        <p:nvGrpSpPr>
          <p:cNvPr id="6" name="object 6"/>
          <p:cNvGrpSpPr/>
          <p:nvPr/>
        </p:nvGrpSpPr>
        <p:grpSpPr>
          <a:xfrm>
            <a:off x="2733448" y="3266848"/>
            <a:ext cx="6777355" cy="1652905"/>
            <a:chOff x="1209447" y="3266847"/>
            <a:chExt cx="6777355" cy="1652905"/>
          </a:xfrm>
        </p:grpSpPr>
        <p:pic>
          <p:nvPicPr>
            <p:cNvPr id="7" name="object 7"/>
            <p:cNvPicPr/>
            <p:nvPr/>
          </p:nvPicPr>
          <p:blipFill>
            <a:blip r:embed="rId2" cstate="print"/>
            <a:stretch>
              <a:fillRect/>
            </a:stretch>
          </p:blipFill>
          <p:spPr>
            <a:xfrm>
              <a:off x="1307535" y="3335454"/>
              <a:ext cx="6551553" cy="1544937"/>
            </a:xfrm>
            <a:prstGeom prst="rect">
              <a:avLst/>
            </a:prstGeom>
          </p:spPr>
        </p:pic>
        <p:sp>
          <p:nvSpPr>
            <p:cNvPr id="8" name="object 8"/>
            <p:cNvSpPr/>
            <p:nvPr/>
          </p:nvSpPr>
          <p:spPr>
            <a:xfrm>
              <a:off x="1214120" y="3271519"/>
              <a:ext cx="6767830" cy="1643380"/>
            </a:xfrm>
            <a:custGeom>
              <a:avLst/>
              <a:gdLst/>
              <a:ahLst/>
              <a:cxnLst/>
              <a:rect l="l" t="t" r="r" b="b"/>
              <a:pathLst>
                <a:path w="6767830" h="1643379">
                  <a:moveTo>
                    <a:pt x="0" y="0"/>
                  </a:moveTo>
                  <a:lnTo>
                    <a:pt x="6767830" y="0"/>
                  </a:lnTo>
                  <a:lnTo>
                    <a:pt x="6767830" y="1643379"/>
                  </a:lnTo>
                  <a:lnTo>
                    <a:pt x="0" y="1643379"/>
                  </a:lnTo>
                  <a:lnTo>
                    <a:pt x="0" y="0"/>
                  </a:lnTo>
                  <a:close/>
                </a:path>
              </a:pathLst>
            </a:custGeom>
            <a:ln w="9344">
              <a:solidFill>
                <a:srgbClr val="BADFE2"/>
              </a:solidFill>
            </a:ln>
          </p:spPr>
          <p:txBody>
            <a:bodyPr wrap="square" lIns="0" tIns="0" rIns="0" bIns="0" rtlCol="0"/>
            <a:lstStyle/>
            <a:p>
              <a:endParaRPr/>
            </a:p>
          </p:txBody>
        </p:sp>
      </p:grpSp>
      <p:sp>
        <p:nvSpPr>
          <p:cNvPr id="9" name="object 9"/>
          <p:cNvSpPr txBox="1"/>
          <p:nvPr/>
        </p:nvSpPr>
        <p:spPr>
          <a:xfrm>
            <a:off x="2820669" y="3006090"/>
            <a:ext cx="1242060" cy="299720"/>
          </a:xfrm>
          <a:prstGeom prst="rect">
            <a:avLst/>
          </a:prstGeom>
        </p:spPr>
        <p:txBody>
          <a:bodyPr vert="horz" wrap="square" lIns="0" tIns="12700" rIns="0" bIns="0" rtlCol="0">
            <a:spAutoFit/>
          </a:bodyPr>
          <a:lstStyle/>
          <a:p>
            <a:pPr marL="12700">
              <a:spcBef>
                <a:spcPts val="100"/>
              </a:spcBef>
            </a:pPr>
            <a:r>
              <a:rPr spc="-10" dirty="0">
                <a:latin typeface="Arial MT"/>
                <a:cs typeface="Arial MT"/>
              </a:rPr>
              <a:t>Slater,</a:t>
            </a:r>
            <a:r>
              <a:rPr spc="-80" dirty="0">
                <a:latin typeface="Arial MT"/>
                <a:cs typeface="Arial MT"/>
              </a:rPr>
              <a:t> </a:t>
            </a:r>
            <a:r>
              <a:rPr spc="-20" dirty="0">
                <a:latin typeface="Arial MT"/>
                <a:cs typeface="Arial MT"/>
              </a:rPr>
              <a:t>1987</a:t>
            </a:r>
            <a:endParaRPr>
              <a:latin typeface="Arial MT"/>
              <a:cs typeface="Arial M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906905">
              <a:lnSpc>
                <a:spcPct val="100000"/>
              </a:lnSpc>
              <a:spcBef>
                <a:spcPts val="100"/>
              </a:spcBef>
            </a:pPr>
            <a:r>
              <a:rPr dirty="0"/>
              <a:t>Unix </a:t>
            </a:r>
            <a:r>
              <a:rPr spc="-10" dirty="0"/>
              <a:t>adopted</a:t>
            </a:r>
          </a:p>
        </p:txBody>
      </p:sp>
      <p:sp>
        <p:nvSpPr>
          <p:cNvPr id="3" name="object 3"/>
          <p:cNvSpPr txBox="1"/>
          <p:nvPr/>
        </p:nvSpPr>
        <p:spPr>
          <a:xfrm>
            <a:off x="2059941" y="1635759"/>
            <a:ext cx="7858125" cy="513080"/>
          </a:xfrm>
          <a:prstGeom prst="rect">
            <a:avLst/>
          </a:prstGeom>
        </p:spPr>
        <p:txBody>
          <a:bodyPr vert="horz" wrap="square" lIns="0" tIns="12700" rIns="0" bIns="0" rtlCol="0">
            <a:spAutoFit/>
          </a:bodyPr>
          <a:lstStyle/>
          <a:p>
            <a:pPr marL="354965" indent="-342265">
              <a:spcBef>
                <a:spcPts val="100"/>
              </a:spcBef>
              <a:buChar char="•"/>
              <a:tabLst>
                <a:tab pos="354965" algn="l"/>
              </a:tabLst>
            </a:pPr>
            <a:r>
              <a:rPr sz="3200" dirty="0">
                <a:latin typeface="Arial MT"/>
                <a:cs typeface="Arial MT"/>
              </a:rPr>
              <a:t>Spread</a:t>
            </a:r>
            <a:r>
              <a:rPr sz="3200" spc="-10" dirty="0">
                <a:latin typeface="Arial MT"/>
                <a:cs typeface="Arial MT"/>
              </a:rPr>
              <a:t> </a:t>
            </a:r>
            <a:r>
              <a:rPr sz="3200" dirty="0">
                <a:latin typeface="Arial MT"/>
                <a:cs typeface="Arial MT"/>
              </a:rPr>
              <a:t>and</a:t>
            </a:r>
            <a:r>
              <a:rPr sz="3200" spc="-5" dirty="0">
                <a:latin typeface="Arial MT"/>
                <a:cs typeface="Arial MT"/>
              </a:rPr>
              <a:t> </a:t>
            </a:r>
            <a:r>
              <a:rPr sz="3200" dirty="0">
                <a:latin typeface="Arial MT"/>
                <a:cs typeface="Arial MT"/>
              </a:rPr>
              <a:t>soon</a:t>
            </a:r>
            <a:r>
              <a:rPr sz="3200" spc="-10" dirty="0">
                <a:latin typeface="Arial MT"/>
                <a:cs typeface="Arial MT"/>
              </a:rPr>
              <a:t> </a:t>
            </a:r>
            <a:r>
              <a:rPr sz="3200" dirty="0">
                <a:latin typeface="Arial MT"/>
                <a:cs typeface="Arial MT"/>
              </a:rPr>
              <a:t>became widely</a:t>
            </a:r>
            <a:r>
              <a:rPr sz="3200" spc="-5" dirty="0">
                <a:latin typeface="Arial MT"/>
                <a:cs typeface="Arial MT"/>
              </a:rPr>
              <a:t> </a:t>
            </a:r>
            <a:r>
              <a:rPr sz="3200" spc="-10" dirty="0">
                <a:latin typeface="Arial MT"/>
                <a:cs typeface="Arial MT"/>
              </a:rPr>
              <a:t>adopted</a:t>
            </a:r>
            <a:endParaRPr sz="3200">
              <a:latin typeface="Arial MT"/>
              <a:cs typeface="Arial MT"/>
            </a:endParaRPr>
          </a:p>
        </p:txBody>
      </p:sp>
      <p:sp>
        <p:nvSpPr>
          <p:cNvPr id="4" name="object 4"/>
          <p:cNvSpPr txBox="1"/>
          <p:nvPr/>
        </p:nvSpPr>
        <p:spPr>
          <a:xfrm>
            <a:off x="2059941" y="4003040"/>
            <a:ext cx="6341745" cy="1003300"/>
          </a:xfrm>
          <a:prstGeom prst="rect">
            <a:avLst/>
          </a:prstGeom>
        </p:spPr>
        <p:txBody>
          <a:bodyPr vert="horz" wrap="square" lIns="0" tIns="10160" rIns="0" bIns="0" rtlCol="0">
            <a:spAutoFit/>
          </a:bodyPr>
          <a:lstStyle/>
          <a:p>
            <a:pPr marL="355600" marR="5080" indent="-342900">
              <a:lnSpc>
                <a:spcPct val="100499"/>
              </a:lnSpc>
              <a:spcBef>
                <a:spcPts val="80"/>
              </a:spcBef>
              <a:buChar char="•"/>
              <a:tabLst>
                <a:tab pos="355600" algn="l"/>
              </a:tabLst>
            </a:pPr>
            <a:r>
              <a:rPr sz="3200" dirty="0">
                <a:latin typeface="Arial MT"/>
                <a:cs typeface="Arial MT"/>
              </a:rPr>
              <a:t>Wide</a:t>
            </a:r>
            <a:r>
              <a:rPr sz="3200" spc="-20" dirty="0">
                <a:latin typeface="Arial MT"/>
                <a:cs typeface="Arial MT"/>
              </a:rPr>
              <a:t> </a:t>
            </a:r>
            <a:r>
              <a:rPr sz="3200" dirty="0">
                <a:latin typeface="Arial MT"/>
                <a:cs typeface="Arial MT"/>
              </a:rPr>
              <a:t>spread</a:t>
            </a:r>
            <a:r>
              <a:rPr sz="3200" spc="-20" dirty="0">
                <a:latin typeface="Arial MT"/>
                <a:cs typeface="Arial MT"/>
              </a:rPr>
              <a:t> </a:t>
            </a:r>
            <a:r>
              <a:rPr sz="3200" dirty="0">
                <a:latin typeface="Arial MT"/>
                <a:cs typeface="Arial MT"/>
              </a:rPr>
              <a:t>adoption</a:t>
            </a:r>
            <a:r>
              <a:rPr sz="3200" spc="-15" dirty="0">
                <a:latin typeface="Arial MT"/>
                <a:cs typeface="Arial MT"/>
              </a:rPr>
              <a:t> </a:t>
            </a:r>
            <a:r>
              <a:rPr sz="3200" dirty="0">
                <a:latin typeface="Arial MT"/>
                <a:cs typeface="Arial MT"/>
              </a:rPr>
              <a:t>arguably</a:t>
            </a:r>
            <a:r>
              <a:rPr sz="3200" spc="-15" dirty="0">
                <a:latin typeface="Arial MT"/>
                <a:cs typeface="Arial MT"/>
              </a:rPr>
              <a:t> </a:t>
            </a:r>
            <a:r>
              <a:rPr sz="3200" spc="-50" dirty="0">
                <a:latin typeface="Arial MT"/>
                <a:cs typeface="Arial MT"/>
              </a:rPr>
              <a:t>a </a:t>
            </a:r>
            <a:r>
              <a:rPr sz="3200" dirty="0">
                <a:latin typeface="Arial MT"/>
                <a:cs typeface="Arial MT"/>
              </a:rPr>
              <a:t>hindrance to</a:t>
            </a:r>
            <a:r>
              <a:rPr sz="3200" spc="-5" dirty="0">
                <a:latin typeface="Arial MT"/>
                <a:cs typeface="Arial MT"/>
              </a:rPr>
              <a:t> </a:t>
            </a:r>
            <a:r>
              <a:rPr sz="3200" spc="-10" dirty="0">
                <a:latin typeface="Arial MT"/>
                <a:cs typeface="Arial MT"/>
              </a:rPr>
              <a:t>research?</a:t>
            </a:r>
            <a:endParaRPr sz="3200">
              <a:latin typeface="Arial MT"/>
              <a:cs typeface="Arial MT"/>
            </a:endParaRPr>
          </a:p>
        </p:txBody>
      </p:sp>
      <p:grpSp>
        <p:nvGrpSpPr>
          <p:cNvPr id="5" name="object 5"/>
          <p:cNvGrpSpPr/>
          <p:nvPr/>
        </p:nvGrpSpPr>
        <p:grpSpPr>
          <a:xfrm>
            <a:off x="2733448" y="2733448"/>
            <a:ext cx="6124575" cy="843915"/>
            <a:chOff x="1209447" y="2733447"/>
            <a:chExt cx="6124575" cy="843915"/>
          </a:xfrm>
        </p:grpSpPr>
        <p:pic>
          <p:nvPicPr>
            <p:cNvPr id="6" name="object 6"/>
            <p:cNvPicPr/>
            <p:nvPr/>
          </p:nvPicPr>
          <p:blipFill>
            <a:blip r:embed="rId2" cstate="print"/>
            <a:stretch>
              <a:fillRect/>
            </a:stretch>
          </p:blipFill>
          <p:spPr>
            <a:xfrm>
              <a:off x="1259719" y="2837783"/>
              <a:ext cx="6010345" cy="675598"/>
            </a:xfrm>
            <a:prstGeom prst="rect">
              <a:avLst/>
            </a:prstGeom>
          </p:spPr>
        </p:pic>
        <p:sp>
          <p:nvSpPr>
            <p:cNvPr id="7" name="object 7"/>
            <p:cNvSpPr/>
            <p:nvPr/>
          </p:nvSpPr>
          <p:spPr>
            <a:xfrm>
              <a:off x="1214120" y="2738120"/>
              <a:ext cx="6115050" cy="834390"/>
            </a:xfrm>
            <a:custGeom>
              <a:avLst/>
              <a:gdLst/>
              <a:ahLst/>
              <a:cxnLst/>
              <a:rect l="l" t="t" r="r" b="b"/>
              <a:pathLst>
                <a:path w="6115050" h="834389">
                  <a:moveTo>
                    <a:pt x="0" y="0"/>
                  </a:moveTo>
                  <a:lnTo>
                    <a:pt x="6115050" y="0"/>
                  </a:lnTo>
                  <a:lnTo>
                    <a:pt x="6115050" y="834389"/>
                  </a:lnTo>
                  <a:lnTo>
                    <a:pt x="0" y="834389"/>
                  </a:lnTo>
                  <a:lnTo>
                    <a:pt x="0" y="0"/>
                  </a:lnTo>
                  <a:close/>
                </a:path>
              </a:pathLst>
            </a:custGeom>
            <a:ln w="9344">
              <a:solidFill>
                <a:srgbClr val="BADFE2"/>
              </a:solidFill>
            </a:ln>
          </p:spPr>
          <p:txBody>
            <a:bodyPr wrap="square" lIns="0" tIns="0" rIns="0" bIns="0" rtlCol="0"/>
            <a:lstStyle/>
            <a:p>
              <a:endParaRPr/>
            </a:p>
          </p:txBody>
        </p:sp>
      </p:grpSp>
      <p:sp>
        <p:nvSpPr>
          <p:cNvPr id="8" name="object 8"/>
          <p:cNvSpPr txBox="1"/>
          <p:nvPr/>
        </p:nvSpPr>
        <p:spPr>
          <a:xfrm>
            <a:off x="2820669" y="2471420"/>
            <a:ext cx="1065530" cy="299720"/>
          </a:xfrm>
          <a:prstGeom prst="rect">
            <a:avLst/>
          </a:prstGeom>
        </p:spPr>
        <p:txBody>
          <a:bodyPr vert="horz" wrap="square" lIns="0" tIns="12700" rIns="0" bIns="0" rtlCol="0">
            <a:spAutoFit/>
          </a:bodyPr>
          <a:lstStyle/>
          <a:p>
            <a:pPr marL="12700">
              <a:spcBef>
                <a:spcPts val="100"/>
              </a:spcBef>
            </a:pPr>
            <a:r>
              <a:rPr dirty="0">
                <a:latin typeface="Arial MT"/>
                <a:cs typeface="Arial MT"/>
              </a:rPr>
              <a:t>Aho,</a:t>
            </a:r>
            <a:r>
              <a:rPr spc="-20" dirty="0">
                <a:latin typeface="Arial MT"/>
                <a:cs typeface="Arial MT"/>
              </a:rPr>
              <a:t> 1984</a:t>
            </a:r>
            <a:endParaRPr>
              <a:latin typeface="Arial MT"/>
              <a:cs typeface="Arial M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668655">
              <a:lnSpc>
                <a:spcPct val="100000"/>
              </a:lnSpc>
              <a:spcBef>
                <a:spcPts val="100"/>
              </a:spcBef>
            </a:pPr>
            <a:r>
              <a:rPr dirty="0"/>
              <a:t>Smartphones</a:t>
            </a:r>
            <a:r>
              <a:rPr spc="-150" dirty="0"/>
              <a:t> </a:t>
            </a:r>
            <a:r>
              <a:rPr dirty="0"/>
              <a:t>&amp;</a:t>
            </a:r>
            <a:r>
              <a:rPr spc="-225" dirty="0"/>
              <a:t> </a:t>
            </a:r>
            <a:r>
              <a:rPr spc="-35" dirty="0"/>
              <a:t>Tablets</a:t>
            </a:r>
          </a:p>
        </p:txBody>
      </p:sp>
      <p:sp>
        <p:nvSpPr>
          <p:cNvPr id="3" name="object 3"/>
          <p:cNvSpPr txBox="1">
            <a:spLocks noGrp="1"/>
          </p:cNvSpPr>
          <p:nvPr>
            <p:ph type="body" idx="1"/>
          </p:nvPr>
        </p:nvSpPr>
        <p:spPr>
          <a:xfrm>
            <a:off x="2362200" y="1825626"/>
            <a:ext cx="10515600" cy="3861099"/>
          </a:xfrm>
          <a:prstGeom prst="rect">
            <a:avLst/>
          </a:prstGeom>
        </p:spPr>
        <p:txBody>
          <a:bodyPr vert="horz" wrap="square" lIns="0" tIns="102658" rIns="0" bIns="0" rtlCol="0">
            <a:spAutoFit/>
          </a:bodyPr>
          <a:lstStyle/>
          <a:p>
            <a:pPr marL="354965" indent="-342265">
              <a:lnSpc>
                <a:spcPct val="100000"/>
              </a:lnSpc>
              <a:spcBef>
                <a:spcPts val="470"/>
              </a:spcBef>
              <a:tabLst>
                <a:tab pos="354965" algn="l"/>
              </a:tabLst>
            </a:pPr>
            <a:r>
              <a:rPr spc="-10" dirty="0"/>
              <a:t>Hardware</a:t>
            </a:r>
            <a:endParaRPr/>
          </a:p>
          <a:p>
            <a:pPr marL="754380" marR="5080" lvl="1" indent="-284480">
              <a:lnSpc>
                <a:spcPts val="2600"/>
              </a:lnSpc>
              <a:spcBef>
                <a:spcPts val="640"/>
              </a:spcBef>
              <a:buChar char="–"/>
              <a:tabLst>
                <a:tab pos="755650" algn="l"/>
              </a:tabLst>
            </a:pPr>
            <a:r>
              <a:rPr dirty="0">
                <a:latin typeface="Arial MT"/>
                <a:cs typeface="Arial MT"/>
              </a:rPr>
              <a:t>VLSI</a:t>
            </a:r>
            <a:r>
              <a:rPr spc="-45" dirty="0">
                <a:latin typeface="Arial MT"/>
                <a:cs typeface="Arial MT"/>
              </a:rPr>
              <a:t> </a:t>
            </a:r>
            <a:r>
              <a:rPr dirty="0">
                <a:latin typeface="Arial MT"/>
                <a:cs typeface="Arial MT"/>
              </a:rPr>
              <a:t>ICs,</a:t>
            </a:r>
            <a:r>
              <a:rPr spc="-50" dirty="0">
                <a:latin typeface="Arial MT"/>
                <a:cs typeface="Arial MT"/>
              </a:rPr>
              <a:t> </a:t>
            </a:r>
            <a:r>
              <a:rPr dirty="0">
                <a:latin typeface="Arial MT"/>
                <a:cs typeface="Arial MT"/>
              </a:rPr>
              <a:t>low</a:t>
            </a:r>
            <a:r>
              <a:rPr spc="-50" dirty="0">
                <a:latin typeface="Arial MT"/>
                <a:cs typeface="Arial MT"/>
              </a:rPr>
              <a:t> </a:t>
            </a:r>
            <a:r>
              <a:rPr dirty="0">
                <a:latin typeface="Arial MT"/>
                <a:cs typeface="Arial MT"/>
              </a:rPr>
              <a:t>power</a:t>
            </a:r>
            <a:r>
              <a:rPr spc="-45" dirty="0">
                <a:latin typeface="Arial MT"/>
                <a:cs typeface="Arial MT"/>
              </a:rPr>
              <a:t> </a:t>
            </a:r>
            <a:r>
              <a:rPr spc="-10" dirty="0">
                <a:latin typeface="Arial MT"/>
                <a:cs typeface="Arial MT"/>
              </a:rPr>
              <a:t>requirements</a:t>
            </a:r>
            <a:r>
              <a:rPr spc="-45" dirty="0">
                <a:latin typeface="Arial MT"/>
                <a:cs typeface="Arial MT"/>
              </a:rPr>
              <a:t> </a:t>
            </a:r>
            <a:r>
              <a:rPr dirty="0">
                <a:latin typeface="Arial MT"/>
                <a:cs typeface="Arial MT"/>
              </a:rPr>
              <a:t>&amp;</a:t>
            </a:r>
            <a:r>
              <a:rPr spc="-50" dirty="0">
                <a:latin typeface="Arial MT"/>
                <a:cs typeface="Arial MT"/>
              </a:rPr>
              <a:t> </a:t>
            </a:r>
            <a:r>
              <a:rPr dirty="0">
                <a:latin typeface="Arial MT"/>
                <a:cs typeface="Arial MT"/>
              </a:rPr>
              <a:t>high</a:t>
            </a:r>
            <a:r>
              <a:rPr spc="-50" dirty="0">
                <a:latin typeface="Arial MT"/>
                <a:cs typeface="Arial MT"/>
              </a:rPr>
              <a:t> </a:t>
            </a:r>
            <a:r>
              <a:rPr spc="-10" dirty="0">
                <a:latin typeface="Arial MT"/>
                <a:cs typeface="Arial MT"/>
              </a:rPr>
              <a:t>compute 	power</a:t>
            </a:r>
            <a:endParaRPr>
              <a:latin typeface="Arial MT"/>
              <a:cs typeface="Arial MT"/>
            </a:endParaRPr>
          </a:p>
          <a:p>
            <a:pPr marL="354965" indent="-342265">
              <a:lnSpc>
                <a:spcPct val="100000"/>
              </a:lnSpc>
              <a:spcBef>
                <a:spcPts val="330"/>
              </a:spcBef>
              <a:tabLst>
                <a:tab pos="354965" algn="l"/>
              </a:tabLst>
            </a:pPr>
            <a:r>
              <a:rPr dirty="0"/>
              <a:t>Operating</a:t>
            </a:r>
            <a:r>
              <a:rPr spc="-125" dirty="0"/>
              <a:t> </a:t>
            </a:r>
            <a:r>
              <a:rPr spc="-10" dirty="0"/>
              <a:t>Systems</a:t>
            </a:r>
            <a:endParaRPr/>
          </a:p>
          <a:p>
            <a:pPr marL="754380" lvl="1" indent="-284480">
              <a:lnSpc>
                <a:spcPct val="100000"/>
              </a:lnSpc>
              <a:spcBef>
                <a:spcPts val="320"/>
              </a:spcBef>
              <a:buChar char="–"/>
              <a:tabLst>
                <a:tab pos="754380" algn="l"/>
              </a:tabLst>
            </a:pPr>
            <a:r>
              <a:rPr dirty="0">
                <a:latin typeface="Arial MT"/>
                <a:cs typeface="Arial MT"/>
              </a:rPr>
              <a:t>User</a:t>
            </a:r>
            <a:r>
              <a:rPr spc="-65" dirty="0">
                <a:latin typeface="Arial MT"/>
                <a:cs typeface="Arial MT"/>
              </a:rPr>
              <a:t> </a:t>
            </a:r>
            <a:r>
              <a:rPr spc="-10" dirty="0">
                <a:latin typeface="Arial MT"/>
                <a:cs typeface="Arial MT"/>
              </a:rPr>
              <a:t>friendly</a:t>
            </a:r>
            <a:endParaRPr>
              <a:latin typeface="Arial MT"/>
              <a:cs typeface="Arial MT"/>
            </a:endParaRPr>
          </a:p>
          <a:p>
            <a:pPr marL="754380" lvl="1" indent="-284480">
              <a:lnSpc>
                <a:spcPct val="100000"/>
              </a:lnSpc>
              <a:spcBef>
                <a:spcPts val="320"/>
              </a:spcBef>
              <a:buChar char="–"/>
              <a:tabLst>
                <a:tab pos="754380" algn="l"/>
              </a:tabLst>
            </a:pPr>
            <a:r>
              <a:rPr dirty="0">
                <a:latin typeface="Arial MT"/>
                <a:cs typeface="Arial MT"/>
              </a:rPr>
              <a:t>Power</a:t>
            </a:r>
            <a:r>
              <a:rPr spc="-80" dirty="0">
                <a:latin typeface="Arial MT"/>
                <a:cs typeface="Arial MT"/>
              </a:rPr>
              <a:t> </a:t>
            </a:r>
            <a:r>
              <a:rPr spc="-10" dirty="0">
                <a:latin typeface="Arial MT"/>
                <a:cs typeface="Arial MT"/>
              </a:rPr>
              <a:t>awareness</a:t>
            </a:r>
            <a:endParaRPr>
              <a:latin typeface="Arial MT"/>
              <a:cs typeface="Arial MT"/>
            </a:endParaRPr>
          </a:p>
          <a:p>
            <a:pPr marL="754380" lvl="1" indent="-284480">
              <a:lnSpc>
                <a:spcPct val="100000"/>
              </a:lnSpc>
              <a:spcBef>
                <a:spcPts val="320"/>
              </a:spcBef>
              <a:buChar char="–"/>
              <a:tabLst>
                <a:tab pos="754380" algn="l"/>
              </a:tabLst>
            </a:pPr>
            <a:r>
              <a:rPr dirty="0">
                <a:latin typeface="Arial MT"/>
                <a:cs typeface="Arial MT"/>
              </a:rPr>
              <a:t>Always</a:t>
            </a:r>
            <a:r>
              <a:rPr spc="-65" dirty="0">
                <a:latin typeface="Arial MT"/>
                <a:cs typeface="Arial MT"/>
              </a:rPr>
              <a:t> </a:t>
            </a:r>
            <a:r>
              <a:rPr spc="-10" dirty="0">
                <a:latin typeface="Arial MT"/>
                <a:cs typeface="Arial MT"/>
              </a:rPr>
              <a:t>connected</a:t>
            </a:r>
            <a:endParaRPr>
              <a:latin typeface="Arial MT"/>
              <a:cs typeface="Arial MT"/>
            </a:endParaRPr>
          </a:p>
          <a:p>
            <a:pPr marL="754380" lvl="1" indent="-284480">
              <a:lnSpc>
                <a:spcPct val="100000"/>
              </a:lnSpc>
              <a:spcBef>
                <a:spcPts val="320"/>
              </a:spcBef>
              <a:buChar char="–"/>
              <a:tabLst>
                <a:tab pos="754380" algn="l"/>
              </a:tabLst>
            </a:pPr>
            <a:r>
              <a:rPr dirty="0">
                <a:latin typeface="Arial MT"/>
                <a:cs typeface="Arial MT"/>
              </a:rPr>
              <a:t>Offload</a:t>
            </a:r>
            <a:r>
              <a:rPr spc="-70" dirty="0">
                <a:latin typeface="Arial MT"/>
                <a:cs typeface="Arial MT"/>
              </a:rPr>
              <a:t> </a:t>
            </a:r>
            <a:r>
              <a:rPr dirty="0">
                <a:latin typeface="Arial MT"/>
                <a:cs typeface="Arial MT"/>
              </a:rPr>
              <a:t>to</a:t>
            </a:r>
            <a:r>
              <a:rPr spc="-60" dirty="0">
                <a:latin typeface="Arial MT"/>
                <a:cs typeface="Arial MT"/>
              </a:rPr>
              <a:t> </a:t>
            </a:r>
            <a:r>
              <a:rPr spc="-10" dirty="0">
                <a:latin typeface="Arial MT"/>
                <a:cs typeface="Arial MT"/>
              </a:rPr>
              <a:t>cloud</a:t>
            </a:r>
            <a:endParaRPr>
              <a:latin typeface="Arial MT"/>
              <a:cs typeface="Arial MT"/>
            </a:endParaRPr>
          </a:p>
          <a:p>
            <a:pPr marL="754380" lvl="1" indent="-284480">
              <a:lnSpc>
                <a:spcPct val="100000"/>
              </a:lnSpc>
              <a:spcBef>
                <a:spcPts val="320"/>
              </a:spcBef>
              <a:buChar char="–"/>
              <a:tabLst>
                <a:tab pos="754380" algn="l"/>
              </a:tabLst>
            </a:pPr>
            <a:r>
              <a:rPr dirty="0">
                <a:latin typeface="Arial MT"/>
                <a:cs typeface="Arial MT"/>
              </a:rPr>
              <a:t>Better</a:t>
            </a:r>
            <a:r>
              <a:rPr spc="-95" dirty="0">
                <a:latin typeface="Arial MT"/>
                <a:cs typeface="Arial MT"/>
              </a:rPr>
              <a:t> </a:t>
            </a:r>
            <a:r>
              <a:rPr dirty="0">
                <a:latin typeface="Arial MT"/>
                <a:cs typeface="Arial MT"/>
              </a:rPr>
              <a:t>protection,</a:t>
            </a:r>
            <a:r>
              <a:rPr spc="-105" dirty="0">
                <a:latin typeface="Arial MT"/>
                <a:cs typeface="Arial MT"/>
              </a:rPr>
              <a:t> </a:t>
            </a:r>
            <a:r>
              <a:rPr dirty="0">
                <a:latin typeface="Arial MT"/>
                <a:cs typeface="Arial MT"/>
              </a:rPr>
              <a:t>Virtual</a:t>
            </a:r>
            <a:r>
              <a:rPr spc="-114" dirty="0">
                <a:latin typeface="Arial MT"/>
                <a:cs typeface="Arial MT"/>
              </a:rPr>
              <a:t> </a:t>
            </a:r>
            <a:r>
              <a:rPr spc="-10" dirty="0">
                <a:latin typeface="Arial MT"/>
                <a:cs typeface="Arial MT"/>
              </a:rPr>
              <a:t>machines</a:t>
            </a:r>
            <a:endParaRPr>
              <a:latin typeface="Arial MT"/>
              <a:cs typeface="Arial MT"/>
            </a:endParaRPr>
          </a:p>
          <a:p>
            <a:pPr marL="754380" lvl="1" indent="-284480">
              <a:lnSpc>
                <a:spcPct val="100000"/>
              </a:lnSpc>
              <a:spcBef>
                <a:spcPts val="320"/>
              </a:spcBef>
              <a:buChar char="–"/>
              <a:tabLst>
                <a:tab pos="754380" algn="l"/>
              </a:tabLst>
            </a:pPr>
            <a:r>
              <a:rPr dirty="0">
                <a:latin typeface="Arial MT"/>
                <a:cs typeface="Arial MT"/>
              </a:rPr>
              <a:t>Examples</a:t>
            </a:r>
            <a:r>
              <a:rPr spc="-140" dirty="0">
                <a:latin typeface="Arial MT"/>
                <a:cs typeface="Arial MT"/>
              </a:rPr>
              <a:t> </a:t>
            </a:r>
            <a:r>
              <a:rPr dirty="0">
                <a:latin typeface="Arial MT"/>
                <a:cs typeface="Arial MT"/>
              </a:rPr>
              <a:t>:</a:t>
            </a:r>
            <a:r>
              <a:rPr spc="-165" dirty="0">
                <a:latin typeface="Arial MT"/>
                <a:cs typeface="Arial MT"/>
              </a:rPr>
              <a:t> </a:t>
            </a:r>
            <a:r>
              <a:rPr dirty="0">
                <a:latin typeface="Arial MT"/>
                <a:cs typeface="Arial MT"/>
              </a:rPr>
              <a:t>Android,</a:t>
            </a:r>
            <a:r>
              <a:rPr spc="-95" dirty="0">
                <a:latin typeface="Arial MT"/>
                <a:cs typeface="Arial MT"/>
              </a:rPr>
              <a:t> </a:t>
            </a:r>
            <a:r>
              <a:rPr spc="-25" dirty="0">
                <a:latin typeface="Arial MT"/>
                <a:cs typeface="Arial MT"/>
              </a:rPr>
              <a:t>iOS</a:t>
            </a:r>
            <a:endParaRPr>
              <a:latin typeface="Arial MT"/>
              <a:cs typeface="Arial M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70B9D-98F2-39EF-B09A-E643CF645B0B}"/>
              </a:ext>
            </a:extLst>
          </p:cNvPr>
          <p:cNvSpPr>
            <a:spLocks noGrp="1"/>
          </p:cNvSpPr>
          <p:nvPr>
            <p:ph type="title"/>
          </p:nvPr>
        </p:nvSpPr>
        <p:spPr/>
        <p:txBody>
          <a:bodyPr/>
          <a:lstStyle/>
          <a:p>
            <a:r>
              <a:rPr lang="en-US" b="0" i="0" dirty="0">
                <a:solidFill>
                  <a:srgbClr val="232323"/>
                </a:solidFill>
                <a:effectLst/>
                <a:latin typeface="Satoshi-Medium"/>
              </a:rPr>
              <a:t>IoT and Edge Computing (Present-Future)</a:t>
            </a:r>
            <a:br>
              <a:rPr lang="en-US" b="0" i="0" dirty="0">
                <a:solidFill>
                  <a:srgbClr val="232323"/>
                </a:solidFill>
                <a:effectLst/>
                <a:latin typeface="Satoshi-Medium"/>
              </a:rPr>
            </a:br>
            <a:endParaRPr lang="en-IN" dirty="0"/>
          </a:p>
        </p:txBody>
      </p:sp>
      <p:sp>
        <p:nvSpPr>
          <p:cNvPr id="3" name="Content Placeholder 2">
            <a:extLst>
              <a:ext uri="{FF2B5EF4-FFF2-40B4-BE49-F238E27FC236}">
                <a16:creationId xmlns:a16="http://schemas.microsoft.com/office/drawing/2014/main" id="{FFE220E3-43C3-B71E-54BF-547A3488B917}"/>
              </a:ext>
            </a:extLst>
          </p:cNvPr>
          <p:cNvSpPr>
            <a:spLocks noGrp="1"/>
          </p:cNvSpPr>
          <p:nvPr>
            <p:ph idx="1"/>
          </p:nvPr>
        </p:nvSpPr>
        <p:spPr/>
        <p:txBody>
          <a:bodyPr/>
          <a:lstStyle/>
          <a:p>
            <a:pPr algn="just"/>
            <a:r>
              <a:rPr lang="en-US" b="0" i="0" dirty="0">
                <a:solidFill>
                  <a:srgbClr val="232323"/>
                </a:solidFill>
                <a:effectLst/>
                <a:latin typeface="Satoshi-Regular"/>
              </a:rPr>
              <a:t>Operating systems are adapting to handle the unique challenges of interconnected devices and the need for real-time processing at the edge of networks.</a:t>
            </a:r>
            <a:endParaRPr lang="en-IN" dirty="0"/>
          </a:p>
        </p:txBody>
      </p:sp>
    </p:spTree>
    <p:extLst>
      <p:ext uri="{BB962C8B-B14F-4D97-AF65-F5344CB8AC3E}">
        <p14:creationId xmlns:p14="http://schemas.microsoft.com/office/powerpoint/2010/main" val="8693735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705610">
              <a:lnSpc>
                <a:spcPct val="100000"/>
              </a:lnSpc>
              <a:spcBef>
                <a:spcPts val="100"/>
              </a:spcBef>
            </a:pPr>
            <a:r>
              <a:rPr dirty="0"/>
              <a:t>OS</a:t>
            </a:r>
            <a:r>
              <a:rPr spc="-65" dirty="0"/>
              <a:t> </a:t>
            </a:r>
            <a:r>
              <a:rPr spc="-10" dirty="0"/>
              <a:t>Buzzwords</a:t>
            </a:r>
          </a:p>
        </p:txBody>
      </p:sp>
      <p:grpSp>
        <p:nvGrpSpPr>
          <p:cNvPr id="3" name="object 3"/>
          <p:cNvGrpSpPr/>
          <p:nvPr/>
        </p:nvGrpSpPr>
        <p:grpSpPr>
          <a:xfrm>
            <a:off x="2501841" y="2806641"/>
            <a:ext cx="2083435" cy="635635"/>
            <a:chOff x="977840" y="2806640"/>
            <a:chExt cx="2083435" cy="635635"/>
          </a:xfrm>
        </p:grpSpPr>
        <p:sp>
          <p:nvSpPr>
            <p:cNvPr id="4" name="object 4"/>
            <p:cNvSpPr/>
            <p:nvPr/>
          </p:nvSpPr>
          <p:spPr>
            <a:xfrm>
              <a:off x="990600" y="2819399"/>
              <a:ext cx="2057400" cy="609600"/>
            </a:xfrm>
            <a:custGeom>
              <a:avLst/>
              <a:gdLst/>
              <a:ahLst/>
              <a:cxnLst/>
              <a:rect l="l" t="t" r="r" b="b"/>
              <a:pathLst>
                <a:path w="2057400" h="609600">
                  <a:moveTo>
                    <a:pt x="1028700" y="0"/>
                  </a:moveTo>
                  <a:lnTo>
                    <a:pt x="956424" y="681"/>
                  </a:lnTo>
                  <a:lnTo>
                    <a:pt x="885736" y="2698"/>
                  </a:lnTo>
                  <a:lnTo>
                    <a:pt x="816768" y="6012"/>
                  </a:lnTo>
                  <a:lnTo>
                    <a:pt x="749652" y="10583"/>
                  </a:lnTo>
                  <a:lnTo>
                    <a:pt x="684521" y="16371"/>
                  </a:lnTo>
                  <a:lnTo>
                    <a:pt x="621506" y="23336"/>
                  </a:lnTo>
                  <a:lnTo>
                    <a:pt x="560740" y="31439"/>
                  </a:lnTo>
                  <a:lnTo>
                    <a:pt x="502355" y="40639"/>
                  </a:lnTo>
                  <a:lnTo>
                    <a:pt x="446484" y="50899"/>
                  </a:lnTo>
                  <a:lnTo>
                    <a:pt x="393259" y="62177"/>
                  </a:lnTo>
                  <a:lnTo>
                    <a:pt x="342811" y="74433"/>
                  </a:lnTo>
                  <a:lnTo>
                    <a:pt x="295275" y="87629"/>
                  </a:lnTo>
                  <a:lnTo>
                    <a:pt x="250780" y="101725"/>
                  </a:lnTo>
                  <a:lnTo>
                    <a:pt x="209461" y="116681"/>
                  </a:lnTo>
                  <a:lnTo>
                    <a:pt x="171450" y="132457"/>
                  </a:lnTo>
                  <a:lnTo>
                    <a:pt x="136877" y="149013"/>
                  </a:lnTo>
                  <a:lnTo>
                    <a:pt x="78581" y="184308"/>
                  </a:lnTo>
                  <a:lnTo>
                    <a:pt x="35630" y="222250"/>
                  </a:lnTo>
                  <a:lnTo>
                    <a:pt x="9084" y="262519"/>
                  </a:lnTo>
                  <a:lnTo>
                    <a:pt x="0" y="304800"/>
                  </a:lnTo>
                  <a:lnTo>
                    <a:pt x="2293" y="326171"/>
                  </a:lnTo>
                  <a:lnTo>
                    <a:pt x="20240" y="367486"/>
                  </a:lnTo>
                  <a:lnTo>
                    <a:pt x="55121" y="406631"/>
                  </a:lnTo>
                  <a:lnTo>
                    <a:pt x="105877" y="443289"/>
                  </a:lnTo>
                  <a:lnTo>
                    <a:pt x="171449" y="477142"/>
                  </a:lnTo>
                  <a:lnTo>
                    <a:pt x="209461" y="492918"/>
                  </a:lnTo>
                  <a:lnTo>
                    <a:pt x="250780" y="507874"/>
                  </a:lnTo>
                  <a:lnTo>
                    <a:pt x="295274" y="521970"/>
                  </a:lnTo>
                  <a:lnTo>
                    <a:pt x="342811" y="535166"/>
                  </a:lnTo>
                  <a:lnTo>
                    <a:pt x="393259" y="547422"/>
                  </a:lnTo>
                  <a:lnTo>
                    <a:pt x="446484" y="558700"/>
                  </a:lnTo>
                  <a:lnTo>
                    <a:pt x="502355" y="568960"/>
                  </a:lnTo>
                  <a:lnTo>
                    <a:pt x="560740" y="578160"/>
                  </a:lnTo>
                  <a:lnTo>
                    <a:pt x="621506" y="586263"/>
                  </a:lnTo>
                  <a:lnTo>
                    <a:pt x="684521" y="593228"/>
                  </a:lnTo>
                  <a:lnTo>
                    <a:pt x="749652" y="599016"/>
                  </a:lnTo>
                  <a:lnTo>
                    <a:pt x="816768" y="603587"/>
                  </a:lnTo>
                  <a:lnTo>
                    <a:pt x="885736" y="606901"/>
                  </a:lnTo>
                  <a:lnTo>
                    <a:pt x="956424" y="608918"/>
                  </a:lnTo>
                  <a:lnTo>
                    <a:pt x="1028700" y="609600"/>
                  </a:lnTo>
                  <a:lnTo>
                    <a:pt x="1100829" y="608918"/>
                  </a:lnTo>
                  <a:lnTo>
                    <a:pt x="1171396" y="606901"/>
                  </a:lnTo>
                  <a:lnTo>
                    <a:pt x="1240266" y="603587"/>
                  </a:lnTo>
                  <a:lnTo>
                    <a:pt x="1307306" y="599016"/>
                  </a:lnTo>
                  <a:lnTo>
                    <a:pt x="1372381" y="593228"/>
                  </a:lnTo>
                  <a:lnTo>
                    <a:pt x="1435357" y="586263"/>
                  </a:lnTo>
                  <a:lnTo>
                    <a:pt x="1496102" y="578160"/>
                  </a:lnTo>
                  <a:lnTo>
                    <a:pt x="1554480" y="568960"/>
                  </a:lnTo>
                  <a:lnTo>
                    <a:pt x="1610357" y="558700"/>
                  </a:lnTo>
                  <a:lnTo>
                    <a:pt x="1663600" y="547422"/>
                  </a:lnTo>
                  <a:lnTo>
                    <a:pt x="1714075" y="535166"/>
                  </a:lnTo>
                  <a:lnTo>
                    <a:pt x="1761648" y="521970"/>
                  </a:lnTo>
                  <a:lnTo>
                    <a:pt x="1806185" y="507874"/>
                  </a:lnTo>
                  <a:lnTo>
                    <a:pt x="1847552" y="492918"/>
                  </a:lnTo>
                  <a:lnTo>
                    <a:pt x="1885615" y="477142"/>
                  </a:lnTo>
                  <a:lnTo>
                    <a:pt x="1920240" y="460586"/>
                  </a:lnTo>
                  <a:lnTo>
                    <a:pt x="1978640" y="425291"/>
                  </a:lnTo>
                  <a:lnTo>
                    <a:pt x="2021681" y="387350"/>
                  </a:lnTo>
                  <a:lnTo>
                    <a:pt x="2048291" y="347080"/>
                  </a:lnTo>
                  <a:lnTo>
                    <a:pt x="2057400" y="304800"/>
                  </a:lnTo>
                  <a:lnTo>
                    <a:pt x="2055100" y="283428"/>
                  </a:lnTo>
                  <a:lnTo>
                    <a:pt x="2037107" y="242113"/>
                  </a:lnTo>
                  <a:lnTo>
                    <a:pt x="2002147" y="202968"/>
                  </a:lnTo>
                  <a:lnTo>
                    <a:pt x="1951292" y="166310"/>
                  </a:lnTo>
                  <a:lnTo>
                    <a:pt x="1885615" y="132457"/>
                  </a:lnTo>
                  <a:lnTo>
                    <a:pt x="1847552" y="116681"/>
                  </a:lnTo>
                  <a:lnTo>
                    <a:pt x="1806185" y="101725"/>
                  </a:lnTo>
                  <a:lnTo>
                    <a:pt x="1761648" y="87629"/>
                  </a:lnTo>
                  <a:lnTo>
                    <a:pt x="1714075" y="74433"/>
                  </a:lnTo>
                  <a:lnTo>
                    <a:pt x="1663600" y="62177"/>
                  </a:lnTo>
                  <a:lnTo>
                    <a:pt x="1610357" y="50899"/>
                  </a:lnTo>
                  <a:lnTo>
                    <a:pt x="1554479" y="40639"/>
                  </a:lnTo>
                  <a:lnTo>
                    <a:pt x="1496102" y="31439"/>
                  </a:lnTo>
                  <a:lnTo>
                    <a:pt x="1435357" y="23336"/>
                  </a:lnTo>
                  <a:lnTo>
                    <a:pt x="1372381" y="16371"/>
                  </a:lnTo>
                  <a:lnTo>
                    <a:pt x="1307306" y="10583"/>
                  </a:lnTo>
                  <a:lnTo>
                    <a:pt x="1240266" y="6012"/>
                  </a:lnTo>
                  <a:lnTo>
                    <a:pt x="1171396" y="2698"/>
                  </a:lnTo>
                  <a:lnTo>
                    <a:pt x="1100829" y="681"/>
                  </a:lnTo>
                  <a:lnTo>
                    <a:pt x="1028700" y="0"/>
                  </a:lnTo>
                  <a:close/>
                </a:path>
              </a:pathLst>
            </a:custGeom>
            <a:solidFill>
              <a:srgbClr val="333399"/>
            </a:solidFill>
          </p:spPr>
          <p:txBody>
            <a:bodyPr wrap="square" lIns="0" tIns="0" rIns="0" bIns="0" rtlCol="0"/>
            <a:lstStyle/>
            <a:p>
              <a:endParaRPr/>
            </a:p>
          </p:txBody>
        </p:sp>
        <p:sp>
          <p:nvSpPr>
            <p:cNvPr id="5" name="object 5"/>
            <p:cNvSpPr/>
            <p:nvPr/>
          </p:nvSpPr>
          <p:spPr>
            <a:xfrm>
              <a:off x="990600" y="2819399"/>
              <a:ext cx="2057400" cy="609600"/>
            </a:xfrm>
            <a:custGeom>
              <a:avLst/>
              <a:gdLst/>
              <a:ahLst/>
              <a:cxnLst/>
              <a:rect l="l" t="t" r="r" b="b"/>
              <a:pathLst>
                <a:path w="2057400" h="609600">
                  <a:moveTo>
                    <a:pt x="1028700" y="0"/>
                  </a:moveTo>
                  <a:lnTo>
                    <a:pt x="1100829" y="681"/>
                  </a:lnTo>
                  <a:lnTo>
                    <a:pt x="1171396" y="2698"/>
                  </a:lnTo>
                  <a:lnTo>
                    <a:pt x="1240266" y="6012"/>
                  </a:lnTo>
                  <a:lnTo>
                    <a:pt x="1307306" y="10583"/>
                  </a:lnTo>
                  <a:lnTo>
                    <a:pt x="1372381" y="16371"/>
                  </a:lnTo>
                  <a:lnTo>
                    <a:pt x="1435357" y="23336"/>
                  </a:lnTo>
                  <a:lnTo>
                    <a:pt x="1496102" y="31439"/>
                  </a:lnTo>
                  <a:lnTo>
                    <a:pt x="1554479" y="40639"/>
                  </a:lnTo>
                  <a:lnTo>
                    <a:pt x="1610357" y="50899"/>
                  </a:lnTo>
                  <a:lnTo>
                    <a:pt x="1663600" y="62177"/>
                  </a:lnTo>
                  <a:lnTo>
                    <a:pt x="1714075" y="74433"/>
                  </a:lnTo>
                  <a:lnTo>
                    <a:pt x="1761648" y="87629"/>
                  </a:lnTo>
                  <a:lnTo>
                    <a:pt x="1806185" y="101725"/>
                  </a:lnTo>
                  <a:lnTo>
                    <a:pt x="1847552" y="116681"/>
                  </a:lnTo>
                  <a:lnTo>
                    <a:pt x="1885615" y="132457"/>
                  </a:lnTo>
                  <a:lnTo>
                    <a:pt x="1920239" y="149013"/>
                  </a:lnTo>
                  <a:lnTo>
                    <a:pt x="1978640" y="184308"/>
                  </a:lnTo>
                  <a:lnTo>
                    <a:pt x="2021681" y="222250"/>
                  </a:lnTo>
                  <a:lnTo>
                    <a:pt x="2048291" y="262519"/>
                  </a:lnTo>
                  <a:lnTo>
                    <a:pt x="2057400" y="304800"/>
                  </a:lnTo>
                  <a:lnTo>
                    <a:pt x="2055100" y="326171"/>
                  </a:lnTo>
                  <a:lnTo>
                    <a:pt x="2037107" y="367486"/>
                  </a:lnTo>
                  <a:lnTo>
                    <a:pt x="2002147" y="406631"/>
                  </a:lnTo>
                  <a:lnTo>
                    <a:pt x="1951292" y="443289"/>
                  </a:lnTo>
                  <a:lnTo>
                    <a:pt x="1885615" y="477142"/>
                  </a:lnTo>
                  <a:lnTo>
                    <a:pt x="1847552" y="492918"/>
                  </a:lnTo>
                  <a:lnTo>
                    <a:pt x="1806185" y="507874"/>
                  </a:lnTo>
                  <a:lnTo>
                    <a:pt x="1761648" y="521970"/>
                  </a:lnTo>
                  <a:lnTo>
                    <a:pt x="1714075" y="535166"/>
                  </a:lnTo>
                  <a:lnTo>
                    <a:pt x="1663600" y="547422"/>
                  </a:lnTo>
                  <a:lnTo>
                    <a:pt x="1610357" y="558700"/>
                  </a:lnTo>
                  <a:lnTo>
                    <a:pt x="1554480" y="568960"/>
                  </a:lnTo>
                  <a:lnTo>
                    <a:pt x="1496102" y="578160"/>
                  </a:lnTo>
                  <a:lnTo>
                    <a:pt x="1435357" y="586263"/>
                  </a:lnTo>
                  <a:lnTo>
                    <a:pt x="1372381" y="593228"/>
                  </a:lnTo>
                  <a:lnTo>
                    <a:pt x="1307306" y="599016"/>
                  </a:lnTo>
                  <a:lnTo>
                    <a:pt x="1240266" y="603587"/>
                  </a:lnTo>
                  <a:lnTo>
                    <a:pt x="1171396" y="606901"/>
                  </a:lnTo>
                  <a:lnTo>
                    <a:pt x="1100829" y="608918"/>
                  </a:lnTo>
                  <a:lnTo>
                    <a:pt x="1028700" y="609600"/>
                  </a:lnTo>
                  <a:lnTo>
                    <a:pt x="956424" y="608918"/>
                  </a:lnTo>
                  <a:lnTo>
                    <a:pt x="885736" y="606901"/>
                  </a:lnTo>
                  <a:lnTo>
                    <a:pt x="816768" y="603587"/>
                  </a:lnTo>
                  <a:lnTo>
                    <a:pt x="749652" y="599016"/>
                  </a:lnTo>
                  <a:lnTo>
                    <a:pt x="684521" y="593228"/>
                  </a:lnTo>
                  <a:lnTo>
                    <a:pt x="621506" y="586263"/>
                  </a:lnTo>
                  <a:lnTo>
                    <a:pt x="560740" y="578160"/>
                  </a:lnTo>
                  <a:lnTo>
                    <a:pt x="502355" y="568960"/>
                  </a:lnTo>
                  <a:lnTo>
                    <a:pt x="446484" y="558700"/>
                  </a:lnTo>
                  <a:lnTo>
                    <a:pt x="393259" y="547422"/>
                  </a:lnTo>
                  <a:lnTo>
                    <a:pt x="342811" y="535166"/>
                  </a:lnTo>
                  <a:lnTo>
                    <a:pt x="295274" y="521970"/>
                  </a:lnTo>
                  <a:lnTo>
                    <a:pt x="250780" y="507874"/>
                  </a:lnTo>
                  <a:lnTo>
                    <a:pt x="209461" y="492918"/>
                  </a:lnTo>
                  <a:lnTo>
                    <a:pt x="171449" y="477142"/>
                  </a:lnTo>
                  <a:lnTo>
                    <a:pt x="136877" y="460586"/>
                  </a:lnTo>
                  <a:lnTo>
                    <a:pt x="78581" y="425291"/>
                  </a:lnTo>
                  <a:lnTo>
                    <a:pt x="35630" y="387350"/>
                  </a:lnTo>
                  <a:lnTo>
                    <a:pt x="9084" y="347080"/>
                  </a:lnTo>
                  <a:lnTo>
                    <a:pt x="0" y="304800"/>
                  </a:lnTo>
                  <a:lnTo>
                    <a:pt x="2293" y="283428"/>
                  </a:lnTo>
                  <a:lnTo>
                    <a:pt x="20240" y="242113"/>
                  </a:lnTo>
                  <a:lnTo>
                    <a:pt x="55121" y="202968"/>
                  </a:lnTo>
                  <a:lnTo>
                    <a:pt x="105877" y="166310"/>
                  </a:lnTo>
                  <a:lnTo>
                    <a:pt x="171450" y="132457"/>
                  </a:lnTo>
                  <a:lnTo>
                    <a:pt x="209461" y="116681"/>
                  </a:lnTo>
                  <a:lnTo>
                    <a:pt x="250780" y="101725"/>
                  </a:lnTo>
                  <a:lnTo>
                    <a:pt x="295275" y="87629"/>
                  </a:lnTo>
                  <a:lnTo>
                    <a:pt x="342811" y="74433"/>
                  </a:lnTo>
                  <a:lnTo>
                    <a:pt x="393259" y="62177"/>
                  </a:lnTo>
                  <a:lnTo>
                    <a:pt x="446484" y="50899"/>
                  </a:lnTo>
                  <a:lnTo>
                    <a:pt x="502355" y="40639"/>
                  </a:lnTo>
                  <a:lnTo>
                    <a:pt x="560740" y="31439"/>
                  </a:lnTo>
                  <a:lnTo>
                    <a:pt x="621506" y="23336"/>
                  </a:lnTo>
                  <a:lnTo>
                    <a:pt x="684521" y="16371"/>
                  </a:lnTo>
                  <a:lnTo>
                    <a:pt x="749652" y="10583"/>
                  </a:lnTo>
                  <a:lnTo>
                    <a:pt x="816768" y="6012"/>
                  </a:lnTo>
                  <a:lnTo>
                    <a:pt x="885736" y="2698"/>
                  </a:lnTo>
                  <a:lnTo>
                    <a:pt x="956424" y="681"/>
                  </a:lnTo>
                  <a:lnTo>
                    <a:pt x="1028700" y="0"/>
                  </a:lnTo>
                  <a:close/>
                </a:path>
              </a:pathLst>
            </a:custGeom>
            <a:ln w="25518">
              <a:solidFill>
                <a:srgbClr val="88A3A6"/>
              </a:solidFill>
            </a:ln>
          </p:spPr>
          <p:txBody>
            <a:bodyPr wrap="square" lIns="0" tIns="0" rIns="0" bIns="0" rtlCol="0"/>
            <a:lstStyle/>
            <a:p>
              <a:endParaRPr/>
            </a:p>
          </p:txBody>
        </p:sp>
        <p:sp>
          <p:nvSpPr>
            <p:cNvPr id="6" name="object 6"/>
            <p:cNvSpPr/>
            <p:nvPr/>
          </p:nvSpPr>
          <p:spPr>
            <a:xfrm>
              <a:off x="977836" y="2806648"/>
              <a:ext cx="2083435" cy="635635"/>
            </a:xfrm>
            <a:custGeom>
              <a:avLst/>
              <a:gdLst/>
              <a:ahLst/>
              <a:cxnLst/>
              <a:rect l="l" t="t" r="r" b="b"/>
              <a:pathLst>
                <a:path w="2083435" h="635635">
                  <a:moveTo>
                    <a:pt x="25514" y="12750"/>
                  </a:moveTo>
                  <a:lnTo>
                    <a:pt x="21780" y="3733"/>
                  </a:lnTo>
                  <a:lnTo>
                    <a:pt x="12763" y="0"/>
                  </a:lnTo>
                  <a:lnTo>
                    <a:pt x="3733" y="3733"/>
                  </a:lnTo>
                  <a:lnTo>
                    <a:pt x="0" y="12750"/>
                  </a:lnTo>
                  <a:lnTo>
                    <a:pt x="3733" y="21780"/>
                  </a:lnTo>
                  <a:lnTo>
                    <a:pt x="12763" y="25514"/>
                  </a:lnTo>
                  <a:lnTo>
                    <a:pt x="21780" y="21780"/>
                  </a:lnTo>
                  <a:lnTo>
                    <a:pt x="25514" y="12750"/>
                  </a:lnTo>
                  <a:close/>
                </a:path>
                <a:path w="2083435" h="635635">
                  <a:moveTo>
                    <a:pt x="2082914" y="622350"/>
                  </a:moveTo>
                  <a:lnTo>
                    <a:pt x="2079180" y="613333"/>
                  </a:lnTo>
                  <a:lnTo>
                    <a:pt x="2070163" y="609600"/>
                  </a:lnTo>
                  <a:lnTo>
                    <a:pt x="2061133" y="613333"/>
                  </a:lnTo>
                  <a:lnTo>
                    <a:pt x="2057400" y="622350"/>
                  </a:lnTo>
                  <a:lnTo>
                    <a:pt x="2061133" y="631380"/>
                  </a:lnTo>
                  <a:lnTo>
                    <a:pt x="2070163" y="635114"/>
                  </a:lnTo>
                  <a:lnTo>
                    <a:pt x="2079180" y="631380"/>
                  </a:lnTo>
                  <a:lnTo>
                    <a:pt x="2082914" y="622350"/>
                  </a:lnTo>
                  <a:close/>
                </a:path>
              </a:pathLst>
            </a:custGeom>
            <a:solidFill>
              <a:srgbClr val="88A3A6"/>
            </a:solidFill>
          </p:spPr>
          <p:txBody>
            <a:bodyPr wrap="square" lIns="0" tIns="0" rIns="0" bIns="0" rtlCol="0"/>
            <a:lstStyle/>
            <a:p>
              <a:endParaRPr/>
            </a:p>
          </p:txBody>
        </p:sp>
      </p:grpSp>
      <p:sp>
        <p:nvSpPr>
          <p:cNvPr id="7" name="object 7"/>
          <p:cNvSpPr txBox="1"/>
          <p:nvPr/>
        </p:nvSpPr>
        <p:spPr>
          <a:xfrm>
            <a:off x="3042920" y="2837179"/>
            <a:ext cx="1000125" cy="574040"/>
          </a:xfrm>
          <a:prstGeom prst="rect">
            <a:avLst/>
          </a:prstGeom>
        </p:spPr>
        <p:txBody>
          <a:bodyPr vert="horz" wrap="square" lIns="0" tIns="12700" rIns="0" bIns="0" rtlCol="0">
            <a:spAutoFit/>
          </a:bodyPr>
          <a:lstStyle/>
          <a:p>
            <a:pPr marL="12700" marR="5080" indent="43180">
              <a:spcBef>
                <a:spcPts val="100"/>
              </a:spcBef>
            </a:pPr>
            <a:r>
              <a:rPr spc="-10" dirty="0">
                <a:solidFill>
                  <a:srgbClr val="FFFFFF"/>
                </a:solidFill>
                <a:latin typeface="Arial MT"/>
                <a:cs typeface="Arial MT"/>
              </a:rPr>
              <a:t>Security/ Reliability</a:t>
            </a:r>
            <a:endParaRPr>
              <a:latin typeface="Arial MT"/>
              <a:cs typeface="Arial MT"/>
            </a:endParaRPr>
          </a:p>
        </p:txBody>
      </p:sp>
      <p:grpSp>
        <p:nvGrpSpPr>
          <p:cNvPr id="8" name="object 8"/>
          <p:cNvGrpSpPr/>
          <p:nvPr/>
        </p:nvGrpSpPr>
        <p:grpSpPr>
          <a:xfrm>
            <a:off x="5321242" y="3416242"/>
            <a:ext cx="2083435" cy="635635"/>
            <a:chOff x="3797241" y="3416241"/>
            <a:chExt cx="2083435" cy="635635"/>
          </a:xfrm>
        </p:grpSpPr>
        <p:sp>
          <p:nvSpPr>
            <p:cNvPr id="9" name="object 9"/>
            <p:cNvSpPr/>
            <p:nvPr/>
          </p:nvSpPr>
          <p:spPr>
            <a:xfrm>
              <a:off x="3810000" y="3429000"/>
              <a:ext cx="2056130" cy="609600"/>
            </a:xfrm>
            <a:custGeom>
              <a:avLst/>
              <a:gdLst/>
              <a:ahLst/>
              <a:cxnLst/>
              <a:rect l="l" t="t" r="r" b="b"/>
              <a:pathLst>
                <a:path w="2056129" h="609600">
                  <a:moveTo>
                    <a:pt x="1027429" y="0"/>
                  </a:moveTo>
                  <a:lnTo>
                    <a:pt x="955306" y="674"/>
                  </a:lnTo>
                  <a:lnTo>
                    <a:pt x="884758" y="2674"/>
                  </a:lnTo>
                  <a:lnTo>
                    <a:pt x="815917" y="5960"/>
                  </a:lnTo>
                  <a:lnTo>
                    <a:pt x="748917" y="10495"/>
                  </a:lnTo>
                  <a:lnTo>
                    <a:pt x="683891" y="16240"/>
                  </a:lnTo>
                  <a:lnTo>
                    <a:pt x="620970" y="23157"/>
                  </a:lnTo>
                  <a:lnTo>
                    <a:pt x="560288" y="31209"/>
                  </a:lnTo>
                  <a:lnTo>
                    <a:pt x="501979" y="40357"/>
                  </a:lnTo>
                  <a:lnTo>
                    <a:pt x="446174" y="50564"/>
                  </a:lnTo>
                  <a:lnTo>
                    <a:pt x="393006" y="61791"/>
                  </a:lnTo>
                  <a:lnTo>
                    <a:pt x="342609" y="74000"/>
                  </a:lnTo>
                  <a:lnTo>
                    <a:pt x="295116" y="87153"/>
                  </a:lnTo>
                  <a:lnTo>
                    <a:pt x="250658" y="101213"/>
                  </a:lnTo>
                  <a:lnTo>
                    <a:pt x="209369" y="116141"/>
                  </a:lnTo>
                  <a:lnTo>
                    <a:pt x="171383" y="131898"/>
                  </a:lnTo>
                  <a:lnTo>
                    <a:pt x="136830" y="148448"/>
                  </a:lnTo>
                  <a:lnTo>
                    <a:pt x="78561" y="183772"/>
                  </a:lnTo>
                  <a:lnTo>
                    <a:pt x="35624" y="221809"/>
                  </a:lnTo>
                  <a:lnTo>
                    <a:pt x="9083" y="262252"/>
                  </a:lnTo>
                  <a:lnTo>
                    <a:pt x="0" y="304800"/>
                  </a:lnTo>
                  <a:lnTo>
                    <a:pt x="2292" y="326171"/>
                  </a:lnTo>
                  <a:lnTo>
                    <a:pt x="20238" y="367486"/>
                  </a:lnTo>
                  <a:lnTo>
                    <a:pt x="55110" y="406631"/>
                  </a:lnTo>
                  <a:lnTo>
                    <a:pt x="105845" y="443289"/>
                  </a:lnTo>
                  <a:lnTo>
                    <a:pt x="171383" y="477142"/>
                  </a:lnTo>
                  <a:lnTo>
                    <a:pt x="209369" y="492918"/>
                  </a:lnTo>
                  <a:lnTo>
                    <a:pt x="250658" y="507874"/>
                  </a:lnTo>
                  <a:lnTo>
                    <a:pt x="295116" y="521969"/>
                  </a:lnTo>
                  <a:lnTo>
                    <a:pt x="342609" y="535166"/>
                  </a:lnTo>
                  <a:lnTo>
                    <a:pt x="393006" y="547422"/>
                  </a:lnTo>
                  <a:lnTo>
                    <a:pt x="446174" y="558700"/>
                  </a:lnTo>
                  <a:lnTo>
                    <a:pt x="501979" y="568960"/>
                  </a:lnTo>
                  <a:lnTo>
                    <a:pt x="560288" y="578160"/>
                  </a:lnTo>
                  <a:lnTo>
                    <a:pt x="620970" y="586263"/>
                  </a:lnTo>
                  <a:lnTo>
                    <a:pt x="683891" y="593228"/>
                  </a:lnTo>
                  <a:lnTo>
                    <a:pt x="748917" y="599016"/>
                  </a:lnTo>
                  <a:lnTo>
                    <a:pt x="815917" y="603587"/>
                  </a:lnTo>
                  <a:lnTo>
                    <a:pt x="884758" y="606901"/>
                  </a:lnTo>
                  <a:lnTo>
                    <a:pt x="955306" y="608918"/>
                  </a:lnTo>
                  <a:lnTo>
                    <a:pt x="1027429" y="609600"/>
                  </a:lnTo>
                  <a:lnTo>
                    <a:pt x="1099705" y="608918"/>
                  </a:lnTo>
                  <a:lnTo>
                    <a:pt x="1170393" y="606901"/>
                  </a:lnTo>
                  <a:lnTo>
                    <a:pt x="1239361" y="603587"/>
                  </a:lnTo>
                  <a:lnTo>
                    <a:pt x="1306477" y="599016"/>
                  </a:lnTo>
                  <a:lnTo>
                    <a:pt x="1371608" y="593228"/>
                  </a:lnTo>
                  <a:lnTo>
                    <a:pt x="1434623" y="586263"/>
                  </a:lnTo>
                  <a:lnTo>
                    <a:pt x="1495389" y="578160"/>
                  </a:lnTo>
                  <a:lnTo>
                    <a:pt x="1553774" y="568960"/>
                  </a:lnTo>
                  <a:lnTo>
                    <a:pt x="1609645" y="558700"/>
                  </a:lnTo>
                  <a:lnTo>
                    <a:pt x="1662870" y="547422"/>
                  </a:lnTo>
                  <a:lnTo>
                    <a:pt x="1713318" y="535166"/>
                  </a:lnTo>
                  <a:lnTo>
                    <a:pt x="1760854" y="521969"/>
                  </a:lnTo>
                  <a:lnTo>
                    <a:pt x="1805349" y="507874"/>
                  </a:lnTo>
                  <a:lnTo>
                    <a:pt x="1846668" y="492918"/>
                  </a:lnTo>
                  <a:lnTo>
                    <a:pt x="1884679" y="477142"/>
                  </a:lnTo>
                  <a:lnTo>
                    <a:pt x="1919252" y="460586"/>
                  </a:lnTo>
                  <a:lnTo>
                    <a:pt x="1977548" y="425291"/>
                  </a:lnTo>
                  <a:lnTo>
                    <a:pt x="2020499" y="387350"/>
                  </a:lnTo>
                  <a:lnTo>
                    <a:pt x="2047045" y="347080"/>
                  </a:lnTo>
                  <a:lnTo>
                    <a:pt x="2056129" y="304800"/>
                  </a:lnTo>
                  <a:lnTo>
                    <a:pt x="2053836" y="283282"/>
                  </a:lnTo>
                  <a:lnTo>
                    <a:pt x="2035889" y="241748"/>
                  </a:lnTo>
                  <a:lnTo>
                    <a:pt x="2001008" y="202471"/>
                  </a:lnTo>
                  <a:lnTo>
                    <a:pt x="1950252" y="165752"/>
                  </a:lnTo>
                  <a:lnTo>
                    <a:pt x="1884680" y="131898"/>
                  </a:lnTo>
                  <a:lnTo>
                    <a:pt x="1846668" y="116141"/>
                  </a:lnTo>
                  <a:lnTo>
                    <a:pt x="1805349" y="101213"/>
                  </a:lnTo>
                  <a:lnTo>
                    <a:pt x="1760855" y="87153"/>
                  </a:lnTo>
                  <a:lnTo>
                    <a:pt x="1713318" y="74000"/>
                  </a:lnTo>
                  <a:lnTo>
                    <a:pt x="1662870" y="61791"/>
                  </a:lnTo>
                  <a:lnTo>
                    <a:pt x="1609645" y="50564"/>
                  </a:lnTo>
                  <a:lnTo>
                    <a:pt x="1553774" y="40357"/>
                  </a:lnTo>
                  <a:lnTo>
                    <a:pt x="1495389" y="31209"/>
                  </a:lnTo>
                  <a:lnTo>
                    <a:pt x="1434623" y="23157"/>
                  </a:lnTo>
                  <a:lnTo>
                    <a:pt x="1371608" y="16240"/>
                  </a:lnTo>
                  <a:lnTo>
                    <a:pt x="1306477" y="10495"/>
                  </a:lnTo>
                  <a:lnTo>
                    <a:pt x="1239361" y="5960"/>
                  </a:lnTo>
                  <a:lnTo>
                    <a:pt x="1170393" y="2674"/>
                  </a:lnTo>
                  <a:lnTo>
                    <a:pt x="1099705" y="674"/>
                  </a:lnTo>
                  <a:lnTo>
                    <a:pt x="1027429" y="0"/>
                  </a:lnTo>
                  <a:close/>
                </a:path>
              </a:pathLst>
            </a:custGeom>
            <a:solidFill>
              <a:srgbClr val="333399"/>
            </a:solidFill>
          </p:spPr>
          <p:txBody>
            <a:bodyPr wrap="square" lIns="0" tIns="0" rIns="0" bIns="0" rtlCol="0"/>
            <a:lstStyle/>
            <a:p>
              <a:endParaRPr/>
            </a:p>
          </p:txBody>
        </p:sp>
        <p:sp>
          <p:nvSpPr>
            <p:cNvPr id="10" name="object 10"/>
            <p:cNvSpPr/>
            <p:nvPr/>
          </p:nvSpPr>
          <p:spPr>
            <a:xfrm>
              <a:off x="3810000" y="3429000"/>
              <a:ext cx="2056130" cy="609600"/>
            </a:xfrm>
            <a:custGeom>
              <a:avLst/>
              <a:gdLst/>
              <a:ahLst/>
              <a:cxnLst/>
              <a:rect l="l" t="t" r="r" b="b"/>
              <a:pathLst>
                <a:path w="2056129" h="609600">
                  <a:moveTo>
                    <a:pt x="1027429" y="0"/>
                  </a:moveTo>
                  <a:lnTo>
                    <a:pt x="1099705" y="674"/>
                  </a:lnTo>
                  <a:lnTo>
                    <a:pt x="1170393" y="2674"/>
                  </a:lnTo>
                  <a:lnTo>
                    <a:pt x="1239361" y="5960"/>
                  </a:lnTo>
                  <a:lnTo>
                    <a:pt x="1306477" y="10495"/>
                  </a:lnTo>
                  <a:lnTo>
                    <a:pt x="1371608" y="16240"/>
                  </a:lnTo>
                  <a:lnTo>
                    <a:pt x="1434623" y="23157"/>
                  </a:lnTo>
                  <a:lnTo>
                    <a:pt x="1495389" y="31209"/>
                  </a:lnTo>
                  <a:lnTo>
                    <a:pt x="1553774" y="40357"/>
                  </a:lnTo>
                  <a:lnTo>
                    <a:pt x="1609645" y="50564"/>
                  </a:lnTo>
                  <a:lnTo>
                    <a:pt x="1662870" y="61791"/>
                  </a:lnTo>
                  <a:lnTo>
                    <a:pt x="1713318" y="74000"/>
                  </a:lnTo>
                  <a:lnTo>
                    <a:pt x="1760854" y="87153"/>
                  </a:lnTo>
                  <a:lnTo>
                    <a:pt x="1805349" y="101213"/>
                  </a:lnTo>
                  <a:lnTo>
                    <a:pt x="1846668" y="116141"/>
                  </a:lnTo>
                  <a:lnTo>
                    <a:pt x="1884679" y="131898"/>
                  </a:lnTo>
                  <a:lnTo>
                    <a:pt x="1919252" y="148448"/>
                  </a:lnTo>
                  <a:lnTo>
                    <a:pt x="1977548" y="183772"/>
                  </a:lnTo>
                  <a:lnTo>
                    <a:pt x="2020499" y="221809"/>
                  </a:lnTo>
                  <a:lnTo>
                    <a:pt x="2047045" y="262252"/>
                  </a:lnTo>
                  <a:lnTo>
                    <a:pt x="2056129" y="304800"/>
                  </a:lnTo>
                  <a:lnTo>
                    <a:pt x="2053836" y="326171"/>
                  </a:lnTo>
                  <a:lnTo>
                    <a:pt x="2035889" y="367486"/>
                  </a:lnTo>
                  <a:lnTo>
                    <a:pt x="2001008" y="406631"/>
                  </a:lnTo>
                  <a:lnTo>
                    <a:pt x="1950252" y="443289"/>
                  </a:lnTo>
                  <a:lnTo>
                    <a:pt x="1884679" y="477142"/>
                  </a:lnTo>
                  <a:lnTo>
                    <a:pt x="1846668" y="492918"/>
                  </a:lnTo>
                  <a:lnTo>
                    <a:pt x="1805349" y="507874"/>
                  </a:lnTo>
                  <a:lnTo>
                    <a:pt x="1760854" y="521969"/>
                  </a:lnTo>
                  <a:lnTo>
                    <a:pt x="1713318" y="535166"/>
                  </a:lnTo>
                  <a:lnTo>
                    <a:pt x="1662870" y="547422"/>
                  </a:lnTo>
                  <a:lnTo>
                    <a:pt x="1609645" y="558700"/>
                  </a:lnTo>
                  <a:lnTo>
                    <a:pt x="1553774" y="568960"/>
                  </a:lnTo>
                  <a:lnTo>
                    <a:pt x="1495389" y="578160"/>
                  </a:lnTo>
                  <a:lnTo>
                    <a:pt x="1434623" y="586263"/>
                  </a:lnTo>
                  <a:lnTo>
                    <a:pt x="1371608" y="593228"/>
                  </a:lnTo>
                  <a:lnTo>
                    <a:pt x="1306477" y="599016"/>
                  </a:lnTo>
                  <a:lnTo>
                    <a:pt x="1239361" y="603587"/>
                  </a:lnTo>
                  <a:lnTo>
                    <a:pt x="1170393" y="606901"/>
                  </a:lnTo>
                  <a:lnTo>
                    <a:pt x="1099705" y="608918"/>
                  </a:lnTo>
                  <a:lnTo>
                    <a:pt x="1027429" y="609600"/>
                  </a:lnTo>
                  <a:lnTo>
                    <a:pt x="955306" y="608918"/>
                  </a:lnTo>
                  <a:lnTo>
                    <a:pt x="884758" y="606901"/>
                  </a:lnTo>
                  <a:lnTo>
                    <a:pt x="815917" y="603587"/>
                  </a:lnTo>
                  <a:lnTo>
                    <a:pt x="748917" y="599016"/>
                  </a:lnTo>
                  <a:lnTo>
                    <a:pt x="683891" y="593228"/>
                  </a:lnTo>
                  <a:lnTo>
                    <a:pt x="620970" y="586263"/>
                  </a:lnTo>
                  <a:lnTo>
                    <a:pt x="560288" y="578160"/>
                  </a:lnTo>
                  <a:lnTo>
                    <a:pt x="501979" y="568960"/>
                  </a:lnTo>
                  <a:lnTo>
                    <a:pt x="446174" y="558700"/>
                  </a:lnTo>
                  <a:lnTo>
                    <a:pt x="393006" y="547422"/>
                  </a:lnTo>
                  <a:lnTo>
                    <a:pt x="342609" y="535166"/>
                  </a:lnTo>
                  <a:lnTo>
                    <a:pt x="295116" y="521969"/>
                  </a:lnTo>
                  <a:lnTo>
                    <a:pt x="250658" y="507874"/>
                  </a:lnTo>
                  <a:lnTo>
                    <a:pt x="209369" y="492918"/>
                  </a:lnTo>
                  <a:lnTo>
                    <a:pt x="171383" y="477142"/>
                  </a:lnTo>
                  <a:lnTo>
                    <a:pt x="136830" y="460586"/>
                  </a:lnTo>
                  <a:lnTo>
                    <a:pt x="78561" y="425291"/>
                  </a:lnTo>
                  <a:lnTo>
                    <a:pt x="35624" y="387350"/>
                  </a:lnTo>
                  <a:lnTo>
                    <a:pt x="9083" y="347080"/>
                  </a:lnTo>
                  <a:lnTo>
                    <a:pt x="0" y="304800"/>
                  </a:lnTo>
                  <a:lnTo>
                    <a:pt x="2292" y="283282"/>
                  </a:lnTo>
                  <a:lnTo>
                    <a:pt x="20238" y="241748"/>
                  </a:lnTo>
                  <a:lnTo>
                    <a:pt x="55110" y="202471"/>
                  </a:lnTo>
                  <a:lnTo>
                    <a:pt x="105845" y="165752"/>
                  </a:lnTo>
                  <a:lnTo>
                    <a:pt x="171383" y="131898"/>
                  </a:lnTo>
                  <a:lnTo>
                    <a:pt x="209369" y="116141"/>
                  </a:lnTo>
                  <a:lnTo>
                    <a:pt x="250658" y="101213"/>
                  </a:lnTo>
                  <a:lnTo>
                    <a:pt x="295116" y="87153"/>
                  </a:lnTo>
                  <a:lnTo>
                    <a:pt x="342609" y="74000"/>
                  </a:lnTo>
                  <a:lnTo>
                    <a:pt x="393006" y="61791"/>
                  </a:lnTo>
                  <a:lnTo>
                    <a:pt x="446174" y="50564"/>
                  </a:lnTo>
                  <a:lnTo>
                    <a:pt x="501979" y="40357"/>
                  </a:lnTo>
                  <a:lnTo>
                    <a:pt x="560288" y="31209"/>
                  </a:lnTo>
                  <a:lnTo>
                    <a:pt x="620970" y="23157"/>
                  </a:lnTo>
                  <a:lnTo>
                    <a:pt x="683891" y="16240"/>
                  </a:lnTo>
                  <a:lnTo>
                    <a:pt x="748917" y="10495"/>
                  </a:lnTo>
                  <a:lnTo>
                    <a:pt x="815917" y="5960"/>
                  </a:lnTo>
                  <a:lnTo>
                    <a:pt x="884758" y="2674"/>
                  </a:lnTo>
                  <a:lnTo>
                    <a:pt x="955306" y="674"/>
                  </a:lnTo>
                  <a:lnTo>
                    <a:pt x="1027429" y="0"/>
                  </a:lnTo>
                  <a:close/>
                </a:path>
              </a:pathLst>
            </a:custGeom>
            <a:ln w="25518">
              <a:solidFill>
                <a:srgbClr val="88A3A6"/>
              </a:solidFill>
            </a:ln>
          </p:spPr>
          <p:txBody>
            <a:bodyPr wrap="square" lIns="0" tIns="0" rIns="0" bIns="0" rtlCol="0"/>
            <a:lstStyle/>
            <a:p>
              <a:endParaRPr/>
            </a:p>
          </p:txBody>
        </p:sp>
        <p:sp>
          <p:nvSpPr>
            <p:cNvPr id="11" name="object 11"/>
            <p:cNvSpPr/>
            <p:nvPr/>
          </p:nvSpPr>
          <p:spPr>
            <a:xfrm>
              <a:off x="3797236" y="3416249"/>
              <a:ext cx="2083435" cy="635635"/>
            </a:xfrm>
            <a:custGeom>
              <a:avLst/>
              <a:gdLst/>
              <a:ahLst/>
              <a:cxnLst/>
              <a:rect l="l" t="t" r="r" b="b"/>
              <a:pathLst>
                <a:path w="2083435" h="635635">
                  <a:moveTo>
                    <a:pt x="25514" y="12750"/>
                  </a:moveTo>
                  <a:lnTo>
                    <a:pt x="21780" y="3733"/>
                  </a:lnTo>
                  <a:lnTo>
                    <a:pt x="12763" y="0"/>
                  </a:lnTo>
                  <a:lnTo>
                    <a:pt x="3733" y="3733"/>
                  </a:lnTo>
                  <a:lnTo>
                    <a:pt x="0" y="12750"/>
                  </a:lnTo>
                  <a:lnTo>
                    <a:pt x="3733" y="21780"/>
                  </a:lnTo>
                  <a:lnTo>
                    <a:pt x="12763" y="25514"/>
                  </a:lnTo>
                  <a:lnTo>
                    <a:pt x="21780" y="21780"/>
                  </a:lnTo>
                  <a:lnTo>
                    <a:pt x="25514" y="12750"/>
                  </a:lnTo>
                  <a:close/>
                </a:path>
                <a:path w="2083435" h="635635">
                  <a:moveTo>
                    <a:pt x="2082914" y="622350"/>
                  </a:moveTo>
                  <a:lnTo>
                    <a:pt x="2079180" y="613333"/>
                  </a:lnTo>
                  <a:lnTo>
                    <a:pt x="2070163" y="609600"/>
                  </a:lnTo>
                  <a:lnTo>
                    <a:pt x="2061133" y="613333"/>
                  </a:lnTo>
                  <a:lnTo>
                    <a:pt x="2057400" y="622350"/>
                  </a:lnTo>
                  <a:lnTo>
                    <a:pt x="2061133" y="631380"/>
                  </a:lnTo>
                  <a:lnTo>
                    <a:pt x="2070163" y="635114"/>
                  </a:lnTo>
                  <a:lnTo>
                    <a:pt x="2079180" y="631380"/>
                  </a:lnTo>
                  <a:lnTo>
                    <a:pt x="2082914" y="622350"/>
                  </a:lnTo>
                  <a:close/>
                </a:path>
              </a:pathLst>
            </a:custGeom>
            <a:solidFill>
              <a:srgbClr val="88A3A6"/>
            </a:solidFill>
          </p:spPr>
          <p:txBody>
            <a:bodyPr wrap="square" lIns="0" tIns="0" rIns="0" bIns="0" rtlCol="0"/>
            <a:lstStyle/>
            <a:p>
              <a:endParaRPr/>
            </a:p>
          </p:txBody>
        </p:sp>
      </p:grpSp>
      <p:grpSp>
        <p:nvGrpSpPr>
          <p:cNvPr id="12" name="object 12"/>
          <p:cNvGrpSpPr/>
          <p:nvPr/>
        </p:nvGrpSpPr>
        <p:grpSpPr>
          <a:xfrm>
            <a:off x="7607242" y="2806641"/>
            <a:ext cx="2083435" cy="635635"/>
            <a:chOff x="6083241" y="2806640"/>
            <a:chExt cx="2083435" cy="635635"/>
          </a:xfrm>
        </p:grpSpPr>
        <p:sp>
          <p:nvSpPr>
            <p:cNvPr id="13" name="object 13"/>
            <p:cNvSpPr/>
            <p:nvPr/>
          </p:nvSpPr>
          <p:spPr>
            <a:xfrm>
              <a:off x="6096000" y="2819399"/>
              <a:ext cx="2056130" cy="609600"/>
            </a:xfrm>
            <a:custGeom>
              <a:avLst/>
              <a:gdLst/>
              <a:ahLst/>
              <a:cxnLst/>
              <a:rect l="l" t="t" r="r" b="b"/>
              <a:pathLst>
                <a:path w="2056129" h="609600">
                  <a:moveTo>
                    <a:pt x="1027429" y="0"/>
                  </a:moveTo>
                  <a:lnTo>
                    <a:pt x="955306" y="681"/>
                  </a:lnTo>
                  <a:lnTo>
                    <a:pt x="884758" y="2698"/>
                  </a:lnTo>
                  <a:lnTo>
                    <a:pt x="815917" y="6012"/>
                  </a:lnTo>
                  <a:lnTo>
                    <a:pt x="748917" y="10583"/>
                  </a:lnTo>
                  <a:lnTo>
                    <a:pt x="683891" y="16371"/>
                  </a:lnTo>
                  <a:lnTo>
                    <a:pt x="620970" y="23336"/>
                  </a:lnTo>
                  <a:lnTo>
                    <a:pt x="560288" y="31439"/>
                  </a:lnTo>
                  <a:lnTo>
                    <a:pt x="501979" y="40639"/>
                  </a:lnTo>
                  <a:lnTo>
                    <a:pt x="446174" y="50899"/>
                  </a:lnTo>
                  <a:lnTo>
                    <a:pt x="393006" y="62177"/>
                  </a:lnTo>
                  <a:lnTo>
                    <a:pt x="342609" y="74433"/>
                  </a:lnTo>
                  <a:lnTo>
                    <a:pt x="295116" y="87629"/>
                  </a:lnTo>
                  <a:lnTo>
                    <a:pt x="250658" y="101725"/>
                  </a:lnTo>
                  <a:lnTo>
                    <a:pt x="209369" y="116681"/>
                  </a:lnTo>
                  <a:lnTo>
                    <a:pt x="171383" y="132457"/>
                  </a:lnTo>
                  <a:lnTo>
                    <a:pt x="136830" y="149013"/>
                  </a:lnTo>
                  <a:lnTo>
                    <a:pt x="78561" y="184308"/>
                  </a:lnTo>
                  <a:lnTo>
                    <a:pt x="35624" y="222250"/>
                  </a:lnTo>
                  <a:lnTo>
                    <a:pt x="9083" y="262519"/>
                  </a:lnTo>
                  <a:lnTo>
                    <a:pt x="0" y="304800"/>
                  </a:lnTo>
                  <a:lnTo>
                    <a:pt x="2292" y="326171"/>
                  </a:lnTo>
                  <a:lnTo>
                    <a:pt x="20238" y="367486"/>
                  </a:lnTo>
                  <a:lnTo>
                    <a:pt x="55110" y="406631"/>
                  </a:lnTo>
                  <a:lnTo>
                    <a:pt x="105845" y="443289"/>
                  </a:lnTo>
                  <a:lnTo>
                    <a:pt x="171383" y="477142"/>
                  </a:lnTo>
                  <a:lnTo>
                    <a:pt x="209369" y="492918"/>
                  </a:lnTo>
                  <a:lnTo>
                    <a:pt x="250658" y="507874"/>
                  </a:lnTo>
                  <a:lnTo>
                    <a:pt x="295116" y="521970"/>
                  </a:lnTo>
                  <a:lnTo>
                    <a:pt x="342609" y="535166"/>
                  </a:lnTo>
                  <a:lnTo>
                    <a:pt x="393006" y="547422"/>
                  </a:lnTo>
                  <a:lnTo>
                    <a:pt x="446174" y="558700"/>
                  </a:lnTo>
                  <a:lnTo>
                    <a:pt x="501979" y="568960"/>
                  </a:lnTo>
                  <a:lnTo>
                    <a:pt x="560288" y="578160"/>
                  </a:lnTo>
                  <a:lnTo>
                    <a:pt x="620970" y="586263"/>
                  </a:lnTo>
                  <a:lnTo>
                    <a:pt x="683891" y="593228"/>
                  </a:lnTo>
                  <a:lnTo>
                    <a:pt x="748917" y="599016"/>
                  </a:lnTo>
                  <a:lnTo>
                    <a:pt x="815917" y="603587"/>
                  </a:lnTo>
                  <a:lnTo>
                    <a:pt x="884758" y="606901"/>
                  </a:lnTo>
                  <a:lnTo>
                    <a:pt x="955306" y="608918"/>
                  </a:lnTo>
                  <a:lnTo>
                    <a:pt x="1027429" y="609600"/>
                  </a:lnTo>
                  <a:lnTo>
                    <a:pt x="1099705" y="608918"/>
                  </a:lnTo>
                  <a:lnTo>
                    <a:pt x="1170393" y="606901"/>
                  </a:lnTo>
                  <a:lnTo>
                    <a:pt x="1239361" y="603587"/>
                  </a:lnTo>
                  <a:lnTo>
                    <a:pt x="1306477" y="599016"/>
                  </a:lnTo>
                  <a:lnTo>
                    <a:pt x="1371608" y="593228"/>
                  </a:lnTo>
                  <a:lnTo>
                    <a:pt x="1434623" y="586263"/>
                  </a:lnTo>
                  <a:lnTo>
                    <a:pt x="1495389" y="578160"/>
                  </a:lnTo>
                  <a:lnTo>
                    <a:pt x="1553774" y="568960"/>
                  </a:lnTo>
                  <a:lnTo>
                    <a:pt x="1609645" y="558700"/>
                  </a:lnTo>
                  <a:lnTo>
                    <a:pt x="1662870" y="547422"/>
                  </a:lnTo>
                  <a:lnTo>
                    <a:pt x="1713318" y="535166"/>
                  </a:lnTo>
                  <a:lnTo>
                    <a:pt x="1760855" y="521970"/>
                  </a:lnTo>
                  <a:lnTo>
                    <a:pt x="1805349" y="507874"/>
                  </a:lnTo>
                  <a:lnTo>
                    <a:pt x="1846668" y="492918"/>
                  </a:lnTo>
                  <a:lnTo>
                    <a:pt x="1884680" y="477142"/>
                  </a:lnTo>
                  <a:lnTo>
                    <a:pt x="1919252" y="460586"/>
                  </a:lnTo>
                  <a:lnTo>
                    <a:pt x="1977548" y="425291"/>
                  </a:lnTo>
                  <a:lnTo>
                    <a:pt x="2020499" y="387350"/>
                  </a:lnTo>
                  <a:lnTo>
                    <a:pt x="2047045" y="347080"/>
                  </a:lnTo>
                  <a:lnTo>
                    <a:pt x="2056129" y="304800"/>
                  </a:lnTo>
                  <a:lnTo>
                    <a:pt x="2053836" y="283428"/>
                  </a:lnTo>
                  <a:lnTo>
                    <a:pt x="2035889" y="242113"/>
                  </a:lnTo>
                  <a:lnTo>
                    <a:pt x="2001008" y="202968"/>
                  </a:lnTo>
                  <a:lnTo>
                    <a:pt x="1950252" y="166310"/>
                  </a:lnTo>
                  <a:lnTo>
                    <a:pt x="1884679" y="132457"/>
                  </a:lnTo>
                  <a:lnTo>
                    <a:pt x="1846668" y="116681"/>
                  </a:lnTo>
                  <a:lnTo>
                    <a:pt x="1805349" y="101725"/>
                  </a:lnTo>
                  <a:lnTo>
                    <a:pt x="1760854" y="87629"/>
                  </a:lnTo>
                  <a:lnTo>
                    <a:pt x="1713318" y="74433"/>
                  </a:lnTo>
                  <a:lnTo>
                    <a:pt x="1662870" y="62177"/>
                  </a:lnTo>
                  <a:lnTo>
                    <a:pt x="1609645" y="50899"/>
                  </a:lnTo>
                  <a:lnTo>
                    <a:pt x="1553774" y="40639"/>
                  </a:lnTo>
                  <a:lnTo>
                    <a:pt x="1495389" y="31439"/>
                  </a:lnTo>
                  <a:lnTo>
                    <a:pt x="1434623" y="23336"/>
                  </a:lnTo>
                  <a:lnTo>
                    <a:pt x="1371608" y="16371"/>
                  </a:lnTo>
                  <a:lnTo>
                    <a:pt x="1306477" y="10583"/>
                  </a:lnTo>
                  <a:lnTo>
                    <a:pt x="1239361" y="6012"/>
                  </a:lnTo>
                  <a:lnTo>
                    <a:pt x="1170393" y="2698"/>
                  </a:lnTo>
                  <a:lnTo>
                    <a:pt x="1099705" y="681"/>
                  </a:lnTo>
                  <a:lnTo>
                    <a:pt x="1027429" y="0"/>
                  </a:lnTo>
                  <a:close/>
                </a:path>
              </a:pathLst>
            </a:custGeom>
            <a:solidFill>
              <a:srgbClr val="333399"/>
            </a:solidFill>
          </p:spPr>
          <p:txBody>
            <a:bodyPr wrap="square" lIns="0" tIns="0" rIns="0" bIns="0" rtlCol="0"/>
            <a:lstStyle/>
            <a:p>
              <a:endParaRPr/>
            </a:p>
          </p:txBody>
        </p:sp>
        <p:sp>
          <p:nvSpPr>
            <p:cNvPr id="14" name="object 14"/>
            <p:cNvSpPr/>
            <p:nvPr/>
          </p:nvSpPr>
          <p:spPr>
            <a:xfrm>
              <a:off x="6096000" y="2819399"/>
              <a:ext cx="2056130" cy="609600"/>
            </a:xfrm>
            <a:custGeom>
              <a:avLst/>
              <a:gdLst/>
              <a:ahLst/>
              <a:cxnLst/>
              <a:rect l="l" t="t" r="r" b="b"/>
              <a:pathLst>
                <a:path w="2056129" h="609600">
                  <a:moveTo>
                    <a:pt x="1027429" y="0"/>
                  </a:moveTo>
                  <a:lnTo>
                    <a:pt x="1099705" y="681"/>
                  </a:lnTo>
                  <a:lnTo>
                    <a:pt x="1170393" y="2698"/>
                  </a:lnTo>
                  <a:lnTo>
                    <a:pt x="1239361" y="6012"/>
                  </a:lnTo>
                  <a:lnTo>
                    <a:pt x="1306477" y="10583"/>
                  </a:lnTo>
                  <a:lnTo>
                    <a:pt x="1371608" y="16371"/>
                  </a:lnTo>
                  <a:lnTo>
                    <a:pt x="1434623" y="23336"/>
                  </a:lnTo>
                  <a:lnTo>
                    <a:pt x="1495389" y="31439"/>
                  </a:lnTo>
                  <a:lnTo>
                    <a:pt x="1553774" y="40639"/>
                  </a:lnTo>
                  <a:lnTo>
                    <a:pt x="1609645" y="50899"/>
                  </a:lnTo>
                  <a:lnTo>
                    <a:pt x="1662870" y="62177"/>
                  </a:lnTo>
                  <a:lnTo>
                    <a:pt x="1713318" y="74433"/>
                  </a:lnTo>
                  <a:lnTo>
                    <a:pt x="1760854" y="87629"/>
                  </a:lnTo>
                  <a:lnTo>
                    <a:pt x="1805349" y="101725"/>
                  </a:lnTo>
                  <a:lnTo>
                    <a:pt x="1846668" y="116681"/>
                  </a:lnTo>
                  <a:lnTo>
                    <a:pt x="1884679" y="132457"/>
                  </a:lnTo>
                  <a:lnTo>
                    <a:pt x="1919252" y="149013"/>
                  </a:lnTo>
                  <a:lnTo>
                    <a:pt x="1977548" y="184308"/>
                  </a:lnTo>
                  <a:lnTo>
                    <a:pt x="2020499" y="222250"/>
                  </a:lnTo>
                  <a:lnTo>
                    <a:pt x="2047045" y="262519"/>
                  </a:lnTo>
                  <a:lnTo>
                    <a:pt x="2056129" y="304800"/>
                  </a:lnTo>
                  <a:lnTo>
                    <a:pt x="2053836" y="326171"/>
                  </a:lnTo>
                  <a:lnTo>
                    <a:pt x="2035889" y="367486"/>
                  </a:lnTo>
                  <a:lnTo>
                    <a:pt x="2001008" y="406631"/>
                  </a:lnTo>
                  <a:lnTo>
                    <a:pt x="1950252" y="443289"/>
                  </a:lnTo>
                  <a:lnTo>
                    <a:pt x="1884680" y="477142"/>
                  </a:lnTo>
                  <a:lnTo>
                    <a:pt x="1846668" y="492918"/>
                  </a:lnTo>
                  <a:lnTo>
                    <a:pt x="1805349" y="507874"/>
                  </a:lnTo>
                  <a:lnTo>
                    <a:pt x="1760855" y="521970"/>
                  </a:lnTo>
                  <a:lnTo>
                    <a:pt x="1713318" y="535166"/>
                  </a:lnTo>
                  <a:lnTo>
                    <a:pt x="1662870" y="547422"/>
                  </a:lnTo>
                  <a:lnTo>
                    <a:pt x="1609645" y="558700"/>
                  </a:lnTo>
                  <a:lnTo>
                    <a:pt x="1553774" y="568960"/>
                  </a:lnTo>
                  <a:lnTo>
                    <a:pt x="1495389" y="578160"/>
                  </a:lnTo>
                  <a:lnTo>
                    <a:pt x="1434623" y="586263"/>
                  </a:lnTo>
                  <a:lnTo>
                    <a:pt x="1371608" y="593228"/>
                  </a:lnTo>
                  <a:lnTo>
                    <a:pt x="1306477" y="599016"/>
                  </a:lnTo>
                  <a:lnTo>
                    <a:pt x="1239361" y="603587"/>
                  </a:lnTo>
                  <a:lnTo>
                    <a:pt x="1170393" y="606901"/>
                  </a:lnTo>
                  <a:lnTo>
                    <a:pt x="1099705" y="608918"/>
                  </a:lnTo>
                  <a:lnTo>
                    <a:pt x="1027429" y="609600"/>
                  </a:lnTo>
                  <a:lnTo>
                    <a:pt x="955306" y="608918"/>
                  </a:lnTo>
                  <a:lnTo>
                    <a:pt x="884758" y="606901"/>
                  </a:lnTo>
                  <a:lnTo>
                    <a:pt x="815917" y="603587"/>
                  </a:lnTo>
                  <a:lnTo>
                    <a:pt x="748917" y="599016"/>
                  </a:lnTo>
                  <a:lnTo>
                    <a:pt x="683891" y="593228"/>
                  </a:lnTo>
                  <a:lnTo>
                    <a:pt x="620970" y="586263"/>
                  </a:lnTo>
                  <a:lnTo>
                    <a:pt x="560288" y="578160"/>
                  </a:lnTo>
                  <a:lnTo>
                    <a:pt x="501979" y="568960"/>
                  </a:lnTo>
                  <a:lnTo>
                    <a:pt x="446174" y="558700"/>
                  </a:lnTo>
                  <a:lnTo>
                    <a:pt x="393006" y="547422"/>
                  </a:lnTo>
                  <a:lnTo>
                    <a:pt x="342609" y="535166"/>
                  </a:lnTo>
                  <a:lnTo>
                    <a:pt x="295116" y="521970"/>
                  </a:lnTo>
                  <a:lnTo>
                    <a:pt x="250658" y="507874"/>
                  </a:lnTo>
                  <a:lnTo>
                    <a:pt x="209369" y="492918"/>
                  </a:lnTo>
                  <a:lnTo>
                    <a:pt x="171383" y="477142"/>
                  </a:lnTo>
                  <a:lnTo>
                    <a:pt x="136830" y="460586"/>
                  </a:lnTo>
                  <a:lnTo>
                    <a:pt x="78561" y="425291"/>
                  </a:lnTo>
                  <a:lnTo>
                    <a:pt x="35624" y="387350"/>
                  </a:lnTo>
                  <a:lnTo>
                    <a:pt x="9083" y="347080"/>
                  </a:lnTo>
                  <a:lnTo>
                    <a:pt x="0" y="304800"/>
                  </a:lnTo>
                  <a:lnTo>
                    <a:pt x="2292" y="283428"/>
                  </a:lnTo>
                  <a:lnTo>
                    <a:pt x="20238" y="242113"/>
                  </a:lnTo>
                  <a:lnTo>
                    <a:pt x="55110" y="202968"/>
                  </a:lnTo>
                  <a:lnTo>
                    <a:pt x="105845" y="166310"/>
                  </a:lnTo>
                  <a:lnTo>
                    <a:pt x="171383" y="132457"/>
                  </a:lnTo>
                  <a:lnTo>
                    <a:pt x="209369" y="116681"/>
                  </a:lnTo>
                  <a:lnTo>
                    <a:pt x="250658" y="101725"/>
                  </a:lnTo>
                  <a:lnTo>
                    <a:pt x="295116" y="87629"/>
                  </a:lnTo>
                  <a:lnTo>
                    <a:pt x="342609" y="74433"/>
                  </a:lnTo>
                  <a:lnTo>
                    <a:pt x="393006" y="62177"/>
                  </a:lnTo>
                  <a:lnTo>
                    <a:pt x="446174" y="50899"/>
                  </a:lnTo>
                  <a:lnTo>
                    <a:pt x="501979" y="40639"/>
                  </a:lnTo>
                  <a:lnTo>
                    <a:pt x="560288" y="31439"/>
                  </a:lnTo>
                  <a:lnTo>
                    <a:pt x="620970" y="23336"/>
                  </a:lnTo>
                  <a:lnTo>
                    <a:pt x="683891" y="16371"/>
                  </a:lnTo>
                  <a:lnTo>
                    <a:pt x="748917" y="10583"/>
                  </a:lnTo>
                  <a:lnTo>
                    <a:pt x="815917" y="6012"/>
                  </a:lnTo>
                  <a:lnTo>
                    <a:pt x="884758" y="2698"/>
                  </a:lnTo>
                  <a:lnTo>
                    <a:pt x="955306" y="681"/>
                  </a:lnTo>
                  <a:lnTo>
                    <a:pt x="1027429" y="0"/>
                  </a:lnTo>
                  <a:close/>
                </a:path>
              </a:pathLst>
            </a:custGeom>
            <a:ln w="25518">
              <a:solidFill>
                <a:srgbClr val="88A3A6"/>
              </a:solidFill>
            </a:ln>
          </p:spPr>
          <p:txBody>
            <a:bodyPr wrap="square" lIns="0" tIns="0" rIns="0" bIns="0" rtlCol="0"/>
            <a:lstStyle/>
            <a:p>
              <a:endParaRPr/>
            </a:p>
          </p:txBody>
        </p:sp>
        <p:sp>
          <p:nvSpPr>
            <p:cNvPr id="15" name="object 15"/>
            <p:cNvSpPr/>
            <p:nvPr/>
          </p:nvSpPr>
          <p:spPr>
            <a:xfrm>
              <a:off x="6083236" y="2806648"/>
              <a:ext cx="2083435" cy="635635"/>
            </a:xfrm>
            <a:custGeom>
              <a:avLst/>
              <a:gdLst/>
              <a:ahLst/>
              <a:cxnLst/>
              <a:rect l="l" t="t" r="r" b="b"/>
              <a:pathLst>
                <a:path w="2083434" h="635635">
                  <a:moveTo>
                    <a:pt x="25514" y="12750"/>
                  </a:moveTo>
                  <a:lnTo>
                    <a:pt x="21780" y="3733"/>
                  </a:lnTo>
                  <a:lnTo>
                    <a:pt x="12763" y="0"/>
                  </a:lnTo>
                  <a:lnTo>
                    <a:pt x="3733" y="3733"/>
                  </a:lnTo>
                  <a:lnTo>
                    <a:pt x="0" y="12750"/>
                  </a:lnTo>
                  <a:lnTo>
                    <a:pt x="3733" y="21780"/>
                  </a:lnTo>
                  <a:lnTo>
                    <a:pt x="12763" y="25514"/>
                  </a:lnTo>
                  <a:lnTo>
                    <a:pt x="21780" y="21780"/>
                  </a:lnTo>
                  <a:lnTo>
                    <a:pt x="25514" y="12750"/>
                  </a:lnTo>
                  <a:close/>
                </a:path>
                <a:path w="2083434" h="635635">
                  <a:moveTo>
                    <a:pt x="2082914" y="622350"/>
                  </a:moveTo>
                  <a:lnTo>
                    <a:pt x="2079180" y="613333"/>
                  </a:lnTo>
                  <a:lnTo>
                    <a:pt x="2070163" y="609600"/>
                  </a:lnTo>
                  <a:lnTo>
                    <a:pt x="2061133" y="613333"/>
                  </a:lnTo>
                  <a:lnTo>
                    <a:pt x="2057400" y="622350"/>
                  </a:lnTo>
                  <a:lnTo>
                    <a:pt x="2061133" y="631380"/>
                  </a:lnTo>
                  <a:lnTo>
                    <a:pt x="2070163" y="635114"/>
                  </a:lnTo>
                  <a:lnTo>
                    <a:pt x="2079180" y="631380"/>
                  </a:lnTo>
                  <a:lnTo>
                    <a:pt x="2082914" y="622350"/>
                  </a:lnTo>
                  <a:close/>
                </a:path>
              </a:pathLst>
            </a:custGeom>
            <a:solidFill>
              <a:srgbClr val="88A3A6"/>
            </a:solidFill>
          </p:spPr>
          <p:txBody>
            <a:bodyPr wrap="square" lIns="0" tIns="0" rIns="0" bIns="0" rtlCol="0"/>
            <a:lstStyle/>
            <a:p>
              <a:endParaRPr/>
            </a:p>
          </p:txBody>
        </p:sp>
      </p:grpSp>
      <p:sp>
        <p:nvSpPr>
          <p:cNvPr id="16" name="object 16"/>
          <p:cNvSpPr txBox="1"/>
          <p:nvPr/>
        </p:nvSpPr>
        <p:spPr>
          <a:xfrm>
            <a:off x="8141969" y="2974340"/>
            <a:ext cx="1013460" cy="299720"/>
          </a:xfrm>
          <a:prstGeom prst="rect">
            <a:avLst/>
          </a:prstGeom>
        </p:spPr>
        <p:txBody>
          <a:bodyPr vert="horz" wrap="square" lIns="0" tIns="12700" rIns="0" bIns="0" rtlCol="0">
            <a:spAutoFit/>
          </a:bodyPr>
          <a:lstStyle/>
          <a:p>
            <a:pPr marL="12700">
              <a:spcBef>
                <a:spcPts val="100"/>
              </a:spcBef>
            </a:pPr>
            <a:r>
              <a:rPr spc="-10" dirty="0">
                <a:solidFill>
                  <a:srgbClr val="FFFFFF"/>
                </a:solidFill>
                <a:latin typeface="Arial MT"/>
                <a:cs typeface="Arial MT"/>
              </a:rPr>
              <a:t>Utilization</a:t>
            </a:r>
            <a:endParaRPr>
              <a:latin typeface="Arial MT"/>
              <a:cs typeface="Arial MT"/>
            </a:endParaRPr>
          </a:p>
        </p:txBody>
      </p:sp>
      <p:grpSp>
        <p:nvGrpSpPr>
          <p:cNvPr id="17" name="object 17"/>
          <p:cNvGrpSpPr/>
          <p:nvPr/>
        </p:nvGrpSpPr>
        <p:grpSpPr>
          <a:xfrm>
            <a:off x="4864042" y="2273241"/>
            <a:ext cx="2083435" cy="635635"/>
            <a:chOff x="3340041" y="2273240"/>
            <a:chExt cx="2083435" cy="635635"/>
          </a:xfrm>
        </p:grpSpPr>
        <p:sp>
          <p:nvSpPr>
            <p:cNvPr id="18" name="object 18"/>
            <p:cNvSpPr/>
            <p:nvPr/>
          </p:nvSpPr>
          <p:spPr>
            <a:xfrm>
              <a:off x="3352800" y="2285999"/>
              <a:ext cx="2056130" cy="609600"/>
            </a:xfrm>
            <a:custGeom>
              <a:avLst/>
              <a:gdLst/>
              <a:ahLst/>
              <a:cxnLst/>
              <a:rect l="l" t="t" r="r" b="b"/>
              <a:pathLst>
                <a:path w="2056129" h="609600">
                  <a:moveTo>
                    <a:pt x="1027429" y="0"/>
                  </a:moveTo>
                  <a:lnTo>
                    <a:pt x="955306" y="674"/>
                  </a:lnTo>
                  <a:lnTo>
                    <a:pt x="884758" y="2674"/>
                  </a:lnTo>
                  <a:lnTo>
                    <a:pt x="815917" y="5960"/>
                  </a:lnTo>
                  <a:lnTo>
                    <a:pt x="748917" y="10495"/>
                  </a:lnTo>
                  <a:lnTo>
                    <a:pt x="683891" y="16240"/>
                  </a:lnTo>
                  <a:lnTo>
                    <a:pt x="620970" y="23157"/>
                  </a:lnTo>
                  <a:lnTo>
                    <a:pt x="560288" y="31209"/>
                  </a:lnTo>
                  <a:lnTo>
                    <a:pt x="501979" y="40357"/>
                  </a:lnTo>
                  <a:lnTo>
                    <a:pt x="446174" y="50564"/>
                  </a:lnTo>
                  <a:lnTo>
                    <a:pt x="393006" y="61791"/>
                  </a:lnTo>
                  <a:lnTo>
                    <a:pt x="342609" y="74000"/>
                  </a:lnTo>
                  <a:lnTo>
                    <a:pt x="295116" y="87153"/>
                  </a:lnTo>
                  <a:lnTo>
                    <a:pt x="250658" y="101213"/>
                  </a:lnTo>
                  <a:lnTo>
                    <a:pt x="209369" y="116141"/>
                  </a:lnTo>
                  <a:lnTo>
                    <a:pt x="171383" y="131898"/>
                  </a:lnTo>
                  <a:lnTo>
                    <a:pt x="136830" y="148448"/>
                  </a:lnTo>
                  <a:lnTo>
                    <a:pt x="78561" y="183772"/>
                  </a:lnTo>
                  <a:lnTo>
                    <a:pt x="35624" y="221809"/>
                  </a:lnTo>
                  <a:lnTo>
                    <a:pt x="9083" y="262252"/>
                  </a:lnTo>
                  <a:lnTo>
                    <a:pt x="0" y="304800"/>
                  </a:lnTo>
                  <a:lnTo>
                    <a:pt x="2292" y="326171"/>
                  </a:lnTo>
                  <a:lnTo>
                    <a:pt x="20238" y="367486"/>
                  </a:lnTo>
                  <a:lnTo>
                    <a:pt x="55110" y="406631"/>
                  </a:lnTo>
                  <a:lnTo>
                    <a:pt x="105845" y="443289"/>
                  </a:lnTo>
                  <a:lnTo>
                    <a:pt x="171383" y="477142"/>
                  </a:lnTo>
                  <a:lnTo>
                    <a:pt x="209369" y="492918"/>
                  </a:lnTo>
                  <a:lnTo>
                    <a:pt x="250658" y="507874"/>
                  </a:lnTo>
                  <a:lnTo>
                    <a:pt x="295116" y="521970"/>
                  </a:lnTo>
                  <a:lnTo>
                    <a:pt x="342609" y="535166"/>
                  </a:lnTo>
                  <a:lnTo>
                    <a:pt x="393006" y="547422"/>
                  </a:lnTo>
                  <a:lnTo>
                    <a:pt x="446174" y="558700"/>
                  </a:lnTo>
                  <a:lnTo>
                    <a:pt x="501979" y="568960"/>
                  </a:lnTo>
                  <a:lnTo>
                    <a:pt x="560288" y="578160"/>
                  </a:lnTo>
                  <a:lnTo>
                    <a:pt x="620970" y="586263"/>
                  </a:lnTo>
                  <a:lnTo>
                    <a:pt x="683891" y="593228"/>
                  </a:lnTo>
                  <a:lnTo>
                    <a:pt x="748917" y="599016"/>
                  </a:lnTo>
                  <a:lnTo>
                    <a:pt x="815917" y="603587"/>
                  </a:lnTo>
                  <a:lnTo>
                    <a:pt x="884758" y="606901"/>
                  </a:lnTo>
                  <a:lnTo>
                    <a:pt x="955306" y="608918"/>
                  </a:lnTo>
                  <a:lnTo>
                    <a:pt x="1027429" y="609600"/>
                  </a:lnTo>
                  <a:lnTo>
                    <a:pt x="1099705" y="608918"/>
                  </a:lnTo>
                  <a:lnTo>
                    <a:pt x="1170393" y="606901"/>
                  </a:lnTo>
                  <a:lnTo>
                    <a:pt x="1239361" y="603587"/>
                  </a:lnTo>
                  <a:lnTo>
                    <a:pt x="1306477" y="599016"/>
                  </a:lnTo>
                  <a:lnTo>
                    <a:pt x="1371608" y="593228"/>
                  </a:lnTo>
                  <a:lnTo>
                    <a:pt x="1434623" y="586263"/>
                  </a:lnTo>
                  <a:lnTo>
                    <a:pt x="1495389" y="578160"/>
                  </a:lnTo>
                  <a:lnTo>
                    <a:pt x="1553774" y="568960"/>
                  </a:lnTo>
                  <a:lnTo>
                    <a:pt x="1609645" y="558700"/>
                  </a:lnTo>
                  <a:lnTo>
                    <a:pt x="1662870" y="547422"/>
                  </a:lnTo>
                  <a:lnTo>
                    <a:pt x="1713318" y="535166"/>
                  </a:lnTo>
                  <a:lnTo>
                    <a:pt x="1760854" y="521970"/>
                  </a:lnTo>
                  <a:lnTo>
                    <a:pt x="1805349" y="507874"/>
                  </a:lnTo>
                  <a:lnTo>
                    <a:pt x="1846668" y="492918"/>
                  </a:lnTo>
                  <a:lnTo>
                    <a:pt x="1884679" y="477142"/>
                  </a:lnTo>
                  <a:lnTo>
                    <a:pt x="1919252" y="460586"/>
                  </a:lnTo>
                  <a:lnTo>
                    <a:pt x="1977548" y="425291"/>
                  </a:lnTo>
                  <a:lnTo>
                    <a:pt x="2020499" y="387350"/>
                  </a:lnTo>
                  <a:lnTo>
                    <a:pt x="2047045" y="347080"/>
                  </a:lnTo>
                  <a:lnTo>
                    <a:pt x="2056129" y="304800"/>
                  </a:lnTo>
                  <a:lnTo>
                    <a:pt x="2053836" y="283282"/>
                  </a:lnTo>
                  <a:lnTo>
                    <a:pt x="2035889" y="241748"/>
                  </a:lnTo>
                  <a:lnTo>
                    <a:pt x="2001008" y="202471"/>
                  </a:lnTo>
                  <a:lnTo>
                    <a:pt x="1950252" y="165752"/>
                  </a:lnTo>
                  <a:lnTo>
                    <a:pt x="1884679" y="131898"/>
                  </a:lnTo>
                  <a:lnTo>
                    <a:pt x="1846668" y="116141"/>
                  </a:lnTo>
                  <a:lnTo>
                    <a:pt x="1805349" y="101213"/>
                  </a:lnTo>
                  <a:lnTo>
                    <a:pt x="1760854" y="87153"/>
                  </a:lnTo>
                  <a:lnTo>
                    <a:pt x="1713318" y="74000"/>
                  </a:lnTo>
                  <a:lnTo>
                    <a:pt x="1662870" y="61791"/>
                  </a:lnTo>
                  <a:lnTo>
                    <a:pt x="1609645" y="50564"/>
                  </a:lnTo>
                  <a:lnTo>
                    <a:pt x="1553774" y="40357"/>
                  </a:lnTo>
                  <a:lnTo>
                    <a:pt x="1495389" y="31209"/>
                  </a:lnTo>
                  <a:lnTo>
                    <a:pt x="1434623" y="23157"/>
                  </a:lnTo>
                  <a:lnTo>
                    <a:pt x="1371608" y="16240"/>
                  </a:lnTo>
                  <a:lnTo>
                    <a:pt x="1306477" y="10495"/>
                  </a:lnTo>
                  <a:lnTo>
                    <a:pt x="1239361" y="5960"/>
                  </a:lnTo>
                  <a:lnTo>
                    <a:pt x="1170393" y="2674"/>
                  </a:lnTo>
                  <a:lnTo>
                    <a:pt x="1099705" y="674"/>
                  </a:lnTo>
                  <a:lnTo>
                    <a:pt x="1027429" y="0"/>
                  </a:lnTo>
                  <a:close/>
                </a:path>
              </a:pathLst>
            </a:custGeom>
            <a:solidFill>
              <a:srgbClr val="333399"/>
            </a:solidFill>
          </p:spPr>
          <p:txBody>
            <a:bodyPr wrap="square" lIns="0" tIns="0" rIns="0" bIns="0" rtlCol="0"/>
            <a:lstStyle/>
            <a:p>
              <a:endParaRPr/>
            </a:p>
          </p:txBody>
        </p:sp>
        <p:sp>
          <p:nvSpPr>
            <p:cNvPr id="19" name="object 19"/>
            <p:cNvSpPr/>
            <p:nvPr/>
          </p:nvSpPr>
          <p:spPr>
            <a:xfrm>
              <a:off x="3352800" y="2285999"/>
              <a:ext cx="2056130" cy="609600"/>
            </a:xfrm>
            <a:custGeom>
              <a:avLst/>
              <a:gdLst/>
              <a:ahLst/>
              <a:cxnLst/>
              <a:rect l="l" t="t" r="r" b="b"/>
              <a:pathLst>
                <a:path w="2056129" h="609600">
                  <a:moveTo>
                    <a:pt x="1027429" y="0"/>
                  </a:moveTo>
                  <a:lnTo>
                    <a:pt x="1099705" y="674"/>
                  </a:lnTo>
                  <a:lnTo>
                    <a:pt x="1170393" y="2674"/>
                  </a:lnTo>
                  <a:lnTo>
                    <a:pt x="1239361" y="5960"/>
                  </a:lnTo>
                  <a:lnTo>
                    <a:pt x="1306477" y="10495"/>
                  </a:lnTo>
                  <a:lnTo>
                    <a:pt x="1371608" y="16240"/>
                  </a:lnTo>
                  <a:lnTo>
                    <a:pt x="1434623" y="23157"/>
                  </a:lnTo>
                  <a:lnTo>
                    <a:pt x="1495389" y="31209"/>
                  </a:lnTo>
                  <a:lnTo>
                    <a:pt x="1553774" y="40357"/>
                  </a:lnTo>
                  <a:lnTo>
                    <a:pt x="1609645" y="50564"/>
                  </a:lnTo>
                  <a:lnTo>
                    <a:pt x="1662870" y="61791"/>
                  </a:lnTo>
                  <a:lnTo>
                    <a:pt x="1713318" y="74000"/>
                  </a:lnTo>
                  <a:lnTo>
                    <a:pt x="1760854" y="87153"/>
                  </a:lnTo>
                  <a:lnTo>
                    <a:pt x="1805349" y="101213"/>
                  </a:lnTo>
                  <a:lnTo>
                    <a:pt x="1846668" y="116141"/>
                  </a:lnTo>
                  <a:lnTo>
                    <a:pt x="1884679" y="131898"/>
                  </a:lnTo>
                  <a:lnTo>
                    <a:pt x="1919252" y="148448"/>
                  </a:lnTo>
                  <a:lnTo>
                    <a:pt x="1977548" y="183772"/>
                  </a:lnTo>
                  <a:lnTo>
                    <a:pt x="2020499" y="221809"/>
                  </a:lnTo>
                  <a:lnTo>
                    <a:pt x="2047045" y="262252"/>
                  </a:lnTo>
                  <a:lnTo>
                    <a:pt x="2056129" y="304800"/>
                  </a:lnTo>
                  <a:lnTo>
                    <a:pt x="2053836" y="326171"/>
                  </a:lnTo>
                  <a:lnTo>
                    <a:pt x="2035889" y="367486"/>
                  </a:lnTo>
                  <a:lnTo>
                    <a:pt x="2001008" y="406631"/>
                  </a:lnTo>
                  <a:lnTo>
                    <a:pt x="1950252" y="443289"/>
                  </a:lnTo>
                  <a:lnTo>
                    <a:pt x="1884679" y="477142"/>
                  </a:lnTo>
                  <a:lnTo>
                    <a:pt x="1846668" y="492918"/>
                  </a:lnTo>
                  <a:lnTo>
                    <a:pt x="1805349" y="507874"/>
                  </a:lnTo>
                  <a:lnTo>
                    <a:pt x="1760854" y="521970"/>
                  </a:lnTo>
                  <a:lnTo>
                    <a:pt x="1713318" y="535166"/>
                  </a:lnTo>
                  <a:lnTo>
                    <a:pt x="1662870" y="547422"/>
                  </a:lnTo>
                  <a:lnTo>
                    <a:pt x="1609645" y="558700"/>
                  </a:lnTo>
                  <a:lnTo>
                    <a:pt x="1553774" y="568960"/>
                  </a:lnTo>
                  <a:lnTo>
                    <a:pt x="1495389" y="578160"/>
                  </a:lnTo>
                  <a:lnTo>
                    <a:pt x="1434623" y="586263"/>
                  </a:lnTo>
                  <a:lnTo>
                    <a:pt x="1371608" y="593228"/>
                  </a:lnTo>
                  <a:lnTo>
                    <a:pt x="1306477" y="599016"/>
                  </a:lnTo>
                  <a:lnTo>
                    <a:pt x="1239361" y="603587"/>
                  </a:lnTo>
                  <a:lnTo>
                    <a:pt x="1170393" y="606901"/>
                  </a:lnTo>
                  <a:lnTo>
                    <a:pt x="1099705" y="608918"/>
                  </a:lnTo>
                  <a:lnTo>
                    <a:pt x="1027429" y="609600"/>
                  </a:lnTo>
                  <a:lnTo>
                    <a:pt x="955306" y="608918"/>
                  </a:lnTo>
                  <a:lnTo>
                    <a:pt x="884758" y="606901"/>
                  </a:lnTo>
                  <a:lnTo>
                    <a:pt x="815917" y="603587"/>
                  </a:lnTo>
                  <a:lnTo>
                    <a:pt x="748917" y="599016"/>
                  </a:lnTo>
                  <a:lnTo>
                    <a:pt x="683891" y="593228"/>
                  </a:lnTo>
                  <a:lnTo>
                    <a:pt x="620970" y="586263"/>
                  </a:lnTo>
                  <a:lnTo>
                    <a:pt x="560288" y="578160"/>
                  </a:lnTo>
                  <a:lnTo>
                    <a:pt x="501979" y="568960"/>
                  </a:lnTo>
                  <a:lnTo>
                    <a:pt x="446174" y="558700"/>
                  </a:lnTo>
                  <a:lnTo>
                    <a:pt x="393006" y="547422"/>
                  </a:lnTo>
                  <a:lnTo>
                    <a:pt x="342609" y="535166"/>
                  </a:lnTo>
                  <a:lnTo>
                    <a:pt x="295116" y="521970"/>
                  </a:lnTo>
                  <a:lnTo>
                    <a:pt x="250658" y="507874"/>
                  </a:lnTo>
                  <a:lnTo>
                    <a:pt x="209369" y="492918"/>
                  </a:lnTo>
                  <a:lnTo>
                    <a:pt x="171383" y="477142"/>
                  </a:lnTo>
                  <a:lnTo>
                    <a:pt x="136830" y="460586"/>
                  </a:lnTo>
                  <a:lnTo>
                    <a:pt x="78561" y="425291"/>
                  </a:lnTo>
                  <a:lnTo>
                    <a:pt x="35624" y="387350"/>
                  </a:lnTo>
                  <a:lnTo>
                    <a:pt x="9083" y="347080"/>
                  </a:lnTo>
                  <a:lnTo>
                    <a:pt x="0" y="304800"/>
                  </a:lnTo>
                  <a:lnTo>
                    <a:pt x="2292" y="283282"/>
                  </a:lnTo>
                  <a:lnTo>
                    <a:pt x="20238" y="241748"/>
                  </a:lnTo>
                  <a:lnTo>
                    <a:pt x="55110" y="202471"/>
                  </a:lnTo>
                  <a:lnTo>
                    <a:pt x="105845" y="165752"/>
                  </a:lnTo>
                  <a:lnTo>
                    <a:pt x="171383" y="131898"/>
                  </a:lnTo>
                  <a:lnTo>
                    <a:pt x="209369" y="116141"/>
                  </a:lnTo>
                  <a:lnTo>
                    <a:pt x="250658" y="101213"/>
                  </a:lnTo>
                  <a:lnTo>
                    <a:pt x="295116" y="87153"/>
                  </a:lnTo>
                  <a:lnTo>
                    <a:pt x="342609" y="74000"/>
                  </a:lnTo>
                  <a:lnTo>
                    <a:pt x="393006" y="61791"/>
                  </a:lnTo>
                  <a:lnTo>
                    <a:pt x="446174" y="50564"/>
                  </a:lnTo>
                  <a:lnTo>
                    <a:pt x="501979" y="40357"/>
                  </a:lnTo>
                  <a:lnTo>
                    <a:pt x="560288" y="31209"/>
                  </a:lnTo>
                  <a:lnTo>
                    <a:pt x="620970" y="23157"/>
                  </a:lnTo>
                  <a:lnTo>
                    <a:pt x="683891" y="16240"/>
                  </a:lnTo>
                  <a:lnTo>
                    <a:pt x="748917" y="10495"/>
                  </a:lnTo>
                  <a:lnTo>
                    <a:pt x="815917" y="5960"/>
                  </a:lnTo>
                  <a:lnTo>
                    <a:pt x="884758" y="2674"/>
                  </a:lnTo>
                  <a:lnTo>
                    <a:pt x="955306" y="674"/>
                  </a:lnTo>
                  <a:lnTo>
                    <a:pt x="1027429" y="0"/>
                  </a:lnTo>
                  <a:close/>
                </a:path>
              </a:pathLst>
            </a:custGeom>
            <a:ln w="25518">
              <a:solidFill>
                <a:srgbClr val="88A3A6"/>
              </a:solidFill>
            </a:ln>
          </p:spPr>
          <p:txBody>
            <a:bodyPr wrap="square" lIns="0" tIns="0" rIns="0" bIns="0" rtlCol="0"/>
            <a:lstStyle/>
            <a:p>
              <a:endParaRPr/>
            </a:p>
          </p:txBody>
        </p:sp>
        <p:sp>
          <p:nvSpPr>
            <p:cNvPr id="20" name="object 20"/>
            <p:cNvSpPr/>
            <p:nvPr/>
          </p:nvSpPr>
          <p:spPr>
            <a:xfrm>
              <a:off x="3340036" y="2273248"/>
              <a:ext cx="2083435" cy="635635"/>
            </a:xfrm>
            <a:custGeom>
              <a:avLst/>
              <a:gdLst/>
              <a:ahLst/>
              <a:cxnLst/>
              <a:rect l="l" t="t" r="r" b="b"/>
              <a:pathLst>
                <a:path w="2083435" h="635635">
                  <a:moveTo>
                    <a:pt x="25514" y="12750"/>
                  </a:moveTo>
                  <a:lnTo>
                    <a:pt x="21780" y="3733"/>
                  </a:lnTo>
                  <a:lnTo>
                    <a:pt x="12763" y="0"/>
                  </a:lnTo>
                  <a:lnTo>
                    <a:pt x="3733" y="3733"/>
                  </a:lnTo>
                  <a:lnTo>
                    <a:pt x="0" y="12750"/>
                  </a:lnTo>
                  <a:lnTo>
                    <a:pt x="3733" y="21780"/>
                  </a:lnTo>
                  <a:lnTo>
                    <a:pt x="12763" y="25514"/>
                  </a:lnTo>
                  <a:lnTo>
                    <a:pt x="21780" y="21780"/>
                  </a:lnTo>
                  <a:lnTo>
                    <a:pt x="25514" y="12750"/>
                  </a:lnTo>
                  <a:close/>
                </a:path>
                <a:path w="2083435" h="635635">
                  <a:moveTo>
                    <a:pt x="2082914" y="622350"/>
                  </a:moveTo>
                  <a:lnTo>
                    <a:pt x="2079180" y="613333"/>
                  </a:lnTo>
                  <a:lnTo>
                    <a:pt x="2070163" y="609600"/>
                  </a:lnTo>
                  <a:lnTo>
                    <a:pt x="2061133" y="613333"/>
                  </a:lnTo>
                  <a:lnTo>
                    <a:pt x="2057400" y="622350"/>
                  </a:lnTo>
                  <a:lnTo>
                    <a:pt x="2061133" y="631380"/>
                  </a:lnTo>
                  <a:lnTo>
                    <a:pt x="2070163" y="635114"/>
                  </a:lnTo>
                  <a:lnTo>
                    <a:pt x="2079180" y="631380"/>
                  </a:lnTo>
                  <a:lnTo>
                    <a:pt x="2082914" y="622350"/>
                  </a:lnTo>
                  <a:close/>
                </a:path>
              </a:pathLst>
            </a:custGeom>
            <a:solidFill>
              <a:srgbClr val="88A3A6"/>
            </a:solidFill>
          </p:spPr>
          <p:txBody>
            <a:bodyPr wrap="square" lIns="0" tIns="0" rIns="0" bIns="0" rtlCol="0"/>
            <a:lstStyle/>
            <a:p>
              <a:endParaRPr/>
            </a:p>
          </p:txBody>
        </p:sp>
      </p:grpSp>
      <p:sp>
        <p:nvSpPr>
          <p:cNvPr id="21" name="object 21"/>
          <p:cNvSpPr txBox="1"/>
          <p:nvPr/>
        </p:nvSpPr>
        <p:spPr>
          <a:xfrm>
            <a:off x="2059941" y="1635759"/>
            <a:ext cx="6544945" cy="1104900"/>
          </a:xfrm>
          <a:prstGeom prst="rect">
            <a:avLst/>
          </a:prstGeom>
        </p:spPr>
        <p:txBody>
          <a:bodyPr vert="horz" wrap="square" lIns="0" tIns="12700" rIns="0" bIns="0" rtlCol="0">
            <a:spAutoFit/>
          </a:bodyPr>
          <a:lstStyle/>
          <a:p>
            <a:pPr marL="354965" indent="-342265">
              <a:spcBef>
                <a:spcPts val="100"/>
              </a:spcBef>
              <a:buChar char="•"/>
              <a:tabLst>
                <a:tab pos="354965" algn="l"/>
              </a:tabLst>
            </a:pPr>
            <a:r>
              <a:rPr sz="3200" dirty="0">
                <a:latin typeface="Arial MT"/>
                <a:cs typeface="Arial MT"/>
              </a:rPr>
              <a:t>Buzzwords that</a:t>
            </a:r>
            <a:r>
              <a:rPr sz="3200" spc="-10" dirty="0">
                <a:latin typeface="Arial MT"/>
                <a:cs typeface="Arial MT"/>
              </a:rPr>
              <a:t> </a:t>
            </a:r>
            <a:r>
              <a:rPr sz="3200" dirty="0">
                <a:latin typeface="Arial MT"/>
                <a:cs typeface="Arial MT"/>
              </a:rPr>
              <a:t>have been </a:t>
            </a:r>
            <a:r>
              <a:rPr sz="3200" spc="-10" dirty="0">
                <a:latin typeface="Arial MT"/>
                <a:cs typeface="Arial MT"/>
              </a:rPr>
              <a:t>around</a:t>
            </a:r>
            <a:endParaRPr sz="3200">
              <a:latin typeface="Arial MT"/>
              <a:cs typeface="Arial MT"/>
            </a:endParaRPr>
          </a:p>
          <a:p>
            <a:pPr marL="1144905" algn="ctr">
              <a:spcBef>
                <a:spcPts val="2500"/>
              </a:spcBef>
            </a:pPr>
            <a:r>
              <a:rPr spc="-10" dirty="0">
                <a:solidFill>
                  <a:srgbClr val="FFFFFF"/>
                </a:solidFill>
                <a:latin typeface="Arial MT"/>
                <a:cs typeface="Arial MT"/>
              </a:rPr>
              <a:t>Fairness</a:t>
            </a:r>
            <a:endParaRPr>
              <a:latin typeface="Arial MT"/>
              <a:cs typeface="Arial MT"/>
            </a:endParaRPr>
          </a:p>
        </p:txBody>
      </p:sp>
      <p:grpSp>
        <p:nvGrpSpPr>
          <p:cNvPr id="22" name="object 22"/>
          <p:cNvGrpSpPr/>
          <p:nvPr/>
        </p:nvGrpSpPr>
        <p:grpSpPr>
          <a:xfrm>
            <a:off x="2501841" y="5168842"/>
            <a:ext cx="2083435" cy="635635"/>
            <a:chOff x="977840" y="5168841"/>
            <a:chExt cx="2083435" cy="635635"/>
          </a:xfrm>
        </p:grpSpPr>
        <p:sp>
          <p:nvSpPr>
            <p:cNvPr id="23" name="object 23"/>
            <p:cNvSpPr/>
            <p:nvPr/>
          </p:nvSpPr>
          <p:spPr>
            <a:xfrm>
              <a:off x="990600" y="5181600"/>
              <a:ext cx="2057400" cy="609600"/>
            </a:xfrm>
            <a:custGeom>
              <a:avLst/>
              <a:gdLst/>
              <a:ahLst/>
              <a:cxnLst/>
              <a:rect l="l" t="t" r="r" b="b"/>
              <a:pathLst>
                <a:path w="2057400" h="609600">
                  <a:moveTo>
                    <a:pt x="1028700" y="0"/>
                  </a:moveTo>
                  <a:lnTo>
                    <a:pt x="956424" y="681"/>
                  </a:lnTo>
                  <a:lnTo>
                    <a:pt x="885736" y="2698"/>
                  </a:lnTo>
                  <a:lnTo>
                    <a:pt x="816768" y="6012"/>
                  </a:lnTo>
                  <a:lnTo>
                    <a:pt x="749652" y="10583"/>
                  </a:lnTo>
                  <a:lnTo>
                    <a:pt x="684521" y="16371"/>
                  </a:lnTo>
                  <a:lnTo>
                    <a:pt x="621506" y="23336"/>
                  </a:lnTo>
                  <a:lnTo>
                    <a:pt x="560740" y="31439"/>
                  </a:lnTo>
                  <a:lnTo>
                    <a:pt x="502355" y="40639"/>
                  </a:lnTo>
                  <a:lnTo>
                    <a:pt x="446484" y="50899"/>
                  </a:lnTo>
                  <a:lnTo>
                    <a:pt x="393259" y="62177"/>
                  </a:lnTo>
                  <a:lnTo>
                    <a:pt x="342811" y="74433"/>
                  </a:lnTo>
                  <a:lnTo>
                    <a:pt x="295275" y="87629"/>
                  </a:lnTo>
                  <a:lnTo>
                    <a:pt x="250780" y="101725"/>
                  </a:lnTo>
                  <a:lnTo>
                    <a:pt x="209461" y="116681"/>
                  </a:lnTo>
                  <a:lnTo>
                    <a:pt x="171450" y="132457"/>
                  </a:lnTo>
                  <a:lnTo>
                    <a:pt x="136877" y="149013"/>
                  </a:lnTo>
                  <a:lnTo>
                    <a:pt x="78581" y="184308"/>
                  </a:lnTo>
                  <a:lnTo>
                    <a:pt x="35630" y="222250"/>
                  </a:lnTo>
                  <a:lnTo>
                    <a:pt x="9084" y="262519"/>
                  </a:lnTo>
                  <a:lnTo>
                    <a:pt x="0" y="304800"/>
                  </a:lnTo>
                  <a:lnTo>
                    <a:pt x="2293" y="326171"/>
                  </a:lnTo>
                  <a:lnTo>
                    <a:pt x="20240" y="367486"/>
                  </a:lnTo>
                  <a:lnTo>
                    <a:pt x="55121" y="406631"/>
                  </a:lnTo>
                  <a:lnTo>
                    <a:pt x="105877" y="443289"/>
                  </a:lnTo>
                  <a:lnTo>
                    <a:pt x="171450" y="477142"/>
                  </a:lnTo>
                  <a:lnTo>
                    <a:pt x="209461" y="492918"/>
                  </a:lnTo>
                  <a:lnTo>
                    <a:pt x="250780" y="507874"/>
                  </a:lnTo>
                  <a:lnTo>
                    <a:pt x="295275" y="521970"/>
                  </a:lnTo>
                  <a:lnTo>
                    <a:pt x="342811" y="535166"/>
                  </a:lnTo>
                  <a:lnTo>
                    <a:pt x="393259" y="547422"/>
                  </a:lnTo>
                  <a:lnTo>
                    <a:pt x="446484" y="558700"/>
                  </a:lnTo>
                  <a:lnTo>
                    <a:pt x="502355" y="568960"/>
                  </a:lnTo>
                  <a:lnTo>
                    <a:pt x="560740" y="578160"/>
                  </a:lnTo>
                  <a:lnTo>
                    <a:pt x="621506" y="586263"/>
                  </a:lnTo>
                  <a:lnTo>
                    <a:pt x="684521" y="593228"/>
                  </a:lnTo>
                  <a:lnTo>
                    <a:pt x="749652" y="599016"/>
                  </a:lnTo>
                  <a:lnTo>
                    <a:pt x="816768" y="603587"/>
                  </a:lnTo>
                  <a:lnTo>
                    <a:pt x="885736" y="606901"/>
                  </a:lnTo>
                  <a:lnTo>
                    <a:pt x="956424" y="608918"/>
                  </a:lnTo>
                  <a:lnTo>
                    <a:pt x="1028700" y="609600"/>
                  </a:lnTo>
                  <a:lnTo>
                    <a:pt x="1100829" y="608918"/>
                  </a:lnTo>
                  <a:lnTo>
                    <a:pt x="1171396" y="606901"/>
                  </a:lnTo>
                  <a:lnTo>
                    <a:pt x="1240266" y="603587"/>
                  </a:lnTo>
                  <a:lnTo>
                    <a:pt x="1307306" y="599016"/>
                  </a:lnTo>
                  <a:lnTo>
                    <a:pt x="1372381" y="593228"/>
                  </a:lnTo>
                  <a:lnTo>
                    <a:pt x="1435357" y="586263"/>
                  </a:lnTo>
                  <a:lnTo>
                    <a:pt x="1496102" y="578160"/>
                  </a:lnTo>
                  <a:lnTo>
                    <a:pt x="1554480" y="568960"/>
                  </a:lnTo>
                  <a:lnTo>
                    <a:pt x="1610357" y="558700"/>
                  </a:lnTo>
                  <a:lnTo>
                    <a:pt x="1663600" y="547422"/>
                  </a:lnTo>
                  <a:lnTo>
                    <a:pt x="1714075" y="535166"/>
                  </a:lnTo>
                  <a:lnTo>
                    <a:pt x="1761648" y="521970"/>
                  </a:lnTo>
                  <a:lnTo>
                    <a:pt x="1806185" y="507874"/>
                  </a:lnTo>
                  <a:lnTo>
                    <a:pt x="1847552" y="492918"/>
                  </a:lnTo>
                  <a:lnTo>
                    <a:pt x="1885615" y="477142"/>
                  </a:lnTo>
                  <a:lnTo>
                    <a:pt x="1920240" y="460586"/>
                  </a:lnTo>
                  <a:lnTo>
                    <a:pt x="1978640" y="425291"/>
                  </a:lnTo>
                  <a:lnTo>
                    <a:pt x="2021681" y="387350"/>
                  </a:lnTo>
                  <a:lnTo>
                    <a:pt x="2048291" y="347080"/>
                  </a:lnTo>
                  <a:lnTo>
                    <a:pt x="2057400" y="304800"/>
                  </a:lnTo>
                  <a:lnTo>
                    <a:pt x="2055100" y="283428"/>
                  </a:lnTo>
                  <a:lnTo>
                    <a:pt x="2037107" y="242113"/>
                  </a:lnTo>
                  <a:lnTo>
                    <a:pt x="2002147" y="202968"/>
                  </a:lnTo>
                  <a:lnTo>
                    <a:pt x="1951292" y="166310"/>
                  </a:lnTo>
                  <a:lnTo>
                    <a:pt x="1885615" y="132457"/>
                  </a:lnTo>
                  <a:lnTo>
                    <a:pt x="1847552" y="116681"/>
                  </a:lnTo>
                  <a:lnTo>
                    <a:pt x="1806185" y="101725"/>
                  </a:lnTo>
                  <a:lnTo>
                    <a:pt x="1761648" y="87629"/>
                  </a:lnTo>
                  <a:lnTo>
                    <a:pt x="1714075" y="74433"/>
                  </a:lnTo>
                  <a:lnTo>
                    <a:pt x="1663600" y="62177"/>
                  </a:lnTo>
                  <a:lnTo>
                    <a:pt x="1610357" y="50899"/>
                  </a:lnTo>
                  <a:lnTo>
                    <a:pt x="1554479" y="40639"/>
                  </a:lnTo>
                  <a:lnTo>
                    <a:pt x="1496102" y="31439"/>
                  </a:lnTo>
                  <a:lnTo>
                    <a:pt x="1435357" y="23336"/>
                  </a:lnTo>
                  <a:lnTo>
                    <a:pt x="1372381" y="16371"/>
                  </a:lnTo>
                  <a:lnTo>
                    <a:pt x="1307306" y="10583"/>
                  </a:lnTo>
                  <a:lnTo>
                    <a:pt x="1240266" y="6012"/>
                  </a:lnTo>
                  <a:lnTo>
                    <a:pt x="1171396" y="2698"/>
                  </a:lnTo>
                  <a:lnTo>
                    <a:pt x="1100829" y="681"/>
                  </a:lnTo>
                  <a:lnTo>
                    <a:pt x="1028700" y="0"/>
                  </a:lnTo>
                  <a:close/>
                </a:path>
              </a:pathLst>
            </a:custGeom>
            <a:solidFill>
              <a:srgbClr val="71BEC4"/>
            </a:solidFill>
          </p:spPr>
          <p:txBody>
            <a:bodyPr wrap="square" lIns="0" tIns="0" rIns="0" bIns="0" rtlCol="0"/>
            <a:lstStyle/>
            <a:p>
              <a:endParaRPr/>
            </a:p>
          </p:txBody>
        </p:sp>
        <p:sp>
          <p:nvSpPr>
            <p:cNvPr id="24" name="object 24"/>
            <p:cNvSpPr/>
            <p:nvPr/>
          </p:nvSpPr>
          <p:spPr>
            <a:xfrm>
              <a:off x="990600" y="5181600"/>
              <a:ext cx="2057400" cy="609600"/>
            </a:xfrm>
            <a:custGeom>
              <a:avLst/>
              <a:gdLst/>
              <a:ahLst/>
              <a:cxnLst/>
              <a:rect l="l" t="t" r="r" b="b"/>
              <a:pathLst>
                <a:path w="2057400" h="609600">
                  <a:moveTo>
                    <a:pt x="1028700" y="0"/>
                  </a:moveTo>
                  <a:lnTo>
                    <a:pt x="1100829" y="681"/>
                  </a:lnTo>
                  <a:lnTo>
                    <a:pt x="1171396" y="2698"/>
                  </a:lnTo>
                  <a:lnTo>
                    <a:pt x="1240266" y="6012"/>
                  </a:lnTo>
                  <a:lnTo>
                    <a:pt x="1307306" y="10583"/>
                  </a:lnTo>
                  <a:lnTo>
                    <a:pt x="1372381" y="16371"/>
                  </a:lnTo>
                  <a:lnTo>
                    <a:pt x="1435357" y="23336"/>
                  </a:lnTo>
                  <a:lnTo>
                    <a:pt x="1496102" y="31439"/>
                  </a:lnTo>
                  <a:lnTo>
                    <a:pt x="1554479" y="40639"/>
                  </a:lnTo>
                  <a:lnTo>
                    <a:pt x="1610357" y="50899"/>
                  </a:lnTo>
                  <a:lnTo>
                    <a:pt x="1663600" y="62177"/>
                  </a:lnTo>
                  <a:lnTo>
                    <a:pt x="1714075" y="74433"/>
                  </a:lnTo>
                  <a:lnTo>
                    <a:pt x="1761648" y="87629"/>
                  </a:lnTo>
                  <a:lnTo>
                    <a:pt x="1806185" y="101725"/>
                  </a:lnTo>
                  <a:lnTo>
                    <a:pt x="1847552" y="116681"/>
                  </a:lnTo>
                  <a:lnTo>
                    <a:pt x="1885615" y="132457"/>
                  </a:lnTo>
                  <a:lnTo>
                    <a:pt x="1920239" y="149013"/>
                  </a:lnTo>
                  <a:lnTo>
                    <a:pt x="1978640" y="184308"/>
                  </a:lnTo>
                  <a:lnTo>
                    <a:pt x="2021681" y="222250"/>
                  </a:lnTo>
                  <a:lnTo>
                    <a:pt x="2048291" y="262519"/>
                  </a:lnTo>
                  <a:lnTo>
                    <a:pt x="2057400" y="304800"/>
                  </a:lnTo>
                  <a:lnTo>
                    <a:pt x="2055100" y="326171"/>
                  </a:lnTo>
                  <a:lnTo>
                    <a:pt x="2037107" y="367486"/>
                  </a:lnTo>
                  <a:lnTo>
                    <a:pt x="2002147" y="406631"/>
                  </a:lnTo>
                  <a:lnTo>
                    <a:pt x="1951292" y="443289"/>
                  </a:lnTo>
                  <a:lnTo>
                    <a:pt x="1885615" y="477142"/>
                  </a:lnTo>
                  <a:lnTo>
                    <a:pt x="1847552" y="492918"/>
                  </a:lnTo>
                  <a:lnTo>
                    <a:pt x="1806185" y="507874"/>
                  </a:lnTo>
                  <a:lnTo>
                    <a:pt x="1761648" y="521970"/>
                  </a:lnTo>
                  <a:lnTo>
                    <a:pt x="1714075" y="535166"/>
                  </a:lnTo>
                  <a:lnTo>
                    <a:pt x="1663600" y="547422"/>
                  </a:lnTo>
                  <a:lnTo>
                    <a:pt x="1610357" y="558700"/>
                  </a:lnTo>
                  <a:lnTo>
                    <a:pt x="1554480" y="568960"/>
                  </a:lnTo>
                  <a:lnTo>
                    <a:pt x="1496102" y="578160"/>
                  </a:lnTo>
                  <a:lnTo>
                    <a:pt x="1435357" y="586263"/>
                  </a:lnTo>
                  <a:lnTo>
                    <a:pt x="1372381" y="593228"/>
                  </a:lnTo>
                  <a:lnTo>
                    <a:pt x="1307306" y="599016"/>
                  </a:lnTo>
                  <a:lnTo>
                    <a:pt x="1240266" y="603587"/>
                  </a:lnTo>
                  <a:lnTo>
                    <a:pt x="1171396" y="606901"/>
                  </a:lnTo>
                  <a:lnTo>
                    <a:pt x="1100829" y="608918"/>
                  </a:lnTo>
                  <a:lnTo>
                    <a:pt x="1028700" y="609600"/>
                  </a:lnTo>
                  <a:lnTo>
                    <a:pt x="956424" y="608918"/>
                  </a:lnTo>
                  <a:lnTo>
                    <a:pt x="885736" y="606901"/>
                  </a:lnTo>
                  <a:lnTo>
                    <a:pt x="816768" y="603587"/>
                  </a:lnTo>
                  <a:lnTo>
                    <a:pt x="749652" y="599016"/>
                  </a:lnTo>
                  <a:lnTo>
                    <a:pt x="684521" y="593228"/>
                  </a:lnTo>
                  <a:lnTo>
                    <a:pt x="621506" y="586263"/>
                  </a:lnTo>
                  <a:lnTo>
                    <a:pt x="560740" y="578160"/>
                  </a:lnTo>
                  <a:lnTo>
                    <a:pt x="502355" y="568959"/>
                  </a:lnTo>
                  <a:lnTo>
                    <a:pt x="446484" y="558700"/>
                  </a:lnTo>
                  <a:lnTo>
                    <a:pt x="393259" y="547422"/>
                  </a:lnTo>
                  <a:lnTo>
                    <a:pt x="342811" y="535166"/>
                  </a:lnTo>
                  <a:lnTo>
                    <a:pt x="295274" y="521969"/>
                  </a:lnTo>
                  <a:lnTo>
                    <a:pt x="250780" y="507874"/>
                  </a:lnTo>
                  <a:lnTo>
                    <a:pt x="209461" y="492918"/>
                  </a:lnTo>
                  <a:lnTo>
                    <a:pt x="171449" y="477142"/>
                  </a:lnTo>
                  <a:lnTo>
                    <a:pt x="136877" y="460586"/>
                  </a:lnTo>
                  <a:lnTo>
                    <a:pt x="78581" y="425291"/>
                  </a:lnTo>
                  <a:lnTo>
                    <a:pt x="35630" y="387349"/>
                  </a:lnTo>
                  <a:lnTo>
                    <a:pt x="9084" y="347080"/>
                  </a:lnTo>
                  <a:lnTo>
                    <a:pt x="0" y="304800"/>
                  </a:lnTo>
                  <a:lnTo>
                    <a:pt x="2293" y="283428"/>
                  </a:lnTo>
                  <a:lnTo>
                    <a:pt x="20240" y="242113"/>
                  </a:lnTo>
                  <a:lnTo>
                    <a:pt x="55121" y="202968"/>
                  </a:lnTo>
                  <a:lnTo>
                    <a:pt x="105877" y="166310"/>
                  </a:lnTo>
                  <a:lnTo>
                    <a:pt x="171450" y="132457"/>
                  </a:lnTo>
                  <a:lnTo>
                    <a:pt x="209461" y="116681"/>
                  </a:lnTo>
                  <a:lnTo>
                    <a:pt x="250780" y="101725"/>
                  </a:lnTo>
                  <a:lnTo>
                    <a:pt x="295275" y="87629"/>
                  </a:lnTo>
                  <a:lnTo>
                    <a:pt x="342811" y="74433"/>
                  </a:lnTo>
                  <a:lnTo>
                    <a:pt x="393259" y="62177"/>
                  </a:lnTo>
                  <a:lnTo>
                    <a:pt x="446484" y="50899"/>
                  </a:lnTo>
                  <a:lnTo>
                    <a:pt x="502355" y="40639"/>
                  </a:lnTo>
                  <a:lnTo>
                    <a:pt x="560740" y="31439"/>
                  </a:lnTo>
                  <a:lnTo>
                    <a:pt x="621506" y="23336"/>
                  </a:lnTo>
                  <a:lnTo>
                    <a:pt x="684521" y="16371"/>
                  </a:lnTo>
                  <a:lnTo>
                    <a:pt x="749652" y="10583"/>
                  </a:lnTo>
                  <a:lnTo>
                    <a:pt x="816768" y="6012"/>
                  </a:lnTo>
                  <a:lnTo>
                    <a:pt x="885736" y="2698"/>
                  </a:lnTo>
                  <a:lnTo>
                    <a:pt x="956424" y="681"/>
                  </a:lnTo>
                  <a:lnTo>
                    <a:pt x="1028700" y="0"/>
                  </a:lnTo>
                  <a:close/>
                </a:path>
              </a:pathLst>
            </a:custGeom>
            <a:ln w="25518">
              <a:solidFill>
                <a:srgbClr val="88A3A6"/>
              </a:solidFill>
            </a:ln>
          </p:spPr>
          <p:txBody>
            <a:bodyPr wrap="square" lIns="0" tIns="0" rIns="0" bIns="0" rtlCol="0"/>
            <a:lstStyle/>
            <a:p>
              <a:endParaRPr/>
            </a:p>
          </p:txBody>
        </p:sp>
        <p:sp>
          <p:nvSpPr>
            <p:cNvPr id="25" name="object 25"/>
            <p:cNvSpPr/>
            <p:nvPr/>
          </p:nvSpPr>
          <p:spPr>
            <a:xfrm>
              <a:off x="977836" y="5168849"/>
              <a:ext cx="2083435" cy="635635"/>
            </a:xfrm>
            <a:custGeom>
              <a:avLst/>
              <a:gdLst/>
              <a:ahLst/>
              <a:cxnLst/>
              <a:rect l="l" t="t" r="r" b="b"/>
              <a:pathLst>
                <a:path w="2083435" h="635635">
                  <a:moveTo>
                    <a:pt x="25514" y="12750"/>
                  </a:moveTo>
                  <a:lnTo>
                    <a:pt x="21780" y="3733"/>
                  </a:lnTo>
                  <a:lnTo>
                    <a:pt x="12763" y="0"/>
                  </a:lnTo>
                  <a:lnTo>
                    <a:pt x="3733" y="3733"/>
                  </a:lnTo>
                  <a:lnTo>
                    <a:pt x="0" y="12750"/>
                  </a:lnTo>
                  <a:lnTo>
                    <a:pt x="3733" y="21780"/>
                  </a:lnTo>
                  <a:lnTo>
                    <a:pt x="12763" y="25514"/>
                  </a:lnTo>
                  <a:lnTo>
                    <a:pt x="21780" y="21780"/>
                  </a:lnTo>
                  <a:lnTo>
                    <a:pt x="25514" y="12750"/>
                  </a:lnTo>
                  <a:close/>
                </a:path>
                <a:path w="2083435" h="635635">
                  <a:moveTo>
                    <a:pt x="2082914" y="622350"/>
                  </a:moveTo>
                  <a:lnTo>
                    <a:pt x="2079180" y="613333"/>
                  </a:lnTo>
                  <a:lnTo>
                    <a:pt x="2070163" y="609600"/>
                  </a:lnTo>
                  <a:lnTo>
                    <a:pt x="2061133" y="613333"/>
                  </a:lnTo>
                  <a:lnTo>
                    <a:pt x="2057400" y="622350"/>
                  </a:lnTo>
                  <a:lnTo>
                    <a:pt x="2061133" y="631380"/>
                  </a:lnTo>
                  <a:lnTo>
                    <a:pt x="2070163" y="635114"/>
                  </a:lnTo>
                  <a:lnTo>
                    <a:pt x="2079180" y="631380"/>
                  </a:lnTo>
                  <a:lnTo>
                    <a:pt x="2082914" y="622350"/>
                  </a:lnTo>
                  <a:close/>
                </a:path>
              </a:pathLst>
            </a:custGeom>
            <a:solidFill>
              <a:srgbClr val="88A3A6"/>
            </a:solidFill>
          </p:spPr>
          <p:txBody>
            <a:bodyPr wrap="square" lIns="0" tIns="0" rIns="0" bIns="0" rtlCol="0"/>
            <a:lstStyle/>
            <a:p>
              <a:endParaRPr/>
            </a:p>
          </p:txBody>
        </p:sp>
      </p:grpSp>
      <p:grpSp>
        <p:nvGrpSpPr>
          <p:cNvPr id="26" name="object 26"/>
          <p:cNvGrpSpPr/>
          <p:nvPr/>
        </p:nvGrpSpPr>
        <p:grpSpPr>
          <a:xfrm>
            <a:off x="5321242" y="5778442"/>
            <a:ext cx="2083435" cy="635635"/>
            <a:chOff x="3797241" y="5778441"/>
            <a:chExt cx="2083435" cy="635635"/>
          </a:xfrm>
        </p:grpSpPr>
        <p:sp>
          <p:nvSpPr>
            <p:cNvPr id="27" name="object 27"/>
            <p:cNvSpPr/>
            <p:nvPr/>
          </p:nvSpPr>
          <p:spPr>
            <a:xfrm>
              <a:off x="3810000" y="5791200"/>
              <a:ext cx="2056130" cy="609600"/>
            </a:xfrm>
            <a:custGeom>
              <a:avLst/>
              <a:gdLst/>
              <a:ahLst/>
              <a:cxnLst/>
              <a:rect l="l" t="t" r="r" b="b"/>
              <a:pathLst>
                <a:path w="2056129" h="609600">
                  <a:moveTo>
                    <a:pt x="1027429" y="0"/>
                  </a:moveTo>
                  <a:lnTo>
                    <a:pt x="955306" y="681"/>
                  </a:lnTo>
                  <a:lnTo>
                    <a:pt x="884758" y="2698"/>
                  </a:lnTo>
                  <a:lnTo>
                    <a:pt x="815917" y="6012"/>
                  </a:lnTo>
                  <a:lnTo>
                    <a:pt x="748917" y="10583"/>
                  </a:lnTo>
                  <a:lnTo>
                    <a:pt x="683891" y="16371"/>
                  </a:lnTo>
                  <a:lnTo>
                    <a:pt x="620970" y="23336"/>
                  </a:lnTo>
                  <a:lnTo>
                    <a:pt x="560288" y="31439"/>
                  </a:lnTo>
                  <a:lnTo>
                    <a:pt x="501979" y="40640"/>
                  </a:lnTo>
                  <a:lnTo>
                    <a:pt x="446174" y="50899"/>
                  </a:lnTo>
                  <a:lnTo>
                    <a:pt x="393006" y="62177"/>
                  </a:lnTo>
                  <a:lnTo>
                    <a:pt x="342609" y="74433"/>
                  </a:lnTo>
                  <a:lnTo>
                    <a:pt x="295116" y="87630"/>
                  </a:lnTo>
                  <a:lnTo>
                    <a:pt x="250658" y="101725"/>
                  </a:lnTo>
                  <a:lnTo>
                    <a:pt x="209369" y="116681"/>
                  </a:lnTo>
                  <a:lnTo>
                    <a:pt x="171383" y="132457"/>
                  </a:lnTo>
                  <a:lnTo>
                    <a:pt x="136830" y="149013"/>
                  </a:lnTo>
                  <a:lnTo>
                    <a:pt x="78561" y="184308"/>
                  </a:lnTo>
                  <a:lnTo>
                    <a:pt x="35624" y="222250"/>
                  </a:lnTo>
                  <a:lnTo>
                    <a:pt x="9083" y="262519"/>
                  </a:lnTo>
                  <a:lnTo>
                    <a:pt x="0" y="304800"/>
                  </a:lnTo>
                  <a:lnTo>
                    <a:pt x="2292" y="326171"/>
                  </a:lnTo>
                  <a:lnTo>
                    <a:pt x="20238" y="367486"/>
                  </a:lnTo>
                  <a:lnTo>
                    <a:pt x="55110" y="406631"/>
                  </a:lnTo>
                  <a:lnTo>
                    <a:pt x="105845" y="443289"/>
                  </a:lnTo>
                  <a:lnTo>
                    <a:pt x="171383" y="477142"/>
                  </a:lnTo>
                  <a:lnTo>
                    <a:pt x="209369" y="492918"/>
                  </a:lnTo>
                  <a:lnTo>
                    <a:pt x="250658" y="507874"/>
                  </a:lnTo>
                  <a:lnTo>
                    <a:pt x="295116" y="521970"/>
                  </a:lnTo>
                  <a:lnTo>
                    <a:pt x="342609" y="535166"/>
                  </a:lnTo>
                  <a:lnTo>
                    <a:pt x="393006" y="547422"/>
                  </a:lnTo>
                  <a:lnTo>
                    <a:pt x="446174" y="558700"/>
                  </a:lnTo>
                  <a:lnTo>
                    <a:pt x="501979" y="568960"/>
                  </a:lnTo>
                  <a:lnTo>
                    <a:pt x="560288" y="578160"/>
                  </a:lnTo>
                  <a:lnTo>
                    <a:pt x="620970" y="586263"/>
                  </a:lnTo>
                  <a:lnTo>
                    <a:pt x="683891" y="593228"/>
                  </a:lnTo>
                  <a:lnTo>
                    <a:pt x="748917" y="599016"/>
                  </a:lnTo>
                  <a:lnTo>
                    <a:pt x="815917" y="603587"/>
                  </a:lnTo>
                  <a:lnTo>
                    <a:pt x="884758" y="606901"/>
                  </a:lnTo>
                  <a:lnTo>
                    <a:pt x="955306" y="608918"/>
                  </a:lnTo>
                  <a:lnTo>
                    <a:pt x="1027429" y="609600"/>
                  </a:lnTo>
                  <a:lnTo>
                    <a:pt x="1099705" y="608918"/>
                  </a:lnTo>
                  <a:lnTo>
                    <a:pt x="1170393" y="606901"/>
                  </a:lnTo>
                  <a:lnTo>
                    <a:pt x="1239361" y="603587"/>
                  </a:lnTo>
                  <a:lnTo>
                    <a:pt x="1306477" y="599016"/>
                  </a:lnTo>
                  <a:lnTo>
                    <a:pt x="1371608" y="593228"/>
                  </a:lnTo>
                  <a:lnTo>
                    <a:pt x="1434623" y="586263"/>
                  </a:lnTo>
                  <a:lnTo>
                    <a:pt x="1495389" y="578160"/>
                  </a:lnTo>
                  <a:lnTo>
                    <a:pt x="1553774" y="568960"/>
                  </a:lnTo>
                  <a:lnTo>
                    <a:pt x="1609645" y="558700"/>
                  </a:lnTo>
                  <a:lnTo>
                    <a:pt x="1662870" y="547422"/>
                  </a:lnTo>
                  <a:lnTo>
                    <a:pt x="1713318" y="535166"/>
                  </a:lnTo>
                  <a:lnTo>
                    <a:pt x="1760854" y="521970"/>
                  </a:lnTo>
                  <a:lnTo>
                    <a:pt x="1805349" y="507874"/>
                  </a:lnTo>
                  <a:lnTo>
                    <a:pt x="1846668" y="492918"/>
                  </a:lnTo>
                  <a:lnTo>
                    <a:pt x="1884679" y="477142"/>
                  </a:lnTo>
                  <a:lnTo>
                    <a:pt x="1919252" y="460586"/>
                  </a:lnTo>
                  <a:lnTo>
                    <a:pt x="1977548" y="425291"/>
                  </a:lnTo>
                  <a:lnTo>
                    <a:pt x="2020499" y="387350"/>
                  </a:lnTo>
                  <a:lnTo>
                    <a:pt x="2047045" y="347080"/>
                  </a:lnTo>
                  <a:lnTo>
                    <a:pt x="2056129" y="304800"/>
                  </a:lnTo>
                  <a:lnTo>
                    <a:pt x="2053836" y="283428"/>
                  </a:lnTo>
                  <a:lnTo>
                    <a:pt x="2035889" y="242113"/>
                  </a:lnTo>
                  <a:lnTo>
                    <a:pt x="2001008" y="202968"/>
                  </a:lnTo>
                  <a:lnTo>
                    <a:pt x="1950252" y="166310"/>
                  </a:lnTo>
                  <a:lnTo>
                    <a:pt x="1884679" y="132457"/>
                  </a:lnTo>
                  <a:lnTo>
                    <a:pt x="1846668" y="116681"/>
                  </a:lnTo>
                  <a:lnTo>
                    <a:pt x="1805349" y="101725"/>
                  </a:lnTo>
                  <a:lnTo>
                    <a:pt x="1760854" y="87630"/>
                  </a:lnTo>
                  <a:lnTo>
                    <a:pt x="1713318" y="74433"/>
                  </a:lnTo>
                  <a:lnTo>
                    <a:pt x="1662870" y="62177"/>
                  </a:lnTo>
                  <a:lnTo>
                    <a:pt x="1609645" y="50899"/>
                  </a:lnTo>
                  <a:lnTo>
                    <a:pt x="1553774" y="40640"/>
                  </a:lnTo>
                  <a:lnTo>
                    <a:pt x="1495389" y="31439"/>
                  </a:lnTo>
                  <a:lnTo>
                    <a:pt x="1434623" y="23336"/>
                  </a:lnTo>
                  <a:lnTo>
                    <a:pt x="1371608" y="16371"/>
                  </a:lnTo>
                  <a:lnTo>
                    <a:pt x="1306477" y="10583"/>
                  </a:lnTo>
                  <a:lnTo>
                    <a:pt x="1239361" y="6012"/>
                  </a:lnTo>
                  <a:lnTo>
                    <a:pt x="1170393" y="2698"/>
                  </a:lnTo>
                  <a:lnTo>
                    <a:pt x="1099705" y="681"/>
                  </a:lnTo>
                  <a:lnTo>
                    <a:pt x="1027429" y="0"/>
                  </a:lnTo>
                  <a:close/>
                </a:path>
              </a:pathLst>
            </a:custGeom>
            <a:solidFill>
              <a:srgbClr val="71BEC4"/>
            </a:solidFill>
          </p:spPr>
          <p:txBody>
            <a:bodyPr wrap="square" lIns="0" tIns="0" rIns="0" bIns="0" rtlCol="0"/>
            <a:lstStyle/>
            <a:p>
              <a:endParaRPr/>
            </a:p>
          </p:txBody>
        </p:sp>
        <p:sp>
          <p:nvSpPr>
            <p:cNvPr id="28" name="object 28"/>
            <p:cNvSpPr/>
            <p:nvPr/>
          </p:nvSpPr>
          <p:spPr>
            <a:xfrm>
              <a:off x="3810000" y="5791200"/>
              <a:ext cx="2056130" cy="609600"/>
            </a:xfrm>
            <a:custGeom>
              <a:avLst/>
              <a:gdLst/>
              <a:ahLst/>
              <a:cxnLst/>
              <a:rect l="l" t="t" r="r" b="b"/>
              <a:pathLst>
                <a:path w="2056129" h="609600">
                  <a:moveTo>
                    <a:pt x="1027429" y="0"/>
                  </a:moveTo>
                  <a:lnTo>
                    <a:pt x="1099705" y="681"/>
                  </a:lnTo>
                  <a:lnTo>
                    <a:pt x="1170393" y="2698"/>
                  </a:lnTo>
                  <a:lnTo>
                    <a:pt x="1239361" y="6012"/>
                  </a:lnTo>
                  <a:lnTo>
                    <a:pt x="1306477" y="10583"/>
                  </a:lnTo>
                  <a:lnTo>
                    <a:pt x="1371608" y="16371"/>
                  </a:lnTo>
                  <a:lnTo>
                    <a:pt x="1434623" y="23336"/>
                  </a:lnTo>
                  <a:lnTo>
                    <a:pt x="1495389" y="31439"/>
                  </a:lnTo>
                  <a:lnTo>
                    <a:pt x="1553774" y="40640"/>
                  </a:lnTo>
                  <a:lnTo>
                    <a:pt x="1609645" y="50899"/>
                  </a:lnTo>
                  <a:lnTo>
                    <a:pt x="1662870" y="62177"/>
                  </a:lnTo>
                  <a:lnTo>
                    <a:pt x="1713318" y="74433"/>
                  </a:lnTo>
                  <a:lnTo>
                    <a:pt x="1760854" y="87630"/>
                  </a:lnTo>
                  <a:lnTo>
                    <a:pt x="1805349" y="101725"/>
                  </a:lnTo>
                  <a:lnTo>
                    <a:pt x="1846668" y="116681"/>
                  </a:lnTo>
                  <a:lnTo>
                    <a:pt x="1884679" y="132457"/>
                  </a:lnTo>
                  <a:lnTo>
                    <a:pt x="1919252" y="149013"/>
                  </a:lnTo>
                  <a:lnTo>
                    <a:pt x="1977548" y="184308"/>
                  </a:lnTo>
                  <a:lnTo>
                    <a:pt x="2020499" y="222250"/>
                  </a:lnTo>
                  <a:lnTo>
                    <a:pt x="2047045" y="262519"/>
                  </a:lnTo>
                  <a:lnTo>
                    <a:pt x="2056129" y="304800"/>
                  </a:lnTo>
                  <a:lnTo>
                    <a:pt x="2053836" y="326171"/>
                  </a:lnTo>
                  <a:lnTo>
                    <a:pt x="2035889" y="367486"/>
                  </a:lnTo>
                  <a:lnTo>
                    <a:pt x="2001008" y="406631"/>
                  </a:lnTo>
                  <a:lnTo>
                    <a:pt x="1950252" y="443289"/>
                  </a:lnTo>
                  <a:lnTo>
                    <a:pt x="1884679" y="477142"/>
                  </a:lnTo>
                  <a:lnTo>
                    <a:pt x="1846668" y="492918"/>
                  </a:lnTo>
                  <a:lnTo>
                    <a:pt x="1805349" y="507874"/>
                  </a:lnTo>
                  <a:lnTo>
                    <a:pt x="1760854" y="521969"/>
                  </a:lnTo>
                  <a:lnTo>
                    <a:pt x="1713318" y="535166"/>
                  </a:lnTo>
                  <a:lnTo>
                    <a:pt x="1662870" y="547422"/>
                  </a:lnTo>
                  <a:lnTo>
                    <a:pt x="1609645" y="558700"/>
                  </a:lnTo>
                  <a:lnTo>
                    <a:pt x="1553774" y="568960"/>
                  </a:lnTo>
                  <a:lnTo>
                    <a:pt x="1495389" y="578160"/>
                  </a:lnTo>
                  <a:lnTo>
                    <a:pt x="1434623" y="586263"/>
                  </a:lnTo>
                  <a:lnTo>
                    <a:pt x="1371608" y="593228"/>
                  </a:lnTo>
                  <a:lnTo>
                    <a:pt x="1306477" y="599016"/>
                  </a:lnTo>
                  <a:lnTo>
                    <a:pt x="1239361" y="603587"/>
                  </a:lnTo>
                  <a:lnTo>
                    <a:pt x="1170393" y="606901"/>
                  </a:lnTo>
                  <a:lnTo>
                    <a:pt x="1099705" y="608918"/>
                  </a:lnTo>
                  <a:lnTo>
                    <a:pt x="1027429" y="609600"/>
                  </a:lnTo>
                  <a:lnTo>
                    <a:pt x="955306" y="608918"/>
                  </a:lnTo>
                  <a:lnTo>
                    <a:pt x="884758" y="606901"/>
                  </a:lnTo>
                  <a:lnTo>
                    <a:pt x="815917" y="603587"/>
                  </a:lnTo>
                  <a:lnTo>
                    <a:pt x="748917" y="599016"/>
                  </a:lnTo>
                  <a:lnTo>
                    <a:pt x="683891" y="593228"/>
                  </a:lnTo>
                  <a:lnTo>
                    <a:pt x="620970" y="586263"/>
                  </a:lnTo>
                  <a:lnTo>
                    <a:pt x="560288" y="578160"/>
                  </a:lnTo>
                  <a:lnTo>
                    <a:pt x="501979" y="568960"/>
                  </a:lnTo>
                  <a:lnTo>
                    <a:pt x="446174" y="558700"/>
                  </a:lnTo>
                  <a:lnTo>
                    <a:pt x="393006" y="547422"/>
                  </a:lnTo>
                  <a:lnTo>
                    <a:pt x="342609" y="535166"/>
                  </a:lnTo>
                  <a:lnTo>
                    <a:pt x="295116" y="521970"/>
                  </a:lnTo>
                  <a:lnTo>
                    <a:pt x="250658" y="507874"/>
                  </a:lnTo>
                  <a:lnTo>
                    <a:pt x="209369" y="492918"/>
                  </a:lnTo>
                  <a:lnTo>
                    <a:pt x="171383" y="477142"/>
                  </a:lnTo>
                  <a:lnTo>
                    <a:pt x="136830" y="460586"/>
                  </a:lnTo>
                  <a:lnTo>
                    <a:pt x="78561" y="425291"/>
                  </a:lnTo>
                  <a:lnTo>
                    <a:pt x="35624" y="387349"/>
                  </a:lnTo>
                  <a:lnTo>
                    <a:pt x="9083" y="347080"/>
                  </a:lnTo>
                  <a:lnTo>
                    <a:pt x="0" y="304800"/>
                  </a:lnTo>
                  <a:lnTo>
                    <a:pt x="2292" y="283428"/>
                  </a:lnTo>
                  <a:lnTo>
                    <a:pt x="20238" y="242113"/>
                  </a:lnTo>
                  <a:lnTo>
                    <a:pt x="55110" y="202968"/>
                  </a:lnTo>
                  <a:lnTo>
                    <a:pt x="105845" y="166310"/>
                  </a:lnTo>
                  <a:lnTo>
                    <a:pt x="171383" y="132457"/>
                  </a:lnTo>
                  <a:lnTo>
                    <a:pt x="209369" y="116681"/>
                  </a:lnTo>
                  <a:lnTo>
                    <a:pt x="250658" y="101725"/>
                  </a:lnTo>
                  <a:lnTo>
                    <a:pt x="295116" y="87629"/>
                  </a:lnTo>
                  <a:lnTo>
                    <a:pt x="342609" y="74433"/>
                  </a:lnTo>
                  <a:lnTo>
                    <a:pt x="393006" y="62177"/>
                  </a:lnTo>
                  <a:lnTo>
                    <a:pt x="446174" y="50899"/>
                  </a:lnTo>
                  <a:lnTo>
                    <a:pt x="501979" y="40639"/>
                  </a:lnTo>
                  <a:lnTo>
                    <a:pt x="560288" y="31439"/>
                  </a:lnTo>
                  <a:lnTo>
                    <a:pt x="620970" y="23336"/>
                  </a:lnTo>
                  <a:lnTo>
                    <a:pt x="683891" y="16371"/>
                  </a:lnTo>
                  <a:lnTo>
                    <a:pt x="748917" y="10583"/>
                  </a:lnTo>
                  <a:lnTo>
                    <a:pt x="815917" y="6012"/>
                  </a:lnTo>
                  <a:lnTo>
                    <a:pt x="884758" y="2698"/>
                  </a:lnTo>
                  <a:lnTo>
                    <a:pt x="955306" y="681"/>
                  </a:lnTo>
                  <a:lnTo>
                    <a:pt x="1027429" y="0"/>
                  </a:lnTo>
                  <a:close/>
                </a:path>
              </a:pathLst>
            </a:custGeom>
            <a:ln w="25518">
              <a:solidFill>
                <a:srgbClr val="88A3A6"/>
              </a:solidFill>
            </a:ln>
          </p:spPr>
          <p:txBody>
            <a:bodyPr wrap="square" lIns="0" tIns="0" rIns="0" bIns="0" rtlCol="0"/>
            <a:lstStyle/>
            <a:p>
              <a:endParaRPr/>
            </a:p>
          </p:txBody>
        </p:sp>
        <p:sp>
          <p:nvSpPr>
            <p:cNvPr id="29" name="object 29"/>
            <p:cNvSpPr/>
            <p:nvPr/>
          </p:nvSpPr>
          <p:spPr>
            <a:xfrm>
              <a:off x="3797236" y="5778449"/>
              <a:ext cx="2083435" cy="635635"/>
            </a:xfrm>
            <a:custGeom>
              <a:avLst/>
              <a:gdLst/>
              <a:ahLst/>
              <a:cxnLst/>
              <a:rect l="l" t="t" r="r" b="b"/>
              <a:pathLst>
                <a:path w="2083435" h="635635">
                  <a:moveTo>
                    <a:pt x="25514" y="12750"/>
                  </a:moveTo>
                  <a:lnTo>
                    <a:pt x="21780" y="3733"/>
                  </a:lnTo>
                  <a:lnTo>
                    <a:pt x="12763" y="0"/>
                  </a:lnTo>
                  <a:lnTo>
                    <a:pt x="3733" y="3733"/>
                  </a:lnTo>
                  <a:lnTo>
                    <a:pt x="0" y="12750"/>
                  </a:lnTo>
                  <a:lnTo>
                    <a:pt x="3733" y="21780"/>
                  </a:lnTo>
                  <a:lnTo>
                    <a:pt x="12763" y="25514"/>
                  </a:lnTo>
                  <a:lnTo>
                    <a:pt x="21780" y="21780"/>
                  </a:lnTo>
                  <a:lnTo>
                    <a:pt x="25514" y="12750"/>
                  </a:lnTo>
                  <a:close/>
                </a:path>
                <a:path w="2083435" h="635635">
                  <a:moveTo>
                    <a:pt x="2082914" y="622350"/>
                  </a:moveTo>
                  <a:lnTo>
                    <a:pt x="2079180" y="613333"/>
                  </a:lnTo>
                  <a:lnTo>
                    <a:pt x="2070163" y="609600"/>
                  </a:lnTo>
                  <a:lnTo>
                    <a:pt x="2061133" y="613333"/>
                  </a:lnTo>
                  <a:lnTo>
                    <a:pt x="2057400" y="622350"/>
                  </a:lnTo>
                  <a:lnTo>
                    <a:pt x="2061133" y="631380"/>
                  </a:lnTo>
                  <a:lnTo>
                    <a:pt x="2070163" y="635114"/>
                  </a:lnTo>
                  <a:lnTo>
                    <a:pt x="2079180" y="631380"/>
                  </a:lnTo>
                  <a:lnTo>
                    <a:pt x="2082914" y="622350"/>
                  </a:lnTo>
                  <a:close/>
                </a:path>
              </a:pathLst>
            </a:custGeom>
            <a:solidFill>
              <a:srgbClr val="88A3A6"/>
            </a:solidFill>
          </p:spPr>
          <p:txBody>
            <a:bodyPr wrap="square" lIns="0" tIns="0" rIns="0" bIns="0" rtlCol="0"/>
            <a:lstStyle/>
            <a:p>
              <a:endParaRPr/>
            </a:p>
          </p:txBody>
        </p:sp>
      </p:grpSp>
      <p:sp>
        <p:nvSpPr>
          <p:cNvPr id="30" name="object 30"/>
          <p:cNvSpPr txBox="1"/>
          <p:nvPr/>
        </p:nvSpPr>
        <p:spPr>
          <a:xfrm>
            <a:off x="5783579" y="5961379"/>
            <a:ext cx="1155700" cy="269240"/>
          </a:xfrm>
          <a:prstGeom prst="rect">
            <a:avLst/>
          </a:prstGeom>
        </p:spPr>
        <p:txBody>
          <a:bodyPr vert="horz" wrap="square" lIns="0" tIns="12700" rIns="0" bIns="0" rtlCol="0">
            <a:spAutoFit/>
          </a:bodyPr>
          <a:lstStyle/>
          <a:p>
            <a:pPr marL="12700">
              <a:spcBef>
                <a:spcPts val="100"/>
              </a:spcBef>
            </a:pPr>
            <a:r>
              <a:rPr sz="1600" spc="-10" dirty="0">
                <a:latin typeface="Arial MT"/>
                <a:cs typeface="Arial MT"/>
              </a:rPr>
              <a:t>virtualization</a:t>
            </a:r>
            <a:endParaRPr sz="1600">
              <a:latin typeface="Arial MT"/>
              <a:cs typeface="Arial MT"/>
            </a:endParaRPr>
          </a:p>
        </p:txBody>
      </p:sp>
      <p:grpSp>
        <p:nvGrpSpPr>
          <p:cNvPr id="31" name="object 31"/>
          <p:cNvGrpSpPr/>
          <p:nvPr/>
        </p:nvGrpSpPr>
        <p:grpSpPr>
          <a:xfrm>
            <a:off x="7607242" y="5168842"/>
            <a:ext cx="2083435" cy="635635"/>
            <a:chOff x="6083241" y="5168841"/>
            <a:chExt cx="2083435" cy="635635"/>
          </a:xfrm>
        </p:grpSpPr>
        <p:sp>
          <p:nvSpPr>
            <p:cNvPr id="32" name="object 32"/>
            <p:cNvSpPr/>
            <p:nvPr/>
          </p:nvSpPr>
          <p:spPr>
            <a:xfrm>
              <a:off x="6096000" y="5181600"/>
              <a:ext cx="2056130" cy="609600"/>
            </a:xfrm>
            <a:custGeom>
              <a:avLst/>
              <a:gdLst/>
              <a:ahLst/>
              <a:cxnLst/>
              <a:rect l="l" t="t" r="r" b="b"/>
              <a:pathLst>
                <a:path w="2056129" h="609600">
                  <a:moveTo>
                    <a:pt x="1027429" y="0"/>
                  </a:moveTo>
                  <a:lnTo>
                    <a:pt x="955306" y="681"/>
                  </a:lnTo>
                  <a:lnTo>
                    <a:pt x="884758" y="2698"/>
                  </a:lnTo>
                  <a:lnTo>
                    <a:pt x="815917" y="6012"/>
                  </a:lnTo>
                  <a:lnTo>
                    <a:pt x="748917" y="10583"/>
                  </a:lnTo>
                  <a:lnTo>
                    <a:pt x="683891" y="16371"/>
                  </a:lnTo>
                  <a:lnTo>
                    <a:pt x="620970" y="23336"/>
                  </a:lnTo>
                  <a:lnTo>
                    <a:pt x="560288" y="31439"/>
                  </a:lnTo>
                  <a:lnTo>
                    <a:pt x="501979" y="40639"/>
                  </a:lnTo>
                  <a:lnTo>
                    <a:pt x="446174" y="50899"/>
                  </a:lnTo>
                  <a:lnTo>
                    <a:pt x="393006" y="62177"/>
                  </a:lnTo>
                  <a:lnTo>
                    <a:pt x="342609" y="74433"/>
                  </a:lnTo>
                  <a:lnTo>
                    <a:pt x="295116" y="87629"/>
                  </a:lnTo>
                  <a:lnTo>
                    <a:pt x="250658" y="101725"/>
                  </a:lnTo>
                  <a:lnTo>
                    <a:pt x="209369" y="116681"/>
                  </a:lnTo>
                  <a:lnTo>
                    <a:pt x="171383" y="132457"/>
                  </a:lnTo>
                  <a:lnTo>
                    <a:pt x="136830" y="149013"/>
                  </a:lnTo>
                  <a:lnTo>
                    <a:pt x="78561" y="184308"/>
                  </a:lnTo>
                  <a:lnTo>
                    <a:pt x="35624" y="222250"/>
                  </a:lnTo>
                  <a:lnTo>
                    <a:pt x="9083" y="262519"/>
                  </a:lnTo>
                  <a:lnTo>
                    <a:pt x="0" y="304800"/>
                  </a:lnTo>
                  <a:lnTo>
                    <a:pt x="2292" y="326171"/>
                  </a:lnTo>
                  <a:lnTo>
                    <a:pt x="20238" y="367486"/>
                  </a:lnTo>
                  <a:lnTo>
                    <a:pt x="55110" y="406631"/>
                  </a:lnTo>
                  <a:lnTo>
                    <a:pt x="105845" y="443289"/>
                  </a:lnTo>
                  <a:lnTo>
                    <a:pt x="171383" y="477142"/>
                  </a:lnTo>
                  <a:lnTo>
                    <a:pt x="209369" y="492918"/>
                  </a:lnTo>
                  <a:lnTo>
                    <a:pt x="250658" y="507874"/>
                  </a:lnTo>
                  <a:lnTo>
                    <a:pt x="295116" y="521970"/>
                  </a:lnTo>
                  <a:lnTo>
                    <a:pt x="342609" y="535166"/>
                  </a:lnTo>
                  <a:lnTo>
                    <a:pt x="393006" y="547422"/>
                  </a:lnTo>
                  <a:lnTo>
                    <a:pt x="446174" y="558700"/>
                  </a:lnTo>
                  <a:lnTo>
                    <a:pt x="501979" y="568960"/>
                  </a:lnTo>
                  <a:lnTo>
                    <a:pt x="560288" y="578160"/>
                  </a:lnTo>
                  <a:lnTo>
                    <a:pt x="620970" y="586263"/>
                  </a:lnTo>
                  <a:lnTo>
                    <a:pt x="683891" y="593228"/>
                  </a:lnTo>
                  <a:lnTo>
                    <a:pt x="748917" y="599016"/>
                  </a:lnTo>
                  <a:lnTo>
                    <a:pt x="815917" y="603587"/>
                  </a:lnTo>
                  <a:lnTo>
                    <a:pt x="884758" y="606901"/>
                  </a:lnTo>
                  <a:lnTo>
                    <a:pt x="955306" y="608918"/>
                  </a:lnTo>
                  <a:lnTo>
                    <a:pt x="1027429" y="609600"/>
                  </a:lnTo>
                  <a:lnTo>
                    <a:pt x="1099705" y="608918"/>
                  </a:lnTo>
                  <a:lnTo>
                    <a:pt x="1170393" y="606901"/>
                  </a:lnTo>
                  <a:lnTo>
                    <a:pt x="1239361" y="603587"/>
                  </a:lnTo>
                  <a:lnTo>
                    <a:pt x="1306477" y="599016"/>
                  </a:lnTo>
                  <a:lnTo>
                    <a:pt x="1371608" y="593228"/>
                  </a:lnTo>
                  <a:lnTo>
                    <a:pt x="1434623" y="586263"/>
                  </a:lnTo>
                  <a:lnTo>
                    <a:pt x="1495389" y="578160"/>
                  </a:lnTo>
                  <a:lnTo>
                    <a:pt x="1553774" y="568960"/>
                  </a:lnTo>
                  <a:lnTo>
                    <a:pt x="1609645" y="558700"/>
                  </a:lnTo>
                  <a:lnTo>
                    <a:pt x="1662870" y="547422"/>
                  </a:lnTo>
                  <a:lnTo>
                    <a:pt x="1713318" y="535166"/>
                  </a:lnTo>
                  <a:lnTo>
                    <a:pt x="1760855" y="521970"/>
                  </a:lnTo>
                  <a:lnTo>
                    <a:pt x="1805349" y="507874"/>
                  </a:lnTo>
                  <a:lnTo>
                    <a:pt x="1846668" y="492918"/>
                  </a:lnTo>
                  <a:lnTo>
                    <a:pt x="1884680" y="477142"/>
                  </a:lnTo>
                  <a:lnTo>
                    <a:pt x="1919252" y="460586"/>
                  </a:lnTo>
                  <a:lnTo>
                    <a:pt x="1977548" y="425291"/>
                  </a:lnTo>
                  <a:lnTo>
                    <a:pt x="2020499" y="387350"/>
                  </a:lnTo>
                  <a:lnTo>
                    <a:pt x="2047045" y="347080"/>
                  </a:lnTo>
                  <a:lnTo>
                    <a:pt x="2056129" y="304800"/>
                  </a:lnTo>
                  <a:lnTo>
                    <a:pt x="2053836" y="283428"/>
                  </a:lnTo>
                  <a:lnTo>
                    <a:pt x="2035889" y="242113"/>
                  </a:lnTo>
                  <a:lnTo>
                    <a:pt x="2001008" y="202968"/>
                  </a:lnTo>
                  <a:lnTo>
                    <a:pt x="1950252" y="166310"/>
                  </a:lnTo>
                  <a:lnTo>
                    <a:pt x="1884679" y="132457"/>
                  </a:lnTo>
                  <a:lnTo>
                    <a:pt x="1846668" y="116681"/>
                  </a:lnTo>
                  <a:lnTo>
                    <a:pt x="1805349" y="101725"/>
                  </a:lnTo>
                  <a:lnTo>
                    <a:pt x="1760854" y="87629"/>
                  </a:lnTo>
                  <a:lnTo>
                    <a:pt x="1713318" y="74433"/>
                  </a:lnTo>
                  <a:lnTo>
                    <a:pt x="1662870" y="62177"/>
                  </a:lnTo>
                  <a:lnTo>
                    <a:pt x="1609645" y="50899"/>
                  </a:lnTo>
                  <a:lnTo>
                    <a:pt x="1553774" y="40639"/>
                  </a:lnTo>
                  <a:lnTo>
                    <a:pt x="1495389" y="31439"/>
                  </a:lnTo>
                  <a:lnTo>
                    <a:pt x="1434623" y="23336"/>
                  </a:lnTo>
                  <a:lnTo>
                    <a:pt x="1371608" y="16371"/>
                  </a:lnTo>
                  <a:lnTo>
                    <a:pt x="1306477" y="10583"/>
                  </a:lnTo>
                  <a:lnTo>
                    <a:pt x="1239361" y="6012"/>
                  </a:lnTo>
                  <a:lnTo>
                    <a:pt x="1170393" y="2698"/>
                  </a:lnTo>
                  <a:lnTo>
                    <a:pt x="1099705" y="681"/>
                  </a:lnTo>
                  <a:lnTo>
                    <a:pt x="1027429" y="0"/>
                  </a:lnTo>
                  <a:close/>
                </a:path>
              </a:pathLst>
            </a:custGeom>
            <a:solidFill>
              <a:srgbClr val="71BEC4"/>
            </a:solidFill>
          </p:spPr>
          <p:txBody>
            <a:bodyPr wrap="square" lIns="0" tIns="0" rIns="0" bIns="0" rtlCol="0"/>
            <a:lstStyle/>
            <a:p>
              <a:endParaRPr/>
            </a:p>
          </p:txBody>
        </p:sp>
        <p:sp>
          <p:nvSpPr>
            <p:cNvPr id="33" name="object 33"/>
            <p:cNvSpPr/>
            <p:nvPr/>
          </p:nvSpPr>
          <p:spPr>
            <a:xfrm>
              <a:off x="6096000" y="5181600"/>
              <a:ext cx="2056130" cy="609600"/>
            </a:xfrm>
            <a:custGeom>
              <a:avLst/>
              <a:gdLst/>
              <a:ahLst/>
              <a:cxnLst/>
              <a:rect l="l" t="t" r="r" b="b"/>
              <a:pathLst>
                <a:path w="2056129" h="609600">
                  <a:moveTo>
                    <a:pt x="1027429" y="0"/>
                  </a:moveTo>
                  <a:lnTo>
                    <a:pt x="1099705" y="681"/>
                  </a:lnTo>
                  <a:lnTo>
                    <a:pt x="1170393" y="2698"/>
                  </a:lnTo>
                  <a:lnTo>
                    <a:pt x="1239361" y="6012"/>
                  </a:lnTo>
                  <a:lnTo>
                    <a:pt x="1306477" y="10583"/>
                  </a:lnTo>
                  <a:lnTo>
                    <a:pt x="1371608" y="16371"/>
                  </a:lnTo>
                  <a:lnTo>
                    <a:pt x="1434623" y="23336"/>
                  </a:lnTo>
                  <a:lnTo>
                    <a:pt x="1495389" y="31439"/>
                  </a:lnTo>
                  <a:lnTo>
                    <a:pt x="1553774" y="40639"/>
                  </a:lnTo>
                  <a:lnTo>
                    <a:pt x="1609645" y="50899"/>
                  </a:lnTo>
                  <a:lnTo>
                    <a:pt x="1662870" y="62177"/>
                  </a:lnTo>
                  <a:lnTo>
                    <a:pt x="1713318" y="74433"/>
                  </a:lnTo>
                  <a:lnTo>
                    <a:pt x="1760854" y="87629"/>
                  </a:lnTo>
                  <a:lnTo>
                    <a:pt x="1805349" y="101725"/>
                  </a:lnTo>
                  <a:lnTo>
                    <a:pt x="1846668" y="116681"/>
                  </a:lnTo>
                  <a:lnTo>
                    <a:pt x="1884679" y="132457"/>
                  </a:lnTo>
                  <a:lnTo>
                    <a:pt x="1919252" y="149013"/>
                  </a:lnTo>
                  <a:lnTo>
                    <a:pt x="1977548" y="184308"/>
                  </a:lnTo>
                  <a:lnTo>
                    <a:pt x="2020499" y="222250"/>
                  </a:lnTo>
                  <a:lnTo>
                    <a:pt x="2047045" y="262519"/>
                  </a:lnTo>
                  <a:lnTo>
                    <a:pt x="2056129" y="304800"/>
                  </a:lnTo>
                  <a:lnTo>
                    <a:pt x="2053836" y="326171"/>
                  </a:lnTo>
                  <a:lnTo>
                    <a:pt x="2035889" y="367486"/>
                  </a:lnTo>
                  <a:lnTo>
                    <a:pt x="2001008" y="406631"/>
                  </a:lnTo>
                  <a:lnTo>
                    <a:pt x="1950252" y="443289"/>
                  </a:lnTo>
                  <a:lnTo>
                    <a:pt x="1884680" y="477142"/>
                  </a:lnTo>
                  <a:lnTo>
                    <a:pt x="1846668" y="492918"/>
                  </a:lnTo>
                  <a:lnTo>
                    <a:pt x="1805349" y="507874"/>
                  </a:lnTo>
                  <a:lnTo>
                    <a:pt x="1760855" y="521970"/>
                  </a:lnTo>
                  <a:lnTo>
                    <a:pt x="1713318" y="535166"/>
                  </a:lnTo>
                  <a:lnTo>
                    <a:pt x="1662870" y="547422"/>
                  </a:lnTo>
                  <a:lnTo>
                    <a:pt x="1609645" y="558700"/>
                  </a:lnTo>
                  <a:lnTo>
                    <a:pt x="1553774" y="568960"/>
                  </a:lnTo>
                  <a:lnTo>
                    <a:pt x="1495389" y="578160"/>
                  </a:lnTo>
                  <a:lnTo>
                    <a:pt x="1434623" y="586263"/>
                  </a:lnTo>
                  <a:lnTo>
                    <a:pt x="1371608" y="593228"/>
                  </a:lnTo>
                  <a:lnTo>
                    <a:pt x="1306477" y="599016"/>
                  </a:lnTo>
                  <a:lnTo>
                    <a:pt x="1239361" y="603587"/>
                  </a:lnTo>
                  <a:lnTo>
                    <a:pt x="1170393" y="606901"/>
                  </a:lnTo>
                  <a:lnTo>
                    <a:pt x="1099705" y="608918"/>
                  </a:lnTo>
                  <a:lnTo>
                    <a:pt x="1027429" y="609600"/>
                  </a:lnTo>
                  <a:lnTo>
                    <a:pt x="955306" y="608918"/>
                  </a:lnTo>
                  <a:lnTo>
                    <a:pt x="884758" y="606901"/>
                  </a:lnTo>
                  <a:lnTo>
                    <a:pt x="815917" y="603587"/>
                  </a:lnTo>
                  <a:lnTo>
                    <a:pt x="748917" y="599016"/>
                  </a:lnTo>
                  <a:lnTo>
                    <a:pt x="683891" y="593228"/>
                  </a:lnTo>
                  <a:lnTo>
                    <a:pt x="620970" y="586263"/>
                  </a:lnTo>
                  <a:lnTo>
                    <a:pt x="560288" y="578160"/>
                  </a:lnTo>
                  <a:lnTo>
                    <a:pt x="501979" y="568959"/>
                  </a:lnTo>
                  <a:lnTo>
                    <a:pt x="446174" y="558700"/>
                  </a:lnTo>
                  <a:lnTo>
                    <a:pt x="393006" y="547422"/>
                  </a:lnTo>
                  <a:lnTo>
                    <a:pt x="342609" y="535166"/>
                  </a:lnTo>
                  <a:lnTo>
                    <a:pt x="295116" y="521969"/>
                  </a:lnTo>
                  <a:lnTo>
                    <a:pt x="250658" y="507874"/>
                  </a:lnTo>
                  <a:lnTo>
                    <a:pt x="209369" y="492918"/>
                  </a:lnTo>
                  <a:lnTo>
                    <a:pt x="171383" y="477142"/>
                  </a:lnTo>
                  <a:lnTo>
                    <a:pt x="136830" y="460586"/>
                  </a:lnTo>
                  <a:lnTo>
                    <a:pt x="78561" y="425291"/>
                  </a:lnTo>
                  <a:lnTo>
                    <a:pt x="35624" y="387349"/>
                  </a:lnTo>
                  <a:lnTo>
                    <a:pt x="9083" y="347080"/>
                  </a:lnTo>
                  <a:lnTo>
                    <a:pt x="0" y="304800"/>
                  </a:lnTo>
                  <a:lnTo>
                    <a:pt x="2292" y="283428"/>
                  </a:lnTo>
                  <a:lnTo>
                    <a:pt x="20238" y="242113"/>
                  </a:lnTo>
                  <a:lnTo>
                    <a:pt x="55110" y="202968"/>
                  </a:lnTo>
                  <a:lnTo>
                    <a:pt x="105845" y="166310"/>
                  </a:lnTo>
                  <a:lnTo>
                    <a:pt x="171383" y="132457"/>
                  </a:lnTo>
                  <a:lnTo>
                    <a:pt x="209369" y="116681"/>
                  </a:lnTo>
                  <a:lnTo>
                    <a:pt x="250658" y="101725"/>
                  </a:lnTo>
                  <a:lnTo>
                    <a:pt x="295116" y="87629"/>
                  </a:lnTo>
                  <a:lnTo>
                    <a:pt x="342609" y="74433"/>
                  </a:lnTo>
                  <a:lnTo>
                    <a:pt x="393006" y="62177"/>
                  </a:lnTo>
                  <a:lnTo>
                    <a:pt x="446174" y="50899"/>
                  </a:lnTo>
                  <a:lnTo>
                    <a:pt x="501979" y="40639"/>
                  </a:lnTo>
                  <a:lnTo>
                    <a:pt x="560288" y="31439"/>
                  </a:lnTo>
                  <a:lnTo>
                    <a:pt x="620970" y="23336"/>
                  </a:lnTo>
                  <a:lnTo>
                    <a:pt x="683891" y="16371"/>
                  </a:lnTo>
                  <a:lnTo>
                    <a:pt x="748917" y="10583"/>
                  </a:lnTo>
                  <a:lnTo>
                    <a:pt x="815917" y="6012"/>
                  </a:lnTo>
                  <a:lnTo>
                    <a:pt x="884758" y="2698"/>
                  </a:lnTo>
                  <a:lnTo>
                    <a:pt x="955306" y="681"/>
                  </a:lnTo>
                  <a:lnTo>
                    <a:pt x="1027429" y="0"/>
                  </a:lnTo>
                  <a:close/>
                </a:path>
              </a:pathLst>
            </a:custGeom>
            <a:ln w="25518">
              <a:solidFill>
                <a:srgbClr val="88A3A6"/>
              </a:solidFill>
            </a:ln>
          </p:spPr>
          <p:txBody>
            <a:bodyPr wrap="square" lIns="0" tIns="0" rIns="0" bIns="0" rtlCol="0"/>
            <a:lstStyle/>
            <a:p>
              <a:endParaRPr/>
            </a:p>
          </p:txBody>
        </p:sp>
        <p:sp>
          <p:nvSpPr>
            <p:cNvPr id="34" name="object 34"/>
            <p:cNvSpPr/>
            <p:nvPr/>
          </p:nvSpPr>
          <p:spPr>
            <a:xfrm>
              <a:off x="6083236" y="5168849"/>
              <a:ext cx="2083435" cy="635635"/>
            </a:xfrm>
            <a:custGeom>
              <a:avLst/>
              <a:gdLst/>
              <a:ahLst/>
              <a:cxnLst/>
              <a:rect l="l" t="t" r="r" b="b"/>
              <a:pathLst>
                <a:path w="2083434" h="635635">
                  <a:moveTo>
                    <a:pt x="25514" y="12750"/>
                  </a:moveTo>
                  <a:lnTo>
                    <a:pt x="21780" y="3733"/>
                  </a:lnTo>
                  <a:lnTo>
                    <a:pt x="12763" y="0"/>
                  </a:lnTo>
                  <a:lnTo>
                    <a:pt x="3733" y="3733"/>
                  </a:lnTo>
                  <a:lnTo>
                    <a:pt x="0" y="12750"/>
                  </a:lnTo>
                  <a:lnTo>
                    <a:pt x="3733" y="21780"/>
                  </a:lnTo>
                  <a:lnTo>
                    <a:pt x="12763" y="25514"/>
                  </a:lnTo>
                  <a:lnTo>
                    <a:pt x="21780" y="21780"/>
                  </a:lnTo>
                  <a:lnTo>
                    <a:pt x="25514" y="12750"/>
                  </a:lnTo>
                  <a:close/>
                </a:path>
                <a:path w="2083434" h="635635">
                  <a:moveTo>
                    <a:pt x="2082914" y="622350"/>
                  </a:moveTo>
                  <a:lnTo>
                    <a:pt x="2079180" y="613333"/>
                  </a:lnTo>
                  <a:lnTo>
                    <a:pt x="2070163" y="609600"/>
                  </a:lnTo>
                  <a:lnTo>
                    <a:pt x="2061133" y="613333"/>
                  </a:lnTo>
                  <a:lnTo>
                    <a:pt x="2057400" y="622350"/>
                  </a:lnTo>
                  <a:lnTo>
                    <a:pt x="2061133" y="631380"/>
                  </a:lnTo>
                  <a:lnTo>
                    <a:pt x="2070163" y="635114"/>
                  </a:lnTo>
                  <a:lnTo>
                    <a:pt x="2079180" y="631380"/>
                  </a:lnTo>
                  <a:lnTo>
                    <a:pt x="2082914" y="622350"/>
                  </a:lnTo>
                  <a:close/>
                </a:path>
              </a:pathLst>
            </a:custGeom>
            <a:solidFill>
              <a:srgbClr val="88A3A6"/>
            </a:solidFill>
          </p:spPr>
          <p:txBody>
            <a:bodyPr wrap="square" lIns="0" tIns="0" rIns="0" bIns="0" rtlCol="0"/>
            <a:lstStyle/>
            <a:p>
              <a:endParaRPr/>
            </a:p>
          </p:txBody>
        </p:sp>
      </p:grpSp>
      <p:sp>
        <p:nvSpPr>
          <p:cNvPr id="35" name="object 35"/>
          <p:cNvSpPr txBox="1"/>
          <p:nvPr/>
        </p:nvSpPr>
        <p:spPr>
          <a:xfrm>
            <a:off x="8058151" y="5199379"/>
            <a:ext cx="1180465" cy="574040"/>
          </a:xfrm>
          <a:prstGeom prst="rect">
            <a:avLst/>
          </a:prstGeom>
        </p:spPr>
        <p:txBody>
          <a:bodyPr vert="horz" wrap="square" lIns="0" tIns="12700" rIns="0" bIns="0" rtlCol="0">
            <a:spAutoFit/>
          </a:bodyPr>
          <a:lstStyle/>
          <a:p>
            <a:pPr marL="12700" marR="5080" indent="33020">
              <a:spcBef>
                <a:spcPts val="100"/>
              </a:spcBef>
            </a:pPr>
            <a:r>
              <a:rPr spc="-10" dirty="0">
                <a:latin typeface="Arial MT"/>
                <a:cs typeface="Arial MT"/>
              </a:rPr>
              <a:t>application </a:t>
            </a:r>
            <a:r>
              <a:rPr dirty="0">
                <a:latin typeface="Arial MT"/>
                <a:cs typeface="Arial MT"/>
              </a:rPr>
              <a:t>specific</a:t>
            </a:r>
            <a:r>
              <a:rPr spc="-60" dirty="0">
                <a:latin typeface="Arial MT"/>
                <a:cs typeface="Arial MT"/>
              </a:rPr>
              <a:t> </a:t>
            </a:r>
            <a:r>
              <a:rPr spc="-25" dirty="0">
                <a:latin typeface="Arial MT"/>
                <a:cs typeface="Arial MT"/>
              </a:rPr>
              <a:t>OS</a:t>
            </a:r>
            <a:endParaRPr>
              <a:latin typeface="Arial MT"/>
              <a:cs typeface="Arial MT"/>
            </a:endParaRPr>
          </a:p>
        </p:txBody>
      </p:sp>
      <p:grpSp>
        <p:nvGrpSpPr>
          <p:cNvPr id="36" name="object 36"/>
          <p:cNvGrpSpPr/>
          <p:nvPr/>
        </p:nvGrpSpPr>
        <p:grpSpPr>
          <a:xfrm>
            <a:off x="4864042" y="4635442"/>
            <a:ext cx="2083435" cy="635635"/>
            <a:chOff x="3340041" y="4635441"/>
            <a:chExt cx="2083435" cy="635635"/>
          </a:xfrm>
        </p:grpSpPr>
        <p:sp>
          <p:nvSpPr>
            <p:cNvPr id="37" name="object 37"/>
            <p:cNvSpPr/>
            <p:nvPr/>
          </p:nvSpPr>
          <p:spPr>
            <a:xfrm>
              <a:off x="3352800" y="4648200"/>
              <a:ext cx="2056130" cy="609600"/>
            </a:xfrm>
            <a:custGeom>
              <a:avLst/>
              <a:gdLst/>
              <a:ahLst/>
              <a:cxnLst/>
              <a:rect l="l" t="t" r="r" b="b"/>
              <a:pathLst>
                <a:path w="2056129" h="609600">
                  <a:moveTo>
                    <a:pt x="1027429" y="0"/>
                  </a:moveTo>
                  <a:lnTo>
                    <a:pt x="955306" y="681"/>
                  </a:lnTo>
                  <a:lnTo>
                    <a:pt x="884758" y="2698"/>
                  </a:lnTo>
                  <a:lnTo>
                    <a:pt x="815917" y="6012"/>
                  </a:lnTo>
                  <a:lnTo>
                    <a:pt x="748917" y="10583"/>
                  </a:lnTo>
                  <a:lnTo>
                    <a:pt x="683891" y="16371"/>
                  </a:lnTo>
                  <a:lnTo>
                    <a:pt x="620970" y="23336"/>
                  </a:lnTo>
                  <a:lnTo>
                    <a:pt x="560288" y="31439"/>
                  </a:lnTo>
                  <a:lnTo>
                    <a:pt x="501979" y="40639"/>
                  </a:lnTo>
                  <a:lnTo>
                    <a:pt x="446174" y="50899"/>
                  </a:lnTo>
                  <a:lnTo>
                    <a:pt x="393006" y="62177"/>
                  </a:lnTo>
                  <a:lnTo>
                    <a:pt x="342609" y="74433"/>
                  </a:lnTo>
                  <a:lnTo>
                    <a:pt x="295116" y="87630"/>
                  </a:lnTo>
                  <a:lnTo>
                    <a:pt x="250658" y="101725"/>
                  </a:lnTo>
                  <a:lnTo>
                    <a:pt x="209369" y="116681"/>
                  </a:lnTo>
                  <a:lnTo>
                    <a:pt x="171383" y="132457"/>
                  </a:lnTo>
                  <a:lnTo>
                    <a:pt x="136830" y="149013"/>
                  </a:lnTo>
                  <a:lnTo>
                    <a:pt x="78561" y="184308"/>
                  </a:lnTo>
                  <a:lnTo>
                    <a:pt x="35624" y="222249"/>
                  </a:lnTo>
                  <a:lnTo>
                    <a:pt x="9083" y="262519"/>
                  </a:lnTo>
                  <a:lnTo>
                    <a:pt x="0" y="304800"/>
                  </a:lnTo>
                  <a:lnTo>
                    <a:pt x="2292" y="326171"/>
                  </a:lnTo>
                  <a:lnTo>
                    <a:pt x="20238" y="367486"/>
                  </a:lnTo>
                  <a:lnTo>
                    <a:pt x="55110" y="406631"/>
                  </a:lnTo>
                  <a:lnTo>
                    <a:pt x="105845" y="443289"/>
                  </a:lnTo>
                  <a:lnTo>
                    <a:pt x="171383" y="477142"/>
                  </a:lnTo>
                  <a:lnTo>
                    <a:pt x="209369" y="492918"/>
                  </a:lnTo>
                  <a:lnTo>
                    <a:pt x="250658" y="507874"/>
                  </a:lnTo>
                  <a:lnTo>
                    <a:pt x="295116" y="521969"/>
                  </a:lnTo>
                  <a:lnTo>
                    <a:pt x="342609" y="535166"/>
                  </a:lnTo>
                  <a:lnTo>
                    <a:pt x="393006" y="547422"/>
                  </a:lnTo>
                  <a:lnTo>
                    <a:pt x="446174" y="558700"/>
                  </a:lnTo>
                  <a:lnTo>
                    <a:pt x="501979" y="568960"/>
                  </a:lnTo>
                  <a:lnTo>
                    <a:pt x="560288" y="578160"/>
                  </a:lnTo>
                  <a:lnTo>
                    <a:pt x="620970" y="586263"/>
                  </a:lnTo>
                  <a:lnTo>
                    <a:pt x="683891" y="593228"/>
                  </a:lnTo>
                  <a:lnTo>
                    <a:pt x="748917" y="599016"/>
                  </a:lnTo>
                  <a:lnTo>
                    <a:pt x="815917" y="603587"/>
                  </a:lnTo>
                  <a:lnTo>
                    <a:pt x="884758" y="606901"/>
                  </a:lnTo>
                  <a:lnTo>
                    <a:pt x="955306" y="608918"/>
                  </a:lnTo>
                  <a:lnTo>
                    <a:pt x="1027429" y="609600"/>
                  </a:lnTo>
                  <a:lnTo>
                    <a:pt x="1099705" y="608918"/>
                  </a:lnTo>
                  <a:lnTo>
                    <a:pt x="1170393" y="606901"/>
                  </a:lnTo>
                  <a:lnTo>
                    <a:pt x="1239361" y="603587"/>
                  </a:lnTo>
                  <a:lnTo>
                    <a:pt x="1306477" y="599016"/>
                  </a:lnTo>
                  <a:lnTo>
                    <a:pt x="1371608" y="593228"/>
                  </a:lnTo>
                  <a:lnTo>
                    <a:pt x="1434623" y="586263"/>
                  </a:lnTo>
                  <a:lnTo>
                    <a:pt x="1495389" y="578160"/>
                  </a:lnTo>
                  <a:lnTo>
                    <a:pt x="1553774" y="568960"/>
                  </a:lnTo>
                  <a:lnTo>
                    <a:pt x="1609645" y="558700"/>
                  </a:lnTo>
                  <a:lnTo>
                    <a:pt x="1662870" y="547422"/>
                  </a:lnTo>
                  <a:lnTo>
                    <a:pt x="1713318" y="535166"/>
                  </a:lnTo>
                  <a:lnTo>
                    <a:pt x="1760854" y="521969"/>
                  </a:lnTo>
                  <a:lnTo>
                    <a:pt x="1805349" y="507874"/>
                  </a:lnTo>
                  <a:lnTo>
                    <a:pt x="1846668" y="492918"/>
                  </a:lnTo>
                  <a:lnTo>
                    <a:pt x="1884679" y="477142"/>
                  </a:lnTo>
                  <a:lnTo>
                    <a:pt x="1919252" y="460586"/>
                  </a:lnTo>
                  <a:lnTo>
                    <a:pt x="1977548" y="425291"/>
                  </a:lnTo>
                  <a:lnTo>
                    <a:pt x="2020499" y="387350"/>
                  </a:lnTo>
                  <a:lnTo>
                    <a:pt x="2047045" y="347080"/>
                  </a:lnTo>
                  <a:lnTo>
                    <a:pt x="2056129" y="304800"/>
                  </a:lnTo>
                  <a:lnTo>
                    <a:pt x="2053836" y="283428"/>
                  </a:lnTo>
                  <a:lnTo>
                    <a:pt x="2035889" y="242113"/>
                  </a:lnTo>
                  <a:lnTo>
                    <a:pt x="2001008" y="202968"/>
                  </a:lnTo>
                  <a:lnTo>
                    <a:pt x="1950252" y="166310"/>
                  </a:lnTo>
                  <a:lnTo>
                    <a:pt x="1884679" y="132457"/>
                  </a:lnTo>
                  <a:lnTo>
                    <a:pt x="1846668" y="116681"/>
                  </a:lnTo>
                  <a:lnTo>
                    <a:pt x="1805349" y="101725"/>
                  </a:lnTo>
                  <a:lnTo>
                    <a:pt x="1760854" y="87630"/>
                  </a:lnTo>
                  <a:lnTo>
                    <a:pt x="1713318" y="74433"/>
                  </a:lnTo>
                  <a:lnTo>
                    <a:pt x="1662870" y="62177"/>
                  </a:lnTo>
                  <a:lnTo>
                    <a:pt x="1609645" y="50899"/>
                  </a:lnTo>
                  <a:lnTo>
                    <a:pt x="1553774" y="40639"/>
                  </a:lnTo>
                  <a:lnTo>
                    <a:pt x="1495389" y="31439"/>
                  </a:lnTo>
                  <a:lnTo>
                    <a:pt x="1434623" y="23336"/>
                  </a:lnTo>
                  <a:lnTo>
                    <a:pt x="1371608" y="16371"/>
                  </a:lnTo>
                  <a:lnTo>
                    <a:pt x="1306477" y="10583"/>
                  </a:lnTo>
                  <a:lnTo>
                    <a:pt x="1239361" y="6012"/>
                  </a:lnTo>
                  <a:lnTo>
                    <a:pt x="1170393" y="2698"/>
                  </a:lnTo>
                  <a:lnTo>
                    <a:pt x="1099705" y="681"/>
                  </a:lnTo>
                  <a:lnTo>
                    <a:pt x="1027429" y="0"/>
                  </a:lnTo>
                  <a:close/>
                </a:path>
              </a:pathLst>
            </a:custGeom>
            <a:solidFill>
              <a:srgbClr val="71BEC4"/>
            </a:solidFill>
          </p:spPr>
          <p:txBody>
            <a:bodyPr wrap="square" lIns="0" tIns="0" rIns="0" bIns="0" rtlCol="0"/>
            <a:lstStyle/>
            <a:p>
              <a:endParaRPr/>
            </a:p>
          </p:txBody>
        </p:sp>
        <p:sp>
          <p:nvSpPr>
            <p:cNvPr id="38" name="object 38"/>
            <p:cNvSpPr/>
            <p:nvPr/>
          </p:nvSpPr>
          <p:spPr>
            <a:xfrm>
              <a:off x="3352800" y="4648200"/>
              <a:ext cx="2056130" cy="609600"/>
            </a:xfrm>
            <a:custGeom>
              <a:avLst/>
              <a:gdLst/>
              <a:ahLst/>
              <a:cxnLst/>
              <a:rect l="l" t="t" r="r" b="b"/>
              <a:pathLst>
                <a:path w="2056129" h="609600">
                  <a:moveTo>
                    <a:pt x="1027429" y="0"/>
                  </a:moveTo>
                  <a:lnTo>
                    <a:pt x="1099705" y="681"/>
                  </a:lnTo>
                  <a:lnTo>
                    <a:pt x="1170393" y="2698"/>
                  </a:lnTo>
                  <a:lnTo>
                    <a:pt x="1239361" y="6012"/>
                  </a:lnTo>
                  <a:lnTo>
                    <a:pt x="1306477" y="10583"/>
                  </a:lnTo>
                  <a:lnTo>
                    <a:pt x="1371608" y="16371"/>
                  </a:lnTo>
                  <a:lnTo>
                    <a:pt x="1434623" y="23336"/>
                  </a:lnTo>
                  <a:lnTo>
                    <a:pt x="1495389" y="31439"/>
                  </a:lnTo>
                  <a:lnTo>
                    <a:pt x="1553774" y="40639"/>
                  </a:lnTo>
                  <a:lnTo>
                    <a:pt x="1609645" y="50899"/>
                  </a:lnTo>
                  <a:lnTo>
                    <a:pt x="1662870" y="62177"/>
                  </a:lnTo>
                  <a:lnTo>
                    <a:pt x="1713318" y="74433"/>
                  </a:lnTo>
                  <a:lnTo>
                    <a:pt x="1760854" y="87630"/>
                  </a:lnTo>
                  <a:lnTo>
                    <a:pt x="1805349" y="101725"/>
                  </a:lnTo>
                  <a:lnTo>
                    <a:pt x="1846668" y="116681"/>
                  </a:lnTo>
                  <a:lnTo>
                    <a:pt x="1884679" y="132457"/>
                  </a:lnTo>
                  <a:lnTo>
                    <a:pt x="1919252" y="149013"/>
                  </a:lnTo>
                  <a:lnTo>
                    <a:pt x="1977548" y="184308"/>
                  </a:lnTo>
                  <a:lnTo>
                    <a:pt x="2020499" y="222249"/>
                  </a:lnTo>
                  <a:lnTo>
                    <a:pt x="2047045" y="262519"/>
                  </a:lnTo>
                  <a:lnTo>
                    <a:pt x="2056129" y="304800"/>
                  </a:lnTo>
                  <a:lnTo>
                    <a:pt x="2053836" y="326171"/>
                  </a:lnTo>
                  <a:lnTo>
                    <a:pt x="2035889" y="367486"/>
                  </a:lnTo>
                  <a:lnTo>
                    <a:pt x="2001008" y="406631"/>
                  </a:lnTo>
                  <a:lnTo>
                    <a:pt x="1950252" y="443289"/>
                  </a:lnTo>
                  <a:lnTo>
                    <a:pt x="1884679" y="477142"/>
                  </a:lnTo>
                  <a:lnTo>
                    <a:pt x="1846668" y="492918"/>
                  </a:lnTo>
                  <a:lnTo>
                    <a:pt x="1805349" y="507874"/>
                  </a:lnTo>
                  <a:lnTo>
                    <a:pt x="1760854" y="521969"/>
                  </a:lnTo>
                  <a:lnTo>
                    <a:pt x="1713318" y="535166"/>
                  </a:lnTo>
                  <a:lnTo>
                    <a:pt x="1662870" y="547422"/>
                  </a:lnTo>
                  <a:lnTo>
                    <a:pt x="1609645" y="558700"/>
                  </a:lnTo>
                  <a:lnTo>
                    <a:pt x="1553774" y="568960"/>
                  </a:lnTo>
                  <a:lnTo>
                    <a:pt x="1495389" y="578160"/>
                  </a:lnTo>
                  <a:lnTo>
                    <a:pt x="1434623" y="586263"/>
                  </a:lnTo>
                  <a:lnTo>
                    <a:pt x="1371608" y="593228"/>
                  </a:lnTo>
                  <a:lnTo>
                    <a:pt x="1306477" y="599016"/>
                  </a:lnTo>
                  <a:lnTo>
                    <a:pt x="1239361" y="603587"/>
                  </a:lnTo>
                  <a:lnTo>
                    <a:pt x="1170393" y="606901"/>
                  </a:lnTo>
                  <a:lnTo>
                    <a:pt x="1099705" y="608918"/>
                  </a:lnTo>
                  <a:lnTo>
                    <a:pt x="1027429" y="609600"/>
                  </a:lnTo>
                  <a:lnTo>
                    <a:pt x="955306" y="608918"/>
                  </a:lnTo>
                  <a:lnTo>
                    <a:pt x="884758" y="606901"/>
                  </a:lnTo>
                  <a:lnTo>
                    <a:pt x="815917" y="603587"/>
                  </a:lnTo>
                  <a:lnTo>
                    <a:pt x="748917" y="599016"/>
                  </a:lnTo>
                  <a:lnTo>
                    <a:pt x="683891" y="593228"/>
                  </a:lnTo>
                  <a:lnTo>
                    <a:pt x="620970" y="586263"/>
                  </a:lnTo>
                  <a:lnTo>
                    <a:pt x="560288" y="578160"/>
                  </a:lnTo>
                  <a:lnTo>
                    <a:pt x="501979" y="568959"/>
                  </a:lnTo>
                  <a:lnTo>
                    <a:pt x="446174" y="558700"/>
                  </a:lnTo>
                  <a:lnTo>
                    <a:pt x="393006" y="547422"/>
                  </a:lnTo>
                  <a:lnTo>
                    <a:pt x="342609" y="535166"/>
                  </a:lnTo>
                  <a:lnTo>
                    <a:pt x="295116" y="521969"/>
                  </a:lnTo>
                  <a:lnTo>
                    <a:pt x="250658" y="507874"/>
                  </a:lnTo>
                  <a:lnTo>
                    <a:pt x="209369" y="492918"/>
                  </a:lnTo>
                  <a:lnTo>
                    <a:pt x="171383" y="477142"/>
                  </a:lnTo>
                  <a:lnTo>
                    <a:pt x="136830" y="460586"/>
                  </a:lnTo>
                  <a:lnTo>
                    <a:pt x="78561" y="425291"/>
                  </a:lnTo>
                  <a:lnTo>
                    <a:pt x="35624" y="387350"/>
                  </a:lnTo>
                  <a:lnTo>
                    <a:pt x="9083" y="347080"/>
                  </a:lnTo>
                  <a:lnTo>
                    <a:pt x="0" y="304800"/>
                  </a:lnTo>
                  <a:lnTo>
                    <a:pt x="2292" y="283428"/>
                  </a:lnTo>
                  <a:lnTo>
                    <a:pt x="20238" y="242113"/>
                  </a:lnTo>
                  <a:lnTo>
                    <a:pt x="55110" y="202968"/>
                  </a:lnTo>
                  <a:lnTo>
                    <a:pt x="105845" y="166310"/>
                  </a:lnTo>
                  <a:lnTo>
                    <a:pt x="171383" y="132457"/>
                  </a:lnTo>
                  <a:lnTo>
                    <a:pt x="209369" y="116681"/>
                  </a:lnTo>
                  <a:lnTo>
                    <a:pt x="250658" y="101725"/>
                  </a:lnTo>
                  <a:lnTo>
                    <a:pt x="295116" y="87630"/>
                  </a:lnTo>
                  <a:lnTo>
                    <a:pt x="342609" y="74433"/>
                  </a:lnTo>
                  <a:lnTo>
                    <a:pt x="393006" y="62177"/>
                  </a:lnTo>
                  <a:lnTo>
                    <a:pt x="446174" y="50899"/>
                  </a:lnTo>
                  <a:lnTo>
                    <a:pt x="501979" y="40639"/>
                  </a:lnTo>
                  <a:lnTo>
                    <a:pt x="560288" y="31439"/>
                  </a:lnTo>
                  <a:lnTo>
                    <a:pt x="620970" y="23336"/>
                  </a:lnTo>
                  <a:lnTo>
                    <a:pt x="683891" y="16371"/>
                  </a:lnTo>
                  <a:lnTo>
                    <a:pt x="748917" y="10583"/>
                  </a:lnTo>
                  <a:lnTo>
                    <a:pt x="815917" y="6012"/>
                  </a:lnTo>
                  <a:lnTo>
                    <a:pt x="884758" y="2698"/>
                  </a:lnTo>
                  <a:lnTo>
                    <a:pt x="955306" y="681"/>
                  </a:lnTo>
                  <a:lnTo>
                    <a:pt x="1027429" y="0"/>
                  </a:lnTo>
                  <a:close/>
                </a:path>
              </a:pathLst>
            </a:custGeom>
            <a:ln w="25518">
              <a:solidFill>
                <a:srgbClr val="88A3A6"/>
              </a:solidFill>
            </a:ln>
          </p:spPr>
          <p:txBody>
            <a:bodyPr wrap="square" lIns="0" tIns="0" rIns="0" bIns="0" rtlCol="0"/>
            <a:lstStyle/>
            <a:p>
              <a:endParaRPr/>
            </a:p>
          </p:txBody>
        </p:sp>
        <p:sp>
          <p:nvSpPr>
            <p:cNvPr id="39" name="object 39"/>
            <p:cNvSpPr/>
            <p:nvPr/>
          </p:nvSpPr>
          <p:spPr>
            <a:xfrm>
              <a:off x="3340036" y="4635449"/>
              <a:ext cx="2083435" cy="635635"/>
            </a:xfrm>
            <a:custGeom>
              <a:avLst/>
              <a:gdLst/>
              <a:ahLst/>
              <a:cxnLst/>
              <a:rect l="l" t="t" r="r" b="b"/>
              <a:pathLst>
                <a:path w="2083435" h="635635">
                  <a:moveTo>
                    <a:pt x="25514" y="12750"/>
                  </a:moveTo>
                  <a:lnTo>
                    <a:pt x="21780" y="3733"/>
                  </a:lnTo>
                  <a:lnTo>
                    <a:pt x="12763" y="0"/>
                  </a:lnTo>
                  <a:lnTo>
                    <a:pt x="3733" y="3733"/>
                  </a:lnTo>
                  <a:lnTo>
                    <a:pt x="0" y="12750"/>
                  </a:lnTo>
                  <a:lnTo>
                    <a:pt x="3733" y="21780"/>
                  </a:lnTo>
                  <a:lnTo>
                    <a:pt x="12763" y="25514"/>
                  </a:lnTo>
                  <a:lnTo>
                    <a:pt x="21780" y="21780"/>
                  </a:lnTo>
                  <a:lnTo>
                    <a:pt x="25514" y="12750"/>
                  </a:lnTo>
                  <a:close/>
                </a:path>
                <a:path w="2083435" h="635635">
                  <a:moveTo>
                    <a:pt x="2082914" y="622350"/>
                  </a:moveTo>
                  <a:lnTo>
                    <a:pt x="2079180" y="613333"/>
                  </a:lnTo>
                  <a:lnTo>
                    <a:pt x="2070163" y="609600"/>
                  </a:lnTo>
                  <a:lnTo>
                    <a:pt x="2061133" y="613333"/>
                  </a:lnTo>
                  <a:lnTo>
                    <a:pt x="2057400" y="622350"/>
                  </a:lnTo>
                  <a:lnTo>
                    <a:pt x="2061133" y="631380"/>
                  </a:lnTo>
                  <a:lnTo>
                    <a:pt x="2070163" y="635114"/>
                  </a:lnTo>
                  <a:lnTo>
                    <a:pt x="2079180" y="631380"/>
                  </a:lnTo>
                  <a:lnTo>
                    <a:pt x="2082914" y="622350"/>
                  </a:lnTo>
                  <a:close/>
                </a:path>
              </a:pathLst>
            </a:custGeom>
            <a:solidFill>
              <a:srgbClr val="88A3A6"/>
            </a:solidFill>
          </p:spPr>
          <p:txBody>
            <a:bodyPr wrap="square" lIns="0" tIns="0" rIns="0" bIns="0" rtlCol="0"/>
            <a:lstStyle/>
            <a:p>
              <a:endParaRPr/>
            </a:p>
          </p:txBody>
        </p:sp>
      </p:grpSp>
      <p:sp>
        <p:nvSpPr>
          <p:cNvPr id="40" name="object 40"/>
          <p:cNvSpPr txBox="1"/>
          <p:nvPr/>
        </p:nvSpPr>
        <p:spPr>
          <a:xfrm>
            <a:off x="2059941" y="3502502"/>
            <a:ext cx="5005705" cy="2118995"/>
          </a:xfrm>
          <a:prstGeom prst="rect">
            <a:avLst/>
          </a:prstGeom>
        </p:spPr>
        <p:txBody>
          <a:bodyPr vert="horz" wrap="square" lIns="0" tIns="93980" rIns="0" bIns="0" rtlCol="0">
            <a:spAutoFit/>
          </a:bodyPr>
          <a:lstStyle/>
          <a:p>
            <a:pPr marR="270510" algn="r">
              <a:spcBef>
                <a:spcPts val="740"/>
              </a:spcBef>
            </a:pPr>
            <a:r>
              <a:rPr spc="-10" dirty="0">
                <a:solidFill>
                  <a:srgbClr val="FFFFFF"/>
                </a:solidFill>
                <a:latin typeface="Arial MT"/>
                <a:cs typeface="Arial MT"/>
              </a:rPr>
              <a:t>Isolation</a:t>
            </a:r>
            <a:endParaRPr>
              <a:latin typeface="Arial MT"/>
              <a:cs typeface="Arial MT"/>
            </a:endParaRPr>
          </a:p>
          <a:p>
            <a:pPr marL="354965" indent="-342265">
              <a:spcBef>
                <a:spcPts val="1140"/>
              </a:spcBef>
              <a:buChar char="•"/>
              <a:tabLst>
                <a:tab pos="354965" algn="l"/>
              </a:tabLst>
            </a:pPr>
            <a:r>
              <a:rPr sz="3200" dirty="0">
                <a:latin typeface="Arial MT"/>
                <a:cs typeface="Arial MT"/>
              </a:rPr>
              <a:t>Contemporary</a:t>
            </a:r>
            <a:r>
              <a:rPr sz="3200" spc="-5" dirty="0">
                <a:latin typeface="Arial MT"/>
                <a:cs typeface="Arial MT"/>
              </a:rPr>
              <a:t> </a:t>
            </a:r>
            <a:r>
              <a:rPr sz="3200" spc="-10" dirty="0">
                <a:latin typeface="Arial MT"/>
                <a:cs typeface="Arial MT"/>
              </a:rPr>
              <a:t>buzzwords</a:t>
            </a:r>
            <a:endParaRPr sz="3200">
              <a:latin typeface="Arial MT"/>
              <a:cs typeface="Arial MT"/>
            </a:endParaRPr>
          </a:p>
          <a:p>
            <a:pPr marL="3464560" marR="658495" indent="-114300">
              <a:spcBef>
                <a:spcPts val="1380"/>
              </a:spcBef>
            </a:pPr>
            <a:r>
              <a:rPr dirty="0">
                <a:latin typeface="Arial MT"/>
                <a:cs typeface="Arial MT"/>
              </a:rPr>
              <a:t>multi</a:t>
            </a:r>
            <a:r>
              <a:rPr spc="-25" dirty="0">
                <a:latin typeface="Arial MT"/>
                <a:cs typeface="Arial MT"/>
              </a:rPr>
              <a:t> </a:t>
            </a:r>
            <a:r>
              <a:rPr spc="-20" dirty="0">
                <a:latin typeface="Arial MT"/>
                <a:cs typeface="Arial MT"/>
              </a:rPr>
              <a:t>core </a:t>
            </a:r>
            <a:r>
              <a:rPr spc="-10" dirty="0">
                <a:latin typeface="Arial MT"/>
                <a:cs typeface="Arial MT"/>
              </a:rPr>
              <a:t>support</a:t>
            </a:r>
            <a:endParaRPr>
              <a:latin typeface="Arial MT"/>
              <a:cs typeface="Arial MT"/>
            </a:endParaRPr>
          </a:p>
          <a:p>
            <a:pPr marL="906144">
              <a:spcBef>
                <a:spcPts val="1080"/>
              </a:spcBef>
            </a:pPr>
            <a:r>
              <a:rPr sz="1600" dirty="0">
                <a:latin typeface="Arial MT"/>
                <a:cs typeface="Arial MT"/>
              </a:rPr>
              <a:t>energy</a:t>
            </a:r>
            <a:r>
              <a:rPr sz="1600" spc="-15" dirty="0">
                <a:latin typeface="Arial MT"/>
                <a:cs typeface="Arial MT"/>
              </a:rPr>
              <a:t> </a:t>
            </a:r>
            <a:r>
              <a:rPr sz="1600" dirty="0">
                <a:latin typeface="Arial MT"/>
                <a:cs typeface="Arial MT"/>
              </a:rPr>
              <a:t>/</a:t>
            </a:r>
            <a:r>
              <a:rPr sz="1600" spc="-15" dirty="0">
                <a:latin typeface="Arial MT"/>
                <a:cs typeface="Arial MT"/>
              </a:rPr>
              <a:t> </a:t>
            </a:r>
            <a:r>
              <a:rPr sz="1600" spc="-20" dirty="0">
                <a:latin typeface="Arial MT"/>
                <a:cs typeface="Arial MT"/>
              </a:rPr>
              <a:t>size</a:t>
            </a:r>
            <a:endParaRPr sz="1600">
              <a:latin typeface="Arial MT"/>
              <a:cs typeface="Arial M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946150">
              <a:lnSpc>
                <a:spcPct val="100000"/>
              </a:lnSpc>
              <a:spcBef>
                <a:spcPts val="100"/>
              </a:spcBef>
            </a:pPr>
            <a:r>
              <a:rPr dirty="0"/>
              <a:t>OS</a:t>
            </a:r>
            <a:r>
              <a:rPr spc="-114" dirty="0"/>
              <a:t> </a:t>
            </a:r>
            <a:r>
              <a:rPr dirty="0"/>
              <a:t>Research</a:t>
            </a:r>
            <a:r>
              <a:rPr spc="-180" dirty="0"/>
              <a:t> </a:t>
            </a:r>
            <a:r>
              <a:rPr spc="-10" dirty="0"/>
              <a:t>Trends</a:t>
            </a:r>
          </a:p>
        </p:txBody>
      </p:sp>
      <p:grpSp>
        <p:nvGrpSpPr>
          <p:cNvPr id="3" name="object 3"/>
          <p:cNvGrpSpPr/>
          <p:nvPr/>
        </p:nvGrpSpPr>
        <p:grpSpPr>
          <a:xfrm>
            <a:off x="4648200" y="1905000"/>
            <a:ext cx="3276600" cy="2971800"/>
            <a:chOff x="3124200" y="1905000"/>
            <a:chExt cx="3276600" cy="2971800"/>
          </a:xfrm>
        </p:grpSpPr>
        <p:sp>
          <p:nvSpPr>
            <p:cNvPr id="4" name="object 4"/>
            <p:cNvSpPr/>
            <p:nvPr/>
          </p:nvSpPr>
          <p:spPr>
            <a:xfrm>
              <a:off x="4572000" y="3733800"/>
              <a:ext cx="1692910" cy="1057910"/>
            </a:xfrm>
            <a:custGeom>
              <a:avLst/>
              <a:gdLst/>
              <a:ahLst/>
              <a:cxnLst/>
              <a:rect l="l" t="t" r="r" b="b"/>
              <a:pathLst>
                <a:path w="1692910" h="1057910">
                  <a:moveTo>
                    <a:pt x="0" y="0"/>
                  </a:moveTo>
                  <a:lnTo>
                    <a:pt x="1692910" y="1057910"/>
                  </a:lnTo>
                </a:path>
              </a:pathLst>
            </a:custGeom>
            <a:ln w="57146">
              <a:solidFill>
                <a:srgbClr val="0000CC"/>
              </a:solidFill>
            </a:ln>
          </p:spPr>
          <p:txBody>
            <a:bodyPr wrap="square" lIns="0" tIns="0" rIns="0" bIns="0" rtlCol="0"/>
            <a:lstStyle/>
            <a:p>
              <a:endParaRPr/>
            </a:p>
          </p:txBody>
        </p:sp>
        <p:sp>
          <p:nvSpPr>
            <p:cNvPr id="5" name="object 5"/>
            <p:cNvSpPr/>
            <p:nvPr/>
          </p:nvSpPr>
          <p:spPr>
            <a:xfrm>
              <a:off x="6209029" y="4712970"/>
              <a:ext cx="191770" cy="163830"/>
            </a:xfrm>
            <a:custGeom>
              <a:avLst/>
              <a:gdLst/>
              <a:ahLst/>
              <a:cxnLst/>
              <a:rect l="l" t="t" r="r" b="b"/>
              <a:pathLst>
                <a:path w="191770" h="163829">
                  <a:moveTo>
                    <a:pt x="91440" y="0"/>
                  </a:moveTo>
                  <a:lnTo>
                    <a:pt x="0" y="146049"/>
                  </a:lnTo>
                  <a:lnTo>
                    <a:pt x="191770" y="163829"/>
                  </a:lnTo>
                  <a:lnTo>
                    <a:pt x="91440" y="0"/>
                  </a:lnTo>
                  <a:close/>
                </a:path>
              </a:pathLst>
            </a:custGeom>
            <a:solidFill>
              <a:srgbClr val="0000CC"/>
            </a:solidFill>
          </p:spPr>
          <p:txBody>
            <a:bodyPr wrap="square" lIns="0" tIns="0" rIns="0" bIns="0" rtlCol="0"/>
            <a:lstStyle/>
            <a:p>
              <a:endParaRPr/>
            </a:p>
          </p:txBody>
        </p:sp>
        <p:sp>
          <p:nvSpPr>
            <p:cNvPr id="6" name="object 6"/>
            <p:cNvSpPr/>
            <p:nvPr/>
          </p:nvSpPr>
          <p:spPr>
            <a:xfrm>
              <a:off x="4572000" y="2065020"/>
              <a:ext cx="0" cy="1668780"/>
            </a:xfrm>
            <a:custGeom>
              <a:avLst/>
              <a:gdLst/>
              <a:ahLst/>
              <a:cxnLst/>
              <a:rect l="l" t="t" r="r" b="b"/>
              <a:pathLst>
                <a:path h="1668779">
                  <a:moveTo>
                    <a:pt x="0" y="1668779"/>
                  </a:moveTo>
                  <a:lnTo>
                    <a:pt x="0" y="0"/>
                  </a:lnTo>
                </a:path>
              </a:pathLst>
            </a:custGeom>
            <a:ln w="57146">
              <a:solidFill>
                <a:srgbClr val="009999"/>
              </a:solidFill>
            </a:ln>
          </p:spPr>
          <p:txBody>
            <a:bodyPr wrap="square" lIns="0" tIns="0" rIns="0" bIns="0" rtlCol="0"/>
            <a:lstStyle/>
            <a:p>
              <a:endParaRPr/>
            </a:p>
          </p:txBody>
        </p:sp>
        <p:sp>
          <p:nvSpPr>
            <p:cNvPr id="7" name="object 7"/>
            <p:cNvSpPr/>
            <p:nvPr/>
          </p:nvSpPr>
          <p:spPr>
            <a:xfrm>
              <a:off x="4486910" y="1905000"/>
              <a:ext cx="171450" cy="171450"/>
            </a:xfrm>
            <a:custGeom>
              <a:avLst/>
              <a:gdLst/>
              <a:ahLst/>
              <a:cxnLst/>
              <a:rect l="l" t="t" r="r" b="b"/>
              <a:pathLst>
                <a:path w="171450" h="171450">
                  <a:moveTo>
                    <a:pt x="85089" y="0"/>
                  </a:moveTo>
                  <a:lnTo>
                    <a:pt x="0" y="171450"/>
                  </a:lnTo>
                  <a:lnTo>
                    <a:pt x="171450" y="171450"/>
                  </a:lnTo>
                  <a:lnTo>
                    <a:pt x="85089" y="0"/>
                  </a:lnTo>
                  <a:close/>
                </a:path>
              </a:pathLst>
            </a:custGeom>
            <a:solidFill>
              <a:srgbClr val="009999"/>
            </a:solidFill>
          </p:spPr>
          <p:txBody>
            <a:bodyPr wrap="square" lIns="0" tIns="0" rIns="0" bIns="0" rtlCol="0"/>
            <a:lstStyle/>
            <a:p>
              <a:endParaRPr/>
            </a:p>
          </p:txBody>
        </p:sp>
        <p:sp>
          <p:nvSpPr>
            <p:cNvPr id="8" name="object 8"/>
            <p:cNvSpPr/>
            <p:nvPr/>
          </p:nvSpPr>
          <p:spPr>
            <a:xfrm>
              <a:off x="3252470" y="3733800"/>
              <a:ext cx="1319530" cy="971550"/>
            </a:xfrm>
            <a:custGeom>
              <a:avLst/>
              <a:gdLst/>
              <a:ahLst/>
              <a:cxnLst/>
              <a:rect l="l" t="t" r="r" b="b"/>
              <a:pathLst>
                <a:path w="1319529" h="971550">
                  <a:moveTo>
                    <a:pt x="1319529" y="0"/>
                  </a:moveTo>
                  <a:lnTo>
                    <a:pt x="0" y="971550"/>
                  </a:lnTo>
                </a:path>
              </a:pathLst>
            </a:custGeom>
            <a:ln w="57146">
              <a:solidFill>
                <a:srgbClr val="FF0000"/>
              </a:solidFill>
            </a:ln>
          </p:spPr>
          <p:txBody>
            <a:bodyPr wrap="square" lIns="0" tIns="0" rIns="0" bIns="0" rtlCol="0"/>
            <a:lstStyle/>
            <a:p>
              <a:endParaRPr/>
            </a:p>
          </p:txBody>
        </p:sp>
        <p:sp>
          <p:nvSpPr>
            <p:cNvPr id="9" name="object 9"/>
            <p:cNvSpPr/>
            <p:nvPr/>
          </p:nvSpPr>
          <p:spPr>
            <a:xfrm>
              <a:off x="3124200" y="4629150"/>
              <a:ext cx="189230" cy="171450"/>
            </a:xfrm>
            <a:custGeom>
              <a:avLst/>
              <a:gdLst/>
              <a:ahLst/>
              <a:cxnLst/>
              <a:rect l="l" t="t" r="r" b="b"/>
              <a:pathLst>
                <a:path w="189229" h="171450">
                  <a:moveTo>
                    <a:pt x="87630" y="0"/>
                  </a:moveTo>
                  <a:lnTo>
                    <a:pt x="0" y="171450"/>
                  </a:lnTo>
                  <a:lnTo>
                    <a:pt x="189229" y="138430"/>
                  </a:lnTo>
                  <a:lnTo>
                    <a:pt x="87630" y="0"/>
                  </a:lnTo>
                  <a:close/>
                </a:path>
              </a:pathLst>
            </a:custGeom>
            <a:solidFill>
              <a:srgbClr val="FF0000"/>
            </a:solidFill>
          </p:spPr>
          <p:txBody>
            <a:bodyPr wrap="square" lIns="0" tIns="0" rIns="0" bIns="0" rtlCol="0"/>
            <a:lstStyle/>
            <a:p>
              <a:endParaRPr/>
            </a:p>
          </p:txBody>
        </p:sp>
      </p:grpSp>
      <p:sp>
        <p:nvSpPr>
          <p:cNvPr id="10" name="object 10"/>
          <p:cNvSpPr txBox="1"/>
          <p:nvPr/>
        </p:nvSpPr>
        <p:spPr>
          <a:xfrm>
            <a:off x="7985760" y="4946650"/>
            <a:ext cx="2295525" cy="848360"/>
          </a:xfrm>
          <a:prstGeom prst="rect">
            <a:avLst/>
          </a:prstGeom>
        </p:spPr>
        <p:txBody>
          <a:bodyPr vert="horz" wrap="square" lIns="0" tIns="12700" rIns="0" bIns="0" rtlCol="0">
            <a:spAutoFit/>
          </a:bodyPr>
          <a:lstStyle/>
          <a:p>
            <a:pPr marL="12700">
              <a:spcBef>
                <a:spcPts val="100"/>
              </a:spcBef>
            </a:pPr>
            <a:r>
              <a:rPr b="1" spc="-10" dirty="0">
                <a:solidFill>
                  <a:srgbClr val="0000CC"/>
                </a:solidFill>
                <a:latin typeface="Arial"/>
                <a:cs typeface="Arial"/>
              </a:rPr>
              <a:t>Features</a:t>
            </a:r>
            <a:endParaRPr>
              <a:latin typeface="Arial"/>
              <a:cs typeface="Arial"/>
            </a:endParaRPr>
          </a:p>
          <a:p>
            <a:pPr marL="12700" marR="5080"/>
            <a:r>
              <a:rPr dirty="0">
                <a:latin typeface="Arial MT"/>
                <a:cs typeface="Arial MT"/>
              </a:rPr>
              <a:t>(better</a:t>
            </a:r>
            <a:r>
              <a:rPr spc="-30" dirty="0">
                <a:latin typeface="Arial MT"/>
                <a:cs typeface="Arial MT"/>
              </a:rPr>
              <a:t> </a:t>
            </a:r>
            <a:r>
              <a:rPr dirty="0">
                <a:latin typeface="Arial MT"/>
                <a:cs typeface="Arial MT"/>
              </a:rPr>
              <a:t>device</a:t>
            </a:r>
            <a:r>
              <a:rPr spc="-30" dirty="0">
                <a:latin typeface="Arial MT"/>
                <a:cs typeface="Arial MT"/>
              </a:rPr>
              <a:t> </a:t>
            </a:r>
            <a:r>
              <a:rPr spc="-10" dirty="0">
                <a:latin typeface="Arial MT"/>
                <a:cs typeface="Arial MT"/>
              </a:rPr>
              <a:t>support, </a:t>
            </a:r>
            <a:r>
              <a:rPr dirty="0">
                <a:latin typeface="Arial MT"/>
                <a:cs typeface="Arial MT"/>
              </a:rPr>
              <a:t>Multi</a:t>
            </a:r>
            <a:r>
              <a:rPr spc="-30" dirty="0">
                <a:latin typeface="Arial MT"/>
                <a:cs typeface="Arial MT"/>
              </a:rPr>
              <a:t> </a:t>
            </a:r>
            <a:r>
              <a:rPr dirty="0">
                <a:latin typeface="Arial MT"/>
                <a:cs typeface="Arial MT"/>
              </a:rPr>
              <a:t>core</a:t>
            </a:r>
            <a:r>
              <a:rPr spc="-25" dirty="0">
                <a:latin typeface="Arial MT"/>
                <a:cs typeface="Arial MT"/>
              </a:rPr>
              <a:t> </a:t>
            </a:r>
            <a:r>
              <a:rPr spc="-10" dirty="0">
                <a:latin typeface="Arial MT"/>
                <a:cs typeface="Arial MT"/>
              </a:rPr>
              <a:t>support)</a:t>
            </a:r>
            <a:endParaRPr>
              <a:latin typeface="Arial MT"/>
              <a:cs typeface="Arial MT"/>
            </a:endParaRPr>
          </a:p>
        </p:txBody>
      </p:sp>
      <p:sp>
        <p:nvSpPr>
          <p:cNvPr id="11" name="object 11"/>
          <p:cNvSpPr txBox="1"/>
          <p:nvPr/>
        </p:nvSpPr>
        <p:spPr>
          <a:xfrm>
            <a:off x="2332991" y="4911090"/>
            <a:ext cx="2179955" cy="1122680"/>
          </a:xfrm>
          <a:prstGeom prst="rect">
            <a:avLst/>
          </a:prstGeom>
        </p:spPr>
        <p:txBody>
          <a:bodyPr vert="horz" wrap="square" lIns="0" tIns="12700" rIns="0" bIns="0" rtlCol="0">
            <a:spAutoFit/>
          </a:bodyPr>
          <a:lstStyle/>
          <a:p>
            <a:pPr marL="12700">
              <a:spcBef>
                <a:spcPts val="100"/>
              </a:spcBef>
            </a:pPr>
            <a:r>
              <a:rPr b="1" spc="-10" dirty="0">
                <a:solidFill>
                  <a:srgbClr val="FF0000"/>
                </a:solidFill>
                <a:latin typeface="Arial"/>
                <a:cs typeface="Arial"/>
              </a:rPr>
              <a:t>Security,</a:t>
            </a:r>
            <a:r>
              <a:rPr b="1" spc="-95" dirty="0">
                <a:solidFill>
                  <a:srgbClr val="FF0000"/>
                </a:solidFill>
                <a:latin typeface="Arial"/>
                <a:cs typeface="Arial"/>
              </a:rPr>
              <a:t> </a:t>
            </a:r>
            <a:r>
              <a:rPr b="1" spc="-10" dirty="0">
                <a:solidFill>
                  <a:srgbClr val="FF0000"/>
                </a:solidFill>
                <a:latin typeface="Arial"/>
                <a:cs typeface="Arial"/>
              </a:rPr>
              <a:t>Reliability</a:t>
            </a:r>
            <a:endParaRPr>
              <a:latin typeface="Arial"/>
              <a:cs typeface="Arial"/>
            </a:endParaRPr>
          </a:p>
          <a:p>
            <a:pPr marL="366395" marR="5080" indent="379730" algn="r"/>
            <a:r>
              <a:rPr dirty="0">
                <a:latin typeface="Arial MT"/>
                <a:cs typeface="Arial MT"/>
              </a:rPr>
              <a:t>(fewer</a:t>
            </a:r>
            <a:r>
              <a:rPr spc="-30" dirty="0">
                <a:latin typeface="Arial MT"/>
                <a:cs typeface="Arial MT"/>
              </a:rPr>
              <a:t> </a:t>
            </a:r>
            <a:r>
              <a:rPr spc="-10" dirty="0">
                <a:latin typeface="Arial MT"/>
                <a:cs typeface="Arial MT"/>
              </a:rPr>
              <a:t>errors, </a:t>
            </a:r>
            <a:r>
              <a:rPr dirty="0">
                <a:latin typeface="Arial MT"/>
                <a:cs typeface="Arial MT"/>
              </a:rPr>
              <a:t>Formally</a:t>
            </a:r>
            <a:r>
              <a:rPr spc="-55" dirty="0">
                <a:latin typeface="Arial MT"/>
                <a:cs typeface="Arial MT"/>
              </a:rPr>
              <a:t> </a:t>
            </a:r>
            <a:r>
              <a:rPr spc="-10" dirty="0">
                <a:latin typeface="Arial MT"/>
                <a:cs typeface="Arial MT"/>
              </a:rPr>
              <a:t>verified, </a:t>
            </a:r>
            <a:r>
              <a:rPr dirty="0">
                <a:latin typeface="Arial MT"/>
                <a:cs typeface="Arial MT"/>
              </a:rPr>
              <a:t>fault</a:t>
            </a:r>
            <a:r>
              <a:rPr spc="-25" dirty="0">
                <a:latin typeface="Arial MT"/>
                <a:cs typeface="Arial MT"/>
              </a:rPr>
              <a:t> </a:t>
            </a:r>
            <a:r>
              <a:rPr spc="-10" dirty="0">
                <a:latin typeface="Arial MT"/>
                <a:cs typeface="Arial MT"/>
              </a:rPr>
              <a:t>tolerant)</a:t>
            </a:r>
            <a:endParaRPr>
              <a:latin typeface="Arial MT"/>
              <a:cs typeface="Arial MT"/>
            </a:endParaRPr>
          </a:p>
        </p:txBody>
      </p:sp>
      <p:sp>
        <p:nvSpPr>
          <p:cNvPr id="12" name="object 12"/>
          <p:cNvSpPr txBox="1"/>
          <p:nvPr/>
        </p:nvSpPr>
        <p:spPr>
          <a:xfrm>
            <a:off x="6249671" y="1634490"/>
            <a:ext cx="1710689" cy="1122680"/>
          </a:xfrm>
          <a:prstGeom prst="rect">
            <a:avLst/>
          </a:prstGeom>
        </p:spPr>
        <p:txBody>
          <a:bodyPr vert="horz" wrap="square" lIns="0" tIns="12700" rIns="0" bIns="0" rtlCol="0">
            <a:spAutoFit/>
          </a:bodyPr>
          <a:lstStyle/>
          <a:p>
            <a:pPr marL="12700">
              <a:spcBef>
                <a:spcPts val="100"/>
              </a:spcBef>
            </a:pPr>
            <a:r>
              <a:rPr b="1" spc="-10" dirty="0">
                <a:solidFill>
                  <a:srgbClr val="009999"/>
                </a:solidFill>
                <a:latin typeface="Arial"/>
                <a:cs typeface="Arial"/>
              </a:rPr>
              <a:t>Small</a:t>
            </a:r>
            <a:endParaRPr>
              <a:latin typeface="Arial"/>
              <a:cs typeface="Arial"/>
            </a:endParaRPr>
          </a:p>
          <a:p>
            <a:pPr marL="12700" marR="5080"/>
            <a:r>
              <a:rPr spc="-10" dirty="0">
                <a:latin typeface="Arial MT"/>
                <a:cs typeface="Arial MT"/>
              </a:rPr>
              <a:t>(footprint, </a:t>
            </a:r>
            <a:r>
              <a:rPr dirty="0">
                <a:latin typeface="Arial MT"/>
                <a:cs typeface="Arial MT"/>
              </a:rPr>
              <a:t>Minimum</a:t>
            </a:r>
            <a:r>
              <a:rPr spc="-60" dirty="0">
                <a:latin typeface="Arial MT"/>
                <a:cs typeface="Arial MT"/>
              </a:rPr>
              <a:t> </a:t>
            </a:r>
            <a:r>
              <a:rPr spc="-10" dirty="0">
                <a:latin typeface="Arial MT"/>
                <a:cs typeface="Arial MT"/>
              </a:rPr>
              <a:t>energy requirements)</a:t>
            </a:r>
            <a:endParaRPr>
              <a:latin typeface="Arial MT"/>
              <a:cs typeface="Arial M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TotalTime>
  <Words>1862</Words>
  <Application>Microsoft Office PowerPoint</Application>
  <PresentationFormat>Widescreen</PresentationFormat>
  <Paragraphs>260</Paragraphs>
  <Slides>37</Slides>
  <Notes>12</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37</vt:i4>
      </vt:variant>
    </vt:vector>
  </HeadingPairs>
  <TitlesOfParts>
    <vt:vector size="49" baseType="lpstr">
      <vt:lpstr>Arial</vt:lpstr>
      <vt:lpstr>Arial MT</vt:lpstr>
      <vt:lpstr>Calibri</vt:lpstr>
      <vt:lpstr>Calibri Light</vt:lpstr>
      <vt:lpstr>Inter</vt:lpstr>
      <vt:lpstr>Noto Sans Symbols</vt:lpstr>
      <vt:lpstr>Satoshi-Medium</vt:lpstr>
      <vt:lpstr>Satoshi-Regular</vt:lpstr>
      <vt:lpstr>Times New Roman</vt:lpstr>
      <vt:lpstr>Verdana</vt:lpstr>
      <vt:lpstr>Office Theme</vt:lpstr>
      <vt:lpstr>1_Office Theme</vt:lpstr>
      <vt:lpstr>Operating System</vt:lpstr>
      <vt:lpstr>What is an Operating System?</vt:lpstr>
      <vt:lpstr>What is an Operating System?</vt:lpstr>
      <vt:lpstr>PowerPoint Presentation</vt:lpstr>
      <vt:lpstr>Computer System Structure</vt:lpstr>
      <vt:lpstr>Four Components of a Computer System</vt:lpstr>
      <vt:lpstr> Defining Operating System</vt:lpstr>
      <vt:lpstr> Defining Operating System (Cont.) </vt:lpstr>
      <vt:lpstr> Defining Operating System (Cont.) </vt:lpstr>
      <vt:lpstr>A Simple Program</vt:lpstr>
      <vt:lpstr>Displaying on the Screen</vt:lpstr>
      <vt:lpstr>Operating Systems Provide Abstraction</vt:lpstr>
      <vt:lpstr>What Operating System Do</vt:lpstr>
      <vt:lpstr>User View</vt:lpstr>
      <vt:lpstr>User View (Cont.)</vt:lpstr>
      <vt:lpstr>System View</vt:lpstr>
      <vt:lpstr>OS as a Resource Manager</vt:lpstr>
      <vt:lpstr>Operating Systems</vt:lpstr>
      <vt:lpstr>OS Evolution</vt:lpstr>
      <vt:lpstr>Gen 1: Vacuum Tubes</vt:lpstr>
      <vt:lpstr>Gen 1 : OS</vt:lpstr>
      <vt:lpstr>Gen 2 : Mainframes</vt:lpstr>
      <vt:lpstr>Batch Systems</vt:lpstr>
      <vt:lpstr>Batch Systems (pros.)</vt:lpstr>
      <vt:lpstr>Gen 3 : Mini computers</vt:lpstr>
      <vt:lpstr>Multiprogramming</vt:lpstr>
      <vt:lpstr>Spooling</vt:lpstr>
      <vt:lpstr>Timesharing</vt:lpstr>
      <vt:lpstr>PowerPoint Presentation</vt:lpstr>
      <vt:lpstr>Multics, 1964</vt:lpstr>
      <vt:lpstr>Gen 4 : Personal Computers</vt:lpstr>
      <vt:lpstr>Unix</vt:lpstr>
      <vt:lpstr>Unix adopted</vt:lpstr>
      <vt:lpstr>Smartphones &amp; Tablets</vt:lpstr>
      <vt:lpstr>IoT and Edge Computing (Present-Future) </vt:lpstr>
      <vt:lpstr>OS Buzzwords</vt:lpstr>
      <vt:lpstr>OS Research Trends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an Operating System?</dc:title>
  <dc:creator>Dr.J</dc:creator>
  <cp:lastModifiedBy>Dr.J</cp:lastModifiedBy>
  <cp:revision>13</cp:revision>
  <dcterms:created xsi:type="dcterms:W3CDTF">2024-01-02T01:32:14Z</dcterms:created>
  <dcterms:modified xsi:type="dcterms:W3CDTF">2025-01-10T03:06:53Z</dcterms:modified>
</cp:coreProperties>
</file>