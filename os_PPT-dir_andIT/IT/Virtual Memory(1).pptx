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9" r:id="rId3"/>
    <p:sldId id="260" r:id="rId4"/>
    <p:sldId id="320" r:id="rId5"/>
    <p:sldId id="261" r:id="rId6"/>
    <p:sldId id="262" r:id="rId7"/>
    <p:sldId id="263" r:id="rId8"/>
    <p:sldId id="264" r:id="rId9"/>
    <p:sldId id="265" r:id="rId10"/>
    <p:sldId id="318" r:id="rId11"/>
    <p:sldId id="266" r:id="rId12"/>
    <p:sldId id="317" r:id="rId13"/>
    <p:sldId id="268" r:id="rId14"/>
    <p:sldId id="267" r:id="rId15"/>
    <p:sldId id="270" r:id="rId16"/>
    <p:sldId id="271" r:id="rId17"/>
    <p:sldId id="319" r:id="rId18"/>
    <p:sldId id="272" r:id="rId19"/>
    <p:sldId id="273" r:id="rId20"/>
    <p:sldId id="278" r:id="rId21"/>
    <p:sldId id="279" r:id="rId22"/>
    <p:sldId id="280" r:id="rId23"/>
    <p:sldId id="281" r:id="rId24"/>
    <p:sldId id="282" r:id="rId25"/>
    <p:sldId id="325" r:id="rId26"/>
    <p:sldId id="284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4" r:id="rId45"/>
    <p:sldId id="303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2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0" autoAdjust="0"/>
    <p:restoredTop sz="94257" autoAdjust="0"/>
  </p:normalViewPr>
  <p:slideViewPr>
    <p:cSldViewPr snapToGrid="0">
      <p:cViewPr varScale="1">
        <p:scale>
          <a:sx n="77" d="100"/>
          <a:sy n="77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E2695-F581-48C0-A531-10680EF36390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F9E66-859F-4240-B91F-20B4AB01F4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57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6F9E66-859F-4240-B91F-20B4AB01F4A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97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337A-366B-4C74-B921-773757AD0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F49CB-1D76-4FDB-A7D7-F60135F4B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C0F22-F943-4D51-B61B-9D1B6C93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0F60-ECA3-4D94-8252-1369FFE85F3A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4BE42-F43E-4E80-ABE0-68A0478F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650BB-1202-428A-9FB7-776DC339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12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63CE-91D2-4FD4-B76C-AD0B3E27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70F9-1E83-40CB-909C-6F24830FF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A2-447E-4280-B304-39F3C38F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EE32-BDC0-4C15-ACE2-46BB5E348B81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FFB24-10E5-47C7-8165-0DC1B13B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A59B3-F37F-4AAA-804C-8C312332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3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20795-3D33-44D2-965E-AF649550F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D8B0C-2D29-4492-AAC1-CDAC8647A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D10FA-7D08-4D84-917C-E44B8012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E28-552D-4A59-8495-AEFE25A330A5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27BA6-CBE2-4D65-B1D4-00AE3595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6BEDC-8201-4A49-9F57-4724FAA4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24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6A22-5365-4F92-9F98-3FF7C135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4764E-0ACF-4689-AE1F-648B873D4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08AA2-DDE3-4F34-BE49-83D712CA4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CF3AB-8179-494B-AF8D-C7C001F1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9FB15-57F4-461D-93B5-16B184729769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983E-6B2D-49CB-858A-AD721A95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E064F-40A9-44A0-85A9-510818B7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5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CED5-93B5-4AA4-9959-73072EDB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61C98-FE0F-4DB4-AC8C-5535F30C5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9127-DFC3-4BE6-A5A8-CBF3528C6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AB3670-F227-4F79-8D27-96031BD71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21C8A-23B3-46A2-A879-6BB50F6E9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0C9F7-429D-485A-91B8-42977CD1A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D4E9-0106-46FC-9B3A-A7BEB116AA19}" type="datetime1">
              <a:rPr lang="en-US" smtClean="0"/>
              <a:t>3/14/2024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8C425-6BAC-465E-903E-86CCC538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7CAB5-C19B-43B6-9D29-239DD14A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0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164D-6200-4FD0-BB0B-48978690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A4F48-5792-4C3C-B75C-AE9F6B06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B77A-92D9-45A3-B221-62C2003C5A5A}" type="datetime1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B7CDA-4E60-4D8D-9AAF-52411FC9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D67CB-11E9-45E1-ADE8-FBAF67AA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8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7848C-813E-4865-A142-6B74F230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3836-1CC5-40FE-916B-AE82D9F278A2}" type="datetime1">
              <a:rPr lang="en-US" smtClean="0"/>
              <a:t>3/14/2024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A30D3-815B-419E-BD54-66B77CBD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7DEC6-4DA6-4263-A98E-65BF6133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5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2FA7-5F60-4937-A09C-891EEBC8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6AC9-4A7B-452E-93A8-EB0BAC32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D7975-2858-4BA5-94E2-32D31A9F8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85E85-92AD-42DC-BAE7-C948AEC9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F3AE-5850-4CFC-858A-A8F75B58FAB6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1667E-22E7-4E32-A9E2-179805B5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94CD4-33E9-4B4C-806E-F1412364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9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2D53-E230-49BC-8BA1-917D7680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E08D5-9B2F-4E64-A426-BDE5AB5844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02FC4-B1F9-4F06-BD9B-66EB39D00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415B5-1AA2-43B9-9488-5C0CF981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E07C-F9C7-462A-A46C-002C4098BB93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18439-2C39-4544-A20D-1BDF55A4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69663-334E-469D-B96D-63037610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5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B97B-EA9B-47E7-AB6F-9382F9C3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39D63-EDDE-4B77-BCC9-60CBD8F07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FFFF6-1AA1-464A-A1BB-CBBD5F43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B52-FE70-40AC-9C19-B01E9C08100B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2E53B-39C8-49A7-ACD2-2EB144B2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F5BF3-DD7C-4D16-9281-0C95BD1D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5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429DC-5595-436E-9BE6-477BB9E48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5E9A7-D400-4509-94BA-35878722A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50955-7AB7-4B92-AC5E-34AABCC6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6C8D-663D-4304-ADE0-F78CE693F8FD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25D9A-1599-4D02-9E63-7E3508E1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573F5-2954-4218-9B58-A7686946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2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85EB1-DC41-4E85-B9DC-7B977AD41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CE64B-E845-4450-940A-63F0090F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90FE5-267C-4C7F-B5C1-3B6D12818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00C5B-8503-4CB2-9F2F-897BC340B89D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ADD46-3AE7-48F8-A1B4-2712879DF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14D55-A6E3-4E7B-888F-9D81B9D16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22D84-D67F-415B-B9E1-4F6009E49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0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3A11-CCBE-4203-9C18-CBC32547B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73915"/>
          </a:xfrm>
        </p:spPr>
        <p:txBody>
          <a:bodyPr>
            <a:normAutofit fontScale="90000"/>
          </a:bodyPr>
          <a:lstStyle/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DBCF1-B40C-4C73-BB59-49552B684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292625"/>
            <a:ext cx="9753600" cy="406841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paging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Copy-on-Write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Page-replacement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 of frames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Thrashing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35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9DA7-3E77-4502-9DF1-3FAC1080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4" y="302170"/>
            <a:ext cx="11291656" cy="75414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1F0E-F4BC-4079-B943-90880FA5C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87" y="1491448"/>
            <a:ext cx="11728174" cy="400383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needs to be in memory to execute, but entire program rarely used 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code, unusual routines, large data 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are all seldom used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declared array of size 100 cells but only 10 cells are used 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program code not needed (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main memory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at the same time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ability to execute partially-loaded program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I/O needed to load or swap programs into/from memory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each user program would run 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97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A118-EE47-4593-9F45-309CCB6A0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" y="92765"/>
            <a:ext cx="11194774" cy="82163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8B18F-9013-40BC-B61D-5F517B9FB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775534"/>
            <a:ext cx="11900452" cy="4877058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separation of user logical memory from physical memory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perceived by users; that programs exist in contiguous memory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Abstracts physical memory: need not worry about memory requirements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part of the program needs to be in memory for execution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address space can therefore be much larger than physical address space 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Programmers can work as if memory is an unlimited resource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14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079E-2C02-4C2D-A5B1-213C6FE9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43" y="365125"/>
            <a:ext cx="11211757" cy="80672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  <a:endParaRPr lang="en-IN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68D75-57F2-40A2-8782-B1BED399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42" y="1455938"/>
            <a:ext cx="11211757" cy="4721025"/>
          </a:xfrm>
        </p:spPr>
        <p:txBody>
          <a:bodyPr/>
          <a:lstStyle/>
          <a:p>
            <a:pPr marL="457200" lvl="1" indent="0">
              <a:buNone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address spaces to be shared by several processes 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for more efficient process creation 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programs running concurrently;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multi-programming and/or time-sharing </a:t>
            </a:r>
          </a:p>
          <a:p>
            <a:pPr>
              <a:lnSpc>
                <a:spcPct val="100000"/>
              </a:lnSpc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I/O needed to load or swap processes;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hence, faster program execution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1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CDB7-D7F2-4DAC-957C-379C3611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59" y="365125"/>
            <a:ext cx="11009243" cy="708301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AD2E0-AC79-4C12-99C5-5EF5798E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57" y="1621410"/>
            <a:ext cx="11009243" cy="455555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space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logical view of how process is stored in memory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start at address 0, contiguous addresses until end of space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Meanwhile, physical memory organized in page frames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MMU must map logical to physical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can be implemented via: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paging 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segmentation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9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6910-E6BF-4172-B8CD-9FF4A94A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4" y="365125"/>
            <a:ext cx="12099235" cy="41675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That is Larger Than Physical Memory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CA9E5-9EE1-4169-A19E-7B0A71B0D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9" y="1113183"/>
            <a:ext cx="5883965" cy="513004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205F82-43E0-4E90-9595-C01632095ABF}"/>
              </a:ext>
            </a:extLst>
          </p:cNvPr>
          <p:cNvSpPr/>
          <p:nvPr/>
        </p:nvSpPr>
        <p:spPr>
          <a:xfrm>
            <a:off x="92764" y="1405413"/>
            <a:ext cx="5459897" cy="26239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memory may be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organized in page frames and that the physical page frames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to a process may not be contiguous.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up to the memory  management unit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(MMU) to map logical pages to physical page frames in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B53E-6ED9-425B-AD87-869E0AA7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5" y="106532"/>
            <a:ext cx="11141765" cy="4882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Virtual-Address Space of a Process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9F8A6D-D9A2-4174-B4E5-7A4BFEBDB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21" y="713509"/>
            <a:ext cx="7972019" cy="587582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design logical address space for the stack to start at Max logical address and grow “down” while heap grows “up”</a:t>
            </a:r>
          </a:p>
          <a:p>
            <a:pPr lvl="1">
              <a:lnSpc>
                <a:spcPct val="150000"/>
              </a:lnSpc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Maximizes address space use</a:t>
            </a:r>
          </a:p>
          <a:p>
            <a:pPr lvl="1">
              <a:lnSpc>
                <a:spcPct val="150000"/>
              </a:lnSpc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Unused address space between the two is hole</a:t>
            </a:r>
          </a:p>
          <a:p>
            <a:pPr lvl="2">
              <a:lnSpc>
                <a:spcPct val="150000"/>
              </a:lnSpc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physical memory needed until heap or stack grows to a given new page</a:t>
            </a:r>
          </a:p>
          <a:p>
            <a:pPr>
              <a:lnSpc>
                <a:spcPct val="150000"/>
              </a:lnSpc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kumimoji="1"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sparse</a:t>
            </a:r>
            <a:r>
              <a:rPr kumimoji="1" lang="en-US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spaces with holes left for growth, dynamically linked libraries, etc.</a:t>
            </a:r>
          </a:p>
          <a:p>
            <a:pPr>
              <a:lnSpc>
                <a:spcPct val="150000"/>
              </a:lnSpc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can be shared during </a:t>
            </a:r>
            <a:r>
              <a:rPr kumimoji="1"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fork()</a:t>
            </a:r>
            <a:r>
              <a:rPr kumimoji="1"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speeding process creation</a:t>
            </a:r>
          </a:p>
          <a:p>
            <a:pPr lvl="1">
              <a:lnSpc>
                <a:spcPct val="150000"/>
              </a:lnSpc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095F92-A736-4380-98AB-6CD132414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40" y="1381125"/>
            <a:ext cx="3724275" cy="40957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D551-80AC-4DB1-AE18-D0202DC16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43000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Library Using Virtual Memory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51580-0AC7-4149-B5FB-0A39BB611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2962" y="1063625"/>
            <a:ext cx="8058150" cy="526732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84B60-7E06-4E5C-AA4E-DE78236C0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4" y="245165"/>
            <a:ext cx="11208026" cy="56321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Paging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F7220-DF90-4932-995F-DDEE6ED99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3" y="1038045"/>
            <a:ext cx="11088757" cy="55747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bring entire process into memory at load time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bring a page into memory only when it is needed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I/O needed, no unnecessary I/O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memory needed 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users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" descr="9">
            <a:extLst>
              <a:ext uri="{FF2B5EF4-FFF2-40B4-BE49-F238E27FC236}">
                <a16:creationId xmlns:a16="http://schemas.microsoft.com/office/drawing/2014/main" id="{F76B8D80-570B-49CE-9202-0609C7E47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496" y="135465"/>
            <a:ext cx="4452730" cy="604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F658-32CB-489B-BCC5-920914F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365125"/>
            <a:ext cx="11265023" cy="5492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Paging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C2BDA-A861-413D-86B8-7AD99C0C9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77" y="1322773"/>
            <a:ext cx="12011487" cy="48541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paging system with swapping (diagram on right)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reference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Not-in-memory  bring to memory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Lazy swapper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Swapper that deals with pages is a </a:t>
            </a:r>
            <a:r>
              <a:rPr lang="en-US" alt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pager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43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B354-DBB5-4E38-AF05-55E74FBC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" y="112643"/>
            <a:ext cx="11194774" cy="6508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66785-3C91-45AD-8DBB-A369C3AD1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180729"/>
            <a:ext cx="12032974" cy="556462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swapping in a process, the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pager guesses which pages will be used before swapping it out again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pager brings in only those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needed pages into memory 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 swap time and amount of needed physical memory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new MMU hardware support to implement demand paging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distinguish between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in-memory pages and on-disk pages 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valid—invalid scheme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40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7E84-BDE2-417F-9F06-DC5DA974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49600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F5A10-8177-4ED0-9DDC-B6ABBC8A0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4" y="1296140"/>
            <a:ext cx="11993732" cy="48808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pages needed are already memory resident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proceeds normally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page needed and is not memory resident;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find the needed page from the disk and load it into memory 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changing program behavior 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programmer needing to change code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15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32A62-5310-4184-B745-A7EB9EAA8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87" y="365125"/>
            <a:ext cx="11966713" cy="486569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table when some pages are not in main memory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13E53C-3AAF-4FB0-A71F-13B9EFA14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392" y="967409"/>
            <a:ext cx="10190922" cy="563217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2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57-4828-465E-B87E-D9B16481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17" y="158266"/>
            <a:ext cx="10515600" cy="5227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Valid-Invalid Bit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C31D7-8415-4FFC-85B0-E426BDE0B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9" y="923278"/>
            <a:ext cx="11115261" cy="537150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valid–invalid bit is associated with each page-table entry;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each page table entry a valid–invalid bit is associated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in-memory,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not-in-memory)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Initially valid–invalid bit is set to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on all entries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Example of a page table snapshot: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During MMU address translation, if valid–invalid bit in the page table entry is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page fault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EAF447D2-BF81-4FF9-AFB0-07F600DB9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082" y="1191522"/>
            <a:ext cx="3931479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1085-8F49-4988-82DB-315F742B6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57" y="159027"/>
            <a:ext cx="11009243" cy="63610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Handling a Page Fault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4D927C-03CE-458E-BF9D-FC524CA52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861" y="1272209"/>
            <a:ext cx="10677939" cy="490475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52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4BEA-E909-4E6A-8118-77F64B4B0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4" y="377072"/>
            <a:ext cx="11208026" cy="73529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Aspects of Demand Paging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60401-377C-4720-BA65-CF1B9C341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74" y="1376313"/>
            <a:ext cx="11900452" cy="530278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 case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start process with no pages in memory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sets instruction pointer to first instruction of process; logical address = (p, d) 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page p is non-memory-resident then a page fault is issued 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p is loaded and… same for all other process pages on first reference</a:t>
            </a:r>
          </a:p>
          <a:p>
            <a:pPr lvl="3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scheme is pure demand paging: load a page only when it is needed 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87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ED75-6BF6-41AA-91B7-BC7BBBE5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54" y="365126"/>
            <a:ext cx="11256146" cy="6291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  <a:endParaRPr lang="en-IN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BC2D7-A605-4D6D-862D-58B312361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535837"/>
            <a:ext cx="12082509" cy="4641126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given instruction may refer to multiple distinct pages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thus, multiple page faults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fetching the instruction “ADD A, B” and fetching the values of data A and B from memory and then storing the result back to memory 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of “ADD A, B”, “A”, and “B” may all be in three different pages 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page fault per instruction results in unacceptable performance </a:t>
            </a:r>
          </a:p>
          <a:p>
            <a:pPr lvl="2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unlikely, fortunately, due to locality of reference;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47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893D-B086-4F50-984E-AC015189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48" y="365126"/>
            <a:ext cx="11062252" cy="6552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2361A-7A2F-4723-984B-AC9611A8F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47" y="1272209"/>
            <a:ext cx="11701669" cy="490475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needed for demand paging; same as hardware for paging and swapping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table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valid / invalid bit, or special protection bits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memory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swap device with swap space; for not in-memory pages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 restart;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restart any instruction after a page fault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7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8299-496A-4DBF-9657-2FE3C3EEB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381740"/>
            <a:ext cx="11265023" cy="58592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Instruction Restart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77DBD-DF74-4080-80F8-CF816E59C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452"/>
            <a:ext cx="10515600" cy="494451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an instruction that could access several different locations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move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increment/decrement location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Restart the whole operation?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33270-3DF0-49C9-8A30-76BED9C65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2414587"/>
            <a:ext cx="7743825" cy="20288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73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6A01-7A8A-4239-8FAD-18C0F03B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56" y="160256"/>
            <a:ext cx="11022496" cy="82013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Copy-on-Write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D4AE1-D50A-48E5-9079-45E8024E1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527141"/>
            <a:ext cx="11917609" cy="5001477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Copy-on-Write (COW)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both parent and child processes to initially share the same pages in memory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either process modifies a shared page, only then is the page copied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COW allows more efficient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creation as only modified pages are copied </a:t>
            </a:r>
          </a:p>
          <a:p>
            <a:pPr algn="just"/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free pages are allocated from a pool of zero-fill-on-demand pages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 should always have free frames for fast demand page execution </a:t>
            </a:r>
          </a:p>
          <a:p>
            <a:pPr lvl="2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want to have to free a frame as well as other processing on page fault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zero-out a page before allocating it?</a:t>
            </a:r>
          </a:p>
          <a:p>
            <a:pPr marL="457200" lvl="1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99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5EED-DC93-43F4-ACA2-8468B4A4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09" y="365125"/>
            <a:ext cx="11158491" cy="57577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Process 1 Modifies Page 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1A8E70-76D3-465F-8C33-D21916DDD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496" y="1192696"/>
            <a:ext cx="9382539" cy="5300179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97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EAA9-2859-45DB-A40C-99AB7F054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09" y="365126"/>
            <a:ext cx="11158491" cy="6287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Process 1 Modifies Page 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1E94D3-A0EA-4488-BD41-0DFDD2C3F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252" y="1253330"/>
            <a:ext cx="9448800" cy="534543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14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DFD1-6C4C-4C3C-80EA-BD0F5F07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99750"/>
            <a:ext cx="11181522" cy="75235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There is no Free Frame?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615EB-6E69-44AD-97A2-68E6BAB28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78" y="1438182"/>
            <a:ext cx="11874719" cy="522006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pages need to be loaded but not enough free frames available from them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replacement; when paging in pages of a process but no free frames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 the process? 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out some process?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currently un-used frame to free it; 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Replacing the un-used memory page with the new page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– want an algorithm which will result in minimum number of page faults </a:t>
            </a:r>
          </a:p>
          <a:p>
            <a:pPr marL="457200" lvl="1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39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A731-2E94-42D4-89B4-2E6DBA4F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0515600" cy="6552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Page Replacement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2EB125-088E-4E7A-AD55-E9B7B2211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6678" y="1230311"/>
            <a:ext cx="9581322" cy="526256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55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96665-1EF2-0EEC-0ADF-4BCA1B54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47B84-937E-A72F-39DE-9C7D3E8F3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1E711-5A05-0F94-D442-F73E5095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3E05-BCF4-D9AC-55CF-476748B7E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00" y="607639"/>
            <a:ext cx="9878687" cy="459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89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2F67-7154-4142-AC13-EA739EA19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97" y="365125"/>
            <a:ext cx="11114103" cy="5492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B94494-2929-4BF3-A4B9-FB15F970A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33463"/>
            <a:ext cx="10515599" cy="51435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74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E73C-5F12-45FE-9C07-F747A650C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" y="133165"/>
            <a:ext cx="11194774" cy="834245"/>
          </a:xfrm>
        </p:spPr>
        <p:txBody>
          <a:bodyPr>
            <a:normAutofit/>
          </a:bodyPr>
          <a:lstStyle/>
          <a:p>
            <a:r>
              <a:rPr lang="en-US" alt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and Frame Replacement Algorithms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7B39-1E0C-4EC0-88F7-41D5D47CD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87" y="1225118"/>
            <a:ext cx="11807687" cy="56328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tabLst>
                <a:tab pos="3144838" algn="ctr"/>
              </a:tabLst>
            </a:pP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Frame-allocation algorithm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</a:t>
            </a:r>
          </a:p>
          <a:p>
            <a:pPr lvl="1">
              <a:lnSpc>
                <a:spcPct val="150000"/>
              </a:lnSpc>
              <a:tabLst>
                <a:tab pos="3144838" algn="ctr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frames to give each process</a:t>
            </a:r>
          </a:p>
          <a:p>
            <a:pPr lvl="1">
              <a:lnSpc>
                <a:spcPct val="150000"/>
              </a:lnSpc>
              <a:tabLst>
                <a:tab pos="3144838" algn="ctr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frames to replace</a:t>
            </a:r>
          </a:p>
          <a:p>
            <a:pPr>
              <a:lnSpc>
                <a:spcPct val="150000"/>
              </a:lnSpc>
              <a:tabLst>
                <a:tab pos="3144838" algn="ctr"/>
              </a:tabLst>
            </a:pP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Page-replacement algorithm</a:t>
            </a:r>
          </a:p>
          <a:p>
            <a:pPr lvl="1">
              <a:lnSpc>
                <a:spcPct val="150000"/>
              </a:lnSpc>
              <a:tabLst>
                <a:tab pos="3144838" algn="ctr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 lowest page-fault rate on both first access and re-access</a:t>
            </a:r>
          </a:p>
          <a:p>
            <a:pPr>
              <a:lnSpc>
                <a:spcPct val="150000"/>
              </a:lnSpc>
              <a:tabLst>
                <a:tab pos="3144838" algn="ctr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all our examples, the </a:t>
            </a: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referenced page numbers is 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7,0,1,2,0,3,0,4,2,3,0,3,0,3,2,1,2,0,1,7,0,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31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7F18-2F74-4CFF-BB59-3A45A8D2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7" y="365126"/>
            <a:ext cx="11781183" cy="315912"/>
          </a:xfrm>
        </p:spPr>
        <p:txBody>
          <a:bodyPr>
            <a:normAutofit fontScale="90000"/>
          </a:bodyPr>
          <a:lstStyle/>
          <a:p>
            <a:r>
              <a:rPr lang="en-US" alt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of Page Faults Versus the Number of Frames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B8CE0D9-B504-47A7-AB10-3A9E1ED7CA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786" y="1305017"/>
            <a:ext cx="8178427" cy="5079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19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85F9-9E8D-40F8-A558-35088D77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365125"/>
            <a:ext cx="11069715" cy="536023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First-In-First-Out (FIFO) Algorithm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09F00-8BB8-496E-AC9C-79E089829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string: 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7,0,1,2,0,3,0,4,2,3,0,3,0,3,2,1,2,0,1,7,0,1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frames (3 pages can be in memory at a time per process)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track ages of pages? </a:t>
            </a:r>
          </a:p>
          <a:p>
            <a:pPr lvl="1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use a FIFO queue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23556B30-0D07-41E9-ADD3-C51074551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272" y="2500808"/>
            <a:ext cx="7090421" cy="2444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23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7CDCD-123F-4863-AC45-E85B65E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87" y="365125"/>
            <a:ext cx="11229513" cy="536023"/>
          </a:xfrm>
        </p:spPr>
        <p:txBody>
          <a:bodyPr>
            <a:normAutofit fontScale="90000"/>
          </a:bodyPr>
          <a:lstStyle/>
          <a:p>
            <a:r>
              <a:rPr lang="en-US" alt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Belady</a:t>
            </a:r>
            <a:r>
              <a:rPr lang="ja-JP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Anomaly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E7471-FB70-489B-B1A4-F6884B62B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939"/>
            <a:ext cx="10515600" cy="5024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string 1,2,3,4,1,2,5,1,2,3,4,5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more frames can cause more page faults!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illustrating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Belady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Anomaly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" descr="9_13.pdf">
            <a:extLst>
              <a:ext uri="{FF2B5EF4-FFF2-40B4-BE49-F238E27FC236}">
                <a16:creationId xmlns:a16="http://schemas.microsoft.com/office/drawing/2014/main" id="{8A5339CA-AA64-4D01-93EF-C0F685F5C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515" y="3093708"/>
            <a:ext cx="6137743" cy="3764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32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1C62-FD0C-480C-A4FB-A559C39E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3217"/>
            <a:ext cx="11353800" cy="51934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Algorithm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0569F-CB4F-468F-AFE6-62102C54A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4602"/>
            <a:ext cx="10515600" cy="60101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1889125" algn="l"/>
              </a:tabLs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page that will not be used for longest period of time</a:t>
            </a:r>
          </a:p>
          <a:p>
            <a:pPr lvl="1">
              <a:lnSpc>
                <a:spcPct val="150000"/>
              </a:lnSpc>
              <a:tabLst>
                <a:tab pos="1889125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is optimal for the example</a:t>
            </a:r>
          </a:p>
          <a:p>
            <a:pPr>
              <a:lnSpc>
                <a:spcPct val="150000"/>
              </a:lnSpc>
              <a:tabLst>
                <a:tab pos="188912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you know this?</a:t>
            </a:r>
          </a:p>
          <a:p>
            <a:pPr lvl="1">
              <a:lnSpc>
                <a:spcPct val="150000"/>
              </a:lnSpc>
              <a:tabLst>
                <a:tab pos="1889125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read the future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188912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measuring how well your algorithm performs</a:t>
            </a:r>
          </a:p>
          <a:p>
            <a:pPr marL="0" indent="0">
              <a:lnSpc>
                <a:spcPct val="150000"/>
              </a:lnSpc>
              <a:buNone/>
              <a:tabLst>
                <a:tab pos="1889125" algn="l"/>
              </a:tabLs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1889125" algn="l"/>
              </a:tabLs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1889125" algn="l"/>
              </a:tabLs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188912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is an example of </a:t>
            </a: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algorithms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don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suffer from  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Belady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Anomaly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F5181-A968-4D43-8C84-F7924E97E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243" y="4140596"/>
            <a:ext cx="6259513" cy="1802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61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FA5D-E168-4B66-A3FD-9D364E7B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1658"/>
            <a:ext cx="11353800" cy="665752"/>
          </a:xfrm>
        </p:spPr>
        <p:txBody>
          <a:bodyPr>
            <a:normAutofit fontScale="90000"/>
          </a:bodyPr>
          <a:lstStyle/>
          <a:p>
            <a:r>
              <a:rPr lang="en-US" alt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Recently Used (LRU) Algorithm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CE358-76C5-480B-9E4E-4F3E0E923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17" y="967410"/>
            <a:ext cx="10883283" cy="53803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past knowledge rather than future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page that has not been used in the most amount of time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time of last use with each page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faults – better than FIFO but worse than OPT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good algorithm and frequently used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LRU is another example of stack algorithms; thus it does no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suffer from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Belady</a:t>
            </a:r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Anomaly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9">
            <a:extLst>
              <a:ext uri="{FF2B5EF4-FFF2-40B4-BE49-F238E27FC236}">
                <a16:creationId xmlns:a16="http://schemas.microsoft.com/office/drawing/2014/main" id="{58DAE4FA-5A23-443A-A557-8027CC247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338" y="2730017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15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CE1B4-5765-4A26-BB44-C8DA758D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021" y="168676"/>
            <a:ext cx="11424821" cy="51236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LRU Algorithm Implementation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6A51-207F-423D-BD99-BBDA91A7D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97" y="782425"/>
            <a:ext cx="11114103" cy="577863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Time-counter implementation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page entry has a time-counter variable; every time a page is referenced through this entry, copy the value of the clock into the time-counter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page needs to be changed, look at the time-counters to find smallest value</a:t>
            </a:r>
          </a:p>
          <a:p>
            <a:pPr lvl="2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through a table is needed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implementation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 stack of page numbers in a double link form: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referenced:</a:t>
            </a:r>
          </a:p>
          <a:p>
            <a:pPr lvl="2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it to the top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each update more expensive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search for replacement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11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EB83-86C9-4E7B-83C6-F859AACA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9" y="221943"/>
            <a:ext cx="11273901" cy="679206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accent6"/>
                </a:solidFill>
              </a:rPr>
              <a:t>Stack Implementation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C514-9C63-4DF9-8336-4805F69B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417"/>
            <a:ext cx="10515600" cy="5156546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 stack to record most recent page 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" descr="9_16.pdf">
            <a:extLst>
              <a:ext uri="{FF2B5EF4-FFF2-40B4-BE49-F238E27FC236}">
                <a16:creationId xmlns:a16="http://schemas.microsoft.com/office/drawing/2014/main" id="{5DDF9D33-F75C-46EC-BE50-BA754AA7C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659" y="1960008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39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1F9B-DF04-4DD4-BA0A-08607BAA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365126"/>
            <a:ext cx="11265023" cy="76131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LRU Approximation Algorithms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B28B-06DE-4A6A-AD80-9F3FE2D67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1615736"/>
            <a:ext cx="11105225" cy="45612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special hardware</a:t>
            </a:r>
          </a:p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bit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each page associate a bit, initially = 0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page is referenced bit set to 1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any with reference bit = 0 (if one exists)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 not know the order, however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1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02801-CAA7-4551-854B-7C1D6FCC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19" y="150921"/>
            <a:ext cx="11122981" cy="816745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LRU Approximation Algorithms (cont.)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1FBA9-19CC-4C62-9E2F-A07A5CB61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1464816"/>
            <a:ext cx="11220635" cy="471214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Second-chance algorithm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FIFO, plus hardware-provided reference bit</a:t>
            </a:r>
          </a:p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replacement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page to be replaced has </a:t>
            </a:r>
          </a:p>
          <a:p>
            <a:pPr lvl="2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bit = 0 -&gt; replace it</a:t>
            </a:r>
          </a:p>
          <a:p>
            <a:pPr lvl="2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bit = 1 then:</a:t>
            </a:r>
          </a:p>
          <a:p>
            <a:pPr lvl="3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reference bit 0, leave page in memory</a:t>
            </a:r>
          </a:p>
          <a:p>
            <a:pPr lvl="3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next page, subject to same rules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09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B0D5-C4AC-40B5-9F08-B408D17C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2360"/>
            <a:ext cx="11274287" cy="549275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Second-chance Algorithm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" descr="9_17.pdf">
            <a:extLst>
              <a:ext uri="{FF2B5EF4-FFF2-40B4-BE49-F238E27FC236}">
                <a16:creationId xmlns:a16="http://schemas.microsoft.com/office/drawing/2014/main" id="{06CBE013-AA7E-4FAE-A519-F4F4B0824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695" y="821635"/>
            <a:ext cx="8123583" cy="5764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39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4A4ED-FF43-4013-B05C-2702958E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1353800" cy="58903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Second-Chance Algorithm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18E87-1331-4580-8547-A351F1E3F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1145218"/>
            <a:ext cx="11105225" cy="5347655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algorithm by using reference bit and modify bit (if available) in concert</a:t>
            </a:r>
          </a:p>
          <a:p>
            <a:pPr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ordered pair (reference, modify):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0) neither recently used not modified – best page to replace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1) not recently used but modified – not quite as good, must write out before replacement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0) recently used but clean – probably will be used again soon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1) recently used and modified – probably will be used again soon and need to write out before replacement</a:t>
            </a:r>
          </a:p>
          <a:p>
            <a:pPr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page replacement called for, use the clock scheme  but use the four classes replace page in lowest non-empty class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 need to search circular queue several times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62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27E5-E1B2-461D-8DB6-1D24F6677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54" y="365125"/>
            <a:ext cx="11256146" cy="681797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Algorithms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2D26F-1060-427F-927B-BA01025C0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41" y="1338470"/>
            <a:ext cx="11051959" cy="48384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 counter of the number of references that have been made to each page</a:t>
            </a:r>
          </a:p>
          <a:p>
            <a:pPr lvl="1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common</a:t>
            </a:r>
          </a:p>
          <a:p>
            <a:pPr>
              <a:lnSpc>
                <a:spcPct val="150000"/>
              </a:lnSpc>
            </a:pPr>
            <a:r>
              <a:rPr lang="en-US" altLang="en-US" sz="26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Lease Frequently Used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6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LFU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6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Replaces page with smallest count</a:t>
            </a:r>
          </a:p>
          <a:p>
            <a:pPr>
              <a:lnSpc>
                <a:spcPct val="150000"/>
              </a:lnSpc>
            </a:pPr>
            <a:r>
              <a:rPr lang="en-US" altLang="en-US" sz="26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Frequently Used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6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MFU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6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argument that the page with the smallest count was probably just brought in and has yet to be used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45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0C67-211B-4671-8B39-451A5ABD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365126"/>
            <a:ext cx="11176247" cy="615536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Page-Buffering Algorithms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7830F-C265-41D7-B306-2D865ED2E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3" y="1482571"/>
            <a:ext cx="11176247" cy="469439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a pool of free frames, always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frame available when needed, not found at fault time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page into free frame and select victim to evict and add to free pool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convenient, evict victim</a:t>
            </a:r>
          </a:p>
          <a:p>
            <a:pPr algn="just">
              <a:lnSpc>
                <a:spcPct val="150000"/>
              </a:lnSpc>
            </a:pPr>
            <a:r>
              <a:rPr lang="en-US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Possibly, keep list of modified pages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backing store otherwise idle, write pages there and set to non-dirty</a:t>
            </a:r>
          </a:p>
          <a:p>
            <a:pPr algn="just">
              <a:lnSpc>
                <a:spcPct val="150000"/>
              </a:lnSpc>
            </a:pPr>
            <a:r>
              <a:rPr lang="en-US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Possibly, keep free frame contents intact and note what is in them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referenced again before reused, no need to load contents again from disk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9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C719-ABBC-4F46-90F8-729BE4CFA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2" y="365125"/>
            <a:ext cx="11131858" cy="536023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Page Replacement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B34CA-277B-4DC1-AE9C-6FEAB74B8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41" y="1669002"/>
            <a:ext cx="11051959" cy="482387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of these algorithms have OS guessing about future page access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applications have better knowledge – i.e., databases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intensive applications can cause double buffering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keeps copy of page in memory as I/O buffer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keeps page in memory for its own work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can provide direct access to the disk, getting out of the way of the applications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928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0212-2AB8-44C8-A21F-10C2AC3B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0" y="365125"/>
            <a:ext cx="11238390" cy="68179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 of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E6AC-5EBA-48BA-8846-10A962A19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09" y="1411550"/>
            <a:ext cx="11158491" cy="476541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needs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frames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IBM 370 – 6 pages to handle SS MOVE instruction: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is 6 bytes, might span 2 pages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pages to handle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pages to handle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  <a:p>
            <a:pPr>
              <a:lnSpc>
                <a:spcPct val="150000"/>
              </a:lnSpc>
            </a:pP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course is total frames in the system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major allocation schemes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allocation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allocation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11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757C-522D-4FF1-849F-83510C29E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98" y="204186"/>
            <a:ext cx="11194002" cy="47685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Allocation</a:t>
            </a:r>
            <a:endParaRPr lang="en-US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1566B-61BF-47D2-B895-86B5DE424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98" y="1172817"/>
            <a:ext cx="11194002" cy="500414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allocation – For example, if there are 100 frames (after allocating frames for the OS) and 5 processes, give each process 20 frames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some as free frame buffer pool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allocation – Allocate according to the size of process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as degree of multiprogramming, process sizes change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19690FE4-65AC-43F0-AC05-81F55418C9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720935"/>
              </p:ext>
            </p:extLst>
          </p:nvPr>
        </p:nvGraphicFramePr>
        <p:xfrm>
          <a:off x="1740608" y="4275138"/>
          <a:ext cx="3867150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500" imgH="1612900" progId="Equation.3">
                  <p:embed/>
                </p:oleObj>
              </mc:Choice>
              <mc:Fallback>
                <p:oleObj name="Equation" r:id="rId2" imgW="2857500" imgH="1612900" progId="Equation.3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60101F45-DE12-4B60-9040-E3AC5E8C5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0608" y="4275138"/>
                        <a:ext cx="3867150" cy="190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8F9D0B-F35E-4DFC-929E-DAF2AB145C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071097"/>
              </p:ext>
            </p:extLst>
          </p:nvPr>
        </p:nvGraphicFramePr>
        <p:xfrm>
          <a:off x="7866970" y="3502729"/>
          <a:ext cx="4165232" cy="2919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1460500" progId="Equation.3">
                  <p:embed/>
                </p:oleObj>
              </mc:Choice>
              <mc:Fallback>
                <p:oleObj name="Equation" r:id="rId4" imgW="1143000" imgH="1460500" progId="Equation.3">
                  <p:embed/>
                  <p:pic>
                    <p:nvPicPr>
                      <p:cNvPr id="1027" name="Object 3">
                        <a:extLst>
                          <a:ext uri="{FF2B5EF4-FFF2-40B4-BE49-F238E27FC236}">
                            <a16:creationId xmlns:a16="http://schemas.microsoft.com/office/drawing/2014/main" id="{5598D165-43F5-47B6-A2A0-4E723009E1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6970" y="3502729"/>
                        <a:ext cx="4165232" cy="2919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502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9B47-28A1-4981-A201-0C08DF0C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54" y="365125"/>
            <a:ext cx="11256146" cy="70830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ABFE9-18E9-415F-90AD-5ECA0917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53" y="1544715"/>
            <a:ext cx="12029243" cy="494816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 proportional allocation scheme using priorities rather than size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high-priority process Pi generates a page fault,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for replacement one of its frames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for replacement a frame from a process with lower priority number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898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787E-E286-472D-A4CF-61DD4A21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43" y="365125"/>
            <a:ext cx="11211757" cy="721553"/>
          </a:xfrm>
        </p:spPr>
        <p:txBody>
          <a:bodyPr/>
          <a:lstStyle/>
          <a:p>
            <a:r>
              <a:rPr lang="en-US" altLang="en-US" b="1" dirty="0">
                <a:solidFill>
                  <a:srgbClr val="00B050"/>
                </a:solidFill>
              </a:rPr>
              <a:t>Global vs. Local Allocation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33C8C-F424-4F1F-BE06-3E9DB42D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43" y="1633491"/>
            <a:ext cx="11958221" cy="485938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lang="en-US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replacement</a:t>
            </a:r>
            <a:r>
              <a:rPr lang="en-US" altLang="en-US" sz="24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process selects a replacement frame from the set of all frames; one process can take a frame from another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replacement</a:t>
            </a:r>
            <a:r>
              <a:rPr lang="en-US" altLang="en-US" sz="24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each process selects from only its own set of allocated frames</a:t>
            </a:r>
          </a:p>
          <a:p>
            <a:pPr marL="457200" lvl="1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95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9F3B-CF8B-489C-85BF-77AD65B6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76" y="292963"/>
            <a:ext cx="11185124" cy="5419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Non-Uniform Memory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AF505-7803-443D-8E5F-36F8FD284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1411550"/>
            <a:ext cx="11860567" cy="476541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far we have assume that all main memory is accessed equally</a:t>
            </a:r>
          </a:p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are NUMA – speed of access to memory varies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system boards containing CPUs and memory, interconnected over a system bus or a high-speed network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performance comes from allocating memory frames “as close as possible to” the CPU on which the process or thread is running or scheduled </a:t>
            </a:r>
          </a:p>
          <a:p>
            <a:pPr lvl="1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issues solved by Solaris by creating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lgroups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that is, latency groups </a:t>
            </a:r>
          </a:p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not possible, then pick a nearby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lgroup</a:t>
            </a: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432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E5285-960F-460E-B377-48539AF7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0" y="71021"/>
            <a:ext cx="11238390" cy="6100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22A1B-527B-419F-AF93-0062E91C6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10" y="1171852"/>
            <a:ext cx="12076590" cy="500511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process does not have </a:t>
            </a:r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enough</a:t>
            </a:r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pages, the page-fault rate is very high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fault to get page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existing frame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quickly need the replaced frame back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to: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CPU utilization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thinking that it needs to increase the degree of multiprogramming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process added to the system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Thrashing</a:t>
            </a:r>
            <a:r>
              <a:rPr lang="en-US" altLang="en-US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 process is busy swapping pages in and out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B:\os-book\os10-dir\Slides-WORK-area\Figures-dir\ch10\JPG-dir\10_20.jpg">
            <a:extLst>
              <a:ext uri="{FF2B5EF4-FFF2-40B4-BE49-F238E27FC236}">
                <a16:creationId xmlns:a16="http://schemas.microsoft.com/office/drawing/2014/main" id="{6D6B9412-E09C-4B32-AD3B-F544F4D53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967" y="1470991"/>
            <a:ext cx="3888170" cy="2372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405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B549-C32A-4A85-8BFA-AC84FEAD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1353800" cy="3159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446B-AEB6-44B5-971B-69BD68CE1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3" y="1109708"/>
            <a:ext cx="12014447" cy="50672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Locality</a:t>
            </a:r>
            <a:r>
              <a:rPr lang="en-US" altLang="en-US" sz="20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migrates from one locality to another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Localities may overlap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thrashing occur?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 size of locality &gt; total memory size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To avoid trashing: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Calculate the  size of locality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Policy: </a:t>
            </a:r>
          </a:p>
          <a:p>
            <a:pPr lvl="2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 size of locality &gt; total memory size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suspend or swap out one of the processes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Issue: how to calculate “ size of locality” 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50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7E14D-28F4-4888-B31E-9557E849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536023"/>
          </a:xfrm>
        </p:spPr>
        <p:txBody>
          <a:bodyPr>
            <a:normAutofit fontScale="90000"/>
          </a:bodyPr>
          <a:lstStyle/>
          <a:p>
            <a:r>
              <a:rPr lang="en-US" alt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Locality In A Memory-Reference Pattern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" descr="9_19.pdf">
            <a:extLst>
              <a:ext uri="{FF2B5EF4-FFF2-40B4-BE49-F238E27FC236}">
                <a16:creationId xmlns:a16="http://schemas.microsoft.com/office/drawing/2014/main" id="{44FA7856-FA6B-4520-83C4-A68DD972A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705" y="1278385"/>
            <a:ext cx="5655076" cy="4956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87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CB41-2468-4FD6-87EE-33E7C6F5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6" y="365126"/>
            <a:ext cx="11149614" cy="456509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Working-Set Model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343E-70BF-4A6D-9FB7-8BAFC1C32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86" y="1340527"/>
            <a:ext cx="10876014" cy="579711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WSS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(working set of Process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 total number of pages referenced in the most recent  (varies in time)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 too small will not encompass the entire locality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 =   will encompass entire program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Example</a:t>
            </a:r>
          </a:p>
          <a:p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56E6BD6-2C00-4007-B069-51FA8BCCD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901" y="4530932"/>
            <a:ext cx="5393313" cy="2173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40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CD17-FB2C-4789-8E38-C058281B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1353800" cy="60228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8124-BD64-41B4-B584-69BCD0FC2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718" y="1245704"/>
            <a:ext cx="11043082" cy="4931259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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WSS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 total demand frames </a:t>
            </a:r>
          </a:p>
          <a:p>
            <a:pPr lvl="1" algn="just">
              <a:lnSpc>
                <a:spcPct val="17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Approximation of locality</a:t>
            </a:r>
          </a:p>
          <a:p>
            <a:pPr>
              <a:lnSpc>
                <a:spcPct val="170000"/>
              </a:lnSpc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total number of frames</a:t>
            </a:r>
          </a:p>
          <a:p>
            <a:pPr>
              <a:lnSpc>
                <a:spcPct val="17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&gt;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Thrashing</a:t>
            </a:r>
          </a:p>
          <a:p>
            <a:pPr>
              <a:lnSpc>
                <a:spcPct val="17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Policy if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&gt; m, then suspend or swap out one of the processes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06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9C87-FAED-40D3-B3CA-E83B427BD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0" y="365126"/>
            <a:ext cx="11202880" cy="774562"/>
          </a:xfrm>
        </p:spPr>
        <p:txBody>
          <a:bodyPr/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Keeping Track of the Working Set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D70E-DD69-4200-9731-E2258FFF8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96" y="1364974"/>
            <a:ext cx="11034204" cy="481198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with interval timer + a reference bit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479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CD87-07CF-4159-A157-EBF22DC8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575779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Sets and Page Fault Rates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25EE6-2B23-44D7-83F0-57EE5D8AB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922"/>
            <a:ext cx="10515600" cy="5130041"/>
          </a:xfrm>
        </p:spPr>
        <p:txBody>
          <a:bodyPr/>
          <a:lstStyle/>
          <a:p>
            <a:pPr>
              <a:lnSpc>
                <a:spcPct val="150000"/>
              </a:lnSpc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Direct relationship between working set of a process and its page-fault rate</a:t>
            </a:r>
          </a:p>
          <a:p>
            <a:pPr>
              <a:lnSpc>
                <a:spcPct val="150000"/>
              </a:lnSpc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Working set changes over time</a:t>
            </a:r>
          </a:p>
          <a:p>
            <a:pPr>
              <a:lnSpc>
                <a:spcPct val="150000"/>
              </a:lnSpc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Peaks and valleys over time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9">
            <a:extLst>
              <a:ext uri="{FF2B5EF4-FFF2-40B4-BE49-F238E27FC236}">
                <a16:creationId xmlns:a16="http://schemas.microsoft.com/office/drawing/2014/main" id="{6A60CF31-E331-4999-9F29-BC62AEA90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901" y="3964022"/>
            <a:ext cx="58023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855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EAB3-B4D9-4758-A4CD-430428D91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4" y="365125"/>
            <a:ext cx="11291656" cy="66854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Page-Fault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14C8B-CA85-4E35-8BC5-5A8696504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670"/>
            <a:ext cx="10515600" cy="514329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direct approach than WSS</a:t>
            </a:r>
          </a:p>
          <a:p>
            <a:pPr>
              <a:lnSpc>
                <a:spcPct val="16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</a:t>
            </a:r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acceptable</a:t>
            </a:r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page-fault frequency</a:t>
            </a:r>
            <a:r>
              <a:rPr lang="en-US" altLang="ja-JP" sz="20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PFF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ja-JP" sz="20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and use local replacement policy</a:t>
            </a:r>
          </a:p>
          <a:p>
            <a:pPr lvl="1">
              <a:lnSpc>
                <a:spcPct val="16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actual rate too low, process loses frame</a:t>
            </a:r>
          </a:p>
          <a:p>
            <a:pPr lvl="1">
              <a:lnSpc>
                <a:spcPct val="16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actual rate too high, process gains frame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" descr="9_21.pdf">
            <a:extLst>
              <a:ext uri="{FF2B5EF4-FFF2-40B4-BE49-F238E27FC236}">
                <a16:creationId xmlns:a16="http://schemas.microsoft.com/office/drawing/2014/main" id="{14F3B731-6D02-4F93-8621-9EB04F0D5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834" y="2796210"/>
            <a:ext cx="5103813" cy="36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31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7855-3A70-4686-B2B4-956A0A82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6D71E-BF04-41A6-A75C-3F7D0BEAE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Consider a main memory with five page frames and the following sequence of page references: 3, 8, 2, 3, 9, 1, 6, 3, 8, 9, 3, 6, 2, 1, 3. Which one of the following is true with respect to page replacement policies First-In-First Out (FIFO) and Least Recently Used (LRU)?</a:t>
            </a:r>
          </a:p>
          <a:p>
            <a:pPr algn="l" fontAlgn="base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(A)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 Both incur the same number of page faults</a:t>
            </a:r>
            <a:br>
              <a:rPr lang="en-US" b="0" i="0" dirty="0">
                <a:solidFill>
                  <a:srgbClr val="40424E"/>
                </a:solidFill>
                <a:effectLst/>
                <a:latin typeface="urw-din"/>
              </a:rPr>
            </a:br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(B)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 FIFO incurs 2 more page faults than LRU</a:t>
            </a:r>
            <a:br>
              <a:rPr lang="en-US" b="0" i="0" dirty="0">
                <a:solidFill>
                  <a:srgbClr val="40424E"/>
                </a:solidFill>
                <a:effectLst/>
                <a:latin typeface="urw-din"/>
              </a:rPr>
            </a:br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(C)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 LRU incurs 2 more page faults than FIFO</a:t>
            </a:r>
            <a:br>
              <a:rPr lang="en-US" b="0" i="0" dirty="0">
                <a:solidFill>
                  <a:srgbClr val="40424E"/>
                </a:solidFill>
                <a:effectLst/>
                <a:latin typeface="urw-din"/>
              </a:rPr>
            </a:br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(D)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 FIFO incurs 1 more page faults than LRU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760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E48CF8-8AAB-478C-86A1-A458E55757E4}"/>
              </a:ext>
            </a:extLst>
          </p:cNvPr>
          <p:cNvSpPr txBox="1"/>
          <p:nvPr/>
        </p:nvSpPr>
        <p:spPr>
          <a:xfrm>
            <a:off x="3610466" y="2498103"/>
            <a:ext cx="4620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2D84-D67F-415B-B9E1-4F6009E49E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1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4513</TotalTime>
  <Words>2709</Words>
  <Application>Microsoft Office PowerPoint</Application>
  <PresentationFormat>Widescreen</PresentationFormat>
  <Paragraphs>393</Paragraphs>
  <Slides>56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Arial</vt:lpstr>
      <vt:lpstr>Calibri</vt:lpstr>
      <vt:lpstr>Calibri Light</vt:lpstr>
      <vt:lpstr>Monotype Sorts</vt:lpstr>
      <vt:lpstr>Times New Roman</vt:lpstr>
      <vt:lpstr>urw-din</vt:lpstr>
      <vt:lpstr>Webdings</vt:lpstr>
      <vt:lpstr>Wingdings</vt:lpstr>
      <vt:lpstr>Office Theme</vt:lpstr>
      <vt:lpstr>Equation</vt:lpstr>
      <vt:lpstr>PowerPoint Presentation</vt:lpstr>
      <vt:lpstr>Background</vt:lpstr>
      <vt:lpstr>Cont..</vt:lpstr>
      <vt:lpstr>Cont..</vt:lpstr>
      <vt:lpstr>Cont..</vt:lpstr>
      <vt:lpstr>Virtual Memory That is Larger Than Physical Memory</vt:lpstr>
      <vt:lpstr>Virtual-Address Space of a Process</vt:lpstr>
      <vt:lpstr>Shared Library Using Virtual Memory</vt:lpstr>
      <vt:lpstr>Demand Paging</vt:lpstr>
      <vt:lpstr>Demand Paging</vt:lpstr>
      <vt:lpstr>Basic Concepts</vt:lpstr>
      <vt:lpstr>Basic Concepts</vt:lpstr>
      <vt:lpstr>Page table when some pages are not in main memory</vt:lpstr>
      <vt:lpstr>Valid-Invalid Bit</vt:lpstr>
      <vt:lpstr>Steps in Handling a Page Fault</vt:lpstr>
      <vt:lpstr>Aspects of Demand Paging </vt:lpstr>
      <vt:lpstr>Cont..</vt:lpstr>
      <vt:lpstr>Cont..</vt:lpstr>
      <vt:lpstr>Instruction Restart</vt:lpstr>
      <vt:lpstr>Copy-on-Write</vt:lpstr>
      <vt:lpstr>Before Process 1 Modifies Page C</vt:lpstr>
      <vt:lpstr>After Process 1 Modifies Page C</vt:lpstr>
      <vt:lpstr>What Happens if There is no Free Frame?</vt:lpstr>
      <vt:lpstr>Need For Page Replacement</vt:lpstr>
      <vt:lpstr>PowerPoint Presentation</vt:lpstr>
      <vt:lpstr>Page Replacement</vt:lpstr>
      <vt:lpstr>Page and Frame Replacement Algorithms</vt:lpstr>
      <vt:lpstr>Graph of Page Faults Versus the Number of Frames</vt:lpstr>
      <vt:lpstr>First-In-First-Out (FIFO) Algorithm</vt:lpstr>
      <vt:lpstr>Belady’s Anomaly</vt:lpstr>
      <vt:lpstr>Optimal Algorithm</vt:lpstr>
      <vt:lpstr>Least Recently Used (LRU) Algorithm</vt:lpstr>
      <vt:lpstr>LRU Algorithm Implementation</vt:lpstr>
      <vt:lpstr>Stack Implementation</vt:lpstr>
      <vt:lpstr>LRU Approximation Algorithms</vt:lpstr>
      <vt:lpstr>LRU Approximation Algorithms (cont.)</vt:lpstr>
      <vt:lpstr>Second-chance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Priority Allocation</vt:lpstr>
      <vt:lpstr>Global vs. Local Allocation</vt:lpstr>
      <vt:lpstr>Non-Uniform Memory Access</vt:lpstr>
      <vt:lpstr>Thrashing</vt:lpstr>
      <vt:lpstr>Cont..</vt:lpstr>
      <vt:lpstr>Locality In A Memory-Reference Pattern</vt:lpstr>
      <vt:lpstr>Working-Set Model</vt:lpstr>
      <vt:lpstr>Cont..</vt:lpstr>
      <vt:lpstr>Keeping Track of the Working Set</vt:lpstr>
      <vt:lpstr>Working Sets and Page Fault Rates</vt:lpstr>
      <vt:lpstr>Page-Fault Frequency</vt:lpstr>
      <vt:lpstr>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Module-4</dc:title>
  <dc:creator>Manjunath Varchagall</dc:creator>
  <cp:lastModifiedBy>Dr.J</cp:lastModifiedBy>
  <cp:revision>59</cp:revision>
  <dcterms:created xsi:type="dcterms:W3CDTF">2021-03-30T08:55:28Z</dcterms:created>
  <dcterms:modified xsi:type="dcterms:W3CDTF">2024-03-14T04:55:38Z</dcterms:modified>
</cp:coreProperties>
</file>