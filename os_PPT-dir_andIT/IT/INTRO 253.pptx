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F7087-2F6D-F4E5-0C99-5F33F612D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FCAB8F-C91A-1A97-4AB5-A747FEA23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B3130-E2C2-FC6C-2876-89AFB0DBC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FC7A-CC0B-5971-8DE0-B02F7564B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47759-182D-1C14-12C0-71A71370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302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EEE30-E4F6-D62A-A4CA-E9745760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A1D60-8423-C955-C76A-C8A0FAD27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ECE6E-ACF5-3C57-0083-22202F041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8386B-8D65-A246-B0C5-DE63026D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86829-0386-6440-F3DF-5D185EA4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98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D35B5-E68C-B9E4-55BF-655709948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323A9-0660-4A6C-2C08-745AB19B4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80A21A-6000-D25C-0A85-ABCD420C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1B13B-6B8B-7834-A700-EB8BCD7B4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04D04-5C3A-41D0-DE8A-BB7AE5585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496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0065-120D-6B36-047C-0C89ED99A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2D47F-643B-BD73-7818-0D23EECA9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60E06F-088A-2591-B6B1-97D6E25381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49FDD3-BB65-0C29-398A-412480C8A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C34FE-2B2E-B586-68CE-BFA11D5A2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14158-75AA-36C4-3A1E-878D7F3E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3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A0B9-0900-4D6F-3A1A-1600E233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9FC20-5CAC-46EC-68A1-FD5F69DA8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60C37-B8A6-6F18-3002-3F846D75E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2EC95A-6134-2353-B379-6321F31558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9550A6-6C54-639A-2A83-221843ECF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8FC6E9-3843-9099-3DFF-F300A751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99656E-AFF0-8995-DBFA-AE630F7E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F83F17-6F3A-3CA6-BA1A-7FA807AFB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70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32DB-4944-9DDA-2D41-1D2B04AE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08796E-561B-DB18-29C5-46E21E7D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93C3B-DBFF-3FFA-DC11-EDC60556D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1AC699-E422-ED54-CA13-1EAD640E4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253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E0C075-DB5C-0EFA-7574-FD34DBC8C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EB9FD-7F6E-29E4-06CD-871F722B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A64EB-5382-E1FF-F9EB-C0C94CD75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608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3E6C1-0B64-E1BA-6241-4D2BAA89D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965C0-5F5C-AFB5-4DF1-7D56842FC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7F468-087A-C024-6E8B-AB1797244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98EE8-CBBE-AFF3-4CDB-3E83DA92A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77CC9E-7CE5-5CD5-A271-4342F7EB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F02B0-7F71-CB75-5403-121AE70BC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796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77EA9-C4C7-941D-C875-85ADCFFFA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08B7DE-19B2-30F1-C816-DD6798CB31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D8583-1B2B-3388-9669-01D97A7E2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423D1-BE3A-A9E7-C862-4AA3CCCA6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5223F-22D0-423D-5824-429C54BE3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55DE5-0D05-500D-6A08-7146E9FA2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43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FDCFF-07A3-74A4-8848-B87D5F75B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A46CF7-9AA2-A24B-FB4A-6D2B985D36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0EEED-D0B3-3A4C-A3DB-BAFB64A92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BC20B-4EBA-4EA4-81F1-66FCB8C8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D6833-5B71-49CB-B48B-4D1FEA0D6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50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B49A70-1F74-E7BD-4CE3-15EF528D8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DE2F0-C703-8861-4C50-3AF4516FA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C397-AF93-77A9-3024-1CC581D2C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088DC-B073-E0B5-CA67-EE94E8E81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54535-EF6C-268F-726B-D453A2A8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824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07D9D-AC6A-23DB-F01B-984A7D4D1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25D153-D8F8-2B60-889D-334B1B4DF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4319F-E329-1016-0D5C-DA2E9F6E9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55988-813D-44B2-9A71-DD0827A654B0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91BC6-F915-0A25-BB03-2A45B7B6D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023FE-2BB1-FE4E-4A2A-022BB72887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255F6-CF8A-49A7-B52B-E423934075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543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7DFF-B952-030F-86D9-00CAA7E73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3767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IT253 OPERATING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838411-AC6A-86E2-0C46-F5E79F5325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15019"/>
            <a:ext cx="9144000" cy="2387600"/>
          </a:xfrm>
        </p:spPr>
        <p:txBody>
          <a:bodyPr>
            <a:normAutofit fontScale="85000" lnSpcReduction="20000"/>
          </a:bodyPr>
          <a:lstStyle/>
          <a:p>
            <a:endParaRPr lang="en-IN" sz="2800" b="1" dirty="0">
              <a:solidFill>
                <a:srgbClr val="7030A0"/>
              </a:solidFill>
            </a:endParaRPr>
          </a:p>
          <a:p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4000" b="1" dirty="0">
                <a:solidFill>
                  <a:srgbClr val="7030A0"/>
                </a:solidFill>
              </a:rPr>
              <a:t>DR. JANANI T</a:t>
            </a:r>
          </a:p>
          <a:p>
            <a:r>
              <a:rPr lang="en-IN" sz="4000" b="1" dirty="0">
                <a:solidFill>
                  <a:srgbClr val="7030A0"/>
                </a:solidFill>
              </a:rPr>
              <a:t>ASSISTANT PROFESSOR</a:t>
            </a:r>
          </a:p>
          <a:p>
            <a:r>
              <a:rPr lang="en-IN" sz="4000" b="1" dirty="0">
                <a:solidFill>
                  <a:srgbClr val="7030A0"/>
                </a:solidFill>
              </a:rPr>
              <a:t>DEPT OF IT, NITK</a:t>
            </a:r>
            <a:endParaRPr lang="en-IN" sz="3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562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DF35A-CDB0-F86B-2443-96DD93004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608" y="196159"/>
            <a:ext cx="10515600" cy="728179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About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A734D-85D5-6A47-B7ED-B8E8BC30B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174" y="1253330"/>
            <a:ext cx="10515600" cy="54085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Course Code : IT253</a:t>
            </a:r>
          </a:p>
          <a:p>
            <a:pPr marL="0" indent="0"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 T P: 3 0 2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Contact hours: </a:t>
            </a:r>
            <a:r>
              <a:rPr lang="en-IN" sz="20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 per week – Lecture &amp; 2 per week – Lab</a:t>
            </a: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Pre-requisites: </a:t>
            </a:r>
            <a:r>
              <a:rPr lang="en-IN" sz="20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Basic C programming, Basic shell programming, Computer Organization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0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Rubrics: </a:t>
            </a:r>
            <a:r>
              <a:rPr lang="en-IN" sz="1800" b="1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Theory: (75%)</a:t>
            </a:r>
            <a:endParaRPr lang="en-IN" sz="1800" dirty="0">
              <a:solidFill>
                <a:srgbClr val="00000A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20% Mid-</a:t>
            </a:r>
            <a:r>
              <a:rPr lang="en-IN" sz="1800" dirty="0" err="1">
                <a:solidFill>
                  <a:srgbClr val="00000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</a:t>
            </a: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Theory Exam – As per the academic calendar [Feb-18 – Feb-24]</a:t>
            </a:r>
            <a:endParaRPr lang="en-IN" sz="1800" dirty="0">
              <a:solidFill>
                <a:srgbClr val="00000A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40% End Sem Theory Exam -</a:t>
            </a:r>
            <a:r>
              <a:rPr lang="en-US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As per the Academic calendar [April-23 – May-03]</a:t>
            </a:r>
            <a:endParaRPr lang="en-IN" sz="1800" dirty="0">
              <a:solidFill>
                <a:srgbClr val="00000A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15% Quiz/Assignment/Test  </a:t>
            </a:r>
          </a:p>
          <a:p>
            <a:pPr marL="1609725">
              <a:lnSpc>
                <a:spcPct val="120000"/>
              </a:lnSpc>
              <a:spcBef>
                <a:spcPts val="0"/>
              </a:spcBef>
            </a:pPr>
            <a:r>
              <a:rPr lang="en-IN" sz="1800" b="1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Quiz I:  </a:t>
            </a:r>
            <a:r>
              <a:rPr lang="en-IN" sz="1800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Feb-12 (Tentative)</a:t>
            </a:r>
          </a:p>
          <a:p>
            <a:pPr marL="1609725">
              <a:lnSpc>
                <a:spcPct val="120000"/>
              </a:lnSpc>
              <a:spcBef>
                <a:spcPts val="0"/>
              </a:spcBef>
            </a:pPr>
            <a:r>
              <a:rPr lang="en-IN" sz="1800" b="1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Test:</a:t>
            </a:r>
            <a:r>
              <a:rPr lang="en-IN" sz="1800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 March 26 (Tentative) </a:t>
            </a:r>
          </a:p>
          <a:p>
            <a:pPr marL="1609725">
              <a:lnSpc>
                <a:spcPct val="120000"/>
              </a:lnSpc>
              <a:spcBef>
                <a:spcPts val="0"/>
              </a:spcBef>
            </a:pPr>
            <a:r>
              <a:rPr lang="en-IN" sz="1800" b="1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Quiz II:  </a:t>
            </a:r>
            <a:r>
              <a:rPr lang="en-IN" sz="1800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April 15 (Tentative)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IN" sz="1800" b="1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Lab: (25%)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IN" sz="1800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15% Regular lab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IN" sz="1800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	Mini project (10%)        Mid-</a:t>
            </a:r>
            <a:r>
              <a:rPr lang="en-IN" sz="1800" dirty="0" err="1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</a:t>
            </a:r>
            <a:r>
              <a:rPr lang="en-IN" sz="1800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 March-11 to March 13(Tentative)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IN" sz="1800" dirty="0">
                <a:solidFill>
                  <a:srgbClr val="00000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</a:t>
            </a:r>
            <a:r>
              <a:rPr lang="en-IN" sz="1800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End Sem: </a:t>
            </a:r>
            <a:r>
              <a:rPr lang="en-IN" sz="180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April 14 </a:t>
            </a:r>
            <a:r>
              <a:rPr lang="en-IN" sz="1800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&amp; </a:t>
            </a:r>
            <a:r>
              <a:rPr lang="en-IN" sz="180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April 15 </a:t>
            </a:r>
            <a:r>
              <a:rPr lang="en-IN" sz="1800" dirty="0">
                <a:solidFill>
                  <a:srgbClr val="00000A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(Tentative)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IN" sz="1800" dirty="0">
              <a:solidFill>
                <a:srgbClr val="00000A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IN" sz="2000" dirty="0">
              <a:solidFill>
                <a:srgbClr val="00000A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32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B60649-5BC2-8E6A-178F-8C7AF5CDF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14" y="606287"/>
            <a:ext cx="11676642" cy="524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7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C56D3-77E8-303E-E577-61700080E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392" y="178904"/>
            <a:ext cx="11638722" cy="6450496"/>
          </a:xfrm>
        </p:spPr>
        <p:txBody>
          <a:bodyPr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3200" b="1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Text Books and/or Reference Books:</a:t>
            </a:r>
            <a:endParaRPr lang="en-IN" sz="3200" dirty="0">
              <a:solidFill>
                <a:srgbClr val="00000A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342900" lvl="0" indent="0">
              <a:buSzPts val="1000"/>
              <a:buNone/>
            </a:pPr>
            <a:r>
              <a:rPr lang="en-IN" sz="24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</a:t>
            </a:r>
            <a:r>
              <a:rPr lang="en-IN" sz="20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Andrew S. Tannenbaum and Herbert Bos, Modern Operating Systems, 4th Edition, Pearson, 2015 </a:t>
            </a:r>
          </a:p>
          <a:p>
            <a:pPr marL="342900" lvl="0" indent="0">
              <a:buSzPts val="1000"/>
              <a:buNone/>
            </a:pP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 Abraham </a:t>
            </a:r>
            <a:r>
              <a:rPr lang="en-IN" sz="1800" dirty="0" err="1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Silberschatz</a:t>
            </a: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et al., Operating System Concepts, 9th Ed., John Wiley, 2012. </a:t>
            </a:r>
          </a:p>
          <a:p>
            <a:pPr marL="342900" lvl="0" indent="0">
              <a:buSzPts val="1000"/>
              <a:buNone/>
            </a:pP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3. Harvey M. </a:t>
            </a:r>
            <a:r>
              <a:rPr lang="en-IN" sz="1800" dirty="0" err="1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Deitel</a:t>
            </a: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et al., Operating System, 3rd Edition, Pearson, 2007. </a:t>
            </a:r>
          </a:p>
          <a:p>
            <a:pPr marL="625475" lvl="0" indent="-282575">
              <a:buSzPts val="1000"/>
              <a:buNone/>
            </a:pP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4. William Stallings, Operating Systems: Internals and Design Principles. 9th Ed., Pearson,   2017.</a:t>
            </a:r>
          </a:p>
          <a:p>
            <a:pPr marL="342900" lvl="0" indent="0">
              <a:buSzPts val="1000"/>
              <a:buNone/>
            </a:pP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5. M. J. Bach. Design of the Unix Operating System, 1st Edition, Pearson, 2015. </a:t>
            </a:r>
          </a:p>
          <a:p>
            <a:pPr marL="342900" lvl="0" indent="0">
              <a:buSzPts val="1000"/>
              <a:buNone/>
            </a:pPr>
            <a:r>
              <a:rPr lang="en-IN" sz="18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6. Jonathan Corbet et al., Linux Device Drivers, 4th Edition, O'Reilly, 2013.</a:t>
            </a:r>
          </a:p>
          <a:p>
            <a:pPr marL="342900" lvl="0" indent="0">
              <a:buSzPts val="1000"/>
              <a:buNone/>
            </a:pPr>
            <a:endParaRPr lang="en-IN" sz="1800" dirty="0">
              <a:solidFill>
                <a:srgbClr val="00000A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00000A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0119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293</Words>
  <Application>Microsoft Office PowerPoint</Application>
  <PresentationFormat>Widescreen</PresentationFormat>
  <Paragraphs>32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IT253 OPERATING SYSTEMS</vt:lpstr>
      <vt:lpstr>About the course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IT253 OPERATING SYSTEMS</dc:title>
  <dc:creator>Dr.J</dc:creator>
  <cp:lastModifiedBy>Dr.J</cp:lastModifiedBy>
  <cp:revision>10</cp:revision>
  <dcterms:created xsi:type="dcterms:W3CDTF">2024-01-02T01:02:04Z</dcterms:created>
  <dcterms:modified xsi:type="dcterms:W3CDTF">2025-01-02T05:48:00Z</dcterms:modified>
</cp:coreProperties>
</file>