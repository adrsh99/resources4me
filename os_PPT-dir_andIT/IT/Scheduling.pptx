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5" r:id="rId2"/>
    <p:sldId id="332" r:id="rId3"/>
    <p:sldId id="296" r:id="rId4"/>
    <p:sldId id="297" r:id="rId5"/>
    <p:sldId id="298" r:id="rId6"/>
    <p:sldId id="299" r:id="rId7"/>
    <p:sldId id="300" r:id="rId8"/>
    <p:sldId id="330" r:id="rId9"/>
    <p:sldId id="414" r:id="rId10"/>
    <p:sldId id="331" r:id="rId11"/>
    <p:sldId id="301" r:id="rId12"/>
    <p:sldId id="369" r:id="rId13"/>
    <p:sldId id="416" r:id="rId14"/>
    <p:sldId id="415" r:id="rId15"/>
    <p:sldId id="370" r:id="rId16"/>
    <p:sldId id="371" r:id="rId17"/>
    <p:sldId id="372" r:id="rId18"/>
    <p:sldId id="373" r:id="rId19"/>
    <p:sldId id="374" r:id="rId20"/>
    <p:sldId id="324" r:id="rId21"/>
    <p:sldId id="314" r:id="rId22"/>
    <p:sldId id="315" r:id="rId23"/>
    <p:sldId id="316" r:id="rId24"/>
    <p:sldId id="417" r:id="rId25"/>
    <p:sldId id="317" r:id="rId26"/>
    <p:sldId id="318" r:id="rId27"/>
    <p:sldId id="319" r:id="rId28"/>
    <p:sldId id="320" r:id="rId29"/>
    <p:sldId id="321" r:id="rId30"/>
    <p:sldId id="322" r:id="rId31"/>
    <p:sldId id="323" r:id="rId32"/>
    <p:sldId id="326" r:id="rId33"/>
    <p:sldId id="418" r:id="rId34"/>
    <p:sldId id="419" r:id="rId35"/>
    <p:sldId id="420" r:id="rId36"/>
    <p:sldId id="327" r:id="rId37"/>
    <p:sldId id="32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0CA53-1BE6-C533-EEAA-C1A29B05AE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D4F9D7-7460-9F78-01DB-12F7556B3E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8D65788-7FD2-88B0-6A12-F1F2226FD347}"/>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5" name="Footer Placeholder 4">
            <a:extLst>
              <a:ext uri="{FF2B5EF4-FFF2-40B4-BE49-F238E27FC236}">
                <a16:creationId xmlns:a16="http://schemas.microsoft.com/office/drawing/2014/main" id="{D27795F6-D0FD-645A-4206-D670F277C6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B46240-4999-69F0-C041-84DAA9C44B4E}"/>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4280535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2C312-2617-82AF-4417-0AA84EA89A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7323C1-9C83-5740-9DA1-15E9BADAED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19E8D0-FB4C-970D-A9AD-7C8B17087589}"/>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5" name="Footer Placeholder 4">
            <a:extLst>
              <a:ext uri="{FF2B5EF4-FFF2-40B4-BE49-F238E27FC236}">
                <a16:creationId xmlns:a16="http://schemas.microsoft.com/office/drawing/2014/main" id="{D4E491DD-4779-585B-6BBF-CA7944500A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C1E684-06AE-768D-D8FF-9272340F8865}"/>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2996555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70EBB-9203-7E86-360C-09E0E839F1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1D4FB0A-5AA0-713E-902B-EF570AAF00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ACFA8A-7579-CBE5-6579-C69B8E61362E}"/>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5" name="Footer Placeholder 4">
            <a:extLst>
              <a:ext uri="{FF2B5EF4-FFF2-40B4-BE49-F238E27FC236}">
                <a16:creationId xmlns:a16="http://schemas.microsoft.com/office/drawing/2014/main" id="{EA1EFE66-0BD1-282C-9F6A-416496BF5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7F6584-2C25-3FA6-5FF6-278E48E249E5}"/>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294939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5A8F9-B45E-2935-4C23-B79A3A883F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7E32AE-D83C-6340-CBAC-66CD360299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C83F9EB-8AD7-B827-0663-8FC0B6733C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BDC9D1-3B37-723F-D6BF-D27BCA72136B}"/>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6" name="Footer Placeholder 5">
            <a:extLst>
              <a:ext uri="{FF2B5EF4-FFF2-40B4-BE49-F238E27FC236}">
                <a16:creationId xmlns:a16="http://schemas.microsoft.com/office/drawing/2014/main" id="{57E0842D-2EFE-C400-C05E-92D474EC1C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05036A-A1DE-59F2-272F-97A277A02264}"/>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2502436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5A8AC-41A3-E2C0-05AF-9C25AD3FBD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11A1D7-C794-1610-48A5-274AECB29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5462A3-94AB-1935-4F7D-FC44781934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3477BE-A80C-1A67-D47C-6BCCDA9EA9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0E08E0-DD8D-9A39-5AC2-80A72A9452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F0B3C35-42EE-7B92-ABE2-C7FABAC1865C}"/>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8" name="Footer Placeholder 7">
            <a:extLst>
              <a:ext uri="{FF2B5EF4-FFF2-40B4-BE49-F238E27FC236}">
                <a16:creationId xmlns:a16="http://schemas.microsoft.com/office/drawing/2014/main" id="{C8CBC0EF-6F47-812A-AD4B-623C47E6FD9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81E84BF-36A9-4884-2386-20C25730C524}"/>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281600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829-E8C4-886D-F429-3F7CED989A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0E1006-3EF8-C593-0F3D-A486A9D23417}"/>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4" name="Footer Placeholder 3">
            <a:extLst>
              <a:ext uri="{FF2B5EF4-FFF2-40B4-BE49-F238E27FC236}">
                <a16:creationId xmlns:a16="http://schemas.microsoft.com/office/drawing/2014/main" id="{C5BE16D8-6341-7DB1-5737-F47D0437EDD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F6769B9-A8CA-377F-694C-3DD1A47E1BF3}"/>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4157781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F77E4C-7DF7-6C83-BC3C-89C00DC47F0F}"/>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3" name="Footer Placeholder 2">
            <a:extLst>
              <a:ext uri="{FF2B5EF4-FFF2-40B4-BE49-F238E27FC236}">
                <a16:creationId xmlns:a16="http://schemas.microsoft.com/office/drawing/2014/main" id="{4650C47A-16F5-DB76-A9CB-82193480595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6BD3642-8A7B-7A40-FDDC-918DF909AD58}"/>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4267157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3E212-5C89-2A13-B6AB-F1E8A9B5CF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BEEDB44-46C1-3EE4-3904-43BB981F67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B9654A-7A6E-109A-B8E8-D1104D5CD0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5664D3-2656-CF8C-A695-0AD7EC834B0A}"/>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6" name="Footer Placeholder 5">
            <a:extLst>
              <a:ext uri="{FF2B5EF4-FFF2-40B4-BE49-F238E27FC236}">
                <a16:creationId xmlns:a16="http://schemas.microsoft.com/office/drawing/2014/main" id="{209D570D-5955-26E2-6BA4-B1D8F986FC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F6D446-C3C5-B4FD-1E67-79CA4751077B}"/>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78191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2EC76-A601-0730-36E7-A0ED3AC109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0C0FD3-BD15-C22F-18FB-CE061FBAF3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5E035D-1221-F292-9E82-A2D740123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E9D512-60FD-D712-90E1-F8E19BF62F21}"/>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6" name="Footer Placeholder 5">
            <a:extLst>
              <a:ext uri="{FF2B5EF4-FFF2-40B4-BE49-F238E27FC236}">
                <a16:creationId xmlns:a16="http://schemas.microsoft.com/office/drawing/2014/main" id="{9325164D-5E94-9E22-A9FB-C0D74340D4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EE11C3-59BE-6588-1F05-AD5A5C4A0599}"/>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2559104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B2B6F-35A7-CE81-9DAD-00104BF405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E4E58A-4DAD-4D92-5810-717C2398B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5F74CD-DDBE-C8E6-EF69-DF2C80ED0DF1}"/>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5" name="Footer Placeholder 4">
            <a:extLst>
              <a:ext uri="{FF2B5EF4-FFF2-40B4-BE49-F238E27FC236}">
                <a16:creationId xmlns:a16="http://schemas.microsoft.com/office/drawing/2014/main" id="{98D48166-98E0-1D30-A638-039E4D6898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1026F6-AF4B-148E-774A-56937DB46AED}"/>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628179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2D2A2-3C96-0AE2-CF8B-1E8C29AEE1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797589-4DA6-A032-C4A0-39D77FBB36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6B0ED3-67DE-89EC-7E39-3E301D5C6343}"/>
              </a:ext>
            </a:extLst>
          </p:cNvPr>
          <p:cNvSpPr>
            <a:spLocks noGrp="1"/>
          </p:cNvSpPr>
          <p:nvPr>
            <p:ph type="dt" sz="half" idx="10"/>
          </p:nvPr>
        </p:nvSpPr>
        <p:spPr/>
        <p:txBody>
          <a:bodyPr/>
          <a:lstStyle/>
          <a:p>
            <a:fld id="{0F51A131-E818-44C5-857A-83EF5FA5B0E8}" type="datetimeFigureOut">
              <a:rPr lang="en-IN" smtClean="0"/>
              <a:t>03-02-2025</a:t>
            </a:fld>
            <a:endParaRPr lang="en-IN"/>
          </a:p>
        </p:txBody>
      </p:sp>
      <p:sp>
        <p:nvSpPr>
          <p:cNvPr id="5" name="Footer Placeholder 4">
            <a:extLst>
              <a:ext uri="{FF2B5EF4-FFF2-40B4-BE49-F238E27FC236}">
                <a16:creationId xmlns:a16="http://schemas.microsoft.com/office/drawing/2014/main" id="{BD93EA4B-0647-06BD-9556-5E6B18EB5D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9744C1-9A23-9A5A-F5E3-68CD4810ED1A}"/>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4004027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0AFB36-1E23-6333-C12C-D5C8988C0A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637CE8-8F85-8B20-8FA4-51F8548637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EAEC03-D9A8-EFD3-D5CC-396FA3AD6A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51A131-E818-44C5-857A-83EF5FA5B0E8}" type="datetimeFigureOut">
              <a:rPr lang="en-IN" smtClean="0"/>
              <a:t>03-02-2025</a:t>
            </a:fld>
            <a:endParaRPr lang="en-IN"/>
          </a:p>
        </p:txBody>
      </p:sp>
      <p:sp>
        <p:nvSpPr>
          <p:cNvPr id="5" name="Footer Placeholder 4">
            <a:extLst>
              <a:ext uri="{FF2B5EF4-FFF2-40B4-BE49-F238E27FC236}">
                <a16:creationId xmlns:a16="http://schemas.microsoft.com/office/drawing/2014/main" id="{C5803EC4-42A0-B87C-87AC-C368D50673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1D30ABD-73A0-BFD2-3AFD-CE223E9A08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652F43-8018-4BB8-A480-4A9D642A9D2E}" type="slidenum">
              <a:rPr lang="en-IN" smtClean="0"/>
              <a:t>‹#›</a:t>
            </a:fld>
            <a:endParaRPr lang="en-IN"/>
          </a:p>
        </p:txBody>
      </p:sp>
    </p:spTree>
    <p:extLst>
      <p:ext uri="{BB962C8B-B14F-4D97-AF65-F5344CB8AC3E}">
        <p14:creationId xmlns:p14="http://schemas.microsoft.com/office/powerpoint/2010/main" val="1533050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D686-3281-4AD0-A5DF-2000FBEEE1D1}"/>
              </a:ext>
            </a:extLst>
          </p:cNvPr>
          <p:cNvSpPr>
            <a:spLocks noGrp="1"/>
          </p:cNvSpPr>
          <p:nvPr>
            <p:ph type="title"/>
          </p:nvPr>
        </p:nvSpPr>
        <p:spPr>
          <a:xfrm>
            <a:off x="838200" y="18255"/>
            <a:ext cx="10515600" cy="1325563"/>
          </a:xfrm>
        </p:spPr>
        <p:txBody>
          <a:bodyPr>
            <a:normAutofit/>
          </a:bodyPr>
          <a:lstStyle/>
          <a:p>
            <a:pPr algn="ctr"/>
            <a:r>
              <a:rPr lang="en-IN" sz="3200" b="1" dirty="0">
                <a:latin typeface="Calisto MT" panose="02040603050505030304" pitchFamily="18" charset="0"/>
              </a:rPr>
              <a:t>CPU Scheduling</a:t>
            </a:r>
          </a:p>
        </p:txBody>
      </p:sp>
      <p:sp>
        <p:nvSpPr>
          <p:cNvPr id="3" name="Content Placeholder 2">
            <a:extLst>
              <a:ext uri="{FF2B5EF4-FFF2-40B4-BE49-F238E27FC236}">
                <a16:creationId xmlns:a16="http://schemas.microsoft.com/office/drawing/2014/main" id="{127CFD0E-DF80-48E7-BF03-0DD0FE9BB78A}"/>
              </a:ext>
            </a:extLst>
          </p:cNvPr>
          <p:cNvSpPr>
            <a:spLocks noGrp="1"/>
          </p:cNvSpPr>
          <p:nvPr>
            <p:ph idx="1"/>
          </p:nvPr>
        </p:nvSpPr>
        <p:spPr>
          <a:xfrm>
            <a:off x="609601" y="979715"/>
            <a:ext cx="11203708" cy="5679704"/>
          </a:xfrm>
        </p:spPr>
        <p:txBody>
          <a:bodyPr>
            <a:normAutofit lnSpcReduction="10000"/>
          </a:bodyPr>
          <a:lstStyle/>
          <a:p>
            <a:pPr algn="just">
              <a:lnSpc>
                <a:spcPct val="150000"/>
              </a:lnSpc>
              <a:buFont typeface="Wingdings" panose="05000000000000000000" pitchFamily="2" charset="2"/>
              <a:buChar char="Ø"/>
            </a:pPr>
            <a:r>
              <a:rPr lang="en-US" sz="2400" b="1" i="0" dirty="0">
                <a:solidFill>
                  <a:srgbClr val="333333"/>
                </a:solidFill>
                <a:effectLst/>
                <a:latin typeface="Calisto MT" panose="02040603050505030304" pitchFamily="18" charset="0"/>
              </a:rPr>
              <a:t>In the </a:t>
            </a:r>
            <a:r>
              <a:rPr lang="en-US" sz="2400" b="1" i="0" dirty="0" err="1">
                <a:solidFill>
                  <a:srgbClr val="333333"/>
                </a:solidFill>
                <a:effectLst/>
                <a:latin typeface="Calisto MT" panose="02040603050505030304" pitchFamily="18" charset="0"/>
              </a:rPr>
              <a:t>uniprogrammming</a:t>
            </a:r>
            <a:r>
              <a:rPr lang="en-US" sz="2400" b="1" i="0" dirty="0">
                <a:solidFill>
                  <a:srgbClr val="333333"/>
                </a:solidFill>
                <a:effectLst/>
                <a:latin typeface="Calisto MT" panose="02040603050505030304" pitchFamily="18" charset="0"/>
              </a:rPr>
              <a:t> systems</a:t>
            </a:r>
            <a:r>
              <a:rPr lang="en-US" sz="2400" b="0" i="0" dirty="0">
                <a:solidFill>
                  <a:srgbClr val="333333"/>
                </a:solidFill>
                <a:effectLst/>
                <a:latin typeface="Calisto MT" panose="02040603050505030304" pitchFamily="18" charset="0"/>
              </a:rPr>
              <a:t> like MS DOS, when a process waits for any I/O operation to be done, the CPU remains idle. This is an overhead since it wastes the time and causes the problem of </a:t>
            </a:r>
            <a:r>
              <a:rPr lang="en-US" sz="2400" b="0" i="0" dirty="0">
                <a:solidFill>
                  <a:srgbClr val="FF0000"/>
                </a:solidFill>
                <a:effectLst/>
                <a:latin typeface="Calisto MT" panose="02040603050505030304" pitchFamily="18" charset="0"/>
              </a:rPr>
              <a:t>starvation</a:t>
            </a:r>
            <a:r>
              <a:rPr lang="en-US" sz="2400" b="0" i="0" dirty="0">
                <a:solidFill>
                  <a:srgbClr val="333333"/>
                </a:solidFill>
                <a:effectLst/>
                <a:latin typeface="Calisto MT" panose="02040603050505030304" pitchFamily="18" charset="0"/>
              </a:rPr>
              <a:t>. </a:t>
            </a:r>
          </a:p>
          <a:p>
            <a:pPr algn="just">
              <a:lnSpc>
                <a:spcPct val="150000"/>
              </a:lnSpc>
              <a:buFont typeface="Wingdings" panose="05000000000000000000" pitchFamily="2" charset="2"/>
              <a:buChar char="Ø"/>
            </a:pPr>
            <a:r>
              <a:rPr lang="en-US" sz="2400" b="0" i="0" dirty="0">
                <a:solidFill>
                  <a:srgbClr val="333333"/>
                </a:solidFill>
                <a:effectLst/>
                <a:latin typeface="Calisto MT" panose="02040603050505030304" pitchFamily="18" charset="0"/>
              </a:rPr>
              <a:t>However, in </a:t>
            </a:r>
            <a:r>
              <a:rPr lang="en-US" sz="2400" b="0" i="0" dirty="0">
                <a:solidFill>
                  <a:srgbClr val="FF0000"/>
                </a:solidFill>
                <a:effectLst/>
                <a:latin typeface="Calisto MT" panose="02040603050505030304" pitchFamily="18" charset="0"/>
              </a:rPr>
              <a:t>Multiprogramming systems,</a:t>
            </a:r>
            <a:r>
              <a:rPr lang="en-US" sz="2400" b="0" i="0" dirty="0">
                <a:solidFill>
                  <a:srgbClr val="333333"/>
                </a:solidFill>
                <a:effectLst/>
                <a:latin typeface="Calisto MT" panose="02040603050505030304" pitchFamily="18" charset="0"/>
              </a:rPr>
              <a:t> the CPU doesn't remain idle during the waiting time of the Process and it starts executing other processes. Operating System has to define which process the CPU will be given.</a:t>
            </a:r>
          </a:p>
          <a:p>
            <a:pPr algn="just">
              <a:lnSpc>
                <a:spcPct val="150000"/>
              </a:lnSpc>
              <a:buFont typeface="Wingdings" panose="05000000000000000000" pitchFamily="2" charset="2"/>
              <a:buChar char="Ø"/>
            </a:pPr>
            <a:r>
              <a:rPr lang="en-US" sz="2400" b="1" i="0" dirty="0">
                <a:solidFill>
                  <a:srgbClr val="333333"/>
                </a:solidFill>
                <a:effectLst/>
                <a:latin typeface="Calisto MT" panose="02040603050505030304" pitchFamily="18" charset="0"/>
              </a:rPr>
              <a:t>In Multiprogramming systems</a:t>
            </a:r>
            <a:r>
              <a:rPr lang="en-US" sz="2400" b="0" i="0" dirty="0">
                <a:solidFill>
                  <a:srgbClr val="333333"/>
                </a:solidFill>
                <a:effectLst/>
                <a:latin typeface="Calisto MT" panose="02040603050505030304" pitchFamily="18" charset="0"/>
              </a:rPr>
              <a:t>, the Operating system schedules the processes on the CPU to have the maximum utilization of it and this procedure is called </a:t>
            </a:r>
            <a:r>
              <a:rPr lang="en-US" sz="2400" b="1" i="0" dirty="0">
                <a:solidFill>
                  <a:srgbClr val="333333"/>
                </a:solidFill>
                <a:effectLst/>
                <a:latin typeface="Calisto MT" panose="02040603050505030304" pitchFamily="18" charset="0"/>
              </a:rPr>
              <a:t>CPU scheduling</a:t>
            </a:r>
            <a:r>
              <a:rPr lang="en-US" sz="2400" b="0" i="0" dirty="0">
                <a:solidFill>
                  <a:srgbClr val="333333"/>
                </a:solidFill>
                <a:effectLst/>
                <a:latin typeface="Calisto MT" panose="02040603050505030304" pitchFamily="18" charset="0"/>
              </a:rPr>
              <a:t>. The Operating System uses various scheduling algorithm to schedule the processes.</a:t>
            </a:r>
          </a:p>
        </p:txBody>
      </p:sp>
    </p:spTree>
    <p:extLst>
      <p:ext uri="{BB962C8B-B14F-4D97-AF65-F5344CB8AC3E}">
        <p14:creationId xmlns:p14="http://schemas.microsoft.com/office/powerpoint/2010/main" val="3849050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D686-3281-4AD0-A5DF-2000FBEEE1D1}"/>
              </a:ext>
            </a:extLst>
          </p:cNvPr>
          <p:cNvSpPr>
            <a:spLocks noGrp="1"/>
          </p:cNvSpPr>
          <p:nvPr>
            <p:ph type="title"/>
          </p:nvPr>
        </p:nvSpPr>
        <p:spPr>
          <a:xfrm>
            <a:off x="838200" y="18255"/>
            <a:ext cx="10515600" cy="1325563"/>
          </a:xfrm>
        </p:spPr>
        <p:txBody>
          <a:bodyPr>
            <a:normAutofit/>
          </a:bodyPr>
          <a:lstStyle/>
          <a:p>
            <a:pPr algn="ctr"/>
            <a:r>
              <a:rPr lang="en-IN" sz="3200" b="1" dirty="0">
                <a:latin typeface="Calisto MT" panose="02040603050505030304" pitchFamily="18" charset="0"/>
              </a:rPr>
              <a:t>CPU Scheduling…</a:t>
            </a:r>
          </a:p>
        </p:txBody>
      </p:sp>
      <p:sp>
        <p:nvSpPr>
          <p:cNvPr id="3" name="Content Placeholder 2">
            <a:extLst>
              <a:ext uri="{FF2B5EF4-FFF2-40B4-BE49-F238E27FC236}">
                <a16:creationId xmlns:a16="http://schemas.microsoft.com/office/drawing/2014/main" id="{127CFD0E-DF80-48E7-BF03-0DD0FE9BB78A}"/>
              </a:ext>
            </a:extLst>
          </p:cNvPr>
          <p:cNvSpPr>
            <a:spLocks noGrp="1"/>
          </p:cNvSpPr>
          <p:nvPr>
            <p:ph idx="1"/>
          </p:nvPr>
        </p:nvSpPr>
        <p:spPr>
          <a:xfrm>
            <a:off x="609601" y="1017037"/>
            <a:ext cx="11203708" cy="5642381"/>
          </a:xfrm>
        </p:spPr>
        <p:txBody>
          <a:bodyPr>
            <a:norm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It is a process of determining which process will own CPU for execution while the execution of another process is on hold(in waiting state) due to unavailability of any resource like I/O etc.,.</a:t>
            </a:r>
          </a:p>
          <a:p>
            <a:pPr algn="just">
              <a:lnSpc>
                <a:spcPct val="150000"/>
              </a:lnSpc>
              <a:buFont typeface="Wingdings" panose="05000000000000000000" pitchFamily="2" charset="2"/>
              <a:buChar char="Ø"/>
            </a:pPr>
            <a:r>
              <a:rPr lang="en-US" sz="2000" dirty="0">
                <a:latin typeface="Calisto MT" panose="02040603050505030304" pitchFamily="18" charset="0"/>
              </a:rPr>
              <a:t>The aim of </a:t>
            </a:r>
            <a:r>
              <a:rPr lang="en-US" sz="2000" dirty="0">
                <a:solidFill>
                  <a:srgbClr val="FF0000"/>
                </a:solidFill>
                <a:latin typeface="Calisto MT" panose="02040603050505030304" pitchFamily="18" charset="0"/>
              </a:rPr>
              <a:t>CPU scheduling </a:t>
            </a:r>
            <a:r>
              <a:rPr lang="en-US" sz="2000" dirty="0">
                <a:latin typeface="Calisto MT" panose="02040603050505030304" pitchFamily="18" charset="0"/>
              </a:rPr>
              <a:t>is to make the system efficient, fast and fair.</a:t>
            </a:r>
          </a:p>
          <a:p>
            <a:pPr algn="just">
              <a:lnSpc>
                <a:spcPct val="150000"/>
              </a:lnSpc>
              <a:buFont typeface="Wingdings" panose="05000000000000000000" pitchFamily="2" charset="2"/>
              <a:buChar char="Ø"/>
            </a:pPr>
            <a:r>
              <a:rPr lang="en-US" sz="2000" dirty="0">
                <a:latin typeface="Calisto MT" panose="02040603050505030304" pitchFamily="18" charset="0"/>
              </a:rPr>
              <a:t>Whenever the CPU becomes idle, the operating system must select one of the processes in the </a:t>
            </a:r>
            <a:r>
              <a:rPr lang="en-US" sz="2000" b="1" dirty="0">
                <a:latin typeface="Calisto MT" panose="02040603050505030304" pitchFamily="18" charset="0"/>
              </a:rPr>
              <a:t>ready queue</a:t>
            </a:r>
            <a:r>
              <a:rPr lang="en-US" sz="2000" dirty="0">
                <a:latin typeface="Calisto MT" panose="02040603050505030304" pitchFamily="18" charset="0"/>
              </a:rPr>
              <a:t> to be executed.</a:t>
            </a:r>
          </a:p>
          <a:p>
            <a:pPr algn="just">
              <a:lnSpc>
                <a:spcPct val="150000"/>
              </a:lnSpc>
              <a:buFont typeface="Wingdings" panose="05000000000000000000" pitchFamily="2" charset="2"/>
              <a:buChar char="Ø"/>
            </a:pPr>
            <a:r>
              <a:rPr lang="en-US" sz="2000" dirty="0">
                <a:latin typeface="Calisto MT" panose="02040603050505030304" pitchFamily="18" charset="0"/>
              </a:rPr>
              <a:t>The selection process is carried out by the short-term scheduler (or CPU scheduler). </a:t>
            </a:r>
          </a:p>
          <a:p>
            <a:pPr algn="just">
              <a:lnSpc>
                <a:spcPct val="150000"/>
              </a:lnSpc>
              <a:buFont typeface="Wingdings" panose="05000000000000000000" pitchFamily="2" charset="2"/>
              <a:buChar char="Ø"/>
            </a:pPr>
            <a:r>
              <a:rPr lang="en-US" sz="2000" dirty="0">
                <a:latin typeface="Calisto MT" panose="02040603050505030304" pitchFamily="18" charset="0"/>
              </a:rPr>
              <a:t>The scheduler selects one from set of processes in memory that are ready to execute, and allocates the CPU to one of them.</a:t>
            </a:r>
            <a:endParaRPr lang="en-IN" sz="2000" dirty="0">
              <a:latin typeface="Calisto MT" panose="02040603050505030304" pitchFamily="18" charset="0"/>
            </a:endParaRPr>
          </a:p>
        </p:txBody>
      </p:sp>
    </p:spTree>
    <p:extLst>
      <p:ext uri="{BB962C8B-B14F-4D97-AF65-F5344CB8AC3E}">
        <p14:creationId xmlns:p14="http://schemas.microsoft.com/office/powerpoint/2010/main" val="4142961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27AA-FAFB-4550-86B9-55D1F9451CCD}"/>
              </a:ext>
            </a:extLst>
          </p:cNvPr>
          <p:cNvSpPr>
            <a:spLocks noGrp="1"/>
          </p:cNvSpPr>
          <p:nvPr>
            <p:ph type="title"/>
          </p:nvPr>
        </p:nvSpPr>
        <p:spPr/>
        <p:txBody>
          <a:bodyPr>
            <a:normAutofit/>
          </a:bodyPr>
          <a:lstStyle/>
          <a:p>
            <a:pPr algn="ctr"/>
            <a:r>
              <a:rPr lang="en-IN" sz="3200" b="1" dirty="0">
                <a:latin typeface="Calisto MT" panose="02040603050505030304" pitchFamily="18" charset="0"/>
              </a:rPr>
              <a:t>Types</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C135A7A9-FEA1-43BB-BEFD-9B47E27B84B1}"/>
              </a:ext>
            </a:extLst>
          </p:cNvPr>
          <p:cNvSpPr>
            <a:spLocks noGrp="1"/>
          </p:cNvSpPr>
          <p:nvPr>
            <p:ph idx="1"/>
          </p:nvPr>
        </p:nvSpPr>
        <p:spPr>
          <a:xfrm>
            <a:off x="838200" y="1616364"/>
            <a:ext cx="10515600" cy="4876511"/>
          </a:xfrm>
        </p:spPr>
        <p:txBody>
          <a:bodyPr>
            <a:normAutofit lnSpcReduction="10000"/>
          </a:bodyPr>
          <a:lstStyle/>
          <a:p>
            <a:pPr marL="0" indent="0" algn="just">
              <a:lnSpc>
                <a:spcPct val="200000"/>
              </a:lnSpc>
              <a:buNone/>
            </a:pPr>
            <a:r>
              <a:rPr lang="en-US" sz="2400" dirty="0">
                <a:latin typeface="Calisto MT" panose="02040603050505030304" pitchFamily="18" charset="0"/>
              </a:rPr>
              <a:t>Two kinds of Scheduling methods</a:t>
            </a:r>
          </a:p>
          <a:p>
            <a:pPr algn="just">
              <a:lnSpc>
                <a:spcPct val="200000"/>
              </a:lnSpc>
              <a:buFont typeface="Wingdings" panose="05000000000000000000" pitchFamily="2" charset="2"/>
              <a:buChar char="Ø"/>
            </a:pPr>
            <a:r>
              <a:rPr lang="en-IN" sz="2400" b="1" dirty="0">
                <a:latin typeface="Calisto MT" panose="02040603050505030304" pitchFamily="18" charset="0"/>
              </a:rPr>
              <a:t>Preemptive Scheduling</a:t>
            </a:r>
          </a:p>
          <a:p>
            <a:pPr algn="just">
              <a:lnSpc>
                <a:spcPct val="200000"/>
              </a:lnSpc>
              <a:buFont typeface="Wingdings" panose="05000000000000000000" pitchFamily="2" charset="2"/>
              <a:buChar char="Ø"/>
            </a:pPr>
            <a:r>
              <a:rPr lang="en-IN" sz="2400" b="1" dirty="0">
                <a:latin typeface="Calisto MT" panose="02040603050505030304" pitchFamily="18" charset="0"/>
              </a:rPr>
              <a:t>Non- Pre-emptive Scheduling</a:t>
            </a:r>
          </a:p>
          <a:p>
            <a:pPr algn="just"/>
            <a:endParaRPr lang="en-US" altLang="en-US" sz="2400" dirty="0">
              <a:latin typeface="Calisto MT" panose="02040603050505030304" pitchFamily="18" charset="0"/>
            </a:endParaRPr>
          </a:p>
          <a:p>
            <a:pPr algn="just"/>
            <a:r>
              <a:rPr lang="en-US" altLang="en-US" sz="2400" dirty="0">
                <a:latin typeface="Calisto MT" panose="02040603050505030304" pitchFamily="18" charset="0"/>
              </a:rPr>
              <a:t>The basic difference between </a:t>
            </a:r>
            <a:r>
              <a:rPr lang="en-US" altLang="en-US" sz="2400" b="1" dirty="0">
                <a:latin typeface="Calisto MT" panose="02040603050505030304" pitchFamily="18" charset="0"/>
              </a:rPr>
              <a:t>preemptive and non-preemptive scheduling</a:t>
            </a:r>
            <a:r>
              <a:rPr lang="en-US" altLang="en-US" sz="2400" dirty="0">
                <a:latin typeface="Calisto MT" panose="02040603050505030304" pitchFamily="18" charset="0"/>
              </a:rPr>
              <a:t> is that: In </a:t>
            </a:r>
            <a:r>
              <a:rPr lang="en-US" altLang="en-US" sz="2400" b="1" dirty="0">
                <a:latin typeface="Calisto MT" panose="02040603050505030304" pitchFamily="18" charset="0"/>
              </a:rPr>
              <a:t>preemptive scheduling, </a:t>
            </a:r>
            <a:r>
              <a:rPr lang="en-US" altLang="en-US" sz="2400" dirty="0">
                <a:latin typeface="Calisto MT" panose="02040603050505030304" pitchFamily="18" charset="0"/>
              </a:rPr>
              <a:t>the CPU is allocated to the processes for the limited time. </a:t>
            </a:r>
          </a:p>
          <a:p>
            <a:pPr algn="just"/>
            <a:r>
              <a:rPr lang="en-US" altLang="en-US" sz="2400" dirty="0">
                <a:latin typeface="Calisto MT" panose="02040603050505030304" pitchFamily="18" charset="0"/>
              </a:rPr>
              <a:t>In </a:t>
            </a:r>
            <a:r>
              <a:rPr lang="en-US" altLang="en-US" sz="2400" b="1" dirty="0">
                <a:latin typeface="Calisto MT" panose="02040603050505030304" pitchFamily="18" charset="0"/>
              </a:rPr>
              <a:t>Non-preemptive scheduling</a:t>
            </a:r>
            <a:r>
              <a:rPr lang="en-US" altLang="en-US" sz="2400" dirty="0">
                <a:latin typeface="Calisto MT" panose="02040603050505030304" pitchFamily="18" charset="0"/>
              </a:rPr>
              <a:t>, the CPU is allocated to the process till it terminates or switches to waiting state.</a:t>
            </a:r>
          </a:p>
          <a:p>
            <a:pPr algn="just">
              <a:lnSpc>
                <a:spcPct val="200000"/>
              </a:lnSpc>
              <a:buFont typeface="Wingdings" panose="05000000000000000000" pitchFamily="2" charset="2"/>
              <a:buChar char="Ø"/>
            </a:pPr>
            <a:endParaRPr lang="en-IN" sz="2400" b="1" dirty="0">
              <a:latin typeface="Calisto MT" panose="02040603050505030304" pitchFamily="18" charset="0"/>
            </a:endParaRPr>
          </a:p>
          <a:p>
            <a:pPr algn="just">
              <a:lnSpc>
                <a:spcPct val="200000"/>
              </a:lnSpc>
            </a:pPr>
            <a:endParaRPr lang="en-IN" sz="2400" dirty="0">
              <a:latin typeface="Calisto MT" panose="02040603050505030304" pitchFamily="18" charset="0"/>
            </a:endParaRPr>
          </a:p>
        </p:txBody>
      </p:sp>
      <p:pic>
        <p:nvPicPr>
          <p:cNvPr id="4" name="Picture 3">
            <a:extLst>
              <a:ext uri="{FF2B5EF4-FFF2-40B4-BE49-F238E27FC236}">
                <a16:creationId xmlns:a16="http://schemas.microsoft.com/office/drawing/2014/main" id="{B1FA7EB5-BE3B-486F-8DE3-56285F96A9A2}"/>
              </a:ext>
            </a:extLst>
          </p:cNvPr>
          <p:cNvPicPr>
            <a:picLocks noChangeAspect="1"/>
          </p:cNvPicPr>
          <p:nvPr/>
        </p:nvPicPr>
        <p:blipFill>
          <a:blip r:embed="rId2"/>
          <a:stretch>
            <a:fillRect/>
          </a:stretch>
        </p:blipFill>
        <p:spPr>
          <a:xfrm>
            <a:off x="6176865" y="1782146"/>
            <a:ext cx="5066523" cy="2385329"/>
          </a:xfrm>
          <a:prstGeom prst="rect">
            <a:avLst/>
          </a:prstGeom>
        </p:spPr>
      </p:pic>
    </p:spTree>
    <p:extLst>
      <p:ext uri="{BB962C8B-B14F-4D97-AF65-F5344CB8AC3E}">
        <p14:creationId xmlns:p14="http://schemas.microsoft.com/office/powerpoint/2010/main" val="247737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25DCCD-0141-498F-9050-655506D81382}"/>
              </a:ext>
            </a:extLst>
          </p:cNvPr>
          <p:cNvSpPr>
            <a:spLocks noGrp="1"/>
          </p:cNvSpPr>
          <p:nvPr>
            <p:ph idx="1"/>
          </p:nvPr>
        </p:nvSpPr>
        <p:spPr>
          <a:xfrm>
            <a:off x="838200" y="212436"/>
            <a:ext cx="10515600" cy="6299200"/>
          </a:xfrm>
        </p:spPr>
        <p:txBody>
          <a:bodyPr>
            <a:normAutofit/>
          </a:bodyPr>
          <a:lstStyle/>
          <a:p>
            <a:pPr marL="0" indent="0" algn="just">
              <a:lnSpc>
                <a:spcPct val="200000"/>
              </a:lnSpc>
              <a:buNone/>
            </a:pPr>
            <a:r>
              <a:rPr lang="en-IN" sz="2000" b="1" dirty="0">
                <a:latin typeface="Calisto MT" panose="02040603050505030304" pitchFamily="18" charset="0"/>
              </a:rPr>
              <a:t>Preemptive Scheduling</a:t>
            </a:r>
          </a:p>
          <a:p>
            <a:pPr algn="just">
              <a:lnSpc>
                <a:spcPct val="200000"/>
              </a:lnSpc>
              <a:buFont typeface="Wingdings" panose="05000000000000000000" pitchFamily="2" charset="2"/>
              <a:buChar char="Ø"/>
            </a:pPr>
            <a:r>
              <a:rPr lang="en-US" sz="2000" dirty="0">
                <a:latin typeface="Calisto MT" panose="02040603050505030304" pitchFamily="18" charset="0"/>
              </a:rPr>
              <a:t>The tasks are usually assigned with priorities. </a:t>
            </a:r>
          </a:p>
          <a:p>
            <a:pPr algn="just">
              <a:lnSpc>
                <a:spcPct val="200000"/>
              </a:lnSpc>
              <a:buFont typeface="Wingdings" panose="05000000000000000000" pitchFamily="2" charset="2"/>
              <a:buChar char="Ø"/>
            </a:pPr>
            <a:r>
              <a:rPr lang="en-US" sz="2000" dirty="0">
                <a:latin typeface="Calisto MT" panose="02040603050505030304" pitchFamily="18" charset="0"/>
              </a:rPr>
              <a:t>At times it is necessary to run a certain task that has a higher priority before another task although it is running. </a:t>
            </a:r>
          </a:p>
          <a:p>
            <a:pPr algn="just">
              <a:lnSpc>
                <a:spcPct val="200000"/>
              </a:lnSpc>
              <a:buFont typeface="Wingdings" panose="05000000000000000000" pitchFamily="2" charset="2"/>
              <a:buChar char="Ø"/>
            </a:pPr>
            <a:r>
              <a:rPr lang="en-US" sz="2000" dirty="0">
                <a:latin typeface="Calisto MT" panose="02040603050505030304" pitchFamily="18" charset="0"/>
              </a:rPr>
              <a:t>Therefore, the running task is interrupted for some time and resumed later when the priority task has finished its execution.</a:t>
            </a:r>
          </a:p>
          <a:p>
            <a:pPr marL="0" indent="0" algn="just">
              <a:lnSpc>
                <a:spcPct val="200000"/>
              </a:lnSpc>
              <a:buNone/>
            </a:pPr>
            <a:r>
              <a:rPr lang="en-IN" sz="2000" b="1" dirty="0">
                <a:latin typeface="Calisto MT" panose="02040603050505030304" pitchFamily="18" charset="0"/>
              </a:rPr>
              <a:t>Non- Preemptive Scheduling</a:t>
            </a:r>
          </a:p>
          <a:p>
            <a:pPr algn="just">
              <a:lnSpc>
                <a:spcPct val="200000"/>
              </a:lnSpc>
              <a:buFont typeface="Wingdings" panose="05000000000000000000" pitchFamily="2" charset="2"/>
              <a:buChar char="Ø"/>
            </a:pPr>
            <a:r>
              <a:rPr lang="en-US" sz="2000" dirty="0">
                <a:latin typeface="Calisto MT" panose="02040603050505030304" pitchFamily="18" charset="0"/>
              </a:rPr>
              <a:t>Once the CPU has been allocated to a process, the process keeps the CPU until it releases the CPU either by terminating or aborting.</a:t>
            </a:r>
            <a:endParaRPr lang="en-IN" sz="2000" dirty="0">
              <a:latin typeface="Calisto MT" panose="02040603050505030304" pitchFamily="18" charset="0"/>
            </a:endParaRPr>
          </a:p>
        </p:txBody>
      </p:sp>
    </p:spTree>
    <p:extLst>
      <p:ext uri="{BB962C8B-B14F-4D97-AF65-F5344CB8AC3E}">
        <p14:creationId xmlns:p14="http://schemas.microsoft.com/office/powerpoint/2010/main" val="3772028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04B081-E925-42F7-9210-38CDFD31C92A}"/>
              </a:ext>
            </a:extLst>
          </p:cNvPr>
          <p:cNvSpPr>
            <a:spLocks noGrp="1"/>
          </p:cNvSpPr>
          <p:nvPr>
            <p:ph idx="1"/>
          </p:nvPr>
        </p:nvSpPr>
        <p:spPr>
          <a:xfrm>
            <a:off x="498764" y="295564"/>
            <a:ext cx="10855036" cy="6179127"/>
          </a:xfrm>
        </p:spPr>
        <p:txBody>
          <a:bodyPr>
            <a:normAutofit fontScale="92500"/>
          </a:bodyPr>
          <a:lstStyle/>
          <a:p>
            <a:pPr marL="0" indent="0" algn="just">
              <a:lnSpc>
                <a:spcPct val="200000"/>
              </a:lnSpc>
              <a:buNone/>
            </a:pPr>
            <a:r>
              <a:rPr lang="en-US" sz="2000" b="1" dirty="0">
                <a:latin typeface="Calisto MT" panose="02040603050505030304" pitchFamily="18" charset="0"/>
              </a:rPr>
              <a:t>Scheduling is Preemptive or Non-Preemptive?</a:t>
            </a:r>
          </a:p>
          <a:p>
            <a:pPr marL="0" indent="0" algn="just">
              <a:lnSpc>
                <a:spcPct val="200000"/>
              </a:lnSpc>
              <a:buNone/>
            </a:pPr>
            <a:r>
              <a:rPr lang="en-US" sz="2000" dirty="0">
                <a:latin typeface="Calisto MT" panose="02040603050505030304" pitchFamily="18" charset="0"/>
              </a:rPr>
              <a:t>	To determine if scheduling is preemptive or non-preemptive, consider these four parameters:</a:t>
            </a:r>
          </a:p>
          <a:p>
            <a:pPr algn="just">
              <a:lnSpc>
                <a:spcPct val="200000"/>
              </a:lnSpc>
              <a:buFont typeface="Wingdings" panose="05000000000000000000" pitchFamily="2" charset="2"/>
              <a:buChar char="Ø"/>
            </a:pPr>
            <a:r>
              <a:rPr lang="en-US" sz="2000" dirty="0">
                <a:latin typeface="Calisto MT" panose="02040603050505030304" pitchFamily="18" charset="0"/>
              </a:rPr>
              <a:t>A process switches from the running to the waiting state.</a:t>
            </a:r>
          </a:p>
          <a:p>
            <a:pPr algn="just">
              <a:lnSpc>
                <a:spcPct val="200000"/>
              </a:lnSpc>
              <a:buFont typeface="Wingdings" panose="05000000000000000000" pitchFamily="2" charset="2"/>
              <a:buChar char="Ø"/>
            </a:pPr>
            <a:r>
              <a:rPr lang="en-US" sz="2000" dirty="0">
                <a:latin typeface="Calisto MT" panose="02040603050505030304" pitchFamily="18" charset="0"/>
              </a:rPr>
              <a:t>Specific process switches from the running state to the ready state.</a:t>
            </a:r>
          </a:p>
          <a:p>
            <a:pPr algn="just">
              <a:lnSpc>
                <a:spcPct val="200000"/>
              </a:lnSpc>
              <a:buFont typeface="Wingdings" panose="05000000000000000000" pitchFamily="2" charset="2"/>
              <a:buChar char="Ø"/>
            </a:pPr>
            <a:r>
              <a:rPr lang="en-US" sz="2000" dirty="0">
                <a:latin typeface="Calisto MT" panose="02040603050505030304" pitchFamily="18" charset="0"/>
              </a:rPr>
              <a:t>Specific process switches from the waiting state to the ready state.</a:t>
            </a:r>
          </a:p>
          <a:p>
            <a:pPr algn="just">
              <a:lnSpc>
                <a:spcPct val="200000"/>
              </a:lnSpc>
              <a:buFont typeface="Wingdings" panose="05000000000000000000" pitchFamily="2" charset="2"/>
              <a:buChar char="Ø"/>
            </a:pPr>
            <a:r>
              <a:rPr lang="en-US" sz="2000" dirty="0">
                <a:latin typeface="Calisto MT" panose="02040603050505030304" pitchFamily="18" charset="0"/>
              </a:rPr>
              <a:t>Process finished its execution and terminated.</a:t>
            </a:r>
          </a:p>
          <a:p>
            <a:pPr algn="just">
              <a:lnSpc>
                <a:spcPct val="200000"/>
              </a:lnSpc>
              <a:buFont typeface="Wingdings" panose="05000000000000000000" pitchFamily="2" charset="2"/>
              <a:buChar char="Ø"/>
            </a:pPr>
            <a:r>
              <a:rPr lang="en-US" sz="2000" dirty="0">
                <a:latin typeface="Calisto MT" panose="02040603050505030304" pitchFamily="18" charset="0"/>
              </a:rPr>
              <a:t>Only conditions 1 and 4 apply, the scheduling is called non- preemptive.</a:t>
            </a:r>
          </a:p>
          <a:p>
            <a:pPr algn="just">
              <a:lnSpc>
                <a:spcPct val="200000"/>
              </a:lnSpc>
              <a:buFont typeface="Wingdings" panose="05000000000000000000" pitchFamily="2" charset="2"/>
              <a:buChar char="Ø"/>
            </a:pPr>
            <a:r>
              <a:rPr lang="en-US" sz="2000" dirty="0">
                <a:latin typeface="Calisto MT" panose="02040603050505030304" pitchFamily="18" charset="0"/>
              </a:rPr>
              <a:t>All other scheduling are preemptive.</a:t>
            </a:r>
          </a:p>
          <a:p>
            <a:pPr algn="just">
              <a:lnSpc>
                <a:spcPct val="200000"/>
              </a:lnSpc>
              <a:buFont typeface="Wingdings" panose="05000000000000000000" pitchFamily="2" charset="2"/>
              <a:buChar char="Ø"/>
            </a:pPr>
            <a:endParaRPr lang="en-IN" sz="2000" dirty="0">
              <a:latin typeface="Calisto MT" panose="02040603050505030304" pitchFamily="18" charset="0"/>
            </a:endParaRPr>
          </a:p>
        </p:txBody>
      </p:sp>
    </p:spTree>
    <p:extLst>
      <p:ext uri="{BB962C8B-B14F-4D97-AF65-F5344CB8AC3E}">
        <p14:creationId xmlns:p14="http://schemas.microsoft.com/office/powerpoint/2010/main" val="1881859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1990C-5EDE-441F-8133-6276EB89D0C3}"/>
              </a:ext>
            </a:extLst>
          </p:cNvPr>
          <p:cNvSpPr>
            <a:spLocks noGrp="1"/>
          </p:cNvSpPr>
          <p:nvPr>
            <p:ph type="title"/>
          </p:nvPr>
        </p:nvSpPr>
        <p:spPr/>
        <p:txBody>
          <a:bodyPr>
            <a:normAutofit/>
          </a:bodyPr>
          <a:lstStyle/>
          <a:p>
            <a:pPr algn="ctr"/>
            <a:r>
              <a:rPr lang="en-IN" sz="3200" b="1" dirty="0">
                <a:latin typeface="Calisto MT" panose="02040603050505030304" pitchFamily="18" charset="0"/>
              </a:rPr>
              <a:t>Scheduling Criteria</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3F141BCA-02F7-4BAA-B6F4-D707C6880322}"/>
              </a:ext>
            </a:extLst>
          </p:cNvPr>
          <p:cNvSpPr>
            <a:spLocks noGrp="1"/>
          </p:cNvSpPr>
          <p:nvPr>
            <p:ph idx="1"/>
          </p:nvPr>
        </p:nvSpPr>
        <p:spPr>
          <a:xfrm>
            <a:off x="838200" y="1110344"/>
            <a:ext cx="10515600" cy="5382532"/>
          </a:xfrm>
        </p:spPr>
        <p:txBody>
          <a:bodyPr>
            <a:noAutofit/>
          </a:bodyPr>
          <a:lstStyle/>
          <a:p>
            <a:pPr marL="0" indent="0" algn="just">
              <a:lnSpc>
                <a:spcPct val="150000"/>
              </a:lnSpc>
              <a:buNone/>
            </a:pPr>
            <a:r>
              <a:rPr lang="en-US" sz="1800" dirty="0">
                <a:latin typeface="Calisto MT" panose="02040603050505030304" pitchFamily="18" charset="0"/>
              </a:rPr>
              <a:t>	There are many different criteria's to check when considering the </a:t>
            </a:r>
            <a:r>
              <a:rPr lang="en-US" sz="1800" b="1" dirty="0">
                <a:latin typeface="Calisto MT" panose="02040603050505030304" pitchFamily="18" charset="0"/>
              </a:rPr>
              <a:t>"best"</a:t>
            </a:r>
            <a:r>
              <a:rPr lang="en-US" sz="1800" dirty="0">
                <a:latin typeface="Calisto MT" panose="02040603050505030304" pitchFamily="18" charset="0"/>
              </a:rPr>
              <a:t> scheduling algorithm, they are:</a:t>
            </a:r>
          </a:p>
          <a:p>
            <a:pPr algn="just">
              <a:lnSpc>
                <a:spcPct val="150000"/>
              </a:lnSpc>
              <a:buFont typeface="Wingdings" panose="05000000000000000000" pitchFamily="2" charset="2"/>
              <a:buChar char="Ø"/>
            </a:pPr>
            <a:r>
              <a:rPr lang="en-US" sz="1800" b="1" dirty="0">
                <a:latin typeface="Calisto MT" panose="02040603050505030304" pitchFamily="18" charset="0"/>
              </a:rPr>
              <a:t>CPU Utilization: </a:t>
            </a:r>
            <a:r>
              <a:rPr lang="en-US" sz="1800" dirty="0">
                <a:latin typeface="Calisto MT" panose="02040603050505030304" pitchFamily="18" charset="0"/>
              </a:rPr>
              <a:t>To make out the best use of CPU and not to waste any CPU cycle, CPU would be working most of the time(Ideally 100% of the time). </a:t>
            </a:r>
          </a:p>
          <a:p>
            <a:pPr algn="just">
              <a:lnSpc>
                <a:spcPct val="150000"/>
              </a:lnSpc>
              <a:buFont typeface="Wingdings" panose="05000000000000000000" pitchFamily="2" charset="2"/>
              <a:buChar char="Ø"/>
            </a:pPr>
            <a:r>
              <a:rPr lang="en-US" sz="1800" b="1" dirty="0">
                <a:latin typeface="Calisto MT" panose="02040603050505030304" pitchFamily="18" charset="0"/>
              </a:rPr>
              <a:t>Throughput: </a:t>
            </a:r>
            <a:r>
              <a:rPr lang="en-US" sz="1800" dirty="0">
                <a:latin typeface="Calisto MT" panose="02040603050505030304" pitchFamily="18" charset="0"/>
              </a:rPr>
              <a:t>It is the total number of processes completed per unit time or rather say total amount of work done in a unit of time. </a:t>
            </a:r>
          </a:p>
          <a:p>
            <a:pPr algn="just">
              <a:lnSpc>
                <a:spcPct val="150000"/>
              </a:lnSpc>
              <a:spcBef>
                <a:spcPts val="500"/>
              </a:spcBef>
              <a:buFont typeface="Wingdings" panose="05000000000000000000" pitchFamily="2" charset="2"/>
              <a:buChar char="Ø"/>
            </a:pPr>
            <a:r>
              <a:rPr lang="en-US" sz="1800" b="1" dirty="0">
                <a:latin typeface="Calisto MT" panose="02040603050505030304" pitchFamily="18" charset="0"/>
              </a:rPr>
              <a:t>Load Average: </a:t>
            </a:r>
            <a:r>
              <a:rPr lang="en-US" sz="1800" dirty="0">
                <a:latin typeface="Calisto MT" panose="02040603050505030304" pitchFamily="18" charset="0"/>
              </a:rPr>
              <a:t>It is the average number of processes residing in the ready queue waiting for their turn to get into the CPU.</a:t>
            </a:r>
          </a:p>
          <a:p>
            <a:pPr algn="just">
              <a:lnSpc>
                <a:spcPct val="150000"/>
              </a:lnSpc>
              <a:buFont typeface="Wingdings" panose="05000000000000000000" pitchFamily="2" charset="2"/>
              <a:buChar char="Ø"/>
            </a:pPr>
            <a:r>
              <a:rPr lang="en-US" altLang="ko-KR" sz="1800" dirty="0">
                <a:latin typeface="Calisto MT" panose="02040603050505030304" pitchFamily="18" charset="0"/>
              </a:rPr>
              <a:t>Another metric is </a:t>
            </a:r>
            <a:r>
              <a:rPr lang="en-US" altLang="ko-KR" sz="1800" dirty="0">
                <a:solidFill>
                  <a:schemeClr val="accent6">
                    <a:lumMod val="75000"/>
                  </a:schemeClr>
                </a:solidFill>
                <a:latin typeface="Calisto MT" panose="02040603050505030304" pitchFamily="18" charset="0"/>
              </a:rPr>
              <a:t>fairness</a:t>
            </a:r>
            <a:r>
              <a:rPr lang="en-US" altLang="ko-KR" sz="1800" dirty="0">
                <a:latin typeface="Calisto MT" panose="02040603050505030304" pitchFamily="18" charset="0"/>
              </a:rPr>
              <a:t>.</a:t>
            </a:r>
          </a:p>
          <a:p>
            <a:pPr lvl="1" algn="just">
              <a:lnSpc>
                <a:spcPct val="150000"/>
              </a:lnSpc>
              <a:defRPr/>
            </a:pPr>
            <a:r>
              <a:rPr lang="en-US" altLang="ko-KR" sz="1800" dirty="0">
                <a:latin typeface="Calisto MT" panose="02040603050505030304" pitchFamily="18" charset="0"/>
              </a:rPr>
              <a:t>Performance and fairness are often at odds in scheduling; </a:t>
            </a:r>
            <a:r>
              <a:rPr lang="en-US" sz="1800" dirty="0">
                <a:latin typeface="Calisto MT" panose="02040603050505030304" pitchFamily="18" charset="0"/>
              </a:rPr>
              <a:t>a scheduler, for example, may optimize performance but at the cost of preventing a few jobs from running, thus decreasing fairness. This conundrum shows us that life isn’t always perfect.</a:t>
            </a:r>
            <a:endParaRPr lang="en-IN" sz="1800" dirty="0">
              <a:latin typeface="Calisto MT" panose="02040603050505030304" pitchFamily="18" charset="0"/>
            </a:endParaRPr>
          </a:p>
        </p:txBody>
      </p:sp>
    </p:spTree>
    <p:extLst>
      <p:ext uri="{BB962C8B-B14F-4D97-AF65-F5344CB8AC3E}">
        <p14:creationId xmlns:p14="http://schemas.microsoft.com/office/powerpoint/2010/main" val="2179702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ABF0EC-2A75-4ECC-A0D9-3F3C6F5D1820}"/>
              </a:ext>
            </a:extLst>
          </p:cNvPr>
          <p:cNvSpPr>
            <a:spLocks noGrp="1"/>
          </p:cNvSpPr>
          <p:nvPr>
            <p:ph idx="1"/>
          </p:nvPr>
        </p:nvSpPr>
        <p:spPr>
          <a:xfrm>
            <a:off x="838200" y="886690"/>
            <a:ext cx="10515600" cy="5403273"/>
          </a:xfrm>
        </p:spPr>
        <p:txBody>
          <a:bodyPr>
            <a:normAutofit fontScale="92500" lnSpcReduction="10000"/>
          </a:bodyPr>
          <a:lstStyle/>
          <a:p>
            <a:pPr algn="just">
              <a:lnSpc>
                <a:spcPct val="150000"/>
              </a:lnSpc>
              <a:buFont typeface="Wingdings" panose="05000000000000000000" pitchFamily="2" charset="2"/>
              <a:buChar char="Ø"/>
            </a:pPr>
            <a:r>
              <a:rPr lang="en-US" sz="2000" b="1" dirty="0">
                <a:solidFill>
                  <a:srgbClr val="FF0000"/>
                </a:solidFill>
                <a:latin typeface="Calisto MT" panose="02040603050505030304" pitchFamily="18" charset="0"/>
              </a:rPr>
              <a:t>Waiting Time (WT)</a:t>
            </a:r>
          </a:p>
          <a:p>
            <a:pPr marL="0" indent="0" algn="just">
              <a:lnSpc>
                <a:spcPct val="150000"/>
              </a:lnSpc>
              <a:buNone/>
            </a:pPr>
            <a:r>
              <a:rPr lang="en-US" sz="2000" dirty="0">
                <a:latin typeface="Calisto MT" panose="02040603050505030304" pitchFamily="18" charset="0"/>
              </a:rPr>
              <a:t>	The amount of time a process has been waiting in the ready queue to acquire get control on the CPU.</a:t>
            </a:r>
          </a:p>
          <a:p>
            <a:pPr algn="just">
              <a:lnSpc>
                <a:spcPct val="150000"/>
              </a:lnSpc>
              <a:buFont typeface="Wingdings" panose="05000000000000000000" pitchFamily="2" charset="2"/>
              <a:buChar char="Ø"/>
            </a:pPr>
            <a:r>
              <a:rPr lang="en-US" sz="2000" b="1" dirty="0">
                <a:solidFill>
                  <a:srgbClr val="FF0000"/>
                </a:solidFill>
                <a:latin typeface="Calisto MT" panose="02040603050505030304" pitchFamily="18" charset="0"/>
              </a:rPr>
              <a:t>Turnaround Time (TAT)</a:t>
            </a:r>
          </a:p>
          <a:p>
            <a:pPr marL="0" indent="0" algn="just">
              <a:lnSpc>
                <a:spcPct val="150000"/>
              </a:lnSpc>
              <a:buNone/>
            </a:pPr>
            <a:r>
              <a:rPr lang="en-US" sz="2000" dirty="0">
                <a:latin typeface="Calisto MT" panose="02040603050505030304" pitchFamily="18" charset="0"/>
              </a:rPr>
              <a:t>	It is the amount of time taken to execute a particular process, i.e. The interval from time of submission of the process to the time of completion of the process(Wall clock time). </a:t>
            </a:r>
            <a:r>
              <a:rPr lang="en-US" altLang="ko-KR" sz="2000" dirty="0"/>
              <a:t>The time at which </a:t>
            </a:r>
            <a:r>
              <a:rPr lang="en-US" altLang="ko-KR" sz="2000" b="1" dirty="0"/>
              <a:t>the job completes </a:t>
            </a:r>
            <a:r>
              <a:rPr lang="en-US" altLang="ko-KR" sz="2000" dirty="0"/>
              <a:t>minus the time at which </a:t>
            </a:r>
            <a:r>
              <a:rPr lang="en-US" altLang="ko-KR" sz="2000" b="1" dirty="0"/>
              <a:t>the job arrived</a:t>
            </a:r>
            <a:r>
              <a:rPr lang="en-US" altLang="ko-KR" sz="2000" dirty="0"/>
              <a:t> in the system</a:t>
            </a:r>
            <a:endParaRPr lang="en-US" sz="2000" dirty="0">
              <a:latin typeface="Calisto MT" panose="02040603050505030304" pitchFamily="18" charset="0"/>
            </a:endParaRPr>
          </a:p>
          <a:p>
            <a:pPr algn="just">
              <a:lnSpc>
                <a:spcPct val="150000"/>
              </a:lnSpc>
              <a:buFont typeface="Wingdings" panose="05000000000000000000" pitchFamily="2" charset="2"/>
              <a:buChar char="Ø"/>
            </a:pPr>
            <a:r>
              <a:rPr lang="en-US" sz="2000" b="1" dirty="0">
                <a:solidFill>
                  <a:srgbClr val="FF0000"/>
                </a:solidFill>
                <a:latin typeface="Calisto MT" panose="02040603050505030304" pitchFamily="18" charset="0"/>
              </a:rPr>
              <a:t>Response Time(RT)</a:t>
            </a:r>
          </a:p>
          <a:p>
            <a:pPr marL="0" indent="0" algn="just">
              <a:lnSpc>
                <a:spcPct val="150000"/>
              </a:lnSpc>
              <a:buNone/>
            </a:pPr>
            <a:r>
              <a:rPr lang="en-US" sz="2000" dirty="0">
                <a:latin typeface="Calisto MT" panose="02040603050505030304" pitchFamily="18" charset="0"/>
              </a:rPr>
              <a:t>	Amount of time it takes from when a request was submitted until the first response is produced. The difference between the arrival time and the time at which the process first gets the CPU is called Response Time. </a:t>
            </a:r>
          </a:p>
          <a:p>
            <a:pPr marL="0" indent="0" algn="just">
              <a:lnSpc>
                <a:spcPct val="150000"/>
              </a:lnSpc>
              <a:buNone/>
            </a:pPr>
            <a:endParaRPr lang="en-IN" sz="2000" dirty="0">
              <a:latin typeface="Calisto MT" panose="02040603050505030304" pitchFamily="18" charset="0"/>
            </a:endParaRPr>
          </a:p>
        </p:txBody>
      </p:sp>
      <p:pic>
        <p:nvPicPr>
          <p:cNvPr id="5" name="Picture 4">
            <a:extLst>
              <a:ext uri="{FF2B5EF4-FFF2-40B4-BE49-F238E27FC236}">
                <a16:creationId xmlns:a16="http://schemas.microsoft.com/office/drawing/2014/main" id="{A89B623F-8CD3-DB1E-DBE2-19E8EC0B264B}"/>
              </a:ext>
            </a:extLst>
          </p:cNvPr>
          <p:cNvPicPr>
            <a:picLocks noChangeAspect="1"/>
          </p:cNvPicPr>
          <p:nvPr/>
        </p:nvPicPr>
        <p:blipFill>
          <a:blip r:embed="rId2"/>
          <a:stretch>
            <a:fillRect/>
          </a:stretch>
        </p:blipFill>
        <p:spPr>
          <a:xfrm>
            <a:off x="4408765" y="5754883"/>
            <a:ext cx="4986960" cy="432854"/>
          </a:xfrm>
          <a:prstGeom prst="rect">
            <a:avLst/>
          </a:prstGeom>
        </p:spPr>
      </p:pic>
    </p:spTree>
    <p:extLst>
      <p:ext uri="{BB962C8B-B14F-4D97-AF65-F5344CB8AC3E}">
        <p14:creationId xmlns:p14="http://schemas.microsoft.com/office/powerpoint/2010/main" val="1807772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ABF0EC-2A75-4ECC-A0D9-3F3C6F5D1820}"/>
              </a:ext>
            </a:extLst>
          </p:cNvPr>
          <p:cNvSpPr>
            <a:spLocks noGrp="1"/>
          </p:cNvSpPr>
          <p:nvPr>
            <p:ph idx="1"/>
          </p:nvPr>
        </p:nvSpPr>
        <p:spPr>
          <a:xfrm>
            <a:off x="838200" y="457200"/>
            <a:ext cx="10515600" cy="5832763"/>
          </a:xfrm>
        </p:spPr>
        <p:txBody>
          <a:bodyPr>
            <a:normAutofit/>
          </a:bodyPr>
          <a:lstStyle/>
          <a:p>
            <a:pPr marL="0" indent="0" algn="just">
              <a:buFont typeface="Arial" panose="020B0604020202020204" pitchFamily="34" charset="0"/>
              <a:buNone/>
              <a:defRPr/>
            </a:pPr>
            <a:endParaRPr lang="en-US" sz="2000" b="1" dirty="0">
              <a:solidFill>
                <a:srgbClr val="FF0000"/>
              </a:solidFill>
              <a:latin typeface="erdana"/>
            </a:endParaRPr>
          </a:p>
        </p:txBody>
      </p:sp>
      <p:pic>
        <p:nvPicPr>
          <p:cNvPr id="4" name="Picture 6">
            <a:extLst>
              <a:ext uri="{FF2B5EF4-FFF2-40B4-BE49-F238E27FC236}">
                <a16:creationId xmlns:a16="http://schemas.microsoft.com/office/drawing/2014/main" id="{F026C589-B1B0-541F-B0B1-AC5BF4F44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5053" y="1272417"/>
            <a:ext cx="9803106" cy="3999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340D0556-2197-E003-169D-02C5C9EABF9D}"/>
              </a:ext>
            </a:extLst>
          </p:cNvPr>
          <p:cNvPicPr>
            <a:picLocks noChangeAspect="1"/>
          </p:cNvPicPr>
          <p:nvPr/>
        </p:nvPicPr>
        <p:blipFill>
          <a:blip r:embed="rId3"/>
          <a:stretch>
            <a:fillRect/>
          </a:stretch>
        </p:blipFill>
        <p:spPr>
          <a:xfrm>
            <a:off x="5981534" y="5538456"/>
            <a:ext cx="4986960" cy="432854"/>
          </a:xfrm>
          <a:prstGeom prst="rect">
            <a:avLst/>
          </a:prstGeom>
        </p:spPr>
      </p:pic>
    </p:spTree>
    <p:extLst>
      <p:ext uri="{BB962C8B-B14F-4D97-AF65-F5344CB8AC3E}">
        <p14:creationId xmlns:p14="http://schemas.microsoft.com/office/powerpoint/2010/main" val="802865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제목 1">
            <a:extLst>
              <a:ext uri="{FF2B5EF4-FFF2-40B4-BE49-F238E27FC236}">
                <a16:creationId xmlns:a16="http://schemas.microsoft.com/office/drawing/2014/main" id="{E5015F5B-1B03-3B84-96E3-75AFCF611114}"/>
              </a:ext>
            </a:extLst>
          </p:cNvPr>
          <p:cNvSpPr>
            <a:spLocks noGrp="1"/>
          </p:cNvSpPr>
          <p:nvPr>
            <p:ph type="title"/>
          </p:nvPr>
        </p:nvSpPr>
        <p:spPr/>
        <p:txBody>
          <a:bodyPr/>
          <a:lstStyle/>
          <a:p>
            <a:r>
              <a:rPr lang="en-US" altLang="ko-KR" dirty="0"/>
              <a:t>CPU Scheduling algorithms</a:t>
            </a:r>
            <a:endParaRPr lang="ko-KR" altLang="en-US" dirty="0"/>
          </a:p>
        </p:txBody>
      </p:sp>
      <p:sp>
        <p:nvSpPr>
          <p:cNvPr id="17411" name="내용 개체 틀 2">
            <a:extLst>
              <a:ext uri="{FF2B5EF4-FFF2-40B4-BE49-F238E27FC236}">
                <a16:creationId xmlns:a16="http://schemas.microsoft.com/office/drawing/2014/main" id="{1F97C3A1-7430-D963-2513-C0981230DD7B}"/>
              </a:ext>
            </a:extLst>
          </p:cNvPr>
          <p:cNvSpPr>
            <a:spLocks noGrp="1"/>
          </p:cNvSpPr>
          <p:nvPr>
            <p:ph idx="1"/>
          </p:nvPr>
        </p:nvSpPr>
        <p:spPr>
          <a:xfrm>
            <a:off x="838200" y="1548882"/>
            <a:ext cx="10515600" cy="4943993"/>
          </a:xfrm>
        </p:spPr>
        <p:txBody>
          <a:bodyPr>
            <a:normAutofit/>
          </a:bodyPr>
          <a:lstStyle/>
          <a:p>
            <a:pPr algn="just"/>
            <a:r>
              <a:rPr lang="en-US" altLang="en-US" sz="2400" dirty="0">
                <a:latin typeface="Calisto MT" panose="02040603050505030304" pitchFamily="18" charset="0"/>
              </a:rPr>
              <a:t>The process scheduling is the activity of the process manager that handles the removal of the running process from the CPU and the selection of another process on the basis of a particular strategy.</a:t>
            </a:r>
            <a:endParaRPr lang="en-US" altLang="ko-KR" sz="2400" dirty="0">
              <a:latin typeface="Calisto MT" panose="02040603050505030304" pitchFamily="18" charset="0"/>
            </a:endParaRPr>
          </a:p>
          <a:p>
            <a:pPr algn="just"/>
            <a:r>
              <a:rPr lang="en-US" altLang="ko-KR" sz="2400" dirty="0">
                <a:latin typeface="Calisto MT" panose="02040603050505030304" pitchFamily="18" charset="0"/>
              </a:rPr>
              <a:t>Workload assumptions:</a:t>
            </a:r>
          </a:p>
          <a:p>
            <a:pPr marL="800100" lvl="1" indent="-342900" algn="just">
              <a:buFont typeface="Calibri Light" panose="020F0302020204030204" pitchFamily="34" charset="0"/>
              <a:buAutoNum type="arabicPeriod"/>
            </a:pPr>
            <a:r>
              <a:rPr lang="en-US" altLang="ko-KR" dirty="0">
                <a:latin typeface="Calisto MT" panose="02040603050505030304" pitchFamily="18" charset="0"/>
              </a:rPr>
              <a:t>Each job runs for the </a:t>
            </a:r>
            <a:r>
              <a:rPr lang="en-US" altLang="ko-KR" b="1" dirty="0">
                <a:latin typeface="Calisto MT" panose="02040603050505030304" pitchFamily="18" charset="0"/>
              </a:rPr>
              <a:t>same amount of time.</a:t>
            </a:r>
          </a:p>
          <a:p>
            <a:pPr marL="800100" lvl="1" indent="-342900" algn="just">
              <a:buFont typeface="Calibri Light" panose="020F0302020204030204" pitchFamily="34" charset="0"/>
              <a:buAutoNum type="arabicPeriod"/>
            </a:pPr>
            <a:r>
              <a:rPr lang="en-US" altLang="ko-KR" dirty="0">
                <a:latin typeface="Calisto MT" panose="02040603050505030304" pitchFamily="18" charset="0"/>
              </a:rPr>
              <a:t>All jobs </a:t>
            </a:r>
            <a:r>
              <a:rPr lang="en-US" altLang="ko-KR" b="1" dirty="0">
                <a:latin typeface="Calisto MT" panose="02040603050505030304" pitchFamily="18" charset="0"/>
              </a:rPr>
              <a:t>arrive </a:t>
            </a:r>
            <a:r>
              <a:rPr lang="en-US" altLang="ko-KR" dirty="0">
                <a:latin typeface="Calisto MT" panose="02040603050505030304" pitchFamily="18" charset="0"/>
              </a:rPr>
              <a:t>at the same time.</a:t>
            </a:r>
          </a:p>
          <a:p>
            <a:pPr marL="800100" lvl="1" indent="-342900" algn="just">
              <a:buFont typeface="Calibri Light" panose="020F0302020204030204" pitchFamily="34" charset="0"/>
              <a:buAutoNum type="arabicPeriod"/>
            </a:pPr>
            <a:r>
              <a:rPr lang="en-US" altLang="ko-KR" dirty="0">
                <a:latin typeface="Calisto MT" panose="02040603050505030304" pitchFamily="18" charset="0"/>
              </a:rPr>
              <a:t>All jobs only use the </a:t>
            </a:r>
            <a:r>
              <a:rPr lang="en-US" altLang="ko-KR" b="1" dirty="0">
                <a:latin typeface="Calisto MT" panose="02040603050505030304" pitchFamily="18" charset="0"/>
              </a:rPr>
              <a:t>CPU </a:t>
            </a:r>
            <a:r>
              <a:rPr lang="en-US" altLang="ko-KR" dirty="0">
                <a:latin typeface="Calisto MT" panose="02040603050505030304" pitchFamily="18" charset="0"/>
              </a:rPr>
              <a:t>(i.e., they perform no I/O).</a:t>
            </a:r>
          </a:p>
          <a:p>
            <a:pPr marL="800100" lvl="1" indent="-342900" algn="just">
              <a:buFont typeface="Calibri Light" panose="020F0302020204030204" pitchFamily="34" charset="0"/>
              <a:buAutoNum type="arabicPeriod"/>
            </a:pPr>
            <a:r>
              <a:rPr lang="en-US" altLang="ko-KR" dirty="0">
                <a:latin typeface="Calisto MT" panose="02040603050505030304" pitchFamily="18" charset="0"/>
              </a:rPr>
              <a:t>The </a:t>
            </a:r>
            <a:r>
              <a:rPr lang="en-US" altLang="ko-KR" b="1" dirty="0">
                <a:latin typeface="Calisto MT" panose="02040603050505030304" pitchFamily="18" charset="0"/>
              </a:rPr>
              <a:t>run-time</a:t>
            </a:r>
            <a:r>
              <a:rPr lang="en-US" altLang="ko-KR" dirty="0">
                <a:latin typeface="Calisto MT" panose="02040603050505030304" pitchFamily="18" charset="0"/>
              </a:rPr>
              <a:t> of each job is known.</a:t>
            </a:r>
          </a:p>
          <a:p>
            <a:pPr marL="269875" lvl="1" indent="-269875" algn="just"/>
            <a:r>
              <a:rPr lang="en-US" altLang="en-US" b="1" dirty="0">
                <a:solidFill>
                  <a:srgbClr val="FF0000"/>
                </a:solidFill>
                <a:latin typeface="Calisto MT" panose="02040603050505030304" pitchFamily="18" charset="0"/>
              </a:rPr>
              <a:t>Scheduling metric:</a:t>
            </a:r>
            <a:endParaRPr lang="en-US" altLang="en-US" dirty="0">
              <a:solidFill>
                <a:srgbClr val="FF0000"/>
              </a:solidFill>
              <a:latin typeface="Calisto MT" panose="02040603050505030304" pitchFamily="18" charset="0"/>
            </a:endParaRPr>
          </a:p>
          <a:p>
            <a:pPr marL="800100" lvl="1" indent="-342900" algn="just">
              <a:buFont typeface="Arial" panose="020B0604020202020204" pitchFamily="34" charset="0"/>
              <a:buNone/>
            </a:pPr>
            <a:r>
              <a:rPr lang="en-US" altLang="en-US" dirty="0">
                <a:latin typeface="Calisto MT" panose="02040603050505030304" pitchFamily="18" charset="0"/>
              </a:rPr>
              <a:t>	A metric is just something that we use to measure something, and there are a number of different metrics that make sense in scheduling.</a:t>
            </a:r>
            <a:endParaRPr lang="en-US" altLang="ko-KR" dirty="0">
              <a:latin typeface="Calisto MT" panose="02040603050505030304" pitchFamily="18" charset="0"/>
            </a:endParaRPr>
          </a:p>
          <a:p>
            <a:pPr marL="800100" lvl="1" indent="-342900" algn="just">
              <a:buFont typeface="Arial" panose="020B0604020202020204" pitchFamily="34" charset="0"/>
              <a:buNone/>
            </a:pPr>
            <a:endParaRPr lang="en-US" altLang="ko-KR" dirty="0">
              <a:latin typeface="Calisto MT" panose="0204060305050503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D686-3281-4AD0-A5DF-2000FBEEE1D1}"/>
              </a:ext>
            </a:extLst>
          </p:cNvPr>
          <p:cNvSpPr>
            <a:spLocks noGrp="1"/>
          </p:cNvSpPr>
          <p:nvPr>
            <p:ph type="title"/>
          </p:nvPr>
        </p:nvSpPr>
        <p:spPr>
          <a:xfrm>
            <a:off x="838200" y="18255"/>
            <a:ext cx="10515600" cy="1110749"/>
          </a:xfrm>
        </p:spPr>
        <p:txBody>
          <a:bodyPr>
            <a:normAutofit/>
          </a:bodyPr>
          <a:lstStyle/>
          <a:p>
            <a:pPr algn="ctr"/>
            <a:r>
              <a:rPr lang="en-US" sz="4000" b="0" i="0" dirty="0">
                <a:solidFill>
                  <a:srgbClr val="610B4B"/>
                </a:solidFill>
                <a:effectLst/>
                <a:latin typeface="erdana"/>
              </a:rPr>
              <a:t>Scheduling algorithms</a:t>
            </a:r>
            <a:endParaRPr lang="en-IN" sz="40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127CFD0E-DF80-48E7-BF03-0DD0FE9BB78A}"/>
              </a:ext>
            </a:extLst>
          </p:cNvPr>
          <p:cNvSpPr>
            <a:spLocks noGrp="1"/>
          </p:cNvSpPr>
          <p:nvPr>
            <p:ph idx="1"/>
          </p:nvPr>
        </p:nvSpPr>
        <p:spPr>
          <a:xfrm>
            <a:off x="609601" y="1219200"/>
            <a:ext cx="11203708" cy="5440218"/>
          </a:xfrm>
        </p:spPr>
        <p:txBody>
          <a:bodyPr>
            <a:normAutofit/>
          </a:bodyPr>
          <a:lstStyle/>
          <a:p>
            <a:pPr algn="just">
              <a:lnSpc>
                <a:spcPct val="200000"/>
              </a:lnSpc>
              <a:buFont typeface="Wingdings" panose="05000000000000000000" pitchFamily="2" charset="2"/>
              <a:buChar char="Ø"/>
            </a:pPr>
            <a:r>
              <a:rPr lang="en-US" sz="3200" b="0" i="0" dirty="0">
                <a:solidFill>
                  <a:srgbClr val="610B4B"/>
                </a:solidFill>
                <a:effectLst/>
                <a:latin typeface="Calisto MT" panose="02040603050505030304" pitchFamily="18" charset="0"/>
              </a:rPr>
              <a:t>The Purpose of a Scheduling algorithms</a:t>
            </a:r>
          </a:p>
          <a:p>
            <a:pPr algn="just">
              <a:buFont typeface="+mj-lt"/>
              <a:buAutoNum type="arabicPeriod"/>
            </a:pPr>
            <a:r>
              <a:rPr lang="en-US" sz="3200" b="0" i="0" dirty="0">
                <a:solidFill>
                  <a:srgbClr val="000000"/>
                </a:solidFill>
                <a:effectLst/>
                <a:latin typeface="Calisto MT" panose="02040603050505030304" pitchFamily="18" charset="0"/>
              </a:rPr>
              <a:t>Maximum CPU utilization</a:t>
            </a:r>
          </a:p>
          <a:p>
            <a:pPr algn="just">
              <a:buFont typeface="+mj-lt"/>
              <a:buAutoNum type="arabicPeriod"/>
            </a:pPr>
            <a:r>
              <a:rPr lang="en-US" sz="3200" b="0" i="0" dirty="0">
                <a:solidFill>
                  <a:srgbClr val="000000"/>
                </a:solidFill>
                <a:effectLst/>
                <a:latin typeface="Calisto MT" panose="02040603050505030304" pitchFamily="18" charset="0"/>
              </a:rPr>
              <a:t>Fare allocation of CPU</a:t>
            </a:r>
          </a:p>
          <a:p>
            <a:pPr algn="just">
              <a:buFont typeface="+mj-lt"/>
              <a:buAutoNum type="arabicPeriod"/>
            </a:pPr>
            <a:r>
              <a:rPr lang="en-US" sz="3200" b="0" i="0" dirty="0">
                <a:solidFill>
                  <a:srgbClr val="000000"/>
                </a:solidFill>
                <a:effectLst/>
                <a:latin typeface="Calisto MT" panose="02040603050505030304" pitchFamily="18" charset="0"/>
              </a:rPr>
              <a:t>Maximum throughput</a:t>
            </a:r>
          </a:p>
          <a:p>
            <a:pPr algn="just">
              <a:buFont typeface="+mj-lt"/>
              <a:buAutoNum type="arabicPeriod"/>
            </a:pPr>
            <a:r>
              <a:rPr lang="en-US" sz="3200" b="0" i="0" dirty="0">
                <a:solidFill>
                  <a:srgbClr val="000000"/>
                </a:solidFill>
                <a:effectLst/>
                <a:latin typeface="Calisto MT" panose="02040603050505030304" pitchFamily="18" charset="0"/>
              </a:rPr>
              <a:t>Minimum turnaround time</a:t>
            </a:r>
          </a:p>
          <a:p>
            <a:pPr algn="just">
              <a:buFont typeface="+mj-lt"/>
              <a:buAutoNum type="arabicPeriod"/>
            </a:pPr>
            <a:r>
              <a:rPr lang="en-US" sz="3200" b="0" i="0" dirty="0">
                <a:solidFill>
                  <a:srgbClr val="000000"/>
                </a:solidFill>
                <a:effectLst/>
                <a:latin typeface="Calisto MT" panose="02040603050505030304" pitchFamily="18" charset="0"/>
              </a:rPr>
              <a:t>Minimum waiting time</a:t>
            </a:r>
          </a:p>
          <a:p>
            <a:pPr algn="just">
              <a:buFont typeface="+mj-lt"/>
              <a:buAutoNum type="arabicPeriod"/>
            </a:pPr>
            <a:r>
              <a:rPr lang="en-US" sz="3200" b="0" i="0" dirty="0">
                <a:solidFill>
                  <a:srgbClr val="000000"/>
                </a:solidFill>
                <a:effectLst/>
                <a:latin typeface="Calisto MT" panose="02040603050505030304" pitchFamily="18" charset="0"/>
              </a:rPr>
              <a:t>Minimum response time</a:t>
            </a:r>
            <a:endParaRPr lang="en-IN" sz="4400" dirty="0">
              <a:latin typeface="Calisto MT" panose="02040603050505030304" pitchFamily="18" charset="0"/>
            </a:endParaRPr>
          </a:p>
        </p:txBody>
      </p:sp>
    </p:spTree>
    <p:extLst>
      <p:ext uri="{BB962C8B-B14F-4D97-AF65-F5344CB8AC3E}">
        <p14:creationId xmlns:p14="http://schemas.microsoft.com/office/powerpoint/2010/main" val="602870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312EB-E79A-41B5-A56D-38D79401D73F}"/>
              </a:ext>
            </a:extLst>
          </p:cNvPr>
          <p:cNvSpPr>
            <a:spLocks noGrp="1"/>
          </p:cNvSpPr>
          <p:nvPr>
            <p:ph type="title"/>
          </p:nvPr>
        </p:nvSpPr>
        <p:spPr/>
        <p:txBody>
          <a:bodyPr>
            <a:normAutofit/>
          </a:bodyPr>
          <a:lstStyle/>
          <a:p>
            <a:pPr algn="ctr"/>
            <a:r>
              <a:rPr lang="en-IN" sz="3200" b="1" dirty="0">
                <a:latin typeface="Calisto MT" panose="02040603050505030304" pitchFamily="18" charset="0"/>
              </a:rPr>
              <a:t>Scheduling Algorithms</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E32343B5-FC9A-468D-A9AA-8AF775004F5C}"/>
              </a:ext>
            </a:extLst>
          </p:cNvPr>
          <p:cNvSpPr>
            <a:spLocks noGrp="1"/>
          </p:cNvSpPr>
          <p:nvPr>
            <p:ph idx="1"/>
          </p:nvPr>
        </p:nvSpPr>
        <p:spPr>
          <a:xfrm>
            <a:off x="838200" y="1408922"/>
            <a:ext cx="10515600" cy="5083953"/>
          </a:xfrm>
        </p:spPr>
        <p:txBody>
          <a:bodyPr>
            <a:normAutofit/>
          </a:bodyPr>
          <a:lstStyle/>
          <a:p>
            <a:pPr marL="0" indent="0" algn="just">
              <a:lnSpc>
                <a:spcPct val="150000"/>
              </a:lnSpc>
              <a:buNone/>
            </a:pPr>
            <a:r>
              <a:rPr lang="en-US" sz="2000" dirty="0">
                <a:latin typeface="Calisto MT" panose="02040603050505030304" pitchFamily="18" charset="0"/>
              </a:rPr>
              <a:t>	To decide which process to execute first and which process to execute last to achieve maximum CPU utilization, we have some algorithms, they are:</a:t>
            </a:r>
          </a:p>
          <a:p>
            <a:pPr algn="just">
              <a:lnSpc>
                <a:spcPct val="150000"/>
              </a:lnSpc>
              <a:buFont typeface="Wingdings" panose="05000000000000000000" pitchFamily="2" charset="2"/>
              <a:buChar char="Ø"/>
            </a:pPr>
            <a:r>
              <a:rPr lang="en-IN" sz="2000" dirty="0">
                <a:latin typeface="Calisto MT" panose="02040603050505030304" pitchFamily="18" charset="0"/>
              </a:rPr>
              <a:t>First Come First Serve(FCFS) Scheduling</a:t>
            </a:r>
          </a:p>
          <a:p>
            <a:pPr algn="just">
              <a:lnSpc>
                <a:spcPct val="150000"/>
              </a:lnSpc>
              <a:buFont typeface="Wingdings" panose="05000000000000000000" pitchFamily="2" charset="2"/>
              <a:buChar char="Ø"/>
            </a:pPr>
            <a:r>
              <a:rPr lang="en-IN" sz="2000" dirty="0">
                <a:latin typeface="Calisto MT" panose="02040603050505030304" pitchFamily="18" charset="0"/>
              </a:rPr>
              <a:t>Shortest-Job-First(SJF) Scheduling</a:t>
            </a:r>
          </a:p>
          <a:p>
            <a:pPr algn="just">
              <a:lnSpc>
                <a:spcPct val="150000"/>
              </a:lnSpc>
              <a:buFont typeface="Wingdings" panose="05000000000000000000" pitchFamily="2" charset="2"/>
              <a:buChar char="Ø"/>
            </a:pPr>
            <a:r>
              <a:rPr lang="en-IN" sz="2000" dirty="0">
                <a:latin typeface="Calisto MT" panose="02040603050505030304" pitchFamily="18" charset="0"/>
              </a:rPr>
              <a:t>Priority Scheduling</a:t>
            </a:r>
          </a:p>
          <a:p>
            <a:pPr algn="just">
              <a:lnSpc>
                <a:spcPct val="150000"/>
              </a:lnSpc>
              <a:buFont typeface="Wingdings" panose="05000000000000000000" pitchFamily="2" charset="2"/>
              <a:buChar char="Ø"/>
            </a:pPr>
            <a:r>
              <a:rPr lang="en-IN" sz="2000" dirty="0">
                <a:latin typeface="Calisto MT" panose="02040603050505030304" pitchFamily="18" charset="0"/>
              </a:rPr>
              <a:t>Round Robin(RR) Scheduling</a:t>
            </a:r>
          </a:p>
          <a:p>
            <a:pPr algn="just">
              <a:lnSpc>
                <a:spcPct val="150000"/>
              </a:lnSpc>
              <a:buFont typeface="Wingdings" panose="05000000000000000000" pitchFamily="2" charset="2"/>
              <a:buChar char="Ø"/>
            </a:pPr>
            <a:r>
              <a:rPr lang="en-IN" sz="2000" dirty="0">
                <a:latin typeface="Calisto MT" panose="02040603050505030304" pitchFamily="18" charset="0"/>
              </a:rPr>
              <a:t>Multilevel Queue Scheduling</a:t>
            </a:r>
          </a:p>
          <a:p>
            <a:pPr algn="just">
              <a:lnSpc>
                <a:spcPct val="150000"/>
              </a:lnSpc>
              <a:buFont typeface="Wingdings" panose="05000000000000000000" pitchFamily="2" charset="2"/>
              <a:buChar char="Ø"/>
            </a:pPr>
            <a:r>
              <a:rPr lang="en-IN" sz="2000" dirty="0">
                <a:latin typeface="Calisto MT" panose="02040603050505030304" pitchFamily="18" charset="0"/>
              </a:rPr>
              <a:t>Multilevel Feedback Queue Scheduling</a:t>
            </a:r>
          </a:p>
        </p:txBody>
      </p:sp>
    </p:spTree>
    <p:extLst>
      <p:ext uri="{BB962C8B-B14F-4D97-AF65-F5344CB8AC3E}">
        <p14:creationId xmlns:p14="http://schemas.microsoft.com/office/powerpoint/2010/main" val="125842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제목 1">
            <a:extLst>
              <a:ext uri="{FF2B5EF4-FFF2-40B4-BE49-F238E27FC236}">
                <a16:creationId xmlns:a16="http://schemas.microsoft.com/office/drawing/2014/main" id="{4DB4D79B-05DD-61B5-CD95-DEF4B83AB13E}"/>
              </a:ext>
            </a:extLst>
          </p:cNvPr>
          <p:cNvSpPr>
            <a:spLocks noGrp="1"/>
          </p:cNvSpPr>
          <p:nvPr>
            <p:ph type="title"/>
          </p:nvPr>
        </p:nvSpPr>
        <p:spPr>
          <a:xfrm>
            <a:off x="838200" y="185738"/>
            <a:ext cx="10515600" cy="685800"/>
          </a:xfrm>
        </p:spPr>
        <p:txBody>
          <a:bodyPr>
            <a:normAutofit fontScale="90000"/>
          </a:bodyPr>
          <a:lstStyle/>
          <a:p>
            <a:r>
              <a:rPr lang="en-IN" altLang="en-US" dirty="0"/>
              <a:t>Multilevel Queue (MLQ) CPU Scheduling</a:t>
            </a:r>
            <a:endParaRPr lang="ko-KR" altLang="en-US" dirty="0"/>
          </a:p>
        </p:txBody>
      </p:sp>
      <p:sp>
        <p:nvSpPr>
          <p:cNvPr id="36867" name="내용 개체 틀 2">
            <a:extLst>
              <a:ext uri="{FF2B5EF4-FFF2-40B4-BE49-F238E27FC236}">
                <a16:creationId xmlns:a16="http://schemas.microsoft.com/office/drawing/2014/main" id="{D8ABA0D7-171B-9676-E2CD-664A49A919B2}"/>
              </a:ext>
            </a:extLst>
          </p:cNvPr>
          <p:cNvSpPr>
            <a:spLocks noGrp="1"/>
          </p:cNvSpPr>
          <p:nvPr>
            <p:ph idx="1"/>
          </p:nvPr>
        </p:nvSpPr>
        <p:spPr>
          <a:xfrm>
            <a:off x="838200" y="871538"/>
            <a:ext cx="10656888" cy="5800723"/>
          </a:xfrm>
        </p:spPr>
        <p:txBody>
          <a:bodyPr>
            <a:normAutofit fontScale="92500"/>
          </a:bodyPr>
          <a:lstStyle/>
          <a:p>
            <a:pPr algn="just">
              <a:lnSpc>
                <a:spcPct val="120000"/>
              </a:lnSpc>
            </a:pPr>
            <a:r>
              <a:rPr lang="en-US" altLang="en-US" sz="2400" dirty="0">
                <a:solidFill>
                  <a:srgbClr val="273239"/>
                </a:solidFill>
                <a:latin typeface="Calisto MT" panose="02040603050505030304" pitchFamily="18" charset="0"/>
              </a:rPr>
              <a:t>Many processes in the </a:t>
            </a:r>
            <a:r>
              <a:rPr lang="en-US" altLang="en-US" sz="2400" b="1" dirty="0">
                <a:solidFill>
                  <a:srgbClr val="0070C0"/>
                </a:solidFill>
                <a:latin typeface="Calisto MT" panose="02040603050505030304" pitchFamily="18" charset="0"/>
              </a:rPr>
              <a:t>ready queue can be divided into different classes </a:t>
            </a:r>
            <a:r>
              <a:rPr lang="en-US" altLang="en-US" sz="2400" dirty="0">
                <a:solidFill>
                  <a:srgbClr val="273239"/>
                </a:solidFill>
                <a:latin typeface="Calisto MT" panose="02040603050505030304" pitchFamily="18" charset="0"/>
              </a:rPr>
              <a:t>where each class has its own scheduling needs.</a:t>
            </a:r>
          </a:p>
          <a:p>
            <a:pPr algn="just">
              <a:lnSpc>
                <a:spcPct val="120000"/>
              </a:lnSpc>
            </a:pPr>
            <a:r>
              <a:rPr lang="en-US" altLang="en-US" sz="2400" dirty="0">
                <a:solidFill>
                  <a:srgbClr val="273239"/>
                </a:solidFill>
                <a:latin typeface="Calisto MT" panose="02040603050505030304" pitchFamily="18" charset="0"/>
              </a:rPr>
              <a:t>For example, a common division is a </a:t>
            </a:r>
            <a:r>
              <a:rPr lang="en-US" altLang="en-US" sz="2400" b="1" dirty="0">
                <a:solidFill>
                  <a:srgbClr val="273239"/>
                </a:solidFill>
                <a:latin typeface="Calisto MT" panose="02040603050505030304" pitchFamily="18" charset="0"/>
              </a:rPr>
              <a:t>foreground (interactive)</a:t>
            </a:r>
            <a:r>
              <a:rPr lang="en-US" altLang="en-US" sz="2400" dirty="0">
                <a:solidFill>
                  <a:srgbClr val="273239"/>
                </a:solidFill>
                <a:latin typeface="Calisto MT" panose="02040603050505030304" pitchFamily="18" charset="0"/>
              </a:rPr>
              <a:t> process and a </a:t>
            </a:r>
            <a:r>
              <a:rPr lang="en-US" altLang="en-US" sz="2400" b="1" dirty="0">
                <a:solidFill>
                  <a:srgbClr val="273239"/>
                </a:solidFill>
                <a:latin typeface="Calisto MT" panose="02040603050505030304" pitchFamily="18" charset="0"/>
              </a:rPr>
              <a:t>background (batch)</a:t>
            </a:r>
            <a:r>
              <a:rPr lang="en-US" altLang="en-US" sz="2400" dirty="0">
                <a:solidFill>
                  <a:srgbClr val="273239"/>
                </a:solidFill>
                <a:latin typeface="Calisto MT" panose="02040603050505030304" pitchFamily="18" charset="0"/>
              </a:rPr>
              <a:t> process. These two classes have different scheduling needs. For this kind of situation </a:t>
            </a:r>
            <a:r>
              <a:rPr lang="en-US" altLang="en-US" sz="2400" b="1" dirty="0">
                <a:solidFill>
                  <a:srgbClr val="273239"/>
                </a:solidFill>
                <a:latin typeface="Calisto MT" panose="02040603050505030304" pitchFamily="18" charset="0"/>
              </a:rPr>
              <a:t>Multilevel Queue Scheduling</a:t>
            </a:r>
            <a:r>
              <a:rPr lang="en-US" altLang="en-US" sz="2400" dirty="0">
                <a:solidFill>
                  <a:srgbClr val="273239"/>
                </a:solidFill>
                <a:latin typeface="Calisto MT" panose="02040603050505030304" pitchFamily="18" charset="0"/>
              </a:rPr>
              <a:t> is used. </a:t>
            </a:r>
          </a:p>
          <a:p>
            <a:pPr algn="just">
              <a:lnSpc>
                <a:spcPct val="120000"/>
              </a:lnSpc>
            </a:pPr>
            <a:r>
              <a:rPr lang="en-US" altLang="en-US" sz="2400" b="1" dirty="0">
                <a:solidFill>
                  <a:srgbClr val="273239"/>
                </a:solidFill>
                <a:latin typeface="Calisto MT" panose="02040603050505030304" pitchFamily="18" charset="0"/>
              </a:rPr>
              <a:t>Ready Queue</a:t>
            </a:r>
            <a:r>
              <a:rPr lang="en-US" altLang="en-US" sz="2400" dirty="0">
                <a:solidFill>
                  <a:srgbClr val="273239"/>
                </a:solidFill>
                <a:latin typeface="Calisto MT" panose="02040603050505030304" pitchFamily="18" charset="0"/>
              </a:rPr>
              <a:t> is </a:t>
            </a:r>
            <a:r>
              <a:rPr lang="en-US" altLang="en-US" sz="2400" dirty="0">
                <a:solidFill>
                  <a:srgbClr val="0070C0"/>
                </a:solidFill>
                <a:latin typeface="Calisto MT" panose="02040603050505030304" pitchFamily="18" charset="0"/>
              </a:rPr>
              <a:t>divided into separate queues for each class of processes</a:t>
            </a:r>
            <a:r>
              <a:rPr lang="en-US" altLang="en-US" sz="2400" dirty="0">
                <a:solidFill>
                  <a:srgbClr val="273239"/>
                </a:solidFill>
                <a:latin typeface="Calisto MT" panose="02040603050505030304" pitchFamily="18" charset="0"/>
              </a:rPr>
              <a:t>. For example, let us take three different types of processes System processes, Interactive processes, and Batch Processes. All three processes have their own queue.</a:t>
            </a:r>
          </a:p>
          <a:p>
            <a:pPr algn="just">
              <a:lnSpc>
                <a:spcPct val="120000"/>
              </a:lnSpc>
            </a:pPr>
            <a:r>
              <a:rPr lang="en-US" sz="2400" dirty="0">
                <a:latin typeface="Calisto MT" panose="02040603050505030304" pitchFamily="18" charset="0"/>
              </a:rPr>
              <a:t>According to the priority of process, processes are placed in the different queues.</a:t>
            </a:r>
          </a:p>
          <a:p>
            <a:pPr algn="just">
              <a:lnSpc>
                <a:spcPct val="120000"/>
              </a:lnSpc>
            </a:pPr>
            <a:r>
              <a:rPr lang="en-US" sz="2400" dirty="0">
                <a:latin typeface="Calisto MT" panose="02040603050505030304" pitchFamily="18" charset="0"/>
              </a:rPr>
              <a:t>Generally high priority process are placed in the top level queue. </a:t>
            </a:r>
          </a:p>
          <a:p>
            <a:pPr algn="just">
              <a:lnSpc>
                <a:spcPct val="120000"/>
              </a:lnSpc>
            </a:pPr>
            <a:r>
              <a:rPr lang="en-US" sz="2400" dirty="0">
                <a:latin typeface="Calisto MT" panose="02040603050505030304" pitchFamily="18" charset="0"/>
              </a:rPr>
              <a:t>Only after completion of processes from top level queue, lower level queued processes are scheduled. </a:t>
            </a:r>
            <a:r>
              <a:rPr lang="en-US" altLang="en-US" sz="2400" dirty="0">
                <a:solidFill>
                  <a:srgbClr val="273239"/>
                </a:solidFill>
                <a:latin typeface="Calisto MT" panose="02040603050505030304" pitchFamily="18" charset="0"/>
              </a:rPr>
              <a:t> </a:t>
            </a:r>
            <a:endParaRPr lang="ko-KR" altLang="en-US" sz="2400" dirty="0">
              <a:latin typeface="Calisto MT" panose="02040603050505030304"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제목 1">
            <a:extLst>
              <a:ext uri="{FF2B5EF4-FFF2-40B4-BE49-F238E27FC236}">
                <a16:creationId xmlns:a16="http://schemas.microsoft.com/office/drawing/2014/main" id="{4224B723-F8BC-6F50-7657-2104313C750D}"/>
              </a:ext>
            </a:extLst>
          </p:cNvPr>
          <p:cNvSpPr>
            <a:spLocks noGrp="1"/>
          </p:cNvSpPr>
          <p:nvPr>
            <p:ph type="title"/>
          </p:nvPr>
        </p:nvSpPr>
        <p:spPr>
          <a:xfrm>
            <a:off x="838200" y="136525"/>
            <a:ext cx="10515600" cy="843189"/>
          </a:xfrm>
        </p:spPr>
        <p:txBody>
          <a:bodyPr>
            <a:normAutofit/>
          </a:bodyPr>
          <a:lstStyle/>
          <a:p>
            <a:r>
              <a:rPr lang="en-IN" altLang="en-US" sz="4000" dirty="0"/>
              <a:t>Multilevel Queue (MLQ) CPU Scheduling(Cont..)</a:t>
            </a:r>
            <a:endParaRPr lang="ko-KR" altLang="en-US" sz="4000" dirty="0"/>
          </a:p>
        </p:txBody>
      </p:sp>
      <p:sp>
        <p:nvSpPr>
          <p:cNvPr id="37891" name="내용 개체 틀 2">
            <a:extLst>
              <a:ext uri="{FF2B5EF4-FFF2-40B4-BE49-F238E27FC236}">
                <a16:creationId xmlns:a16="http://schemas.microsoft.com/office/drawing/2014/main" id="{9E314456-6182-0B83-8440-EF38F660C7BD}"/>
              </a:ext>
            </a:extLst>
          </p:cNvPr>
          <p:cNvSpPr>
            <a:spLocks noGrp="1"/>
          </p:cNvSpPr>
          <p:nvPr>
            <p:ph idx="1"/>
          </p:nvPr>
        </p:nvSpPr>
        <p:spPr>
          <a:xfrm>
            <a:off x="838200" y="1050925"/>
            <a:ext cx="10656888" cy="5126038"/>
          </a:xfrm>
        </p:spPr>
        <p:txBody>
          <a:bodyPr>
            <a:normAutofit/>
          </a:bodyPr>
          <a:lstStyle/>
          <a:p>
            <a:pPr algn="just"/>
            <a:r>
              <a:rPr lang="en-US" altLang="en-US" dirty="0">
                <a:solidFill>
                  <a:srgbClr val="273239"/>
                </a:solidFill>
                <a:latin typeface="urw-din"/>
              </a:rPr>
              <a:t>All three different type of processes has their own queue. Each queue has its own Scheduling algorithm. </a:t>
            </a:r>
          </a:p>
          <a:p>
            <a:pPr algn="just"/>
            <a:r>
              <a:rPr lang="en-US" altLang="en-US" dirty="0">
                <a:solidFill>
                  <a:srgbClr val="273239"/>
                </a:solidFill>
                <a:latin typeface="urw-din"/>
              </a:rPr>
              <a:t>For example, queue 1 and queue 2 uses </a:t>
            </a:r>
            <a:r>
              <a:rPr lang="en-US" altLang="en-US" b="1" dirty="0">
                <a:solidFill>
                  <a:srgbClr val="273239"/>
                </a:solidFill>
                <a:latin typeface="urw-din"/>
              </a:rPr>
              <a:t>Round Robin</a:t>
            </a:r>
            <a:r>
              <a:rPr lang="en-US" altLang="en-US" dirty="0">
                <a:solidFill>
                  <a:srgbClr val="273239"/>
                </a:solidFill>
                <a:latin typeface="urw-din"/>
              </a:rPr>
              <a:t> while queue 3 can use </a:t>
            </a:r>
            <a:r>
              <a:rPr lang="en-US" altLang="en-US" b="1" dirty="0">
                <a:solidFill>
                  <a:srgbClr val="273239"/>
                </a:solidFill>
                <a:latin typeface="urw-din"/>
              </a:rPr>
              <a:t>FCFS</a:t>
            </a:r>
            <a:r>
              <a:rPr lang="en-US" altLang="en-US" dirty="0">
                <a:solidFill>
                  <a:srgbClr val="273239"/>
                </a:solidFill>
                <a:latin typeface="urw-din"/>
              </a:rPr>
              <a:t> to schedule their processes. </a:t>
            </a:r>
          </a:p>
        </p:txBody>
      </p:sp>
      <p:pic>
        <p:nvPicPr>
          <p:cNvPr id="37894" name="Picture 2">
            <a:extLst>
              <a:ext uri="{FF2B5EF4-FFF2-40B4-BE49-F238E27FC236}">
                <a16:creationId xmlns:a16="http://schemas.microsoft.com/office/drawing/2014/main" id="{093FD4CF-D1E1-F0F0-C5E3-BD2B7A11EE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0854" y="2774788"/>
            <a:ext cx="3139098" cy="303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제목 1">
            <a:extLst>
              <a:ext uri="{FF2B5EF4-FFF2-40B4-BE49-F238E27FC236}">
                <a16:creationId xmlns:a16="http://schemas.microsoft.com/office/drawing/2014/main" id="{FDE52546-C998-C684-AAEC-7E7D3FA8A878}"/>
              </a:ext>
            </a:extLst>
          </p:cNvPr>
          <p:cNvSpPr>
            <a:spLocks noGrp="1"/>
          </p:cNvSpPr>
          <p:nvPr>
            <p:ph type="title"/>
          </p:nvPr>
        </p:nvSpPr>
        <p:spPr>
          <a:xfrm>
            <a:off x="838200" y="236602"/>
            <a:ext cx="10515600" cy="707895"/>
          </a:xfrm>
        </p:spPr>
        <p:txBody>
          <a:bodyPr>
            <a:noAutofit/>
          </a:bodyPr>
          <a:lstStyle/>
          <a:p>
            <a:r>
              <a:rPr lang="en-US" sz="3600" b="1" dirty="0">
                <a:latin typeface="Calisto MT" panose="02040603050505030304" pitchFamily="18" charset="0"/>
              </a:rPr>
              <a:t>Multi level Feedback Queue (MLFQ) Scheduling</a:t>
            </a:r>
            <a:endParaRPr lang="ko-KR" altLang="en-US" sz="3600" dirty="0"/>
          </a:p>
        </p:txBody>
      </p:sp>
      <p:sp>
        <p:nvSpPr>
          <p:cNvPr id="38915" name="내용 개체 틀 2">
            <a:extLst>
              <a:ext uri="{FF2B5EF4-FFF2-40B4-BE49-F238E27FC236}">
                <a16:creationId xmlns:a16="http://schemas.microsoft.com/office/drawing/2014/main" id="{C8F32031-8D7D-EFA4-BEAB-5DFA5E0C28A6}"/>
              </a:ext>
            </a:extLst>
          </p:cNvPr>
          <p:cNvSpPr>
            <a:spLocks noGrp="1"/>
          </p:cNvSpPr>
          <p:nvPr>
            <p:ph idx="1"/>
          </p:nvPr>
        </p:nvSpPr>
        <p:spPr>
          <a:xfrm>
            <a:off x="838200" y="944497"/>
            <a:ext cx="10515600" cy="5232466"/>
          </a:xfrm>
        </p:spPr>
        <p:txBody>
          <a:bodyPr>
            <a:normAutofit/>
          </a:bodyPr>
          <a:lstStyle/>
          <a:p>
            <a:pPr algn="just">
              <a:lnSpc>
                <a:spcPct val="120000"/>
              </a:lnSpc>
              <a:buFont typeface="Wingdings" panose="05000000000000000000" pitchFamily="2" charset="2"/>
              <a:buChar char="Ø"/>
            </a:pPr>
            <a:r>
              <a:rPr lang="en-US" sz="2400" b="1" dirty="0">
                <a:solidFill>
                  <a:srgbClr val="0070C0"/>
                </a:solidFill>
                <a:latin typeface="Calisto MT" panose="02040603050505030304" pitchFamily="18" charset="0"/>
              </a:rPr>
              <a:t>It allows the process to move in between queues</a:t>
            </a:r>
            <a:r>
              <a:rPr lang="en-US" sz="2400" dirty="0">
                <a:latin typeface="Calisto MT" panose="02040603050505030304" pitchFamily="18" charset="0"/>
              </a:rPr>
              <a:t>. </a:t>
            </a:r>
          </a:p>
          <a:p>
            <a:pPr algn="just">
              <a:lnSpc>
                <a:spcPct val="120000"/>
              </a:lnSpc>
              <a:buFont typeface="Wingdings" panose="05000000000000000000" pitchFamily="2" charset="2"/>
              <a:buChar char="Ø"/>
            </a:pPr>
            <a:r>
              <a:rPr lang="en-US" sz="2400" dirty="0">
                <a:latin typeface="Calisto MT" panose="02040603050505030304" pitchFamily="18" charset="0"/>
              </a:rPr>
              <a:t>The idea is to separate processes according to the characteristics of their CPU bursts.</a:t>
            </a:r>
          </a:p>
          <a:p>
            <a:pPr algn="just">
              <a:lnSpc>
                <a:spcPct val="120000"/>
              </a:lnSpc>
              <a:buFont typeface="Wingdings" panose="05000000000000000000" pitchFamily="2" charset="2"/>
              <a:buChar char="Ø"/>
            </a:pPr>
            <a:r>
              <a:rPr lang="en-US" sz="2400" dirty="0">
                <a:latin typeface="Calisto MT" panose="02040603050505030304" pitchFamily="18" charset="0"/>
              </a:rPr>
              <a:t> If a process uses too much CPU time, it is moved to a lower-priority queue.</a:t>
            </a:r>
            <a:endParaRPr lang="en-US" altLang="ko-KR" sz="2400" dirty="0">
              <a:latin typeface="Calisto MT" panose="02040603050505030304" pitchFamily="18" charset="0"/>
            </a:endParaRPr>
          </a:p>
          <a:p>
            <a:pPr>
              <a:lnSpc>
                <a:spcPct val="120000"/>
              </a:lnSpc>
            </a:pPr>
            <a:r>
              <a:rPr lang="en-US" altLang="ko-KR" sz="2400" dirty="0">
                <a:latin typeface="Calisto MT" panose="02040603050505030304" pitchFamily="18" charset="0"/>
              </a:rPr>
              <a:t>A Scheduler that learns from the past to predict the future.</a:t>
            </a:r>
          </a:p>
          <a:p>
            <a:pPr>
              <a:lnSpc>
                <a:spcPct val="120000"/>
              </a:lnSpc>
            </a:pPr>
            <a:r>
              <a:rPr lang="en-US" altLang="ko-KR" sz="2400" dirty="0">
                <a:solidFill>
                  <a:srgbClr val="FF0000"/>
                </a:solidFill>
                <a:latin typeface="Calisto MT" panose="02040603050505030304" pitchFamily="18" charset="0"/>
              </a:rPr>
              <a:t>Objective:</a:t>
            </a:r>
          </a:p>
          <a:p>
            <a:pPr lvl="1">
              <a:lnSpc>
                <a:spcPct val="120000"/>
              </a:lnSpc>
            </a:pPr>
            <a:r>
              <a:rPr lang="en-US" altLang="ko-KR" dirty="0">
                <a:latin typeface="Calisto MT" panose="02040603050505030304" pitchFamily="18" charset="0"/>
              </a:rPr>
              <a:t>Optimize </a:t>
            </a:r>
            <a:r>
              <a:rPr lang="en-US" altLang="ko-KR" b="1" dirty="0">
                <a:latin typeface="Calisto MT" panose="02040603050505030304" pitchFamily="18" charset="0"/>
              </a:rPr>
              <a:t>turnaround time </a:t>
            </a:r>
            <a:r>
              <a:rPr lang="en-US" altLang="ko-KR" dirty="0">
                <a:latin typeface="Calisto MT" panose="02040603050505030304" pitchFamily="18" charset="0"/>
                <a:sym typeface="Wingdings" panose="05000000000000000000" pitchFamily="2" charset="2"/>
              </a:rPr>
              <a:t> Run shorter jobs first</a:t>
            </a:r>
          </a:p>
          <a:p>
            <a:pPr lvl="1">
              <a:lnSpc>
                <a:spcPct val="120000"/>
              </a:lnSpc>
            </a:pPr>
            <a:r>
              <a:rPr lang="en-US" altLang="ko-KR" dirty="0">
                <a:latin typeface="Calisto MT" panose="02040603050505030304" pitchFamily="18" charset="0"/>
                <a:sym typeface="Wingdings" panose="05000000000000000000" pitchFamily="2" charset="2"/>
              </a:rPr>
              <a:t>Minimize </a:t>
            </a:r>
            <a:r>
              <a:rPr lang="en-US" altLang="ko-KR" b="1" dirty="0">
                <a:latin typeface="Calisto MT" panose="02040603050505030304" pitchFamily="18" charset="0"/>
                <a:sym typeface="Wingdings" panose="05000000000000000000" pitchFamily="2" charset="2"/>
              </a:rPr>
              <a:t>response time </a:t>
            </a:r>
            <a:r>
              <a:rPr lang="en-US" altLang="ko-KR" dirty="0">
                <a:latin typeface="Calisto MT" panose="02040603050505030304" pitchFamily="18" charset="0"/>
                <a:sym typeface="Wingdings" panose="05000000000000000000" pitchFamily="2" charset="2"/>
              </a:rPr>
              <a:t>without </a:t>
            </a:r>
            <a:r>
              <a:rPr lang="en-US" altLang="ko-KR" i="1" dirty="0">
                <a:latin typeface="Calisto MT" panose="02040603050505030304" pitchFamily="18" charset="0"/>
                <a:sym typeface="Wingdings" panose="05000000000000000000" pitchFamily="2" charset="2"/>
              </a:rPr>
              <a:t>a priori knowledge of job length</a:t>
            </a:r>
            <a:r>
              <a:rPr lang="en-US" altLang="ko-KR" dirty="0">
                <a:latin typeface="Calisto MT" panose="02040603050505030304" pitchFamily="18" charset="0"/>
                <a:sym typeface="Wingdings" panose="05000000000000000000" pitchFamily="2" charset="2"/>
              </a:rPr>
              <a:t>.</a:t>
            </a:r>
            <a:endParaRPr lang="ko-KR" altLang="en-US" dirty="0">
              <a:latin typeface="Calisto MT" panose="02040603050505030304" pitchFamily="18" charset="0"/>
            </a:endParaRPr>
          </a:p>
        </p:txBody>
      </p:sp>
      <p:pic>
        <p:nvPicPr>
          <p:cNvPr id="38918" name="Picture 2">
            <a:extLst>
              <a:ext uri="{FF2B5EF4-FFF2-40B4-BE49-F238E27FC236}">
                <a16:creationId xmlns:a16="http://schemas.microsoft.com/office/drawing/2014/main" id="{918C6B62-07AA-7BA5-F3CA-C95C1DE72F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2498" y="3052082"/>
            <a:ext cx="2071396"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제목 1">
            <a:extLst>
              <a:ext uri="{FF2B5EF4-FFF2-40B4-BE49-F238E27FC236}">
                <a16:creationId xmlns:a16="http://schemas.microsoft.com/office/drawing/2014/main" id="{C51E6173-C012-F341-3F05-31F714FBB70D}"/>
              </a:ext>
            </a:extLst>
          </p:cNvPr>
          <p:cNvSpPr>
            <a:spLocks noGrp="1"/>
          </p:cNvSpPr>
          <p:nvPr>
            <p:ph type="title"/>
          </p:nvPr>
        </p:nvSpPr>
        <p:spPr/>
        <p:txBody>
          <a:bodyPr/>
          <a:lstStyle/>
          <a:p>
            <a:r>
              <a:rPr lang="en-US" altLang="ko-KR"/>
              <a:t>MLFQ: Basic Rules</a:t>
            </a:r>
            <a:endParaRPr lang="ko-KR" altLang="en-US"/>
          </a:p>
        </p:txBody>
      </p:sp>
      <p:sp>
        <p:nvSpPr>
          <p:cNvPr id="39939" name="내용 개체 틀 2">
            <a:extLst>
              <a:ext uri="{FF2B5EF4-FFF2-40B4-BE49-F238E27FC236}">
                <a16:creationId xmlns:a16="http://schemas.microsoft.com/office/drawing/2014/main" id="{7389A7B2-41E5-418A-35B7-5CF00D979082}"/>
              </a:ext>
            </a:extLst>
          </p:cNvPr>
          <p:cNvSpPr>
            <a:spLocks noGrp="1"/>
          </p:cNvSpPr>
          <p:nvPr>
            <p:ph idx="1"/>
          </p:nvPr>
        </p:nvSpPr>
        <p:spPr>
          <a:xfrm>
            <a:off x="838200" y="1455576"/>
            <a:ext cx="10515600" cy="4721387"/>
          </a:xfrm>
        </p:spPr>
        <p:txBody>
          <a:bodyPr/>
          <a:lstStyle/>
          <a:p>
            <a:r>
              <a:rPr lang="en-US" altLang="ko-KR" dirty="0"/>
              <a:t>MLFQ has a number of distinct </a:t>
            </a:r>
            <a:r>
              <a:rPr lang="en-US" altLang="ko-KR" b="1" dirty="0"/>
              <a:t>queues</a:t>
            </a:r>
            <a:r>
              <a:rPr lang="en-US" altLang="ko-KR" dirty="0"/>
              <a:t>.</a:t>
            </a:r>
          </a:p>
          <a:p>
            <a:pPr lvl="1"/>
            <a:r>
              <a:rPr lang="en-US" altLang="ko-KR" dirty="0"/>
              <a:t>Each queue is assigned a different priority level.</a:t>
            </a:r>
          </a:p>
          <a:p>
            <a:r>
              <a:rPr lang="en-US" altLang="ko-KR" dirty="0"/>
              <a:t>At any given time, a job that is ready to run is on a single queue.</a:t>
            </a:r>
          </a:p>
          <a:p>
            <a:pPr lvl="1"/>
            <a:r>
              <a:rPr lang="en-US" altLang="ko-KR" dirty="0"/>
              <a:t>A job </a:t>
            </a:r>
            <a:r>
              <a:rPr lang="en-US" altLang="ko-KR" b="1" dirty="0"/>
              <a:t>on a higher queue </a:t>
            </a:r>
            <a:r>
              <a:rPr lang="en-US" altLang="ko-KR" dirty="0"/>
              <a:t>is chosen to run.</a:t>
            </a:r>
          </a:p>
          <a:p>
            <a:pPr lvl="1"/>
            <a:r>
              <a:rPr lang="en-US" altLang="ko-KR" dirty="0"/>
              <a:t>Use round-robin scheduling among jobs in the same queue</a:t>
            </a:r>
          </a:p>
          <a:p>
            <a:pPr lvl="1"/>
            <a:endParaRPr lang="en-US" altLang="ko-KR" dirty="0"/>
          </a:p>
          <a:p>
            <a:pPr lvl="1"/>
            <a:endParaRPr lang="ko-KR" alt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제목 1">
            <a:extLst>
              <a:ext uri="{FF2B5EF4-FFF2-40B4-BE49-F238E27FC236}">
                <a16:creationId xmlns:a16="http://schemas.microsoft.com/office/drawing/2014/main" id="{BF6F6601-8CCE-1AA6-A29E-EA0D0358D1DE}"/>
              </a:ext>
            </a:extLst>
          </p:cNvPr>
          <p:cNvSpPr>
            <a:spLocks noGrp="1"/>
          </p:cNvSpPr>
          <p:nvPr>
            <p:ph type="title"/>
          </p:nvPr>
        </p:nvSpPr>
        <p:spPr/>
        <p:txBody>
          <a:bodyPr/>
          <a:lstStyle/>
          <a:p>
            <a:r>
              <a:rPr lang="en-US" altLang="ko-KR"/>
              <a:t>MLFQ: Basic Rules (Cont.)</a:t>
            </a:r>
            <a:endParaRPr lang="ko-KR" altLang="en-US"/>
          </a:p>
        </p:txBody>
      </p:sp>
      <p:sp>
        <p:nvSpPr>
          <p:cNvPr id="3" name="내용 개체 틀 2">
            <a:extLst>
              <a:ext uri="{FF2B5EF4-FFF2-40B4-BE49-F238E27FC236}">
                <a16:creationId xmlns:a16="http://schemas.microsoft.com/office/drawing/2014/main" id="{B090156D-CDA0-9199-F401-958D34514659}"/>
              </a:ext>
            </a:extLst>
          </p:cNvPr>
          <p:cNvSpPr>
            <a:spLocks noGrp="1"/>
          </p:cNvSpPr>
          <p:nvPr>
            <p:ph idx="1"/>
          </p:nvPr>
        </p:nvSpPr>
        <p:spPr>
          <a:xfrm>
            <a:off x="838200" y="1484312"/>
            <a:ext cx="10515600" cy="4692651"/>
          </a:xfrm>
        </p:spPr>
        <p:txBody>
          <a:bodyPr/>
          <a:lstStyle/>
          <a:p>
            <a:pPr>
              <a:buFont typeface="Arial" charset="0"/>
              <a:buChar char="•"/>
              <a:defRPr/>
            </a:pPr>
            <a:r>
              <a:rPr lang="en-US" dirty="0"/>
              <a:t>Rather than giving a fixed priority to each job, </a:t>
            </a:r>
            <a:r>
              <a:rPr lang="en-US" altLang="ko-KR" dirty="0"/>
              <a:t>MLFQ varies the priority of a job based on </a:t>
            </a:r>
            <a:r>
              <a:rPr lang="en-US" altLang="ko-KR" dirty="0">
                <a:solidFill>
                  <a:schemeClr val="accent6">
                    <a:lumMod val="75000"/>
                  </a:schemeClr>
                </a:solidFill>
              </a:rPr>
              <a:t>its observed behavior</a:t>
            </a:r>
            <a:r>
              <a:rPr lang="en-US" altLang="ko-KR" dirty="0"/>
              <a:t>.</a:t>
            </a:r>
          </a:p>
          <a:p>
            <a:pPr>
              <a:defRPr/>
            </a:pPr>
            <a:r>
              <a:rPr lang="en-US" altLang="ko-KR" dirty="0"/>
              <a:t>Example:</a:t>
            </a:r>
          </a:p>
          <a:p>
            <a:pPr lvl="1">
              <a:defRPr/>
            </a:pPr>
            <a:r>
              <a:rPr lang="en-US" altLang="ko-KR" dirty="0"/>
              <a:t>A job repeatedly relinquishes/give up the CPU while waiting IOs </a:t>
            </a:r>
            <a:r>
              <a:rPr lang="en-US" altLang="ko-KR" dirty="0">
                <a:sym typeface="Wingdings" pitchFamily="2" charset="2"/>
              </a:rPr>
              <a:t> Keep its priority high</a:t>
            </a:r>
          </a:p>
          <a:p>
            <a:pPr lvl="1">
              <a:defRPr/>
            </a:pPr>
            <a:r>
              <a:rPr lang="en-US" altLang="ko-KR" dirty="0">
                <a:sym typeface="Wingdings" pitchFamily="2" charset="2"/>
              </a:rPr>
              <a:t>A job uses the CPU intensively for long periods of time  Reduce its priority.</a:t>
            </a:r>
          </a:p>
          <a:p>
            <a:pPr lvl="1">
              <a:defRPr/>
            </a:pPr>
            <a:endParaRPr lang="en-US" altLang="ko-KR" dirty="0"/>
          </a:p>
          <a:p>
            <a:pPr lvl="1">
              <a:defRPr/>
            </a:pPr>
            <a:endParaRPr lang="ko-KR" altLang="en-US" dirty="0"/>
          </a:p>
        </p:txBody>
      </p:sp>
      <p:sp>
        <p:nvSpPr>
          <p:cNvPr id="5" name="모서리가 둥근 직사각형 5">
            <a:extLst>
              <a:ext uri="{FF2B5EF4-FFF2-40B4-BE49-F238E27FC236}">
                <a16:creationId xmlns:a16="http://schemas.microsoft.com/office/drawing/2014/main" id="{CC0FA70B-201A-1CDF-032F-EF2E70010CAF}"/>
              </a:ext>
            </a:extLst>
          </p:cNvPr>
          <p:cNvSpPr/>
          <p:nvPr/>
        </p:nvSpPr>
        <p:spPr>
          <a:xfrm>
            <a:off x="1871663" y="4437063"/>
            <a:ext cx="8256587" cy="936625"/>
          </a:xfrm>
          <a:prstGeom prst="roundRect">
            <a:avLst>
              <a:gd name="adj" fmla="val 12565"/>
            </a:avLst>
          </a:prstGeom>
          <a:solidFill>
            <a:srgbClr val="FFC000"/>
          </a:solidFill>
          <a:ln w="15875">
            <a:solidFill>
              <a:schemeClr val="accent6">
                <a:lumMod val="50000"/>
              </a:schemeClr>
            </a:solidFill>
          </a:ln>
          <a:effectLst/>
        </p:spPr>
        <p:style>
          <a:lnRef idx="3">
            <a:schemeClr val="lt1"/>
          </a:lnRef>
          <a:fillRef idx="1">
            <a:schemeClr val="accent1"/>
          </a:fillRef>
          <a:effectRef idx="1">
            <a:schemeClr val="accent1"/>
          </a:effectRef>
          <a:fontRef idx="minor">
            <a:schemeClr val="lt1"/>
          </a:fontRef>
        </p:style>
        <p:txBody>
          <a:bodyPr lIns="108000" rIns="108000" anchor="ctr"/>
          <a:lstStyle/>
          <a:p>
            <a:pPr algn="ctr">
              <a:defRPr/>
            </a:pPr>
            <a:endParaRPr lang="en-US" altLang="ko-KR" b="1" dirty="0">
              <a:solidFill>
                <a:prstClr val="black"/>
              </a:solidFill>
              <a:latin typeface="맑은 고딕" panose="020B0503020000020004" pitchFamily="50" charset="-127"/>
            </a:endParaRPr>
          </a:p>
        </p:txBody>
      </p:sp>
      <p:sp>
        <p:nvSpPr>
          <p:cNvPr id="40966" name="TextBox 6">
            <a:extLst>
              <a:ext uri="{FF2B5EF4-FFF2-40B4-BE49-F238E27FC236}">
                <a16:creationId xmlns:a16="http://schemas.microsoft.com/office/drawing/2014/main" id="{D644CE06-7744-78B4-E3B4-50D0018D0D7F}"/>
              </a:ext>
            </a:extLst>
          </p:cNvPr>
          <p:cNvSpPr txBox="1">
            <a:spLocks noChangeArrowheads="1"/>
          </p:cNvSpPr>
          <p:nvPr/>
        </p:nvSpPr>
        <p:spPr bwMode="auto">
          <a:xfrm>
            <a:off x="2389188" y="4583113"/>
            <a:ext cx="56864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r>
              <a:rPr lang="en-US" altLang="ko-KR" sz="1800" b="1">
                <a:solidFill>
                  <a:srgbClr val="000000"/>
                </a:solidFill>
                <a:latin typeface="Malgun Gothic" panose="020B0503020000020004" pitchFamily="34" charset="-127"/>
              </a:rPr>
              <a:t>Rule 1: </a:t>
            </a:r>
            <a:r>
              <a:rPr lang="en-US" altLang="ko-KR" sz="1800">
                <a:solidFill>
                  <a:srgbClr val="000000"/>
                </a:solidFill>
                <a:latin typeface="Malgun Gothic" panose="020B0503020000020004" pitchFamily="34" charset="-127"/>
              </a:rPr>
              <a:t>If Priority(A) &gt; Priority(B), A runs (B doesn’t).</a:t>
            </a:r>
          </a:p>
          <a:p>
            <a:pPr>
              <a:lnSpc>
                <a:spcPct val="100000"/>
              </a:lnSpc>
              <a:spcBef>
                <a:spcPct val="0"/>
              </a:spcBef>
              <a:buFontTx/>
              <a:buNone/>
            </a:pPr>
            <a:r>
              <a:rPr lang="en-US" altLang="ko-KR" sz="1800" b="1">
                <a:solidFill>
                  <a:srgbClr val="000000"/>
                </a:solidFill>
                <a:latin typeface="Malgun Gothic" panose="020B0503020000020004" pitchFamily="34" charset="-127"/>
              </a:rPr>
              <a:t>Rule 2: </a:t>
            </a:r>
            <a:r>
              <a:rPr lang="en-US" altLang="ko-KR" sz="1800">
                <a:solidFill>
                  <a:srgbClr val="000000"/>
                </a:solidFill>
                <a:latin typeface="Malgun Gothic" panose="020B0503020000020004" pitchFamily="34" charset="-127"/>
              </a:rPr>
              <a:t>If Priority(A) = Priority(B), A &amp; B run in RR.</a:t>
            </a:r>
            <a:endParaRPr lang="ko-KR" altLang="en-US" sz="1800">
              <a:solidFill>
                <a:srgbClr val="000000"/>
              </a:solidFill>
              <a:latin typeface="Malgun Gothic" panose="020B0503020000020004" pitchFamily="34" charset="-127"/>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제목 1">
            <a:extLst>
              <a:ext uri="{FF2B5EF4-FFF2-40B4-BE49-F238E27FC236}">
                <a16:creationId xmlns:a16="http://schemas.microsoft.com/office/drawing/2014/main" id="{743A54CF-AFD1-9879-1312-907D3FC8E144}"/>
              </a:ext>
            </a:extLst>
          </p:cNvPr>
          <p:cNvSpPr>
            <a:spLocks noGrp="1"/>
          </p:cNvSpPr>
          <p:nvPr>
            <p:ph type="title"/>
          </p:nvPr>
        </p:nvSpPr>
        <p:spPr/>
        <p:txBody>
          <a:bodyPr/>
          <a:lstStyle/>
          <a:p>
            <a:r>
              <a:rPr lang="en-US" altLang="ko-KR"/>
              <a:t>MLFQ Example</a:t>
            </a:r>
            <a:endParaRPr lang="ko-KR" altLang="en-US"/>
          </a:p>
        </p:txBody>
      </p:sp>
      <p:sp>
        <p:nvSpPr>
          <p:cNvPr id="41988" name="TextBox 5">
            <a:extLst>
              <a:ext uri="{FF2B5EF4-FFF2-40B4-BE49-F238E27FC236}">
                <a16:creationId xmlns:a16="http://schemas.microsoft.com/office/drawing/2014/main" id="{3941EF59-D0A0-D982-1311-5A6B3BBE384F}"/>
              </a:ext>
            </a:extLst>
          </p:cNvPr>
          <p:cNvSpPr txBox="1">
            <a:spLocks noChangeArrowheads="1"/>
          </p:cNvSpPr>
          <p:nvPr/>
        </p:nvSpPr>
        <p:spPr bwMode="auto">
          <a:xfrm>
            <a:off x="5105400" y="1125538"/>
            <a:ext cx="671513" cy="452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200000"/>
              </a:lnSpc>
              <a:spcBef>
                <a:spcPct val="0"/>
              </a:spcBef>
              <a:buFontTx/>
              <a:buNone/>
            </a:pPr>
            <a:r>
              <a:rPr lang="en-US" altLang="ko-KR" sz="1800">
                <a:solidFill>
                  <a:srgbClr val="000000"/>
                </a:solidFill>
                <a:latin typeface="Malgun Gothic" panose="020B0503020000020004" pitchFamily="34" charset="-127"/>
              </a:rPr>
              <a:t>Q8</a:t>
            </a:r>
          </a:p>
          <a:p>
            <a:pPr>
              <a:lnSpc>
                <a:spcPct val="200000"/>
              </a:lnSpc>
              <a:spcBef>
                <a:spcPct val="0"/>
              </a:spcBef>
              <a:buFontTx/>
              <a:buNone/>
            </a:pPr>
            <a:r>
              <a:rPr lang="en-US" altLang="ko-KR" sz="1800">
                <a:solidFill>
                  <a:srgbClr val="000000"/>
                </a:solidFill>
                <a:latin typeface="Malgun Gothic" panose="020B0503020000020004" pitchFamily="34" charset="-127"/>
              </a:rPr>
              <a:t>Q7</a:t>
            </a:r>
          </a:p>
          <a:p>
            <a:pPr>
              <a:lnSpc>
                <a:spcPct val="200000"/>
              </a:lnSpc>
              <a:spcBef>
                <a:spcPct val="0"/>
              </a:spcBef>
              <a:buFontTx/>
              <a:buNone/>
            </a:pPr>
            <a:r>
              <a:rPr lang="en-US" altLang="ko-KR" sz="1800">
                <a:solidFill>
                  <a:srgbClr val="000000"/>
                </a:solidFill>
                <a:latin typeface="Malgun Gothic" panose="020B0503020000020004" pitchFamily="34" charset="-127"/>
              </a:rPr>
              <a:t>Q6</a:t>
            </a:r>
          </a:p>
          <a:p>
            <a:pPr>
              <a:lnSpc>
                <a:spcPct val="200000"/>
              </a:lnSpc>
              <a:spcBef>
                <a:spcPct val="0"/>
              </a:spcBef>
              <a:buFontTx/>
              <a:buNone/>
            </a:pPr>
            <a:r>
              <a:rPr lang="en-US" altLang="ko-KR" sz="1800">
                <a:solidFill>
                  <a:srgbClr val="000000"/>
                </a:solidFill>
                <a:latin typeface="Malgun Gothic" panose="020B0503020000020004" pitchFamily="34" charset="-127"/>
              </a:rPr>
              <a:t>Q5</a:t>
            </a:r>
          </a:p>
          <a:p>
            <a:pPr>
              <a:lnSpc>
                <a:spcPct val="200000"/>
              </a:lnSpc>
              <a:spcBef>
                <a:spcPct val="0"/>
              </a:spcBef>
              <a:buFontTx/>
              <a:buNone/>
            </a:pPr>
            <a:r>
              <a:rPr lang="en-US" altLang="ko-KR" sz="1800">
                <a:solidFill>
                  <a:srgbClr val="000000"/>
                </a:solidFill>
                <a:latin typeface="Malgun Gothic" panose="020B0503020000020004" pitchFamily="34" charset="-127"/>
              </a:rPr>
              <a:t>Q4</a:t>
            </a:r>
          </a:p>
          <a:p>
            <a:pPr>
              <a:lnSpc>
                <a:spcPct val="200000"/>
              </a:lnSpc>
              <a:spcBef>
                <a:spcPct val="0"/>
              </a:spcBef>
              <a:buFontTx/>
              <a:buNone/>
            </a:pPr>
            <a:r>
              <a:rPr lang="en-US" altLang="ko-KR" sz="1800">
                <a:solidFill>
                  <a:srgbClr val="000000"/>
                </a:solidFill>
                <a:latin typeface="Malgun Gothic" panose="020B0503020000020004" pitchFamily="34" charset="-127"/>
              </a:rPr>
              <a:t>Q3</a:t>
            </a:r>
          </a:p>
          <a:p>
            <a:pPr>
              <a:lnSpc>
                <a:spcPct val="200000"/>
              </a:lnSpc>
              <a:spcBef>
                <a:spcPct val="0"/>
              </a:spcBef>
              <a:buFontTx/>
              <a:buNone/>
            </a:pPr>
            <a:r>
              <a:rPr lang="en-US" altLang="ko-KR" sz="1800">
                <a:solidFill>
                  <a:srgbClr val="000000"/>
                </a:solidFill>
                <a:latin typeface="Malgun Gothic" panose="020B0503020000020004" pitchFamily="34" charset="-127"/>
              </a:rPr>
              <a:t>Q2</a:t>
            </a:r>
          </a:p>
          <a:p>
            <a:pPr>
              <a:lnSpc>
                <a:spcPct val="200000"/>
              </a:lnSpc>
              <a:spcBef>
                <a:spcPct val="0"/>
              </a:spcBef>
              <a:buFontTx/>
              <a:buNone/>
            </a:pPr>
            <a:r>
              <a:rPr lang="en-US" altLang="ko-KR" sz="1800">
                <a:solidFill>
                  <a:srgbClr val="000000"/>
                </a:solidFill>
                <a:latin typeface="Malgun Gothic" panose="020B0503020000020004" pitchFamily="34" charset="-127"/>
              </a:rPr>
              <a:t>Q1</a:t>
            </a:r>
          </a:p>
        </p:txBody>
      </p:sp>
      <p:sp>
        <p:nvSpPr>
          <p:cNvPr id="41989" name="TextBox 6">
            <a:extLst>
              <a:ext uri="{FF2B5EF4-FFF2-40B4-BE49-F238E27FC236}">
                <a16:creationId xmlns:a16="http://schemas.microsoft.com/office/drawing/2014/main" id="{62A22A43-3D31-F48D-AE84-51B7FD0DA145}"/>
              </a:ext>
            </a:extLst>
          </p:cNvPr>
          <p:cNvSpPr txBox="1">
            <a:spLocks noChangeArrowheads="1"/>
          </p:cNvSpPr>
          <p:nvPr/>
        </p:nvSpPr>
        <p:spPr bwMode="auto">
          <a:xfrm>
            <a:off x="2765425" y="1096963"/>
            <a:ext cx="22558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200000"/>
              </a:lnSpc>
              <a:spcBef>
                <a:spcPct val="0"/>
              </a:spcBef>
              <a:buFontTx/>
              <a:buNone/>
            </a:pPr>
            <a:r>
              <a:rPr lang="en-US" altLang="ko-KR" sz="1800" b="1">
                <a:solidFill>
                  <a:srgbClr val="000000"/>
                </a:solidFill>
                <a:latin typeface="Malgun Gothic" panose="020B0503020000020004" pitchFamily="34" charset="-127"/>
              </a:rPr>
              <a:t>[High Priority]</a:t>
            </a:r>
          </a:p>
        </p:txBody>
      </p:sp>
      <p:sp>
        <p:nvSpPr>
          <p:cNvPr id="41990" name="TextBox 7">
            <a:extLst>
              <a:ext uri="{FF2B5EF4-FFF2-40B4-BE49-F238E27FC236}">
                <a16:creationId xmlns:a16="http://schemas.microsoft.com/office/drawing/2014/main" id="{43245029-25AE-67E4-3E2B-E2AC330F32FF}"/>
              </a:ext>
            </a:extLst>
          </p:cNvPr>
          <p:cNvSpPr txBox="1">
            <a:spLocks noChangeArrowheads="1"/>
          </p:cNvSpPr>
          <p:nvPr/>
        </p:nvSpPr>
        <p:spPr bwMode="auto">
          <a:xfrm>
            <a:off x="2847975" y="4959350"/>
            <a:ext cx="22574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200000"/>
              </a:lnSpc>
              <a:spcBef>
                <a:spcPct val="0"/>
              </a:spcBef>
              <a:buFontTx/>
              <a:buNone/>
            </a:pPr>
            <a:r>
              <a:rPr lang="en-US" altLang="ko-KR" sz="1800" b="1">
                <a:solidFill>
                  <a:srgbClr val="000000"/>
                </a:solidFill>
                <a:latin typeface="Malgun Gothic" panose="020B0503020000020004" pitchFamily="34" charset="-127"/>
              </a:rPr>
              <a:t>[Low Priority]</a:t>
            </a:r>
          </a:p>
        </p:txBody>
      </p:sp>
      <p:cxnSp>
        <p:nvCxnSpPr>
          <p:cNvPr id="10" name="직선 화살표 연결선 9">
            <a:extLst>
              <a:ext uri="{FF2B5EF4-FFF2-40B4-BE49-F238E27FC236}">
                <a16:creationId xmlns:a16="http://schemas.microsoft.com/office/drawing/2014/main" id="{F74AB866-CDE6-578D-8AB5-DD739EC0240C}"/>
              </a:ext>
            </a:extLst>
          </p:cNvPr>
          <p:cNvCxnSpPr/>
          <p:nvPr/>
        </p:nvCxnSpPr>
        <p:spPr>
          <a:xfrm>
            <a:off x="5776913" y="1512888"/>
            <a:ext cx="863600"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1" name="타원 10">
            <a:extLst>
              <a:ext uri="{FF2B5EF4-FFF2-40B4-BE49-F238E27FC236}">
                <a16:creationId xmlns:a16="http://schemas.microsoft.com/office/drawing/2014/main" id="{61476901-F77F-40C7-F462-7AAE613796DB}"/>
              </a:ext>
            </a:extLst>
          </p:cNvPr>
          <p:cNvSpPr/>
          <p:nvPr/>
        </p:nvSpPr>
        <p:spPr>
          <a:xfrm>
            <a:off x="6737350" y="1292225"/>
            <a:ext cx="576263" cy="441325"/>
          </a:xfrm>
          <a:prstGeom prst="ellipse">
            <a:avLst/>
          </a:prstGeom>
          <a:solidFill>
            <a:schemeClr val="bg1"/>
          </a:solidFill>
          <a:ln w="9525">
            <a:solidFill>
              <a:schemeClr val="tx1"/>
            </a:solidFill>
          </a:ln>
          <a:effectLst/>
        </p:spPr>
        <p:style>
          <a:lnRef idx="3">
            <a:schemeClr val="lt1"/>
          </a:lnRef>
          <a:fillRef idx="1">
            <a:schemeClr val="accent1"/>
          </a:fillRef>
          <a:effectRef idx="1">
            <a:schemeClr val="accent1"/>
          </a:effectRef>
          <a:fontRef idx="minor">
            <a:schemeClr val="lt1"/>
          </a:fontRef>
        </p:style>
        <p:txBody>
          <a:bodyPr lIns="72000" rIns="72000" anchor="ctr"/>
          <a:lstStyle/>
          <a:p>
            <a:pPr algn="ctr">
              <a:defRPr/>
            </a:pPr>
            <a:r>
              <a:rPr lang="en-US" altLang="ko-KR" dirty="0">
                <a:solidFill>
                  <a:prstClr val="black"/>
                </a:solidFill>
                <a:latin typeface="맑은 고딕" pitchFamily="50" charset="-127"/>
                <a:cs typeface="Courier New" pitchFamily="49" charset="0"/>
              </a:rPr>
              <a:t>A</a:t>
            </a:r>
            <a:endParaRPr lang="ko-KR" altLang="en-US" dirty="0">
              <a:solidFill>
                <a:prstClr val="black"/>
              </a:solidFill>
              <a:latin typeface="맑은 고딕" pitchFamily="50" charset="-127"/>
              <a:cs typeface="Courier New" pitchFamily="49" charset="0"/>
            </a:endParaRPr>
          </a:p>
        </p:txBody>
      </p:sp>
      <p:cxnSp>
        <p:nvCxnSpPr>
          <p:cNvPr id="12" name="직선 화살표 연결선 11">
            <a:extLst>
              <a:ext uri="{FF2B5EF4-FFF2-40B4-BE49-F238E27FC236}">
                <a16:creationId xmlns:a16="http://schemas.microsoft.com/office/drawing/2014/main" id="{0F12A623-6A70-7786-F650-8A640CA5BB00}"/>
              </a:ext>
            </a:extLst>
          </p:cNvPr>
          <p:cNvCxnSpPr/>
          <p:nvPr/>
        </p:nvCxnSpPr>
        <p:spPr>
          <a:xfrm>
            <a:off x="7440613" y="1514475"/>
            <a:ext cx="671512"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타원 12">
            <a:extLst>
              <a:ext uri="{FF2B5EF4-FFF2-40B4-BE49-F238E27FC236}">
                <a16:creationId xmlns:a16="http://schemas.microsoft.com/office/drawing/2014/main" id="{BB3787F3-8BA9-4BC8-3138-B6EEF922FA78}"/>
              </a:ext>
            </a:extLst>
          </p:cNvPr>
          <p:cNvSpPr/>
          <p:nvPr/>
        </p:nvSpPr>
        <p:spPr>
          <a:xfrm>
            <a:off x="8208963" y="1292225"/>
            <a:ext cx="574675" cy="442913"/>
          </a:xfrm>
          <a:prstGeom prst="ellipse">
            <a:avLst/>
          </a:prstGeom>
          <a:solidFill>
            <a:schemeClr val="bg1"/>
          </a:solidFill>
          <a:ln w="9525">
            <a:solidFill>
              <a:schemeClr val="tx1"/>
            </a:solidFill>
          </a:ln>
          <a:effectLst/>
        </p:spPr>
        <p:style>
          <a:lnRef idx="3">
            <a:schemeClr val="lt1"/>
          </a:lnRef>
          <a:fillRef idx="1">
            <a:schemeClr val="accent1"/>
          </a:fillRef>
          <a:effectRef idx="1">
            <a:schemeClr val="accent1"/>
          </a:effectRef>
          <a:fontRef idx="minor">
            <a:schemeClr val="lt1"/>
          </a:fontRef>
        </p:style>
        <p:txBody>
          <a:bodyPr lIns="72000" rIns="72000" anchor="ctr"/>
          <a:lstStyle/>
          <a:p>
            <a:pPr algn="ctr">
              <a:defRPr/>
            </a:pPr>
            <a:r>
              <a:rPr lang="en-US" altLang="ko-KR" dirty="0">
                <a:solidFill>
                  <a:prstClr val="black"/>
                </a:solidFill>
                <a:latin typeface="맑은 고딕" pitchFamily="50" charset="-127"/>
                <a:cs typeface="Courier New" pitchFamily="49" charset="0"/>
              </a:rPr>
              <a:t>B</a:t>
            </a:r>
            <a:endParaRPr lang="ko-KR" altLang="en-US" dirty="0">
              <a:solidFill>
                <a:prstClr val="black"/>
              </a:solidFill>
              <a:latin typeface="맑은 고딕" pitchFamily="50" charset="-127"/>
              <a:cs typeface="Courier New" pitchFamily="49" charset="0"/>
            </a:endParaRPr>
          </a:p>
        </p:txBody>
      </p:sp>
      <p:cxnSp>
        <p:nvCxnSpPr>
          <p:cNvPr id="15" name="직선 화살표 연결선 14">
            <a:extLst>
              <a:ext uri="{FF2B5EF4-FFF2-40B4-BE49-F238E27FC236}">
                <a16:creationId xmlns:a16="http://schemas.microsoft.com/office/drawing/2014/main" id="{98CA44C5-16E8-B9F0-561A-15C577E8604C}"/>
              </a:ext>
            </a:extLst>
          </p:cNvPr>
          <p:cNvCxnSpPr/>
          <p:nvPr/>
        </p:nvCxnSpPr>
        <p:spPr>
          <a:xfrm>
            <a:off x="5776913" y="3711575"/>
            <a:ext cx="863600"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6" name="타원 15">
            <a:extLst>
              <a:ext uri="{FF2B5EF4-FFF2-40B4-BE49-F238E27FC236}">
                <a16:creationId xmlns:a16="http://schemas.microsoft.com/office/drawing/2014/main" id="{174ACFBE-553D-75F8-3F75-3CC0A4E18CF0}"/>
              </a:ext>
            </a:extLst>
          </p:cNvPr>
          <p:cNvSpPr/>
          <p:nvPr/>
        </p:nvSpPr>
        <p:spPr>
          <a:xfrm>
            <a:off x="6737350" y="3490913"/>
            <a:ext cx="576263" cy="442912"/>
          </a:xfrm>
          <a:prstGeom prst="ellipse">
            <a:avLst/>
          </a:prstGeom>
          <a:solidFill>
            <a:schemeClr val="bg1"/>
          </a:solidFill>
          <a:ln w="9525">
            <a:solidFill>
              <a:schemeClr val="tx1"/>
            </a:solidFill>
          </a:ln>
          <a:effectLst/>
        </p:spPr>
        <p:style>
          <a:lnRef idx="3">
            <a:schemeClr val="lt1"/>
          </a:lnRef>
          <a:fillRef idx="1">
            <a:schemeClr val="accent1"/>
          </a:fillRef>
          <a:effectRef idx="1">
            <a:schemeClr val="accent1"/>
          </a:effectRef>
          <a:fontRef idx="minor">
            <a:schemeClr val="lt1"/>
          </a:fontRef>
        </p:style>
        <p:txBody>
          <a:bodyPr lIns="72000" rIns="72000" anchor="ctr"/>
          <a:lstStyle/>
          <a:p>
            <a:pPr algn="ctr">
              <a:defRPr/>
            </a:pPr>
            <a:r>
              <a:rPr lang="en-US" altLang="ko-KR" dirty="0">
                <a:solidFill>
                  <a:prstClr val="black"/>
                </a:solidFill>
                <a:latin typeface="맑은 고딕" pitchFamily="50" charset="-127"/>
                <a:cs typeface="Courier New" pitchFamily="49" charset="0"/>
              </a:rPr>
              <a:t>C</a:t>
            </a:r>
            <a:endParaRPr lang="ko-KR" altLang="en-US" dirty="0">
              <a:solidFill>
                <a:prstClr val="black"/>
              </a:solidFill>
              <a:latin typeface="맑은 고딕" pitchFamily="50" charset="-127"/>
              <a:cs typeface="Courier New" pitchFamily="49" charset="0"/>
            </a:endParaRPr>
          </a:p>
        </p:txBody>
      </p:sp>
      <p:cxnSp>
        <p:nvCxnSpPr>
          <p:cNvPr id="17" name="직선 화살표 연결선 16">
            <a:extLst>
              <a:ext uri="{FF2B5EF4-FFF2-40B4-BE49-F238E27FC236}">
                <a16:creationId xmlns:a16="http://schemas.microsoft.com/office/drawing/2014/main" id="{0556254B-3BAC-7BFD-D2CF-6DA5DD75B4B4}"/>
              </a:ext>
            </a:extLst>
          </p:cNvPr>
          <p:cNvCxnSpPr/>
          <p:nvPr/>
        </p:nvCxnSpPr>
        <p:spPr>
          <a:xfrm>
            <a:off x="5776913" y="5368925"/>
            <a:ext cx="863600"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8" name="타원 17">
            <a:extLst>
              <a:ext uri="{FF2B5EF4-FFF2-40B4-BE49-F238E27FC236}">
                <a16:creationId xmlns:a16="http://schemas.microsoft.com/office/drawing/2014/main" id="{BBFD89E3-94FA-80AB-9285-EFE457F19173}"/>
              </a:ext>
            </a:extLst>
          </p:cNvPr>
          <p:cNvSpPr/>
          <p:nvPr/>
        </p:nvSpPr>
        <p:spPr>
          <a:xfrm>
            <a:off x="6737350" y="5146675"/>
            <a:ext cx="576263" cy="442913"/>
          </a:xfrm>
          <a:prstGeom prst="ellipse">
            <a:avLst/>
          </a:prstGeom>
          <a:solidFill>
            <a:schemeClr val="bg1"/>
          </a:solidFill>
          <a:ln w="9525">
            <a:solidFill>
              <a:schemeClr val="tx1"/>
            </a:solidFill>
          </a:ln>
          <a:effectLst/>
        </p:spPr>
        <p:style>
          <a:lnRef idx="3">
            <a:schemeClr val="lt1"/>
          </a:lnRef>
          <a:fillRef idx="1">
            <a:schemeClr val="accent1"/>
          </a:fillRef>
          <a:effectRef idx="1">
            <a:schemeClr val="accent1"/>
          </a:effectRef>
          <a:fontRef idx="minor">
            <a:schemeClr val="lt1"/>
          </a:fontRef>
        </p:style>
        <p:txBody>
          <a:bodyPr lIns="72000" rIns="72000" anchor="ctr"/>
          <a:lstStyle/>
          <a:p>
            <a:pPr algn="ctr">
              <a:defRPr/>
            </a:pPr>
            <a:r>
              <a:rPr lang="en-US" altLang="ko-KR" dirty="0">
                <a:solidFill>
                  <a:prstClr val="black"/>
                </a:solidFill>
                <a:latin typeface="맑은 고딕" pitchFamily="50" charset="-127"/>
                <a:cs typeface="Courier New" pitchFamily="49" charset="0"/>
              </a:rPr>
              <a:t>D</a:t>
            </a:r>
            <a:endParaRPr lang="ko-KR" altLang="en-US" dirty="0">
              <a:solidFill>
                <a:prstClr val="black"/>
              </a:solidFill>
              <a:latin typeface="맑은 고딕" pitchFamily="50" charset="-127"/>
              <a:cs typeface="Courier New" pitchFamily="49"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FD229FA6-AD95-8322-A387-BEE08075AEE7}"/>
              </a:ext>
            </a:extLst>
          </p:cNvPr>
          <p:cNvSpPr>
            <a:spLocks noGrp="1"/>
          </p:cNvSpPr>
          <p:nvPr>
            <p:ph type="title"/>
          </p:nvPr>
        </p:nvSpPr>
        <p:spPr/>
        <p:txBody>
          <a:bodyPr/>
          <a:lstStyle/>
          <a:p>
            <a:endParaRPr lang="en-US" altLang="en-US"/>
          </a:p>
        </p:txBody>
      </p:sp>
      <p:sp>
        <p:nvSpPr>
          <p:cNvPr id="43011" name="Content Placeholder 2">
            <a:extLst>
              <a:ext uri="{FF2B5EF4-FFF2-40B4-BE49-F238E27FC236}">
                <a16:creationId xmlns:a16="http://schemas.microsoft.com/office/drawing/2014/main" id="{9033C251-C9DD-E0CC-8BA6-43EAA330B019}"/>
              </a:ext>
            </a:extLst>
          </p:cNvPr>
          <p:cNvSpPr>
            <a:spLocks noGrp="1"/>
          </p:cNvSpPr>
          <p:nvPr>
            <p:ph idx="1"/>
          </p:nvPr>
        </p:nvSpPr>
        <p:spPr/>
        <p:txBody>
          <a:bodyPr/>
          <a:lstStyle/>
          <a:p>
            <a:r>
              <a:rPr lang="en-US" altLang="en-US" dirty="0"/>
              <a:t>In the figure, two jobs (A and B) are at the highest priority level, while job C is in the middle and Job D is at the lowest priority. </a:t>
            </a:r>
          </a:p>
          <a:p>
            <a:r>
              <a:rPr lang="en-US" altLang="en-US" dirty="0"/>
              <a:t>Given our current knowledge of how MLFQ works, the scheduler would just alternate time slices between A and B because they are the highest priority jobs in the system.</a:t>
            </a:r>
          </a:p>
          <a:p>
            <a:r>
              <a:rPr lang="en-US" altLang="en-US" dirty="0"/>
              <a:t>poor jobs C and D would never even get to run – an outrage!</a:t>
            </a:r>
          </a:p>
          <a:p>
            <a:r>
              <a:rPr lang="en-US" altLang="en-US" dirty="0"/>
              <a:t>We need to understand how job priority changes over time.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제목 1">
            <a:extLst>
              <a:ext uri="{FF2B5EF4-FFF2-40B4-BE49-F238E27FC236}">
                <a16:creationId xmlns:a16="http://schemas.microsoft.com/office/drawing/2014/main" id="{21BB7966-5BD9-1E9E-14BE-DC165696AD34}"/>
              </a:ext>
            </a:extLst>
          </p:cNvPr>
          <p:cNvSpPr>
            <a:spLocks noGrp="1"/>
          </p:cNvSpPr>
          <p:nvPr>
            <p:ph type="title"/>
          </p:nvPr>
        </p:nvSpPr>
        <p:spPr>
          <a:xfrm>
            <a:off x="838200" y="365125"/>
            <a:ext cx="10515600" cy="857185"/>
          </a:xfrm>
        </p:spPr>
        <p:txBody>
          <a:bodyPr/>
          <a:lstStyle/>
          <a:p>
            <a:r>
              <a:rPr lang="en-US" altLang="ko-KR" dirty="0"/>
              <a:t>MLFQ: How to Change Priority</a:t>
            </a:r>
            <a:endParaRPr lang="ko-KR" altLang="en-US" dirty="0"/>
          </a:p>
        </p:txBody>
      </p:sp>
      <p:sp>
        <p:nvSpPr>
          <p:cNvPr id="44035" name="내용 개체 틀 2">
            <a:extLst>
              <a:ext uri="{FF2B5EF4-FFF2-40B4-BE49-F238E27FC236}">
                <a16:creationId xmlns:a16="http://schemas.microsoft.com/office/drawing/2014/main" id="{6A160451-9CD6-3D9E-1B66-3DAAFF46D5EE}"/>
              </a:ext>
            </a:extLst>
          </p:cNvPr>
          <p:cNvSpPr>
            <a:spLocks noGrp="1"/>
          </p:cNvSpPr>
          <p:nvPr>
            <p:ph idx="1"/>
          </p:nvPr>
        </p:nvSpPr>
        <p:spPr>
          <a:xfrm>
            <a:off x="838200" y="1557337"/>
            <a:ext cx="10515600" cy="4619626"/>
          </a:xfrm>
        </p:spPr>
        <p:txBody>
          <a:bodyPr/>
          <a:lstStyle/>
          <a:p>
            <a:r>
              <a:rPr lang="en-US" altLang="ko-KR" dirty="0"/>
              <a:t>MLFQ priority adjustment algorithm:</a:t>
            </a:r>
          </a:p>
          <a:p>
            <a:pPr lvl="1">
              <a:lnSpc>
                <a:spcPct val="150000"/>
              </a:lnSpc>
            </a:pPr>
            <a:r>
              <a:rPr lang="en-US" altLang="ko-KR" b="1" dirty="0">
                <a:solidFill>
                  <a:schemeClr val="accent5">
                    <a:lumMod val="75000"/>
                  </a:schemeClr>
                </a:solidFill>
              </a:rPr>
              <a:t>Rule 1</a:t>
            </a:r>
            <a:r>
              <a:rPr lang="en-US" altLang="ko-KR" dirty="0">
                <a:solidFill>
                  <a:schemeClr val="accent5">
                    <a:lumMod val="75000"/>
                  </a:schemeClr>
                </a:solidFill>
              </a:rPr>
              <a:t>: When a job enters the system, it is placed at the highest priority</a:t>
            </a:r>
          </a:p>
          <a:p>
            <a:pPr lvl="1">
              <a:lnSpc>
                <a:spcPct val="150000"/>
              </a:lnSpc>
            </a:pPr>
            <a:r>
              <a:rPr lang="en-US" altLang="ko-KR" b="1" dirty="0">
                <a:solidFill>
                  <a:schemeClr val="accent5">
                    <a:lumMod val="75000"/>
                  </a:schemeClr>
                </a:solidFill>
              </a:rPr>
              <a:t>Rule 2</a:t>
            </a:r>
            <a:r>
              <a:rPr lang="en-US" altLang="ko-KR" dirty="0">
                <a:solidFill>
                  <a:schemeClr val="accent5">
                    <a:lumMod val="75000"/>
                  </a:schemeClr>
                </a:solidFill>
              </a:rPr>
              <a:t>: If a job uses up an entire time slice while running, its priority is reduced (i.e., it moves down on queue).</a:t>
            </a:r>
          </a:p>
          <a:p>
            <a:pPr lvl="1">
              <a:lnSpc>
                <a:spcPct val="150000"/>
              </a:lnSpc>
            </a:pPr>
            <a:r>
              <a:rPr lang="en-US" altLang="ko-KR" b="1" dirty="0">
                <a:solidFill>
                  <a:schemeClr val="accent5">
                    <a:lumMod val="75000"/>
                  </a:schemeClr>
                </a:solidFill>
              </a:rPr>
              <a:t>Rule 3</a:t>
            </a:r>
            <a:r>
              <a:rPr lang="en-US" altLang="ko-KR" dirty="0">
                <a:solidFill>
                  <a:schemeClr val="accent5">
                    <a:lumMod val="75000"/>
                  </a:schemeClr>
                </a:solidFill>
              </a:rPr>
              <a:t>: If a job gives up the CPU before the time slice is up, it stays at the same priority level</a:t>
            </a:r>
          </a:p>
          <a:p>
            <a:pPr lvl="1"/>
            <a:endParaRPr lang="ko-KR" altLang="en-US" dirty="0"/>
          </a:p>
        </p:txBody>
      </p:sp>
      <p:sp>
        <p:nvSpPr>
          <p:cNvPr id="6" name="모서리가 둥근 직사각형 5">
            <a:extLst>
              <a:ext uri="{FF2B5EF4-FFF2-40B4-BE49-F238E27FC236}">
                <a16:creationId xmlns:a16="http://schemas.microsoft.com/office/drawing/2014/main" id="{EF4FA6B9-E137-3A3C-B153-BF39207972DE}"/>
              </a:ext>
            </a:extLst>
          </p:cNvPr>
          <p:cNvSpPr/>
          <p:nvPr/>
        </p:nvSpPr>
        <p:spPr>
          <a:xfrm>
            <a:off x="1774825" y="5078857"/>
            <a:ext cx="8642350" cy="935038"/>
          </a:xfrm>
          <a:prstGeom prst="roundRect">
            <a:avLst>
              <a:gd name="adj" fmla="val 7736"/>
            </a:avLst>
          </a:prstGeom>
          <a:solidFill>
            <a:srgbClr val="FFC000"/>
          </a:solidFill>
          <a:ln w="15875">
            <a:solidFill>
              <a:schemeClr val="accent6">
                <a:lumMod val="50000"/>
              </a:schemeClr>
            </a:solidFill>
          </a:ln>
          <a:effectLst/>
        </p:spPr>
        <p:style>
          <a:lnRef idx="3">
            <a:schemeClr val="lt1"/>
          </a:lnRef>
          <a:fillRef idx="1">
            <a:schemeClr val="accent1"/>
          </a:fillRef>
          <a:effectRef idx="1">
            <a:schemeClr val="accent1"/>
          </a:effectRef>
          <a:fontRef idx="minor">
            <a:schemeClr val="lt1"/>
          </a:fontRef>
        </p:style>
        <p:txBody>
          <a:bodyPr lIns="108000" rIns="108000" anchor="ctr"/>
          <a:lstStyle/>
          <a:p>
            <a:pPr algn="ctr">
              <a:defRPr/>
            </a:pPr>
            <a:r>
              <a:rPr lang="en-US" altLang="ko-KR" sz="2000" b="1" dirty="0">
                <a:solidFill>
                  <a:prstClr val="black"/>
                </a:solidFill>
                <a:latin typeface="맑은 고딕" panose="020B0503020000020004" pitchFamily="50" charset="-127"/>
              </a:rPr>
              <a:t>In this manner, MLFQ approximates SJF</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1A640-99A7-4BD0-9F2E-A1E807D6299A}"/>
              </a:ext>
            </a:extLst>
          </p:cNvPr>
          <p:cNvSpPr>
            <a:spLocks noGrp="1"/>
          </p:cNvSpPr>
          <p:nvPr>
            <p:ph type="title"/>
          </p:nvPr>
        </p:nvSpPr>
        <p:spPr/>
        <p:txBody>
          <a:bodyPr>
            <a:normAutofit/>
          </a:bodyPr>
          <a:lstStyle/>
          <a:p>
            <a:pPr algn="ctr"/>
            <a:r>
              <a:rPr lang="en-IN" sz="3200" b="1" dirty="0">
                <a:latin typeface="Calisto MT" panose="02040603050505030304" pitchFamily="18" charset="0"/>
              </a:rPr>
              <a:t>Algorithm Evaluation</a:t>
            </a:r>
          </a:p>
        </p:txBody>
      </p:sp>
      <p:sp>
        <p:nvSpPr>
          <p:cNvPr id="3" name="Content Placeholder 2">
            <a:extLst>
              <a:ext uri="{FF2B5EF4-FFF2-40B4-BE49-F238E27FC236}">
                <a16:creationId xmlns:a16="http://schemas.microsoft.com/office/drawing/2014/main" id="{A5517D2E-6BDB-44DE-B3D9-B030330CB8B6}"/>
              </a:ext>
            </a:extLst>
          </p:cNvPr>
          <p:cNvSpPr>
            <a:spLocks noGrp="1"/>
          </p:cNvSpPr>
          <p:nvPr>
            <p:ph idx="1"/>
          </p:nvPr>
        </p:nvSpPr>
        <p:spPr/>
        <p:txBody>
          <a:bodyPr>
            <a:norm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Selecting an algorithm can be difficult. The first problem is defining the criteria to be used in selecting an algorithm. </a:t>
            </a:r>
          </a:p>
          <a:p>
            <a:pPr algn="just">
              <a:lnSpc>
                <a:spcPct val="150000"/>
              </a:lnSpc>
              <a:buFont typeface="Wingdings" panose="05000000000000000000" pitchFamily="2" charset="2"/>
              <a:buChar char="Ø"/>
            </a:pPr>
            <a:r>
              <a:rPr lang="en-US" sz="2000" dirty="0">
                <a:latin typeface="Calisto MT" panose="02040603050505030304" pitchFamily="18" charset="0"/>
              </a:rPr>
              <a:t>Criteria are often defined in terms of CPU utilization, response time, or throughput. </a:t>
            </a:r>
          </a:p>
          <a:p>
            <a:pPr algn="just">
              <a:lnSpc>
                <a:spcPct val="150000"/>
              </a:lnSpc>
              <a:buFont typeface="Wingdings" panose="05000000000000000000" pitchFamily="2" charset="2"/>
              <a:buChar char="Ø"/>
            </a:pPr>
            <a:r>
              <a:rPr lang="en-US" sz="2000" dirty="0">
                <a:latin typeface="Calisto MT" panose="02040603050505030304" pitchFamily="18" charset="0"/>
              </a:rPr>
              <a:t>To select an algorithm, criteria may include several measures, such as:</a:t>
            </a:r>
          </a:p>
          <a:p>
            <a:pPr lvl="1" algn="just">
              <a:lnSpc>
                <a:spcPct val="150000"/>
              </a:lnSpc>
              <a:buFont typeface="Wingdings" panose="05000000000000000000" pitchFamily="2" charset="2"/>
              <a:buChar char="Ø"/>
            </a:pPr>
            <a:r>
              <a:rPr lang="en-US" sz="2000" dirty="0">
                <a:latin typeface="Calisto MT" panose="02040603050505030304" pitchFamily="18" charset="0"/>
              </a:rPr>
              <a:t>Maximizing CPU utilization under the constraint that the maximum response time is 1 second</a:t>
            </a:r>
          </a:p>
          <a:p>
            <a:pPr lvl="1" algn="just">
              <a:lnSpc>
                <a:spcPct val="150000"/>
              </a:lnSpc>
              <a:buFont typeface="Wingdings" panose="05000000000000000000" pitchFamily="2" charset="2"/>
              <a:buChar char="Ø"/>
            </a:pPr>
            <a:r>
              <a:rPr lang="en-US" sz="2000" dirty="0">
                <a:latin typeface="Calisto MT" panose="02040603050505030304" pitchFamily="18" charset="0"/>
              </a:rPr>
              <a:t>Maximizing throughput such that turnaround time is (on average) linearly proportional to total execution time</a:t>
            </a:r>
            <a:endParaRPr lang="en-IN" sz="2000" dirty="0">
              <a:latin typeface="Calisto MT" panose="02040603050505030304" pitchFamily="18" charset="0"/>
            </a:endParaRPr>
          </a:p>
        </p:txBody>
      </p:sp>
    </p:spTree>
    <p:extLst>
      <p:ext uri="{BB962C8B-B14F-4D97-AF65-F5344CB8AC3E}">
        <p14:creationId xmlns:p14="http://schemas.microsoft.com/office/powerpoint/2010/main" val="2522191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3A641-2583-4435-ABFF-2ADA4DD2941E}"/>
              </a:ext>
            </a:extLst>
          </p:cNvPr>
          <p:cNvSpPr>
            <a:spLocks noGrp="1"/>
          </p:cNvSpPr>
          <p:nvPr>
            <p:ph type="title"/>
          </p:nvPr>
        </p:nvSpPr>
        <p:spPr>
          <a:xfrm>
            <a:off x="838200" y="279919"/>
            <a:ext cx="10515600" cy="746448"/>
          </a:xfrm>
        </p:spPr>
        <p:txBody>
          <a:bodyPr>
            <a:normAutofit/>
          </a:bodyPr>
          <a:lstStyle/>
          <a:p>
            <a:pPr algn="ctr"/>
            <a:r>
              <a:rPr lang="en-IN" sz="3200" b="1" dirty="0">
                <a:latin typeface="Calisto MT" panose="02040603050505030304" pitchFamily="18" charset="0"/>
              </a:rPr>
              <a:t>Thread</a:t>
            </a:r>
          </a:p>
        </p:txBody>
      </p:sp>
      <p:sp>
        <p:nvSpPr>
          <p:cNvPr id="3" name="Content Placeholder 2">
            <a:extLst>
              <a:ext uri="{FF2B5EF4-FFF2-40B4-BE49-F238E27FC236}">
                <a16:creationId xmlns:a16="http://schemas.microsoft.com/office/drawing/2014/main" id="{A4E6A9DF-72EF-4DFF-A01B-E1770CFDA45B}"/>
              </a:ext>
            </a:extLst>
          </p:cNvPr>
          <p:cNvSpPr>
            <a:spLocks noGrp="1"/>
          </p:cNvSpPr>
          <p:nvPr>
            <p:ph idx="1"/>
          </p:nvPr>
        </p:nvSpPr>
        <p:spPr>
          <a:xfrm>
            <a:off x="838200" y="1147666"/>
            <a:ext cx="10515600" cy="5548698"/>
          </a:xfrm>
        </p:spPr>
        <p:txBody>
          <a:bodyPr>
            <a:normAutofit lnSpcReduction="10000"/>
          </a:bodyPr>
          <a:lstStyle/>
          <a:p>
            <a:pPr algn="just">
              <a:lnSpc>
                <a:spcPct val="150000"/>
              </a:lnSpc>
              <a:buFont typeface="Wingdings" panose="05000000000000000000" pitchFamily="2" charset="2"/>
              <a:buChar char="Ø"/>
            </a:pPr>
            <a:r>
              <a:rPr lang="en-US" sz="2400" dirty="0">
                <a:latin typeface="Calisto MT" panose="02040603050505030304" pitchFamily="18" charset="0"/>
              </a:rPr>
              <a:t>A thread is a path of execution within a process. </a:t>
            </a:r>
          </a:p>
          <a:p>
            <a:pPr algn="just">
              <a:lnSpc>
                <a:spcPct val="150000"/>
              </a:lnSpc>
              <a:buFont typeface="Wingdings" panose="05000000000000000000" pitchFamily="2" charset="2"/>
              <a:buChar char="Ø"/>
            </a:pPr>
            <a:r>
              <a:rPr lang="en-US" sz="2400" dirty="0">
                <a:latin typeface="Calisto MT" panose="02040603050505030304" pitchFamily="18" charset="0"/>
              </a:rPr>
              <a:t>A thread is also called a </a:t>
            </a:r>
            <a:r>
              <a:rPr lang="en-US" sz="2400" b="1" dirty="0">
                <a:latin typeface="Calisto MT" panose="02040603050505030304" pitchFamily="18" charset="0"/>
              </a:rPr>
              <a:t>lightweight process</a:t>
            </a:r>
            <a:r>
              <a:rPr lang="en-US" sz="2400" dirty="0">
                <a:latin typeface="Calisto MT" panose="02040603050505030304" pitchFamily="18" charset="0"/>
              </a:rPr>
              <a:t>.</a:t>
            </a:r>
          </a:p>
          <a:p>
            <a:pPr algn="just">
              <a:lnSpc>
                <a:spcPct val="150000"/>
              </a:lnSpc>
              <a:buFont typeface="Wingdings" panose="05000000000000000000" pitchFamily="2" charset="2"/>
              <a:buChar char="Ø"/>
            </a:pPr>
            <a:r>
              <a:rPr lang="en-US" sz="2400" dirty="0">
                <a:latin typeface="Calisto MT" panose="02040603050505030304" pitchFamily="18" charset="0"/>
              </a:rPr>
              <a:t>A process can contain multiple threads.</a:t>
            </a:r>
          </a:p>
          <a:p>
            <a:pPr algn="just">
              <a:lnSpc>
                <a:spcPct val="150000"/>
              </a:lnSpc>
              <a:buFont typeface="Wingdings" panose="05000000000000000000" pitchFamily="2" charset="2"/>
              <a:buChar char="Ø"/>
            </a:pPr>
            <a:r>
              <a:rPr lang="en-US" sz="2400" dirty="0">
                <a:latin typeface="Calisto MT" panose="02040603050505030304" pitchFamily="18" charset="0"/>
              </a:rPr>
              <a:t>Threads provide a way to improve application performance through parallelism by dividing a process into multiple threads</a:t>
            </a:r>
          </a:p>
          <a:p>
            <a:pPr algn="just">
              <a:lnSpc>
                <a:spcPct val="150000"/>
              </a:lnSpc>
              <a:buFont typeface="Wingdings" panose="05000000000000000000" pitchFamily="2" charset="2"/>
              <a:buChar char="Ø"/>
            </a:pPr>
            <a:r>
              <a:rPr lang="en-US" sz="2400" dirty="0">
                <a:latin typeface="Calisto MT" panose="02040603050505030304" pitchFamily="18" charset="0"/>
              </a:rPr>
              <a:t>A thread shares with its peer threads few information like code segment, data segment and open files. </a:t>
            </a:r>
          </a:p>
          <a:p>
            <a:pPr algn="just">
              <a:lnSpc>
                <a:spcPct val="150000"/>
              </a:lnSpc>
              <a:buFont typeface="Wingdings" panose="05000000000000000000" pitchFamily="2" charset="2"/>
              <a:buChar char="Ø"/>
            </a:pPr>
            <a:r>
              <a:rPr lang="en-US" sz="2400" dirty="0">
                <a:latin typeface="Calisto MT" panose="02040603050505030304" pitchFamily="18" charset="0"/>
              </a:rPr>
              <a:t>When one thread alters a code segment memory item, all other threads see that.</a:t>
            </a:r>
            <a:endParaRPr lang="en-IN" sz="2400" dirty="0">
              <a:latin typeface="Calisto MT" panose="02040603050505030304" pitchFamily="18" charset="0"/>
            </a:endParaRPr>
          </a:p>
        </p:txBody>
      </p:sp>
    </p:spTree>
    <p:extLst>
      <p:ext uri="{BB962C8B-B14F-4D97-AF65-F5344CB8AC3E}">
        <p14:creationId xmlns:p14="http://schemas.microsoft.com/office/powerpoint/2010/main" val="784843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ingle vs Multithreaded Process">
            <a:extLst>
              <a:ext uri="{FF2B5EF4-FFF2-40B4-BE49-F238E27FC236}">
                <a16:creationId xmlns:a16="http://schemas.microsoft.com/office/drawing/2014/main" id="{900997B1-36AB-4F5C-9381-0846D0742D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3018" y="477982"/>
            <a:ext cx="9153237" cy="5902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676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4966-64C7-4CBE-B2C3-B3F8F62215A1}"/>
              </a:ext>
            </a:extLst>
          </p:cNvPr>
          <p:cNvSpPr>
            <a:spLocks noGrp="1"/>
          </p:cNvSpPr>
          <p:nvPr>
            <p:ph type="title"/>
          </p:nvPr>
        </p:nvSpPr>
        <p:spPr/>
        <p:txBody>
          <a:bodyPr>
            <a:normAutofit/>
          </a:bodyPr>
          <a:lstStyle/>
          <a:p>
            <a:pPr algn="ctr"/>
            <a:r>
              <a:rPr lang="en-IN" sz="3200" b="1" dirty="0">
                <a:latin typeface="Calisto MT" panose="02040603050505030304" pitchFamily="18" charset="0"/>
              </a:rPr>
              <a:t>Advantages of </a:t>
            </a:r>
            <a:r>
              <a:rPr lang="en-US" sz="3200" b="1" i="0" dirty="0">
                <a:solidFill>
                  <a:srgbClr val="212529"/>
                </a:solidFill>
                <a:effectLst/>
                <a:latin typeface="Nunito" pitchFamily="2" charset="0"/>
              </a:rPr>
              <a:t>threads</a:t>
            </a: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C3813F4D-2B46-4A69-908A-80027497E985}"/>
              </a:ext>
            </a:extLst>
          </p:cNvPr>
          <p:cNvSpPr>
            <a:spLocks noGrp="1"/>
          </p:cNvSpPr>
          <p:nvPr>
            <p:ph idx="1"/>
          </p:nvPr>
        </p:nvSpPr>
        <p:spPr>
          <a:xfrm>
            <a:off x="838200" y="1567543"/>
            <a:ext cx="10515600" cy="4609420"/>
          </a:xfrm>
        </p:spPr>
        <p:txBody>
          <a:bodyPr>
            <a:normAutofit/>
          </a:bodyPr>
          <a:lstStyle/>
          <a:p>
            <a:pPr algn="just">
              <a:lnSpc>
                <a:spcPct val="150000"/>
              </a:lnSpc>
              <a:buFont typeface="Wingdings" panose="05000000000000000000" pitchFamily="2" charset="2"/>
              <a:buChar char="Ø"/>
            </a:pPr>
            <a:r>
              <a:rPr lang="en-US" sz="2400" dirty="0">
                <a:latin typeface="Calisto MT" panose="02040603050505030304" pitchFamily="18" charset="0"/>
              </a:rPr>
              <a:t>Threads minimize the context switching time.</a:t>
            </a:r>
          </a:p>
          <a:p>
            <a:pPr algn="just">
              <a:lnSpc>
                <a:spcPct val="150000"/>
              </a:lnSpc>
              <a:buFont typeface="Wingdings" panose="05000000000000000000" pitchFamily="2" charset="2"/>
              <a:buChar char="Ø"/>
            </a:pPr>
            <a:r>
              <a:rPr lang="en-US" sz="2400" dirty="0">
                <a:latin typeface="Calisto MT" panose="02040603050505030304" pitchFamily="18" charset="0"/>
              </a:rPr>
              <a:t>Use of threads provides concurrency within a process.</a:t>
            </a:r>
          </a:p>
          <a:p>
            <a:pPr algn="just">
              <a:lnSpc>
                <a:spcPct val="150000"/>
              </a:lnSpc>
              <a:buFont typeface="Wingdings" panose="05000000000000000000" pitchFamily="2" charset="2"/>
              <a:buChar char="Ø"/>
            </a:pPr>
            <a:r>
              <a:rPr lang="en-US" sz="2400" dirty="0">
                <a:latin typeface="Calisto MT" panose="02040603050505030304" pitchFamily="18" charset="0"/>
              </a:rPr>
              <a:t>Efficient communication.</a:t>
            </a:r>
          </a:p>
          <a:p>
            <a:pPr algn="just">
              <a:lnSpc>
                <a:spcPct val="150000"/>
              </a:lnSpc>
              <a:buFont typeface="Wingdings" panose="05000000000000000000" pitchFamily="2" charset="2"/>
              <a:buChar char="Ø"/>
            </a:pPr>
            <a:r>
              <a:rPr lang="en-US" sz="2400" dirty="0">
                <a:latin typeface="Calisto MT" panose="02040603050505030304" pitchFamily="18" charset="0"/>
              </a:rPr>
              <a:t>It is more economical to create and context switch threads.</a:t>
            </a:r>
          </a:p>
          <a:p>
            <a:pPr algn="just">
              <a:lnSpc>
                <a:spcPct val="150000"/>
              </a:lnSpc>
              <a:buFont typeface="Wingdings" panose="05000000000000000000" pitchFamily="2" charset="2"/>
              <a:buChar char="Ø"/>
            </a:pPr>
            <a:r>
              <a:rPr lang="en-US" sz="2400" dirty="0">
                <a:latin typeface="Calisto MT" panose="02040603050505030304" pitchFamily="18" charset="0"/>
              </a:rPr>
              <a:t>Threads allow utilization of multiprocessor architectures to a greater scale and efficiency.</a:t>
            </a:r>
            <a:endParaRPr lang="en-IN" sz="2400" dirty="0">
              <a:latin typeface="Calisto MT" panose="02040603050505030304" pitchFamily="18" charset="0"/>
            </a:endParaRPr>
          </a:p>
        </p:txBody>
      </p:sp>
    </p:spTree>
    <p:extLst>
      <p:ext uri="{BB962C8B-B14F-4D97-AF65-F5344CB8AC3E}">
        <p14:creationId xmlns:p14="http://schemas.microsoft.com/office/powerpoint/2010/main" val="2714111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4966-64C7-4CBE-B2C3-B3F8F62215A1}"/>
              </a:ext>
            </a:extLst>
          </p:cNvPr>
          <p:cNvSpPr>
            <a:spLocks noGrp="1"/>
          </p:cNvSpPr>
          <p:nvPr>
            <p:ph type="title"/>
          </p:nvPr>
        </p:nvSpPr>
        <p:spPr/>
        <p:txBody>
          <a:bodyPr>
            <a:normAutofit/>
          </a:bodyPr>
          <a:lstStyle/>
          <a:p>
            <a:pPr algn="ctr"/>
            <a:r>
              <a:rPr lang="en-US" sz="3200" b="1" i="0" dirty="0">
                <a:solidFill>
                  <a:srgbClr val="212529"/>
                </a:solidFill>
                <a:effectLst/>
                <a:latin typeface="Nunito" pitchFamily="2" charset="0"/>
              </a:rPr>
              <a:t>Disadvantages of threads</a:t>
            </a:r>
            <a:br>
              <a:rPr lang="en-US" sz="3200" b="1" i="0" dirty="0">
                <a:solidFill>
                  <a:srgbClr val="212529"/>
                </a:solidFill>
                <a:effectLst/>
                <a:latin typeface="Nunito" pitchFamily="2"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C3813F4D-2B46-4A69-908A-80027497E985}"/>
              </a:ext>
            </a:extLst>
          </p:cNvPr>
          <p:cNvSpPr>
            <a:spLocks noGrp="1"/>
          </p:cNvSpPr>
          <p:nvPr>
            <p:ph idx="1"/>
          </p:nvPr>
        </p:nvSpPr>
        <p:spPr>
          <a:xfrm>
            <a:off x="838200" y="1548882"/>
            <a:ext cx="10515600" cy="4628081"/>
          </a:xfrm>
        </p:spPr>
        <p:txBody>
          <a:bodyPr>
            <a:normAutofit/>
          </a:bodyPr>
          <a:lstStyle/>
          <a:p>
            <a:pPr algn="just">
              <a:lnSpc>
                <a:spcPct val="150000"/>
              </a:lnSpc>
              <a:buFont typeface="Wingdings" panose="05000000000000000000" pitchFamily="2" charset="2"/>
              <a:buChar char="Ø"/>
            </a:pPr>
            <a:r>
              <a:rPr lang="en-US" sz="2400" dirty="0">
                <a:latin typeface="Calisto MT" panose="02040603050505030304" pitchFamily="18" charset="0"/>
              </a:rPr>
              <a:t>Thread synchronization is an extra over head to the developers.</a:t>
            </a:r>
          </a:p>
          <a:p>
            <a:pPr algn="just">
              <a:lnSpc>
                <a:spcPct val="150000"/>
              </a:lnSpc>
              <a:buFont typeface="Wingdings" panose="05000000000000000000" pitchFamily="2" charset="2"/>
              <a:buChar char="Ø"/>
            </a:pPr>
            <a:r>
              <a:rPr lang="en-US" sz="2400" dirty="0">
                <a:latin typeface="Calisto MT" panose="02040603050505030304" pitchFamily="18" charset="0"/>
              </a:rPr>
              <a:t>Shares the common data across the threads might cause the data inconsistency or thread sync issues</a:t>
            </a:r>
          </a:p>
          <a:p>
            <a:pPr algn="just">
              <a:lnSpc>
                <a:spcPct val="150000"/>
              </a:lnSpc>
              <a:buFont typeface="Wingdings" panose="05000000000000000000" pitchFamily="2" charset="2"/>
              <a:buChar char="Ø"/>
            </a:pPr>
            <a:r>
              <a:rPr lang="en-US" sz="2400" dirty="0">
                <a:latin typeface="Calisto MT" panose="02040603050505030304" pitchFamily="18" charset="0"/>
              </a:rPr>
              <a:t>Threads blocking for resources is more common problem</a:t>
            </a:r>
          </a:p>
          <a:p>
            <a:pPr algn="just">
              <a:lnSpc>
                <a:spcPct val="150000"/>
              </a:lnSpc>
              <a:buFont typeface="Wingdings" panose="05000000000000000000" pitchFamily="2" charset="2"/>
              <a:buChar char="Ø"/>
            </a:pPr>
            <a:r>
              <a:rPr lang="en-US" sz="2400" dirty="0">
                <a:latin typeface="Calisto MT" panose="02040603050505030304" pitchFamily="18" charset="0"/>
              </a:rPr>
              <a:t>Difficult in managing the code in terms of debugging or writing the code</a:t>
            </a:r>
          </a:p>
          <a:p>
            <a:pPr algn="just">
              <a:lnSpc>
                <a:spcPct val="150000"/>
              </a:lnSpc>
              <a:buFont typeface="Wingdings" panose="05000000000000000000" pitchFamily="2" charset="2"/>
              <a:buChar char="Ø"/>
            </a:pPr>
            <a:endParaRPr lang="en-IN" sz="2400" dirty="0">
              <a:latin typeface="Calisto MT" panose="02040603050505030304" pitchFamily="18" charset="0"/>
            </a:endParaRPr>
          </a:p>
        </p:txBody>
      </p:sp>
    </p:spTree>
    <p:extLst>
      <p:ext uri="{BB962C8B-B14F-4D97-AF65-F5344CB8AC3E}">
        <p14:creationId xmlns:p14="http://schemas.microsoft.com/office/powerpoint/2010/main" val="2533753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46FEA-64C2-4D43-AB21-5EB6505EB216}"/>
              </a:ext>
            </a:extLst>
          </p:cNvPr>
          <p:cNvSpPr>
            <a:spLocks noGrp="1"/>
          </p:cNvSpPr>
          <p:nvPr>
            <p:ph type="title"/>
          </p:nvPr>
        </p:nvSpPr>
        <p:spPr/>
        <p:txBody>
          <a:bodyPr>
            <a:normAutofit/>
          </a:bodyPr>
          <a:lstStyle/>
          <a:p>
            <a:pPr algn="ctr"/>
            <a:r>
              <a:rPr lang="en-IN" sz="3200" b="1" dirty="0">
                <a:latin typeface="Calisto MT" panose="02040603050505030304" pitchFamily="18" charset="0"/>
              </a:rPr>
              <a:t>Types of Thread</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26825B64-0813-4D7C-9982-18CF6290B35C}"/>
              </a:ext>
            </a:extLst>
          </p:cNvPr>
          <p:cNvSpPr>
            <a:spLocks noGrp="1"/>
          </p:cNvSpPr>
          <p:nvPr>
            <p:ph idx="1"/>
          </p:nvPr>
        </p:nvSpPr>
        <p:spPr/>
        <p:txBody>
          <a:bodyPr>
            <a:normAutofit/>
          </a:bodyPr>
          <a:lstStyle/>
          <a:p>
            <a:pPr marL="0" indent="0" algn="just">
              <a:lnSpc>
                <a:spcPct val="250000"/>
              </a:lnSpc>
              <a:buNone/>
            </a:pPr>
            <a:r>
              <a:rPr lang="en-US" sz="2000" dirty="0">
                <a:latin typeface="Calisto MT" panose="02040603050505030304" pitchFamily="18" charset="0"/>
              </a:rPr>
              <a:t>Threads are implemented in following two ways −</a:t>
            </a:r>
          </a:p>
          <a:p>
            <a:pPr algn="just">
              <a:lnSpc>
                <a:spcPct val="250000"/>
              </a:lnSpc>
              <a:buFont typeface="Wingdings" panose="05000000000000000000" pitchFamily="2" charset="2"/>
              <a:buChar char="Ø"/>
            </a:pPr>
            <a:r>
              <a:rPr lang="en-US" sz="2000" b="1" dirty="0">
                <a:latin typeface="Calisto MT" panose="02040603050505030304" pitchFamily="18" charset="0"/>
              </a:rPr>
              <a:t>User Level Threads</a:t>
            </a:r>
            <a:r>
              <a:rPr lang="en-US" sz="2000" dirty="0">
                <a:latin typeface="Calisto MT" panose="02040603050505030304" pitchFamily="18" charset="0"/>
              </a:rPr>
              <a:t> − User managed threads.</a:t>
            </a:r>
          </a:p>
          <a:p>
            <a:pPr algn="just">
              <a:lnSpc>
                <a:spcPct val="250000"/>
              </a:lnSpc>
              <a:buFont typeface="Wingdings" panose="05000000000000000000" pitchFamily="2" charset="2"/>
              <a:buChar char="Ø"/>
            </a:pPr>
            <a:r>
              <a:rPr lang="en-US" sz="2000" b="1" dirty="0">
                <a:latin typeface="Calisto MT" panose="02040603050505030304" pitchFamily="18" charset="0"/>
              </a:rPr>
              <a:t>Kernel Level Threads</a:t>
            </a:r>
            <a:r>
              <a:rPr lang="en-US" sz="2000" dirty="0">
                <a:latin typeface="Calisto MT" panose="02040603050505030304" pitchFamily="18" charset="0"/>
              </a:rPr>
              <a:t> − Operating System managed threads acting on kernel, an operating system core.</a:t>
            </a:r>
          </a:p>
          <a:p>
            <a:pPr algn="just">
              <a:lnSpc>
                <a:spcPct val="250000"/>
              </a:lnSpc>
              <a:buFont typeface="Wingdings" panose="05000000000000000000" pitchFamily="2" charset="2"/>
              <a:buChar char="Ø"/>
            </a:pPr>
            <a:endParaRPr lang="en-IN" sz="2000" dirty="0">
              <a:latin typeface="Calisto MT" panose="02040603050505030304" pitchFamily="18" charset="0"/>
            </a:endParaRPr>
          </a:p>
        </p:txBody>
      </p:sp>
    </p:spTree>
    <p:extLst>
      <p:ext uri="{BB962C8B-B14F-4D97-AF65-F5344CB8AC3E}">
        <p14:creationId xmlns:p14="http://schemas.microsoft.com/office/powerpoint/2010/main" val="73792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6D14-D139-4EC0-B62A-74BE9E64DF4E}"/>
              </a:ext>
            </a:extLst>
          </p:cNvPr>
          <p:cNvSpPr>
            <a:spLocks noGrp="1"/>
          </p:cNvSpPr>
          <p:nvPr>
            <p:ph type="title"/>
          </p:nvPr>
        </p:nvSpPr>
        <p:spPr/>
        <p:txBody>
          <a:bodyPr>
            <a:normAutofit/>
          </a:bodyPr>
          <a:lstStyle/>
          <a:p>
            <a:pPr algn="ctr"/>
            <a:r>
              <a:rPr lang="en-IN" sz="3200" b="1" dirty="0">
                <a:latin typeface="Calisto MT" panose="02040603050505030304" pitchFamily="18" charset="0"/>
              </a:rPr>
              <a:t>Multithreading Models</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98D28C50-61B6-4D57-8EC5-E7FF627DCE88}"/>
              </a:ext>
            </a:extLst>
          </p:cNvPr>
          <p:cNvSpPr>
            <a:spLocks noGrp="1"/>
          </p:cNvSpPr>
          <p:nvPr>
            <p:ph idx="1"/>
          </p:nvPr>
        </p:nvSpPr>
        <p:spPr/>
        <p:txBody>
          <a:bodyPr>
            <a:normAutofit/>
          </a:bodyPr>
          <a:lstStyle/>
          <a:p>
            <a:pPr algn="just">
              <a:lnSpc>
                <a:spcPct val="200000"/>
              </a:lnSpc>
              <a:buFont typeface="Wingdings" panose="05000000000000000000" pitchFamily="2" charset="2"/>
              <a:buChar char="Ø"/>
            </a:pPr>
            <a:r>
              <a:rPr lang="en-US" sz="2000" dirty="0">
                <a:latin typeface="Calisto MT" panose="02040603050505030304" pitchFamily="18" charset="0"/>
              </a:rPr>
              <a:t>Multiple threads within the same application can run in parallel on multiple processors and a blocking system call need not block the entire process. </a:t>
            </a:r>
          </a:p>
          <a:p>
            <a:pPr algn="just">
              <a:lnSpc>
                <a:spcPct val="200000"/>
              </a:lnSpc>
              <a:buFont typeface="Wingdings" panose="05000000000000000000" pitchFamily="2" charset="2"/>
              <a:buChar char="Ø"/>
            </a:pPr>
            <a:r>
              <a:rPr lang="en-US" sz="2000" dirty="0">
                <a:latin typeface="Calisto MT" panose="02040603050505030304" pitchFamily="18" charset="0"/>
              </a:rPr>
              <a:t>Multithreading models are three types</a:t>
            </a:r>
          </a:p>
          <a:p>
            <a:pPr lvl="1" algn="just">
              <a:lnSpc>
                <a:spcPct val="200000"/>
              </a:lnSpc>
              <a:buFont typeface="Wingdings" panose="05000000000000000000" pitchFamily="2" charset="2"/>
              <a:buChar char="v"/>
            </a:pPr>
            <a:r>
              <a:rPr lang="en-US" sz="2000" dirty="0">
                <a:latin typeface="Calisto MT" panose="02040603050505030304" pitchFamily="18" charset="0"/>
              </a:rPr>
              <a:t>Many to many relationship.</a:t>
            </a:r>
          </a:p>
          <a:p>
            <a:pPr lvl="1" algn="just">
              <a:lnSpc>
                <a:spcPct val="200000"/>
              </a:lnSpc>
              <a:buFont typeface="Wingdings" panose="05000000000000000000" pitchFamily="2" charset="2"/>
              <a:buChar char="v"/>
            </a:pPr>
            <a:r>
              <a:rPr lang="en-US" sz="2000" dirty="0">
                <a:latin typeface="Calisto MT" panose="02040603050505030304" pitchFamily="18" charset="0"/>
              </a:rPr>
              <a:t>Many to one relationship.</a:t>
            </a:r>
          </a:p>
          <a:p>
            <a:pPr lvl="1" algn="just">
              <a:lnSpc>
                <a:spcPct val="200000"/>
              </a:lnSpc>
              <a:buFont typeface="Wingdings" panose="05000000000000000000" pitchFamily="2" charset="2"/>
              <a:buChar char="v"/>
            </a:pPr>
            <a:r>
              <a:rPr lang="en-US" sz="2000" dirty="0">
                <a:latin typeface="Calisto MT" panose="02040603050505030304" pitchFamily="18" charset="0"/>
              </a:rPr>
              <a:t>One to one relationship.</a:t>
            </a:r>
          </a:p>
          <a:p>
            <a:pPr algn="just">
              <a:lnSpc>
                <a:spcPct val="200000"/>
              </a:lnSpc>
              <a:buFont typeface="Wingdings" panose="05000000000000000000" pitchFamily="2" charset="2"/>
              <a:buChar char="Ø"/>
            </a:pPr>
            <a:endParaRPr lang="en-IN" sz="2000" dirty="0">
              <a:latin typeface="Calisto MT" panose="02040603050505030304" pitchFamily="18" charset="0"/>
            </a:endParaRPr>
          </a:p>
        </p:txBody>
      </p:sp>
    </p:spTree>
    <p:extLst>
      <p:ext uri="{BB962C8B-B14F-4D97-AF65-F5344CB8AC3E}">
        <p14:creationId xmlns:p14="http://schemas.microsoft.com/office/powerpoint/2010/main" val="83797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BEC8-3C2C-40B9-BD8A-33A3AAAF82AC}"/>
              </a:ext>
            </a:extLst>
          </p:cNvPr>
          <p:cNvSpPr>
            <a:spLocks noGrp="1"/>
          </p:cNvSpPr>
          <p:nvPr>
            <p:ph type="title"/>
          </p:nvPr>
        </p:nvSpPr>
        <p:spPr/>
        <p:txBody>
          <a:bodyPr>
            <a:normAutofit/>
          </a:bodyPr>
          <a:lstStyle/>
          <a:p>
            <a:pPr algn="ctr"/>
            <a:r>
              <a:rPr lang="en-IN" sz="3200" b="1" dirty="0">
                <a:latin typeface="Calisto MT" panose="02040603050505030304" pitchFamily="18" charset="0"/>
              </a:rPr>
              <a:t>Many to Many Model</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69B200D2-7019-49AA-82D3-EE501A48AFA9}"/>
              </a:ext>
            </a:extLst>
          </p:cNvPr>
          <p:cNvSpPr>
            <a:spLocks noGrp="1"/>
          </p:cNvSpPr>
          <p:nvPr>
            <p:ph idx="1"/>
          </p:nvPr>
        </p:nvSpPr>
        <p:spPr>
          <a:xfrm>
            <a:off x="838200" y="1123661"/>
            <a:ext cx="10515600" cy="5452629"/>
          </a:xfrm>
        </p:spPr>
        <p:txBody>
          <a:bodyPr>
            <a:norm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The many-to-many model multiplexes any number of user threads onto an equal or smaller number of kernel threads.</a:t>
            </a:r>
          </a:p>
          <a:p>
            <a:pPr algn="just">
              <a:lnSpc>
                <a:spcPct val="150000"/>
              </a:lnSpc>
              <a:buFont typeface="Wingdings" panose="05000000000000000000" pitchFamily="2" charset="2"/>
              <a:buChar char="Ø"/>
            </a:pPr>
            <a:r>
              <a:rPr lang="en-US" sz="2000" dirty="0">
                <a:latin typeface="Calisto MT" panose="02040603050505030304" pitchFamily="18" charset="0"/>
              </a:rPr>
              <a:t>The following diagram shows the many-to-many threading model where 6 user level threads are multiplexing with 6 kernel level threads.</a:t>
            </a:r>
          </a:p>
          <a:p>
            <a:pPr marL="0" indent="0" algn="just">
              <a:lnSpc>
                <a:spcPct val="150000"/>
              </a:lnSpc>
              <a:buNone/>
            </a:pPr>
            <a:endParaRPr lang="en-IN" sz="2000" dirty="0">
              <a:latin typeface="Calisto MT" panose="02040603050505030304" pitchFamily="18" charset="0"/>
            </a:endParaRPr>
          </a:p>
        </p:txBody>
      </p:sp>
      <p:pic>
        <p:nvPicPr>
          <p:cNvPr id="4" name="Picture 3">
            <a:extLst>
              <a:ext uri="{FF2B5EF4-FFF2-40B4-BE49-F238E27FC236}">
                <a16:creationId xmlns:a16="http://schemas.microsoft.com/office/drawing/2014/main" id="{9ECF0DC5-6FDB-43B0-875B-913F348C21D5}"/>
              </a:ext>
            </a:extLst>
          </p:cNvPr>
          <p:cNvPicPr>
            <a:picLocks noChangeAspect="1"/>
          </p:cNvPicPr>
          <p:nvPr/>
        </p:nvPicPr>
        <p:blipFill>
          <a:blip r:embed="rId2"/>
          <a:stretch>
            <a:fillRect/>
          </a:stretch>
        </p:blipFill>
        <p:spPr>
          <a:xfrm>
            <a:off x="2970457" y="3279197"/>
            <a:ext cx="5715000" cy="3297093"/>
          </a:xfrm>
          <a:prstGeom prst="rect">
            <a:avLst/>
          </a:prstGeom>
        </p:spPr>
      </p:pic>
    </p:spTree>
    <p:extLst>
      <p:ext uri="{BB962C8B-B14F-4D97-AF65-F5344CB8AC3E}">
        <p14:creationId xmlns:p14="http://schemas.microsoft.com/office/powerpoint/2010/main" val="3675955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40F64-C5CC-4880-AC02-6262C7A02CDD}"/>
              </a:ext>
            </a:extLst>
          </p:cNvPr>
          <p:cNvSpPr>
            <a:spLocks noGrp="1"/>
          </p:cNvSpPr>
          <p:nvPr>
            <p:ph type="title"/>
          </p:nvPr>
        </p:nvSpPr>
        <p:spPr>
          <a:xfrm>
            <a:off x="838200" y="365125"/>
            <a:ext cx="10515600" cy="604693"/>
          </a:xfrm>
        </p:spPr>
        <p:txBody>
          <a:bodyPr>
            <a:normAutofit fontScale="90000"/>
          </a:bodyPr>
          <a:lstStyle/>
          <a:p>
            <a:pPr algn="ctr"/>
            <a:r>
              <a:rPr lang="en-IN" sz="3200" b="1" dirty="0">
                <a:latin typeface="Calisto MT" panose="02040603050505030304" pitchFamily="18" charset="0"/>
              </a:rPr>
              <a:t>Many to One Model</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17966B16-0580-481A-B678-56A0E54F98A2}"/>
              </a:ext>
            </a:extLst>
          </p:cNvPr>
          <p:cNvSpPr>
            <a:spLocks noGrp="1"/>
          </p:cNvSpPr>
          <p:nvPr>
            <p:ph idx="1"/>
          </p:nvPr>
        </p:nvSpPr>
        <p:spPr>
          <a:xfrm>
            <a:off x="838200" y="775854"/>
            <a:ext cx="10515600" cy="5985163"/>
          </a:xfrm>
        </p:spPr>
        <p:txBody>
          <a:bodyPr>
            <a:norm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Many-to-one model maps many user level threads to one Kernel-level thread. </a:t>
            </a:r>
          </a:p>
          <a:p>
            <a:pPr algn="just">
              <a:lnSpc>
                <a:spcPct val="150000"/>
              </a:lnSpc>
              <a:buFont typeface="Wingdings" panose="05000000000000000000" pitchFamily="2" charset="2"/>
              <a:buChar char="Ø"/>
            </a:pPr>
            <a:r>
              <a:rPr lang="en-US" sz="2000" dirty="0">
                <a:latin typeface="Calisto MT" panose="02040603050505030304" pitchFamily="18" charset="0"/>
              </a:rPr>
              <a:t>Thread management is done in user space by the thread library. </a:t>
            </a:r>
          </a:p>
          <a:p>
            <a:pPr algn="just">
              <a:lnSpc>
                <a:spcPct val="150000"/>
              </a:lnSpc>
              <a:buFont typeface="Wingdings" panose="05000000000000000000" pitchFamily="2" charset="2"/>
              <a:buChar char="Ø"/>
            </a:pPr>
            <a:r>
              <a:rPr lang="en-US" sz="2000" dirty="0">
                <a:latin typeface="Calisto MT" panose="02040603050505030304" pitchFamily="18" charset="0"/>
              </a:rPr>
              <a:t>When thread makes a blocking system call, the entire process will be blocked. </a:t>
            </a:r>
          </a:p>
          <a:p>
            <a:pPr algn="just">
              <a:lnSpc>
                <a:spcPct val="150000"/>
              </a:lnSpc>
              <a:buFont typeface="Wingdings" panose="05000000000000000000" pitchFamily="2" charset="2"/>
              <a:buChar char="Ø"/>
            </a:pPr>
            <a:r>
              <a:rPr lang="en-US" sz="2000" dirty="0">
                <a:latin typeface="Calisto MT" panose="02040603050505030304" pitchFamily="18" charset="0"/>
              </a:rPr>
              <a:t>Only one thread can access the Kernel at a time, so multiple threads are unable to run in parallel on multiprocessors.</a:t>
            </a:r>
            <a:endParaRPr lang="en-IN" sz="2000" dirty="0">
              <a:latin typeface="Calisto MT" panose="02040603050505030304" pitchFamily="18" charset="0"/>
            </a:endParaRPr>
          </a:p>
        </p:txBody>
      </p:sp>
      <p:pic>
        <p:nvPicPr>
          <p:cNvPr id="4" name="Picture 3">
            <a:extLst>
              <a:ext uri="{FF2B5EF4-FFF2-40B4-BE49-F238E27FC236}">
                <a16:creationId xmlns:a16="http://schemas.microsoft.com/office/drawing/2014/main" id="{FADD4991-3C41-45BD-91ED-7312ABC4FB03}"/>
              </a:ext>
            </a:extLst>
          </p:cNvPr>
          <p:cNvPicPr>
            <a:picLocks noChangeAspect="1"/>
          </p:cNvPicPr>
          <p:nvPr/>
        </p:nvPicPr>
        <p:blipFill>
          <a:blip r:embed="rId2"/>
          <a:stretch>
            <a:fillRect/>
          </a:stretch>
        </p:blipFill>
        <p:spPr>
          <a:xfrm>
            <a:off x="2438401" y="3554963"/>
            <a:ext cx="6490995" cy="3133706"/>
          </a:xfrm>
          <a:prstGeom prst="rect">
            <a:avLst/>
          </a:prstGeom>
        </p:spPr>
      </p:pic>
    </p:spTree>
    <p:extLst>
      <p:ext uri="{BB962C8B-B14F-4D97-AF65-F5344CB8AC3E}">
        <p14:creationId xmlns:p14="http://schemas.microsoft.com/office/powerpoint/2010/main" val="2378341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86CD9-4DEC-4808-B4CA-04C139BECDCB}"/>
              </a:ext>
            </a:extLst>
          </p:cNvPr>
          <p:cNvSpPr>
            <a:spLocks noGrp="1"/>
          </p:cNvSpPr>
          <p:nvPr>
            <p:ph type="title"/>
          </p:nvPr>
        </p:nvSpPr>
        <p:spPr>
          <a:xfrm>
            <a:off x="838200" y="226576"/>
            <a:ext cx="10515600" cy="724769"/>
          </a:xfrm>
        </p:spPr>
        <p:txBody>
          <a:bodyPr>
            <a:normAutofit/>
          </a:bodyPr>
          <a:lstStyle/>
          <a:p>
            <a:pPr algn="ctr"/>
            <a:r>
              <a:rPr lang="en-IN" sz="3200" b="1" dirty="0">
                <a:latin typeface="Calisto MT" panose="02040603050505030304" pitchFamily="18" charset="0"/>
              </a:rPr>
              <a:t>One to One Model</a:t>
            </a:r>
          </a:p>
        </p:txBody>
      </p:sp>
      <p:sp>
        <p:nvSpPr>
          <p:cNvPr id="3" name="Content Placeholder 2">
            <a:extLst>
              <a:ext uri="{FF2B5EF4-FFF2-40B4-BE49-F238E27FC236}">
                <a16:creationId xmlns:a16="http://schemas.microsoft.com/office/drawing/2014/main" id="{57E1937F-69E6-40F6-9209-3D2FC4A6256D}"/>
              </a:ext>
            </a:extLst>
          </p:cNvPr>
          <p:cNvSpPr>
            <a:spLocks noGrp="1"/>
          </p:cNvSpPr>
          <p:nvPr>
            <p:ph idx="1"/>
          </p:nvPr>
        </p:nvSpPr>
        <p:spPr>
          <a:xfrm>
            <a:off x="838200" y="755780"/>
            <a:ext cx="10515600" cy="5421183"/>
          </a:xfrm>
        </p:spPr>
        <p:txBody>
          <a:bodyPr>
            <a:norm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There is one-to-one relationship of user-level thread to the kernel-level thread. </a:t>
            </a:r>
          </a:p>
          <a:p>
            <a:pPr algn="just">
              <a:lnSpc>
                <a:spcPct val="150000"/>
              </a:lnSpc>
              <a:buFont typeface="Wingdings" panose="05000000000000000000" pitchFamily="2" charset="2"/>
              <a:buChar char="Ø"/>
            </a:pPr>
            <a:r>
              <a:rPr lang="en-US" sz="2000" dirty="0">
                <a:latin typeface="Calisto MT" panose="02040603050505030304" pitchFamily="18" charset="0"/>
              </a:rPr>
              <a:t>This model provides more concurrency than the many-to-one model. </a:t>
            </a:r>
          </a:p>
          <a:p>
            <a:pPr algn="just">
              <a:lnSpc>
                <a:spcPct val="150000"/>
              </a:lnSpc>
              <a:buFont typeface="Wingdings" panose="05000000000000000000" pitchFamily="2" charset="2"/>
              <a:buChar char="Ø"/>
            </a:pPr>
            <a:r>
              <a:rPr lang="en-US" sz="2000" dirty="0">
                <a:latin typeface="Calisto MT" panose="02040603050505030304" pitchFamily="18" charset="0"/>
              </a:rPr>
              <a:t>It also allows another thread to run when a thread makes a blocking system call. </a:t>
            </a:r>
          </a:p>
          <a:p>
            <a:pPr algn="just">
              <a:lnSpc>
                <a:spcPct val="150000"/>
              </a:lnSpc>
              <a:buFont typeface="Wingdings" panose="05000000000000000000" pitchFamily="2" charset="2"/>
              <a:buChar char="Ø"/>
            </a:pPr>
            <a:r>
              <a:rPr lang="en-US" sz="2000" dirty="0">
                <a:latin typeface="Calisto MT" panose="02040603050505030304" pitchFamily="18" charset="0"/>
              </a:rPr>
              <a:t>It supports multiple threads to execute in parallel on microprocessors.</a:t>
            </a:r>
            <a:endParaRPr lang="en-IN" sz="2000" dirty="0">
              <a:latin typeface="Calisto MT" panose="02040603050505030304" pitchFamily="18" charset="0"/>
            </a:endParaRPr>
          </a:p>
        </p:txBody>
      </p:sp>
      <p:pic>
        <p:nvPicPr>
          <p:cNvPr id="4" name="Picture 3">
            <a:extLst>
              <a:ext uri="{FF2B5EF4-FFF2-40B4-BE49-F238E27FC236}">
                <a16:creationId xmlns:a16="http://schemas.microsoft.com/office/drawing/2014/main" id="{3D12EAB6-F07B-4B7C-B1BB-1143F4C803A3}"/>
              </a:ext>
            </a:extLst>
          </p:cNvPr>
          <p:cNvPicPr>
            <a:picLocks noChangeAspect="1"/>
          </p:cNvPicPr>
          <p:nvPr/>
        </p:nvPicPr>
        <p:blipFill>
          <a:blip r:embed="rId2"/>
          <a:stretch>
            <a:fillRect/>
          </a:stretch>
        </p:blipFill>
        <p:spPr>
          <a:xfrm>
            <a:off x="2161309" y="3228392"/>
            <a:ext cx="6953033" cy="3387012"/>
          </a:xfrm>
          <a:prstGeom prst="rect">
            <a:avLst/>
          </a:prstGeom>
        </p:spPr>
      </p:pic>
    </p:spTree>
    <p:extLst>
      <p:ext uri="{BB962C8B-B14F-4D97-AF65-F5344CB8AC3E}">
        <p14:creationId xmlns:p14="http://schemas.microsoft.com/office/powerpoint/2010/main" val="2213844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102CF-B124-4D93-9F5C-CA569FBF5A3F}"/>
              </a:ext>
            </a:extLst>
          </p:cNvPr>
          <p:cNvSpPr>
            <a:spLocks noGrp="1"/>
          </p:cNvSpPr>
          <p:nvPr>
            <p:ph type="title"/>
          </p:nvPr>
        </p:nvSpPr>
        <p:spPr/>
        <p:txBody>
          <a:bodyPr>
            <a:normAutofit/>
          </a:bodyPr>
          <a:lstStyle/>
          <a:p>
            <a:pPr algn="ctr"/>
            <a:r>
              <a:rPr lang="en-IN" sz="3200" b="1" dirty="0">
                <a:latin typeface="Calisto MT" panose="02040603050505030304" pitchFamily="18" charset="0"/>
              </a:rPr>
              <a:t>Multiple-Processor Scheduling</a:t>
            </a:r>
          </a:p>
        </p:txBody>
      </p:sp>
      <p:sp>
        <p:nvSpPr>
          <p:cNvPr id="3" name="Content Placeholder 2">
            <a:extLst>
              <a:ext uri="{FF2B5EF4-FFF2-40B4-BE49-F238E27FC236}">
                <a16:creationId xmlns:a16="http://schemas.microsoft.com/office/drawing/2014/main" id="{2D4C366E-E2DF-452B-96FF-67FF06CF5773}"/>
              </a:ext>
            </a:extLst>
          </p:cNvPr>
          <p:cNvSpPr>
            <a:spLocks noGrp="1"/>
          </p:cNvSpPr>
          <p:nvPr>
            <p:ph idx="1"/>
          </p:nvPr>
        </p:nvSpPr>
        <p:spPr>
          <a:xfrm>
            <a:off x="838200" y="1520890"/>
            <a:ext cx="10515600" cy="4656073"/>
          </a:xfrm>
        </p:spPr>
        <p:txBody>
          <a:bodyPr>
            <a:normAutofit/>
          </a:bodyPr>
          <a:lstStyle/>
          <a:p>
            <a:pPr algn="just">
              <a:lnSpc>
                <a:spcPct val="200000"/>
              </a:lnSpc>
              <a:buFont typeface="Wingdings" panose="05000000000000000000" pitchFamily="2" charset="2"/>
              <a:buChar char="Ø"/>
            </a:pPr>
            <a:r>
              <a:rPr lang="en-US" sz="2000" dirty="0">
                <a:latin typeface="Calisto MT" panose="02040603050505030304" pitchFamily="18" charset="0"/>
              </a:rPr>
              <a:t>A multiprocessor system consists of several processors which share memory. </a:t>
            </a:r>
          </a:p>
          <a:p>
            <a:pPr algn="just">
              <a:lnSpc>
                <a:spcPct val="200000"/>
              </a:lnSpc>
              <a:buFont typeface="Wingdings" panose="05000000000000000000" pitchFamily="2" charset="2"/>
              <a:buChar char="Ø"/>
            </a:pPr>
            <a:r>
              <a:rPr lang="en-US" sz="2000" dirty="0">
                <a:latin typeface="Calisto MT" panose="02040603050505030304" pitchFamily="18" charset="0"/>
              </a:rPr>
              <a:t>In the multiprocessor, there is more than one processor in the system</a:t>
            </a:r>
          </a:p>
          <a:p>
            <a:pPr algn="just">
              <a:lnSpc>
                <a:spcPct val="200000"/>
              </a:lnSpc>
              <a:buFont typeface="Wingdings" panose="05000000000000000000" pitchFamily="2" charset="2"/>
              <a:buChar char="Ø"/>
            </a:pPr>
            <a:r>
              <a:rPr lang="en-US" sz="2000" dirty="0">
                <a:latin typeface="Calisto MT" panose="02040603050505030304" pitchFamily="18" charset="0"/>
              </a:rPr>
              <a:t>In the multiprocessor system all the processors operate under the single operating system.</a:t>
            </a:r>
          </a:p>
          <a:p>
            <a:pPr algn="just">
              <a:lnSpc>
                <a:spcPct val="200000"/>
              </a:lnSpc>
              <a:buFont typeface="Wingdings" panose="05000000000000000000" pitchFamily="2" charset="2"/>
              <a:buChar char="Ø"/>
            </a:pPr>
            <a:r>
              <a:rPr lang="en-US" sz="2000" dirty="0">
                <a:latin typeface="Calisto MT" panose="02040603050505030304" pitchFamily="18" charset="0"/>
              </a:rPr>
              <a:t>Multiple processor scheduling is more </a:t>
            </a:r>
            <a:r>
              <a:rPr lang="en-US" sz="2000" b="1" dirty="0">
                <a:latin typeface="Calisto MT" panose="02040603050505030304" pitchFamily="18" charset="0"/>
              </a:rPr>
              <a:t>complex</a:t>
            </a:r>
            <a:r>
              <a:rPr lang="en-US" sz="2000" dirty="0">
                <a:latin typeface="Calisto MT" panose="02040603050505030304" pitchFamily="18" charset="0"/>
              </a:rPr>
              <a:t> as compared to single processor scheduling.</a:t>
            </a:r>
          </a:p>
          <a:p>
            <a:pPr algn="just">
              <a:lnSpc>
                <a:spcPct val="200000"/>
              </a:lnSpc>
              <a:buFont typeface="Wingdings" panose="05000000000000000000" pitchFamily="2" charset="2"/>
              <a:buChar char="Ø"/>
            </a:pPr>
            <a:r>
              <a:rPr lang="en-US" sz="2000" dirty="0">
                <a:latin typeface="Calisto MT" panose="02040603050505030304" pitchFamily="18" charset="0"/>
              </a:rPr>
              <a:t>In multiple processor scheduling the processors are identical i.e. HOMOGENEOUS, in terms of their functionality, we can use any processor available to run any process in the queue.</a:t>
            </a:r>
            <a:endParaRPr lang="en-IN" sz="2000" b="1" dirty="0">
              <a:latin typeface="Calisto MT" panose="02040603050505030304" pitchFamily="18" charset="0"/>
            </a:endParaRPr>
          </a:p>
        </p:txBody>
      </p:sp>
    </p:spTree>
    <p:extLst>
      <p:ext uri="{BB962C8B-B14F-4D97-AF65-F5344CB8AC3E}">
        <p14:creationId xmlns:p14="http://schemas.microsoft.com/office/powerpoint/2010/main" val="718870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7547A-7E82-4FC9-A006-ECD9C3A41C9A}"/>
              </a:ext>
            </a:extLst>
          </p:cNvPr>
          <p:cNvSpPr>
            <a:spLocks noGrp="1"/>
          </p:cNvSpPr>
          <p:nvPr>
            <p:ph type="title"/>
          </p:nvPr>
        </p:nvSpPr>
        <p:spPr/>
        <p:txBody>
          <a:bodyPr>
            <a:normAutofit/>
          </a:bodyPr>
          <a:lstStyle/>
          <a:p>
            <a:pPr algn="ctr" fontAlgn="base"/>
            <a:r>
              <a:rPr lang="en-IN" sz="3200" b="1" dirty="0">
                <a:latin typeface="Calisto MT" panose="02040603050505030304" pitchFamily="18" charset="0"/>
              </a:rPr>
              <a:t>Approaches</a:t>
            </a:r>
          </a:p>
        </p:txBody>
      </p:sp>
      <p:sp>
        <p:nvSpPr>
          <p:cNvPr id="3" name="Content Placeholder 2">
            <a:extLst>
              <a:ext uri="{FF2B5EF4-FFF2-40B4-BE49-F238E27FC236}">
                <a16:creationId xmlns:a16="http://schemas.microsoft.com/office/drawing/2014/main" id="{115185AB-9E97-4DA6-BC53-CF2B94D03482}"/>
              </a:ext>
            </a:extLst>
          </p:cNvPr>
          <p:cNvSpPr>
            <a:spLocks noGrp="1"/>
          </p:cNvSpPr>
          <p:nvPr>
            <p:ph idx="1"/>
          </p:nvPr>
        </p:nvSpPr>
        <p:spPr/>
        <p:txBody>
          <a:bodyPr>
            <a:normAutofit/>
          </a:bodyPr>
          <a:lstStyle/>
          <a:p>
            <a:pPr algn="just">
              <a:lnSpc>
                <a:spcPct val="200000"/>
              </a:lnSpc>
              <a:buFont typeface="Wingdings" panose="05000000000000000000" pitchFamily="2" charset="2"/>
              <a:buChar char="Ø"/>
            </a:pPr>
            <a:r>
              <a:rPr lang="en-US" sz="2000" dirty="0">
                <a:latin typeface="Calisto MT" panose="02040603050505030304" pitchFamily="18" charset="0"/>
              </a:rPr>
              <a:t>When all the scheduling decisions and I/O processing are handled by a single processor which is called the </a:t>
            </a:r>
            <a:r>
              <a:rPr lang="en-US" sz="2000" b="1" dirty="0">
                <a:latin typeface="Calisto MT" panose="02040603050505030304" pitchFamily="18" charset="0"/>
              </a:rPr>
              <a:t>Master Server</a:t>
            </a:r>
            <a:r>
              <a:rPr lang="en-US" sz="2000" dirty="0">
                <a:latin typeface="Calisto MT" panose="02040603050505030304" pitchFamily="18" charset="0"/>
              </a:rPr>
              <a:t> and the other processors executes only the </a:t>
            </a:r>
            <a:r>
              <a:rPr lang="en-US" sz="2000" b="1" dirty="0">
                <a:latin typeface="Calisto MT" panose="02040603050505030304" pitchFamily="18" charset="0"/>
              </a:rPr>
              <a:t>user code</a:t>
            </a:r>
            <a:r>
              <a:rPr lang="en-US" sz="2000" dirty="0">
                <a:latin typeface="Calisto MT" panose="02040603050505030304" pitchFamily="18" charset="0"/>
              </a:rPr>
              <a:t>. This entire scenario is called </a:t>
            </a:r>
            <a:r>
              <a:rPr lang="en-US" sz="2000" b="1" dirty="0">
                <a:latin typeface="Calisto MT" panose="02040603050505030304" pitchFamily="18" charset="0"/>
              </a:rPr>
              <a:t>Asymmetric Multiprocessing</a:t>
            </a:r>
            <a:r>
              <a:rPr lang="en-US" sz="2000" dirty="0">
                <a:latin typeface="Calisto MT" panose="02040603050505030304" pitchFamily="18" charset="0"/>
              </a:rPr>
              <a:t>.</a:t>
            </a:r>
          </a:p>
          <a:p>
            <a:pPr algn="just">
              <a:lnSpc>
                <a:spcPct val="200000"/>
              </a:lnSpc>
              <a:buFont typeface="Wingdings" panose="05000000000000000000" pitchFamily="2" charset="2"/>
              <a:buChar char="Ø"/>
            </a:pPr>
            <a:r>
              <a:rPr lang="en-US" sz="2000" dirty="0">
                <a:latin typeface="Calisto MT" panose="02040603050505030304" pitchFamily="18" charset="0"/>
              </a:rPr>
              <a:t> Uses </a:t>
            </a:r>
            <a:r>
              <a:rPr lang="en-US" sz="2000" b="1" dirty="0">
                <a:latin typeface="Calisto MT" panose="02040603050505030304" pitchFamily="18" charset="0"/>
              </a:rPr>
              <a:t>Symmetric Multiprocessing</a:t>
            </a:r>
            <a:r>
              <a:rPr lang="en-US" sz="2000" dirty="0">
                <a:latin typeface="Calisto MT" panose="02040603050505030304" pitchFamily="18" charset="0"/>
              </a:rPr>
              <a:t> where each processor is </a:t>
            </a:r>
            <a:r>
              <a:rPr lang="en-US" sz="2000" b="1" dirty="0">
                <a:latin typeface="Calisto MT" panose="02040603050505030304" pitchFamily="18" charset="0"/>
              </a:rPr>
              <a:t>self scheduling</a:t>
            </a:r>
            <a:r>
              <a:rPr lang="en-US" sz="2000" dirty="0">
                <a:latin typeface="Calisto MT" panose="02040603050505030304" pitchFamily="18" charset="0"/>
              </a:rPr>
              <a:t>. All processes may be in a common ready queue or each processor may have its own private queue for ready processes. </a:t>
            </a:r>
            <a:endParaRPr lang="en-IN" sz="2000" dirty="0">
              <a:latin typeface="Calisto MT" panose="02040603050505030304" pitchFamily="18" charset="0"/>
            </a:endParaRPr>
          </a:p>
        </p:txBody>
      </p:sp>
    </p:spTree>
    <p:extLst>
      <p:ext uri="{BB962C8B-B14F-4D97-AF65-F5344CB8AC3E}">
        <p14:creationId xmlns:p14="http://schemas.microsoft.com/office/powerpoint/2010/main" val="2263362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AFAE-A2DB-4E40-9C8C-F32F93B7A123}"/>
              </a:ext>
            </a:extLst>
          </p:cNvPr>
          <p:cNvSpPr>
            <a:spLocks noGrp="1"/>
          </p:cNvSpPr>
          <p:nvPr>
            <p:ph type="title"/>
          </p:nvPr>
        </p:nvSpPr>
        <p:spPr>
          <a:xfrm>
            <a:off x="838200" y="1"/>
            <a:ext cx="10515600" cy="951721"/>
          </a:xfrm>
        </p:spPr>
        <p:txBody>
          <a:bodyPr>
            <a:normAutofit/>
          </a:bodyPr>
          <a:lstStyle/>
          <a:p>
            <a:pPr algn="ctr"/>
            <a:r>
              <a:rPr lang="en-IN" sz="3200" b="1" dirty="0">
                <a:latin typeface="Calisto MT" panose="02040603050505030304" pitchFamily="18" charset="0"/>
              </a:rPr>
              <a:t>Multi core programming</a:t>
            </a:r>
          </a:p>
        </p:txBody>
      </p:sp>
      <p:sp>
        <p:nvSpPr>
          <p:cNvPr id="3" name="Content Placeholder 2">
            <a:extLst>
              <a:ext uri="{FF2B5EF4-FFF2-40B4-BE49-F238E27FC236}">
                <a16:creationId xmlns:a16="http://schemas.microsoft.com/office/drawing/2014/main" id="{449EF5E5-1122-4A6D-B2C8-41F95A8B543D}"/>
              </a:ext>
            </a:extLst>
          </p:cNvPr>
          <p:cNvSpPr>
            <a:spLocks noGrp="1"/>
          </p:cNvSpPr>
          <p:nvPr>
            <p:ph idx="1"/>
          </p:nvPr>
        </p:nvSpPr>
        <p:spPr>
          <a:xfrm>
            <a:off x="838200" y="765110"/>
            <a:ext cx="10515600" cy="5885072"/>
          </a:xfrm>
        </p:spPr>
        <p:txBody>
          <a:bodyPr>
            <a:noAutofit/>
          </a:bodyPr>
          <a:lstStyle/>
          <a:p>
            <a:pPr algn="just">
              <a:lnSpc>
                <a:spcPct val="150000"/>
              </a:lnSpc>
              <a:buFont typeface="Wingdings" panose="05000000000000000000" pitchFamily="2" charset="2"/>
              <a:buChar char="Ø"/>
            </a:pPr>
            <a:r>
              <a:rPr lang="en-US" sz="2150" dirty="0">
                <a:latin typeface="Calisto MT" panose="02040603050505030304" pitchFamily="18" charset="0"/>
              </a:rPr>
              <a:t>A processor that has more than one core is called Multicore Processor</a:t>
            </a:r>
          </a:p>
          <a:p>
            <a:pPr algn="just">
              <a:lnSpc>
                <a:spcPct val="150000"/>
              </a:lnSpc>
              <a:buFont typeface="Wingdings" panose="05000000000000000000" pitchFamily="2" charset="2"/>
              <a:buChar char="Ø"/>
            </a:pPr>
            <a:r>
              <a:rPr lang="en-US" sz="2150" dirty="0">
                <a:latin typeface="Calisto MT" panose="02040603050505030304" pitchFamily="18" charset="0"/>
              </a:rPr>
              <a:t>These cores can individually read and execute program instructions, giving feel like computer system has several processors but in reality, they are cores and not processors.</a:t>
            </a:r>
          </a:p>
          <a:p>
            <a:pPr algn="just">
              <a:lnSpc>
                <a:spcPct val="150000"/>
              </a:lnSpc>
              <a:buFont typeface="Wingdings" panose="05000000000000000000" pitchFamily="2" charset="2"/>
              <a:buChar char="Ø"/>
            </a:pPr>
            <a:r>
              <a:rPr lang="en-US" sz="2150" dirty="0">
                <a:latin typeface="Calisto MT" panose="02040603050505030304" pitchFamily="18" charset="0"/>
              </a:rPr>
              <a:t>Processor can run instructions on separate cores at same time. This increases overall speed of program execution in system.</a:t>
            </a:r>
          </a:p>
          <a:p>
            <a:pPr algn="just">
              <a:lnSpc>
                <a:spcPct val="150000"/>
              </a:lnSpc>
              <a:buFont typeface="Wingdings" panose="05000000000000000000" pitchFamily="2" charset="2"/>
              <a:buChar char="Ø"/>
            </a:pPr>
            <a:r>
              <a:rPr lang="en-US" sz="2150" dirty="0">
                <a:latin typeface="Calisto MT" panose="02040603050505030304" pitchFamily="18" charset="0"/>
              </a:rPr>
              <a:t>Multicore systems support Multithreading and Parallel Computing. </a:t>
            </a:r>
          </a:p>
          <a:p>
            <a:pPr algn="just">
              <a:lnSpc>
                <a:spcPct val="150000"/>
              </a:lnSpc>
              <a:buFont typeface="Wingdings" panose="05000000000000000000" pitchFamily="2" charset="2"/>
              <a:buChar char="Ø"/>
            </a:pPr>
            <a:r>
              <a:rPr lang="en-US" sz="2150" dirty="0">
                <a:latin typeface="Calisto MT" panose="02040603050505030304" pitchFamily="18" charset="0"/>
              </a:rPr>
              <a:t>Software that can run parallelly is preferred because we want to achieve parallel execution with the help of multiple cores.</a:t>
            </a:r>
          </a:p>
          <a:p>
            <a:pPr algn="just">
              <a:lnSpc>
                <a:spcPct val="150000"/>
              </a:lnSpc>
              <a:buFont typeface="Wingdings" panose="05000000000000000000" pitchFamily="2" charset="2"/>
              <a:buChar char="Ø"/>
            </a:pPr>
            <a:r>
              <a:rPr lang="en-US" sz="2150" dirty="0">
                <a:latin typeface="Calisto MT" panose="02040603050505030304" pitchFamily="18" charset="0"/>
              </a:rPr>
              <a:t>Concurrent systems that we create using multicore programming have multiple tasks executing in parallel. This is known as concurrent execution.</a:t>
            </a:r>
            <a:endParaRPr lang="en-IN" sz="2150" dirty="0">
              <a:latin typeface="Calisto MT" panose="02040603050505030304" pitchFamily="18" charset="0"/>
            </a:endParaRPr>
          </a:p>
        </p:txBody>
      </p:sp>
    </p:spTree>
    <p:extLst>
      <p:ext uri="{BB962C8B-B14F-4D97-AF65-F5344CB8AC3E}">
        <p14:creationId xmlns:p14="http://schemas.microsoft.com/office/powerpoint/2010/main" val="571793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AFAE-A2DB-4E40-9C8C-F32F93B7A123}"/>
              </a:ext>
            </a:extLst>
          </p:cNvPr>
          <p:cNvSpPr>
            <a:spLocks noGrp="1"/>
          </p:cNvSpPr>
          <p:nvPr>
            <p:ph type="title"/>
          </p:nvPr>
        </p:nvSpPr>
        <p:spPr>
          <a:xfrm>
            <a:off x="838200" y="1"/>
            <a:ext cx="10515600" cy="951721"/>
          </a:xfrm>
        </p:spPr>
        <p:txBody>
          <a:bodyPr>
            <a:normAutofit/>
          </a:bodyPr>
          <a:lstStyle/>
          <a:p>
            <a:pPr algn="ctr"/>
            <a:r>
              <a:rPr lang="en-IN" sz="3200" b="1" dirty="0">
                <a:latin typeface="Calisto MT" panose="02040603050505030304" pitchFamily="18" charset="0"/>
              </a:rPr>
              <a:t>Multi core programming…</a:t>
            </a:r>
          </a:p>
        </p:txBody>
      </p:sp>
      <p:sp>
        <p:nvSpPr>
          <p:cNvPr id="3" name="Content Placeholder 2">
            <a:extLst>
              <a:ext uri="{FF2B5EF4-FFF2-40B4-BE49-F238E27FC236}">
                <a16:creationId xmlns:a16="http://schemas.microsoft.com/office/drawing/2014/main" id="{449EF5E5-1122-4A6D-B2C8-41F95A8B543D}"/>
              </a:ext>
            </a:extLst>
          </p:cNvPr>
          <p:cNvSpPr>
            <a:spLocks noGrp="1"/>
          </p:cNvSpPr>
          <p:nvPr>
            <p:ph idx="1"/>
          </p:nvPr>
        </p:nvSpPr>
        <p:spPr>
          <a:xfrm>
            <a:off x="838200" y="765110"/>
            <a:ext cx="10515600" cy="5885072"/>
          </a:xfrm>
        </p:spPr>
        <p:txBody>
          <a:bodyPr>
            <a:noAutofit/>
          </a:bodyPr>
          <a:lstStyle/>
          <a:p>
            <a:pPr algn="just">
              <a:lnSpc>
                <a:spcPct val="100000"/>
              </a:lnSpc>
              <a:buFont typeface="Wingdings" panose="05000000000000000000" pitchFamily="2" charset="2"/>
              <a:buChar char="Ø"/>
            </a:pPr>
            <a:r>
              <a:rPr lang="en-US" sz="2000" b="0" i="0" dirty="0">
                <a:solidFill>
                  <a:srgbClr val="000000"/>
                </a:solidFill>
                <a:effectLst/>
                <a:latin typeface="Calisto MT" panose="02040603050505030304" pitchFamily="18" charset="0"/>
              </a:rPr>
              <a:t>A recent trend in computer architecture is to produce chips with multiple </a:t>
            </a:r>
            <a:r>
              <a:rPr lang="en-US" sz="2000" b="1" i="1" dirty="0">
                <a:solidFill>
                  <a:srgbClr val="000000"/>
                </a:solidFill>
                <a:effectLst/>
                <a:latin typeface="Calisto MT" panose="02040603050505030304" pitchFamily="18" charset="0"/>
              </a:rPr>
              <a:t>cores</a:t>
            </a:r>
            <a:r>
              <a:rPr lang="en-US" sz="2000" b="0" i="0" dirty="0">
                <a:solidFill>
                  <a:srgbClr val="000000"/>
                </a:solidFill>
                <a:effectLst/>
                <a:latin typeface="Calisto MT" panose="02040603050505030304" pitchFamily="18" charset="0"/>
              </a:rPr>
              <a:t>, or CPUs on a single chip.</a:t>
            </a:r>
          </a:p>
          <a:p>
            <a:pPr algn="just">
              <a:lnSpc>
                <a:spcPct val="100000"/>
              </a:lnSpc>
              <a:buFont typeface="Wingdings" panose="05000000000000000000" pitchFamily="2" charset="2"/>
              <a:buChar char="Ø"/>
            </a:pPr>
            <a:r>
              <a:rPr lang="en-US" sz="2000" b="0" i="0" dirty="0">
                <a:solidFill>
                  <a:srgbClr val="000000"/>
                </a:solidFill>
                <a:effectLst/>
                <a:latin typeface="Calisto MT" panose="02040603050505030304" pitchFamily="18" charset="0"/>
              </a:rPr>
              <a:t>A multi-threaded application running on a traditional single-core chip would have to interleave the threads, as shown in given Figure 4.3. </a:t>
            </a:r>
          </a:p>
          <a:p>
            <a:pPr algn="just">
              <a:lnSpc>
                <a:spcPct val="100000"/>
              </a:lnSpc>
              <a:buFont typeface="Wingdings" panose="05000000000000000000" pitchFamily="2" charset="2"/>
              <a:buChar char="Ø"/>
            </a:pPr>
            <a:r>
              <a:rPr lang="en-US" sz="2000" b="0" i="0" dirty="0">
                <a:solidFill>
                  <a:srgbClr val="000000"/>
                </a:solidFill>
                <a:effectLst/>
                <a:latin typeface="Calisto MT" panose="02040603050505030304" pitchFamily="18" charset="0"/>
              </a:rPr>
              <a:t>On a multi-core chip, however, the threads could be spread across the available cores, allowing true parallel processing, as shown in Figure 4.4.</a:t>
            </a:r>
          </a:p>
          <a:p>
            <a:pPr algn="just">
              <a:lnSpc>
                <a:spcPct val="100000"/>
              </a:lnSpc>
              <a:buFont typeface="Wingdings" panose="05000000000000000000" pitchFamily="2" charset="2"/>
              <a:buChar char="Ø"/>
            </a:pPr>
            <a:r>
              <a:rPr lang="en-US" sz="2000" b="0" i="0" dirty="0">
                <a:solidFill>
                  <a:srgbClr val="000000"/>
                </a:solidFill>
                <a:effectLst/>
                <a:latin typeface="Times New Roman" panose="02020603050405020304" pitchFamily="18" charset="0"/>
              </a:rPr>
              <a:t>For operating systems, multi-core chips require new scheduling algorithms to make better use of the multiple cores available.</a:t>
            </a:r>
          </a:p>
          <a:p>
            <a:pPr algn="just">
              <a:lnSpc>
                <a:spcPct val="100000"/>
              </a:lnSpc>
              <a:buFont typeface="Wingdings" panose="05000000000000000000" pitchFamily="2" charset="2"/>
              <a:buChar char="Ø"/>
            </a:pPr>
            <a:r>
              <a:rPr lang="en-US" sz="2000" b="0" i="0" dirty="0">
                <a:solidFill>
                  <a:srgbClr val="000000"/>
                </a:solidFill>
                <a:effectLst/>
                <a:latin typeface="Times New Roman" panose="02020603050405020304" pitchFamily="18" charset="0"/>
              </a:rPr>
              <a:t>As multi-threading becomes more pervasive and more important ( thousands instead of tens of threads ), CPUs have been developed to support more simultaneous threads per core in hardware.</a:t>
            </a:r>
          </a:p>
          <a:p>
            <a:pPr algn="just">
              <a:lnSpc>
                <a:spcPct val="100000"/>
              </a:lnSpc>
              <a:buFont typeface="Wingdings" panose="05000000000000000000" pitchFamily="2" charset="2"/>
              <a:buChar char="Ø"/>
            </a:pPr>
            <a:endParaRPr lang="en-US" sz="2000" b="0" i="0" dirty="0">
              <a:solidFill>
                <a:srgbClr val="000000"/>
              </a:solidFill>
              <a:effectLst/>
              <a:latin typeface="Calisto MT" panose="02040603050505030304" pitchFamily="18" charset="0"/>
            </a:endParaRPr>
          </a:p>
        </p:txBody>
      </p:sp>
      <p:pic>
        <p:nvPicPr>
          <p:cNvPr id="4" name="Picture 3">
            <a:extLst>
              <a:ext uri="{FF2B5EF4-FFF2-40B4-BE49-F238E27FC236}">
                <a16:creationId xmlns:a16="http://schemas.microsoft.com/office/drawing/2014/main" id="{551AE61A-4193-DB7C-E47B-0FF7C311F723}"/>
              </a:ext>
            </a:extLst>
          </p:cNvPr>
          <p:cNvPicPr>
            <a:picLocks noChangeAspect="1"/>
          </p:cNvPicPr>
          <p:nvPr/>
        </p:nvPicPr>
        <p:blipFill>
          <a:blip r:embed="rId2"/>
          <a:stretch>
            <a:fillRect/>
          </a:stretch>
        </p:blipFill>
        <p:spPr>
          <a:xfrm>
            <a:off x="3409962" y="4457488"/>
            <a:ext cx="6497593" cy="2192694"/>
          </a:xfrm>
          <a:prstGeom prst="rect">
            <a:avLst/>
          </a:prstGeom>
        </p:spPr>
      </p:pic>
    </p:spTree>
    <p:extLst>
      <p:ext uri="{BB962C8B-B14F-4D97-AF65-F5344CB8AC3E}">
        <p14:creationId xmlns:p14="http://schemas.microsoft.com/office/powerpoint/2010/main" val="193658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AFAE-A2DB-4E40-9C8C-F32F93B7A123}"/>
              </a:ext>
            </a:extLst>
          </p:cNvPr>
          <p:cNvSpPr>
            <a:spLocks noGrp="1"/>
          </p:cNvSpPr>
          <p:nvPr>
            <p:ph type="title"/>
          </p:nvPr>
        </p:nvSpPr>
        <p:spPr>
          <a:xfrm>
            <a:off x="838200" y="1"/>
            <a:ext cx="10515600" cy="951721"/>
          </a:xfrm>
        </p:spPr>
        <p:txBody>
          <a:bodyPr>
            <a:normAutofit/>
          </a:bodyPr>
          <a:lstStyle/>
          <a:p>
            <a:pPr algn="ctr"/>
            <a:r>
              <a:rPr lang="en-IN" sz="3200" b="1" dirty="0">
                <a:latin typeface="Calisto MT" panose="02040603050505030304" pitchFamily="18" charset="0"/>
              </a:rPr>
              <a:t>Multi core programming…</a:t>
            </a:r>
          </a:p>
        </p:txBody>
      </p:sp>
      <p:sp>
        <p:nvSpPr>
          <p:cNvPr id="3" name="Content Placeholder 2">
            <a:extLst>
              <a:ext uri="{FF2B5EF4-FFF2-40B4-BE49-F238E27FC236}">
                <a16:creationId xmlns:a16="http://schemas.microsoft.com/office/drawing/2014/main" id="{449EF5E5-1122-4A6D-B2C8-41F95A8B543D}"/>
              </a:ext>
            </a:extLst>
          </p:cNvPr>
          <p:cNvSpPr>
            <a:spLocks noGrp="1"/>
          </p:cNvSpPr>
          <p:nvPr>
            <p:ph idx="1"/>
          </p:nvPr>
        </p:nvSpPr>
        <p:spPr>
          <a:xfrm>
            <a:off x="746449" y="643812"/>
            <a:ext cx="10607351" cy="6006370"/>
          </a:xfrm>
        </p:spPr>
        <p:txBody>
          <a:bodyPr>
            <a:no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Programming Challenges: </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 application programmers, there are five areas where multi-core chips present new challenges:</a:t>
            </a:r>
          </a:p>
          <a:p>
            <a:pPr marL="914400" marR="0" lvl="1"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Identifying tasks</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Examining applications to find activities that can be performed concurrently.</a:t>
            </a:r>
          </a:p>
          <a:p>
            <a:pPr marL="914400" marR="0" lvl="1"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Balance</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Finding tasks to run concurrently that provide equal value. i.e. don't waste a thread on trivial tasks.</a:t>
            </a:r>
          </a:p>
          <a:p>
            <a:pPr marL="914400" marR="0" lvl="1"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Data splitting</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To prevent the threads from interfering with one another.</a:t>
            </a:r>
          </a:p>
          <a:p>
            <a:pPr marL="914400" marR="0" lvl="1"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Data dependency</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If one task is dependent upon the results of another, then the tasks need to be synchronized to assure access in the proper order.</a:t>
            </a:r>
          </a:p>
          <a:p>
            <a:pPr marL="914400" marR="0" lvl="1"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Testing and debugging</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Inherently more difficult in parallel processing situations, as the </a:t>
            </a:r>
            <a:r>
              <a:rPr kumimoji="0" lang="en-US" altLang="en-US" sz="22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race conditions </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become much more complex and difficult to identify.</a:t>
            </a:r>
          </a:p>
        </p:txBody>
      </p:sp>
    </p:spTree>
    <p:extLst>
      <p:ext uri="{BB962C8B-B14F-4D97-AF65-F5344CB8AC3E}">
        <p14:creationId xmlns:p14="http://schemas.microsoft.com/office/powerpoint/2010/main" val="357508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AFAE-A2DB-4E40-9C8C-F32F93B7A123}"/>
              </a:ext>
            </a:extLst>
          </p:cNvPr>
          <p:cNvSpPr>
            <a:spLocks noGrp="1"/>
          </p:cNvSpPr>
          <p:nvPr>
            <p:ph type="title"/>
          </p:nvPr>
        </p:nvSpPr>
        <p:spPr>
          <a:xfrm>
            <a:off x="838200" y="1"/>
            <a:ext cx="10515600" cy="951721"/>
          </a:xfrm>
        </p:spPr>
        <p:txBody>
          <a:bodyPr>
            <a:normAutofit/>
          </a:bodyPr>
          <a:lstStyle/>
          <a:p>
            <a:pPr algn="ctr"/>
            <a:r>
              <a:rPr lang="en-IN" sz="3200" b="1" dirty="0">
                <a:latin typeface="Calisto MT" panose="02040603050505030304" pitchFamily="18" charset="0"/>
              </a:rPr>
              <a:t>Multi core programming…</a:t>
            </a:r>
          </a:p>
        </p:txBody>
      </p:sp>
      <p:sp>
        <p:nvSpPr>
          <p:cNvPr id="3" name="Content Placeholder 2">
            <a:extLst>
              <a:ext uri="{FF2B5EF4-FFF2-40B4-BE49-F238E27FC236}">
                <a16:creationId xmlns:a16="http://schemas.microsoft.com/office/drawing/2014/main" id="{449EF5E5-1122-4A6D-B2C8-41F95A8B543D}"/>
              </a:ext>
            </a:extLst>
          </p:cNvPr>
          <p:cNvSpPr>
            <a:spLocks noGrp="1"/>
          </p:cNvSpPr>
          <p:nvPr>
            <p:ph idx="1"/>
          </p:nvPr>
        </p:nvSpPr>
        <p:spPr>
          <a:xfrm>
            <a:off x="838200" y="765110"/>
            <a:ext cx="10515600" cy="5885072"/>
          </a:xfrm>
        </p:spPr>
        <p:txBody>
          <a:bodyPr>
            <a:no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Calisto MT" panose="02040603050505030304" pitchFamily="18" charset="0"/>
                <a:cs typeface="Times New Roman" panose="02020603050405020304" pitchFamily="18" charset="0"/>
              </a:rPr>
              <a:t>Types of Parallelism:</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Calisto MT" panose="02040603050505030304" pitchFamily="18" charset="0"/>
              </a:rPr>
              <a:t>In theory there are two different ways to parallelize the workload:</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listo MT" panose="02040603050505030304" pitchFamily="18" charset="0"/>
              </a:rPr>
              <a:t>Data parallelism</a:t>
            </a:r>
            <a:r>
              <a:rPr kumimoji="0" lang="en-US" altLang="en-US" sz="2400" b="0" i="0" u="none" strike="noStrike" cap="none" normalizeH="0" baseline="0" dirty="0">
                <a:ln>
                  <a:noFill/>
                </a:ln>
                <a:solidFill>
                  <a:schemeClr val="tx1"/>
                </a:solidFill>
                <a:effectLst/>
                <a:latin typeface="Calisto MT" panose="02040603050505030304" pitchFamily="18" charset="0"/>
              </a:rPr>
              <a:t> divides the data up amongst multiple cores ( threads ), and performs the same task on each subset of the data. For example dividing a large image up into pieces and performing the same digital image processing on each piece on different cores.</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listo MT" panose="02040603050505030304" pitchFamily="18" charset="0"/>
              </a:rPr>
              <a:t>Task parallelism</a:t>
            </a:r>
            <a:r>
              <a:rPr kumimoji="0" lang="en-US" altLang="en-US" sz="2400" b="0" i="0" u="none" strike="noStrike" cap="none" normalizeH="0" baseline="0" dirty="0">
                <a:ln>
                  <a:noFill/>
                </a:ln>
                <a:solidFill>
                  <a:schemeClr val="tx1"/>
                </a:solidFill>
                <a:effectLst/>
                <a:latin typeface="Calisto MT" panose="02040603050505030304" pitchFamily="18" charset="0"/>
              </a:rPr>
              <a:t> divides the different tasks to be performed among the different cores and performs them simultaneously.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Calisto MT" panose="02040603050505030304" pitchFamily="18" charset="0"/>
              </a:rPr>
              <a:t>In practice no program is ever divided up solely by one or the other of these, but instead by some sort of hybrid combination.</a:t>
            </a:r>
          </a:p>
        </p:txBody>
      </p:sp>
    </p:spTree>
    <p:extLst>
      <p:ext uri="{BB962C8B-B14F-4D97-AF65-F5344CB8AC3E}">
        <p14:creationId xmlns:p14="http://schemas.microsoft.com/office/powerpoint/2010/main" val="2867146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BDD12-40A3-49F3-AFA3-9FF22F90A183}"/>
              </a:ext>
            </a:extLst>
          </p:cNvPr>
          <p:cNvSpPr>
            <a:spLocks noGrp="1"/>
          </p:cNvSpPr>
          <p:nvPr>
            <p:ph type="title"/>
          </p:nvPr>
        </p:nvSpPr>
        <p:spPr/>
        <p:txBody>
          <a:bodyPr>
            <a:normAutofit/>
          </a:bodyPr>
          <a:lstStyle/>
          <a:p>
            <a:pPr algn="ctr"/>
            <a:r>
              <a:rPr lang="en-IN" sz="3200" b="1" dirty="0">
                <a:latin typeface="Calisto MT" panose="02040603050505030304" pitchFamily="18" charset="0"/>
              </a:rPr>
              <a:t>Thread Libraries</a:t>
            </a:r>
            <a:br>
              <a:rPr lang="en-IN" sz="3200" b="1" dirty="0">
                <a:latin typeface="Calisto MT" panose="02040603050505030304" pitchFamily="18" charset="0"/>
              </a:rPr>
            </a:br>
            <a:endParaRPr lang="en-IN" sz="3200" dirty="0">
              <a:latin typeface="Calisto MT" panose="02040603050505030304" pitchFamily="18" charset="0"/>
            </a:endParaRPr>
          </a:p>
        </p:txBody>
      </p:sp>
      <p:sp>
        <p:nvSpPr>
          <p:cNvPr id="3" name="Content Placeholder 2">
            <a:extLst>
              <a:ext uri="{FF2B5EF4-FFF2-40B4-BE49-F238E27FC236}">
                <a16:creationId xmlns:a16="http://schemas.microsoft.com/office/drawing/2014/main" id="{1A2F592F-5478-4069-9092-C5BB4D54ED2A}"/>
              </a:ext>
            </a:extLst>
          </p:cNvPr>
          <p:cNvSpPr>
            <a:spLocks noGrp="1"/>
          </p:cNvSpPr>
          <p:nvPr>
            <p:ph idx="1"/>
          </p:nvPr>
        </p:nvSpPr>
        <p:spPr>
          <a:xfrm>
            <a:off x="838200" y="1306286"/>
            <a:ext cx="10515600" cy="4870677"/>
          </a:xfrm>
        </p:spPr>
        <p:txBody>
          <a:bodyPr>
            <a:no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A thread library provides the programmer an API for creating and managing threads. There are two primary ways of implementing a thread library.</a:t>
            </a:r>
          </a:p>
          <a:p>
            <a:pPr lvl="1" algn="just">
              <a:lnSpc>
                <a:spcPct val="150000"/>
              </a:lnSpc>
              <a:buFont typeface="Wingdings" panose="05000000000000000000" pitchFamily="2" charset="2"/>
              <a:buChar char="Ø"/>
            </a:pPr>
            <a:r>
              <a:rPr lang="en-US" sz="2000" dirty="0">
                <a:latin typeface="Calisto MT" panose="02040603050505030304" pitchFamily="18" charset="0"/>
              </a:rPr>
              <a:t>The first approach is to provide a library entirely in</a:t>
            </a:r>
            <a:r>
              <a:rPr lang="en-US" sz="2000" b="1" dirty="0">
                <a:latin typeface="Calisto MT" panose="02040603050505030304" pitchFamily="18" charset="0"/>
              </a:rPr>
              <a:t> user space </a:t>
            </a:r>
            <a:r>
              <a:rPr lang="en-US" sz="2000" dirty="0">
                <a:latin typeface="Calisto MT" panose="02040603050505030304" pitchFamily="18" charset="0"/>
              </a:rPr>
              <a:t>with no kernel support. All code and data structures for the library exist in user space. This means that invoking a function in the library results in a local function call in user space and not a system call.</a:t>
            </a:r>
          </a:p>
          <a:p>
            <a:pPr lvl="1" algn="just">
              <a:lnSpc>
                <a:spcPct val="150000"/>
              </a:lnSpc>
              <a:buFont typeface="Wingdings" panose="05000000000000000000" pitchFamily="2" charset="2"/>
              <a:buChar char="Ø"/>
            </a:pPr>
            <a:r>
              <a:rPr lang="en-US" sz="2000" dirty="0">
                <a:latin typeface="Calisto MT" panose="02040603050505030304" pitchFamily="18" charset="0"/>
              </a:rPr>
              <a:t>The second approach is to implement a </a:t>
            </a:r>
            <a:r>
              <a:rPr lang="en-US" sz="2000" b="1" dirty="0">
                <a:latin typeface="Calisto MT" panose="02040603050505030304" pitchFamily="18" charset="0"/>
              </a:rPr>
              <a:t>kernel-level library</a:t>
            </a:r>
            <a:r>
              <a:rPr lang="en-US" sz="2000" dirty="0">
                <a:latin typeface="Calisto MT" panose="02040603050505030304" pitchFamily="18" charset="0"/>
              </a:rPr>
              <a:t> supported directly by the OS. In this case, code and data structures for the library exist in kernel space. Invoking a function in the API for the library typically results in a system call to the kernel.</a:t>
            </a:r>
            <a:br>
              <a:rPr lang="en-US" sz="2000" dirty="0">
                <a:latin typeface="Calisto MT" panose="02040603050505030304" pitchFamily="18" charset="0"/>
              </a:rPr>
            </a:br>
            <a:endParaRPr lang="en-IN" sz="2000" dirty="0">
              <a:latin typeface="Calisto MT" panose="02040603050505030304" pitchFamily="18" charset="0"/>
            </a:endParaRPr>
          </a:p>
        </p:txBody>
      </p:sp>
    </p:spTree>
    <p:extLst>
      <p:ext uri="{BB962C8B-B14F-4D97-AF65-F5344CB8AC3E}">
        <p14:creationId xmlns:p14="http://schemas.microsoft.com/office/powerpoint/2010/main" val="1758817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6B531E-02D7-4BF7-9F96-8E9A02EC6A4D}"/>
              </a:ext>
            </a:extLst>
          </p:cNvPr>
          <p:cNvSpPr>
            <a:spLocks noGrp="1"/>
          </p:cNvSpPr>
          <p:nvPr>
            <p:ph idx="1"/>
          </p:nvPr>
        </p:nvSpPr>
        <p:spPr>
          <a:xfrm>
            <a:off x="838200" y="249382"/>
            <a:ext cx="10515600" cy="6096000"/>
          </a:xfrm>
        </p:spPr>
        <p:txBody>
          <a:bodyPr>
            <a:normAutofit fontScale="92500"/>
          </a:bodyPr>
          <a:lstStyle/>
          <a:p>
            <a:pPr marL="0" indent="0" algn="just">
              <a:lnSpc>
                <a:spcPct val="250000"/>
              </a:lnSpc>
              <a:buNone/>
            </a:pPr>
            <a:r>
              <a:rPr lang="en-US" sz="2000" dirty="0">
                <a:latin typeface="Calisto MT" panose="02040603050505030304" pitchFamily="18" charset="0"/>
              </a:rPr>
              <a:t>Three main thread libraries are in use today:</a:t>
            </a:r>
          </a:p>
          <a:p>
            <a:pPr lvl="1" algn="just">
              <a:lnSpc>
                <a:spcPct val="250000"/>
              </a:lnSpc>
              <a:buFont typeface="Wingdings" panose="05000000000000000000" pitchFamily="2" charset="2"/>
              <a:buChar char="Ø"/>
            </a:pPr>
            <a:r>
              <a:rPr lang="en-US" sz="2000" b="1" dirty="0">
                <a:latin typeface="Calisto MT" panose="02040603050505030304" pitchFamily="18" charset="0"/>
              </a:rPr>
              <a:t>POSIX Pthreads: </a:t>
            </a:r>
            <a:r>
              <a:rPr lang="en-US" sz="2000" dirty="0">
                <a:latin typeface="Calisto MT" panose="02040603050505030304" pitchFamily="18" charset="0"/>
              </a:rPr>
              <a:t>Pthreads, the threads extension of the POSIX standard, may be provided as either a user- or kernel-level library.</a:t>
            </a:r>
          </a:p>
          <a:p>
            <a:pPr lvl="1" algn="just">
              <a:lnSpc>
                <a:spcPct val="250000"/>
              </a:lnSpc>
              <a:buFont typeface="Wingdings" panose="05000000000000000000" pitchFamily="2" charset="2"/>
              <a:buChar char="Ø"/>
            </a:pPr>
            <a:r>
              <a:rPr lang="en-US" sz="2000" b="1" dirty="0">
                <a:latin typeface="Calisto MT" panose="02040603050505030304" pitchFamily="18" charset="0"/>
              </a:rPr>
              <a:t>Win32:</a:t>
            </a:r>
            <a:r>
              <a:rPr lang="en-US" sz="2000" dirty="0">
                <a:latin typeface="Calisto MT" panose="02040603050505030304" pitchFamily="18" charset="0"/>
              </a:rPr>
              <a:t> The Win32 thread library is a kernel-level library available on Windows systems.</a:t>
            </a:r>
          </a:p>
          <a:p>
            <a:pPr lvl="1" algn="just">
              <a:lnSpc>
                <a:spcPct val="250000"/>
              </a:lnSpc>
              <a:buFont typeface="Wingdings" panose="05000000000000000000" pitchFamily="2" charset="2"/>
              <a:buChar char="Ø"/>
            </a:pPr>
            <a:r>
              <a:rPr lang="en-US" sz="2000" b="1" dirty="0">
                <a:latin typeface="Calisto MT" panose="02040603050505030304" pitchFamily="18" charset="0"/>
              </a:rPr>
              <a:t>Java:</a:t>
            </a:r>
            <a:r>
              <a:rPr lang="en-US" sz="2000" dirty="0">
                <a:latin typeface="Calisto MT" panose="02040603050505030304" pitchFamily="18" charset="0"/>
              </a:rPr>
              <a:t> The Java thread API allows thread creation and management directly in Java programs. However, because in most instances the JVM is running on top of a host OS, the Java thread API is typically implemented using a thread library available on the host system.</a:t>
            </a:r>
          </a:p>
          <a:p>
            <a:pPr algn="just">
              <a:lnSpc>
                <a:spcPct val="250000"/>
              </a:lnSpc>
            </a:pPr>
            <a:endParaRPr lang="en-IN" dirty="0"/>
          </a:p>
        </p:txBody>
      </p:sp>
    </p:spTree>
    <p:extLst>
      <p:ext uri="{BB962C8B-B14F-4D97-AF65-F5344CB8AC3E}">
        <p14:creationId xmlns:p14="http://schemas.microsoft.com/office/powerpoint/2010/main" val="2521980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3006</Words>
  <Application>Microsoft Office PowerPoint</Application>
  <PresentationFormat>Widescreen</PresentationFormat>
  <Paragraphs>215</Paragraphs>
  <Slides>37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37</vt:i4>
      </vt:variant>
    </vt:vector>
  </HeadingPairs>
  <TitlesOfParts>
    <vt:vector size="50" baseType="lpstr">
      <vt:lpstr>Malgun Gothic</vt:lpstr>
      <vt:lpstr>Malgun Gothic</vt:lpstr>
      <vt:lpstr>Aptos</vt:lpstr>
      <vt:lpstr>Aptos Display</vt:lpstr>
      <vt:lpstr>Arial</vt:lpstr>
      <vt:lpstr>Calibri Light</vt:lpstr>
      <vt:lpstr>Calisto MT</vt:lpstr>
      <vt:lpstr>erdana</vt:lpstr>
      <vt:lpstr>Nunito</vt:lpstr>
      <vt:lpstr>Times New Roman</vt:lpstr>
      <vt:lpstr>urw-din</vt:lpstr>
      <vt:lpstr>Wingdings</vt:lpstr>
      <vt:lpstr>Office Theme</vt:lpstr>
      <vt:lpstr>CPU Scheduling</vt:lpstr>
      <vt:lpstr>CPU Scheduling…</vt:lpstr>
      <vt:lpstr>Types </vt:lpstr>
      <vt:lpstr>PowerPoint Presentation</vt:lpstr>
      <vt:lpstr>PowerPoint Presentation</vt:lpstr>
      <vt:lpstr>Scheduling Criteria </vt:lpstr>
      <vt:lpstr>PowerPoint Presentation</vt:lpstr>
      <vt:lpstr>PowerPoint Presentation</vt:lpstr>
      <vt:lpstr>CPU Scheduling algorithms</vt:lpstr>
      <vt:lpstr>Scheduling algorithms</vt:lpstr>
      <vt:lpstr>Scheduling Algorithms </vt:lpstr>
      <vt:lpstr>Multilevel Queue (MLQ) CPU Scheduling</vt:lpstr>
      <vt:lpstr>Multilevel Queue (MLQ) CPU Scheduling(Cont..)</vt:lpstr>
      <vt:lpstr>Multi level Feedback Queue (MLFQ) Scheduling</vt:lpstr>
      <vt:lpstr>MLFQ: Basic Rules</vt:lpstr>
      <vt:lpstr>MLFQ: Basic Rules (Cont.)</vt:lpstr>
      <vt:lpstr>MLFQ Example</vt:lpstr>
      <vt:lpstr>PowerPoint Presentation</vt:lpstr>
      <vt:lpstr>MLFQ: How to Change Priority</vt:lpstr>
      <vt:lpstr>Algorithm Evaluation</vt:lpstr>
      <vt:lpstr>Thread</vt:lpstr>
      <vt:lpstr>PowerPoint Presentation</vt:lpstr>
      <vt:lpstr>Advantages of threads</vt:lpstr>
      <vt:lpstr>Disadvantages of threads </vt:lpstr>
      <vt:lpstr>Types of Thread </vt:lpstr>
      <vt:lpstr>Multithreading Models </vt:lpstr>
      <vt:lpstr>Many to Many Model </vt:lpstr>
      <vt:lpstr>Many to One Model </vt:lpstr>
      <vt:lpstr>One to One Model</vt:lpstr>
      <vt:lpstr>Multiple-Processor Scheduling</vt:lpstr>
      <vt:lpstr>Approaches</vt:lpstr>
      <vt:lpstr>Multi core programming</vt:lpstr>
      <vt:lpstr>Multi core programming…</vt:lpstr>
      <vt:lpstr>Multi core programming…</vt:lpstr>
      <vt:lpstr>Multi core programming…</vt:lpstr>
      <vt:lpstr>Thread Libraries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Janani T</dc:creator>
  <cp:lastModifiedBy>Janani T</cp:lastModifiedBy>
  <cp:revision>3</cp:revision>
  <dcterms:created xsi:type="dcterms:W3CDTF">2025-02-03T03:42:20Z</dcterms:created>
  <dcterms:modified xsi:type="dcterms:W3CDTF">2025-02-03T04:11:38Z</dcterms:modified>
</cp:coreProperties>
</file>