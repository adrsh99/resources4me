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2" r:id="rId5"/>
    <p:sldId id="263" r:id="rId6"/>
    <p:sldId id="264" r:id="rId7"/>
    <p:sldId id="265" r:id="rId8"/>
    <p:sldId id="267" r:id="rId9"/>
    <p:sldId id="270" r:id="rId10"/>
    <p:sldId id="271" r:id="rId11"/>
    <p:sldId id="273" r:id="rId12"/>
    <p:sldId id="275" r:id="rId13"/>
    <p:sldId id="274" r:id="rId14"/>
    <p:sldId id="277" r:id="rId15"/>
    <p:sldId id="276" r:id="rId16"/>
    <p:sldId id="278" r:id="rId17"/>
    <p:sldId id="280" r:id="rId18"/>
    <p:sldId id="281" r:id="rId19"/>
    <p:sldId id="282" r:id="rId20"/>
    <p:sldId id="266" r:id="rId21"/>
    <p:sldId id="26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643"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FFFB6-34C6-4C59-B476-327784DD2F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3F8B503-5860-4D5A-8395-2BD43256ED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670A1AD-12AB-42A1-B397-4DDB185B23C8}"/>
              </a:ext>
            </a:extLst>
          </p:cNvPr>
          <p:cNvSpPr>
            <a:spLocks noGrp="1"/>
          </p:cNvSpPr>
          <p:nvPr>
            <p:ph type="dt" sz="half" idx="10"/>
          </p:nvPr>
        </p:nvSpPr>
        <p:spPr/>
        <p:txBody>
          <a:bodyPr/>
          <a:lstStyle/>
          <a:p>
            <a:fld id="{9B1151E9-40E7-4F59-AEDE-3128D6BE96D6}" type="datetimeFigureOut">
              <a:rPr lang="en-IN" smtClean="0"/>
              <a:pPr/>
              <a:t>02-04-2024</a:t>
            </a:fld>
            <a:endParaRPr lang="en-IN"/>
          </a:p>
        </p:txBody>
      </p:sp>
      <p:sp>
        <p:nvSpPr>
          <p:cNvPr id="5" name="Footer Placeholder 4">
            <a:extLst>
              <a:ext uri="{FF2B5EF4-FFF2-40B4-BE49-F238E27FC236}">
                <a16:creationId xmlns:a16="http://schemas.microsoft.com/office/drawing/2014/main" id="{49E138E9-1A02-4E1C-834D-6F6C563082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E64786-36F1-4A8C-8F60-07DE01ECA32C}"/>
              </a:ext>
            </a:extLst>
          </p:cNvPr>
          <p:cNvSpPr>
            <a:spLocks noGrp="1"/>
          </p:cNvSpPr>
          <p:nvPr>
            <p:ph type="sldNum" sz="quarter" idx="12"/>
          </p:nvPr>
        </p:nvSpPr>
        <p:spPr/>
        <p:txBody>
          <a:bodyPr/>
          <a:lstStyle/>
          <a:p>
            <a:fld id="{34B8BCCA-08A2-44DC-9E91-C603426DD07D}" type="slidenum">
              <a:rPr lang="en-IN" smtClean="0"/>
              <a:pPr/>
              <a:t>‹#›</a:t>
            </a:fld>
            <a:endParaRPr lang="en-IN"/>
          </a:p>
        </p:txBody>
      </p:sp>
    </p:spTree>
    <p:extLst>
      <p:ext uri="{BB962C8B-B14F-4D97-AF65-F5344CB8AC3E}">
        <p14:creationId xmlns:p14="http://schemas.microsoft.com/office/powerpoint/2010/main" val="2265242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213E4-9936-4CE9-9985-A6370364A8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389CDE-3970-4813-A08B-24E594D040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B45DF6-E00D-4501-89E2-1D4C22FAB70C}"/>
              </a:ext>
            </a:extLst>
          </p:cNvPr>
          <p:cNvSpPr>
            <a:spLocks noGrp="1"/>
          </p:cNvSpPr>
          <p:nvPr>
            <p:ph type="dt" sz="half" idx="10"/>
          </p:nvPr>
        </p:nvSpPr>
        <p:spPr/>
        <p:txBody>
          <a:bodyPr/>
          <a:lstStyle/>
          <a:p>
            <a:fld id="{9B1151E9-40E7-4F59-AEDE-3128D6BE96D6}" type="datetimeFigureOut">
              <a:rPr lang="en-IN" smtClean="0"/>
              <a:pPr/>
              <a:t>02-04-2024</a:t>
            </a:fld>
            <a:endParaRPr lang="en-IN"/>
          </a:p>
        </p:txBody>
      </p:sp>
      <p:sp>
        <p:nvSpPr>
          <p:cNvPr id="5" name="Footer Placeholder 4">
            <a:extLst>
              <a:ext uri="{FF2B5EF4-FFF2-40B4-BE49-F238E27FC236}">
                <a16:creationId xmlns:a16="http://schemas.microsoft.com/office/drawing/2014/main" id="{D926B9A7-3994-441B-A03E-C2E6D11C6C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D188CC-9E95-4825-AFD4-9E13382F4DBD}"/>
              </a:ext>
            </a:extLst>
          </p:cNvPr>
          <p:cNvSpPr>
            <a:spLocks noGrp="1"/>
          </p:cNvSpPr>
          <p:nvPr>
            <p:ph type="sldNum" sz="quarter" idx="12"/>
          </p:nvPr>
        </p:nvSpPr>
        <p:spPr/>
        <p:txBody>
          <a:bodyPr/>
          <a:lstStyle/>
          <a:p>
            <a:fld id="{34B8BCCA-08A2-44DC-9E91-C603426DD07D}" type="slidenum">
              <a:rPr lang="en-IN" smtClean="0"/>
              <a:pPr/>
              <a:t>‹#›</a:t>
            </a:fld>
            <a:endParaRPr lang="en-IN"/>
          </a:p>
        </p:txBody>
      </p:sp>
    </p:spTree>
    <p:extLst>
      <p:ext uri="{BB962C8B-B14F-4D97-AF65-F5344CB8AC3E}">
        <p14:creationId xmlns:p14="http://schemas.microsoft.com/office/powerpoint/2010/main" val="3662794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2CB59-9F49-40EB-8118-5670CCDC97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D0AE15B-57E3-40FB-AC7C-01CFBC9826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89B705-20D2-4162-A957-29A17D918B68}"/>
              </a:ext>
            </a:extLst>
          </p:cNvPr>
          <p:cNvSpPr>
            <a:spLocks noGrp="1"/>
          </p:cNvSpPr>
          <p:nvPr>
            <p:ph type="dt" sz="half" idx="10"/>
          </p:nvPr>
        </p:nvSpPr>
        <p:spPr/>
        <p:txBody>
          <a:bodyPr/>
          <a:lstStyle/>
          <a:p>
            <a:fld id="{9B1151E9-40E7-4F59-AEDE-3128D6BE96D6}" type="datetimeFigureOut">
              <a:rPr lang="en-IN" smtClean="0"/>
              <a:pPr/>
              <a:t>02-04-2024</a:t>
            </a:fld>
            <a:endParaRPr lang="en-IN"/>
          </a:p>
        </p:txBody>
      </p:sp>
      <p:sp>
        <p:nvSpPr>
          <p:cNvPr id="5" name="Footer Placeholder 4">
            <a:extLst>
              <a:ext uri="{FF2B5EF4-FFF2-40B4-BE49-F238E27FC236}">
                <a16:creationId xmlns:a16="http://schemas.microsoft.com/office/drawing/2014/main" id="{FD512033-8BCC-4F9C-BB90-638B6B934E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D23C09-E2FC-43E0-8FD6-EB958115E667}"/>
              </a:ext>
            </a:extLst>
          </p:cNvPr>
          <p:cNvSpPr>
            <a:spLocks noGrp="1"/>
          </p:cNvSpPr>
          <p:nvPr>
            <p:ph type="sldNum" sz="quarter" idx="12"/>
          </p:nvPr>
        </p:nvSpPr>
        <p:spPr/>
        <p:txBody>
          <a:bodyPr/>
          <a:lstStyle/>
          <a:p>
            <a:fld id="{34B8BCCA-08A2-44DC-9E91-C603426DD07D}" type="slidenum">
              <a:rPr lang="en-IN" smtClean="0"/>
              <a:pPr/>
              <a:t>‹#›</a:t>
            </a:fld>
            <a:endParaRPr lang="en-IN"/>
          </a:p>
        </p:txBody>
      </p:sp>
    </p:spTree>
    <p:extLst>
      <p:ext uri="{BB962C8B-B14F-4D97-AF65-F5344CB8AC3E}">
        <p14:creationId xmlns:p14="http://schemas.microsoft.com/office/powerpoint/2010/main" val="3976265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3A71C-508E-4618-8D26-F6A2F63963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F1D604-3206-4BE4-9366-5A7E8A4CB2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BB08C29-4C44-43EA-886A-ACB12C3A01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D05472D-CE5A-40D9-8E0E-0FE51991C516}"/>
              </a:ext>
            </a:extLst>
          </p:cNvPr>
          <p:cNvSpPr>
            <a:spLocks noGrp="1"/>
          </p:cNvSpPr>
          <p:nvPr>
            <p:ph type="dt" sz="half" idx="10"/>
          </p:nvPr>
        </p:nvSpPr>
        <p:spPr/>
        <p:txBody>
          <a:bodyPr/>
          <a:lstStyle/>
          <a:p>
            <a:fld id="{9B1151E9-40E7-4F59-AEDE-3128D6BE96D6}" type="datetimeFigureOut">
              <a:rPr lang="en-IN" smtClean="0"/>
              <a:pPr/>
              <a:t>02-04-2024</a:t>
            </a:fld>
            <a:endParaRPr lang="en-IN"/>
          </a:p>
        </p:txBody>
      </p:sp>
      <p:sp>
        <p:nvSpPr>
          <p:cNvPr id="6" name="Footer Placeholder 5">
            <a:extLst>
              <a:ext uri="{FF2B5EF4-FFF2-40B4-BE49-F238E27FC236}">
                <a16:creationId xmlns:a16="http://schemas.microsoft.com/office/drawing/2014/main" id="{7CEA8429-A364-4455-B14C-C1783C3967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64FBFA-AE2E-41BA-90C0-6300489A10D0}"/>
              </a:ext>
            </a:extLst>
          </p:cNvPr>
          <p:cNvSpPr>
            <a:spLocks noGrp="1"/>
          </p:cNvSpPr>
          <p:nvPr>
            <p:ph type="sldNum" sz="quarter" idx="12"/>
          </p:nvPr>
        </p:nvSpPr>
        <p:spPr/>
        <p:txBody>
          <a:bodyPr/>
          <a:lstStyle/>
          <a:p>
            <a:fld id="{34B8BCCA-08A2-44DC-9E91-C603426DD07D}" type="slidenum">
              <a:rPr lang="en-IN" smtClean="0"/>
              <a:pPr/>
              <a:t>‹#›</a:t>
            </a:fld>
            <a:endParaRPr lang="en-IN"/>
          </a:p>
        </p:txBody>
      </p:sp>
    </p:spTree>
    <p:extLst>
      <p:ext uri="{BB962C8B-B14F-4D97-AF65-F5344CB8AC3E}">
        <p14:creationId xmlns:p14="http://schemas.microsoft.com/office/powerpoint/2010/main" val="1681339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05510-2C9E-495B-B54C-F273989FAF0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7D18C2-C16A-4106-AEF1-AF1FF26708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AF1DF4-0487-454C-ACAF-FF1922654D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169A6F-ABB8-453C-8363-05B9675768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162113-2F44-41BA-BF5E-054C00C7BD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C7EE383-72F1-4619-B14A-015837CD11C5}"/>
              </a:ext>
            </a:extLst>
          </p:cNvPr>
          <p:cNvSpPr>
            <a:spLocks noGrp="1"/>
          </p:cNvSpPr>
          <p:nvPr>
            <p:ph type="dt" sz="half" idx="10"/>
          </p:nvPr>
        </p:nvSpPr>
        <p:spPr/>
        <p:txBody>
          <a:bodyPr/>
          <a:lstStyle/>
          <a:p>
            <a:fld id="{9B1151E9-40E7-4F59-AEDE-3128D6BE96D6}" type="datetimeFigureOut">
              <a:rPr lang="en-IN" smtClean="0"/>
              <a:pPr/>
              <a:t>02-04-2024</a:t>
            </a:fld>
            <a:endParaRPr lang="en-IN"/>
          </a:p>
        </p:txBody>
      </p:sp>
      <p:sp>
        <p:nvSpPr>
          <p:cNvPr id="8" name="Footer Placeholder 7">
            <a:extLst>
              <a:ext uri="{FF2B5EF4-FFF2-40B4-BE49-F238E27FC236}">
                <a16:creationId xmlns:a16="http://schemas.microsoft.com/office/drawing/2014/main" id="{8FC13E61-0150-47EC-BFBA-5644AC24DB3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AF48E7B-178C-4B27-B38B-E6E7AFB75609}"/>
              </a:ext>
            </a:extLst>
          </p:cNvPr>
          <p:cNvSpPr>
            <a:spLocks noGrp="1"/>
          </p:cNvSpPr>
          <p:nvPr>
            <p:ph type="sldNum" sz="quarter" idx="12"/>
          </p:nvPr>
        </p:nvSpPr>
        <p:spPr/>
        <p:txBody>
          <a:bodyPr/>
          <a:lstStyle/>
          <a:p>
            <a:fld id="{34B8BCCA-08A2-44DC-9E91-C603426DD07D}" type="slidenum">
              <a:rPr lang="en-IN" smtClean="0"/>
              <a:pPr/>
              <a:t>‹#›</a:t>
            </a:fld>
            <a:endParaRPr lang="en-IN"/>
          </a:p>
        </p:txBody>
      </p:sp>
    </p:spTree>
    <p:extLst>
      <p:ext uri="{BB962C8B-B14F-4D97-AF65-F5344CB8AC3E}">
        <p14:creationId xmlns:p14="http://schemas.microsoft.com/office/powerpoint/2010/main" val="3898316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F3AE1-D189-4B62-A316-3BB4AA54ECA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7BCC14E-4056-40D8-BA04-7BED97EE4708}"/>
              </a:ext>
            </a:extLst>
          </p:cNvPr>
          <p:cNvSpPr>
            <a:spLocks noGrp="1"/>
          </p:cNvSpPr>
          <p:nvPr>
            <p:ph type="dt" sz="half" idx="10"/>
          </p:nvPr>
        </p:nvSpPr>
        <p:spPr/>
        <p:txBody>
          <a:bodyPr/>
          <a:lstStyle/>
          <a:p>
            <a:fld id="{9B1151E9-40E7-4F59-AEDE-3128D6BE96D6}" type="datetimeFigureOut">
              <a:rPr lang="en-IN" smtClean="0"/>
              <a:pPr/>
              <a:t>02-04-2024</a:t>
            </a:fld>
            <a:endParaRPr lang="en-IN"/>
          </a:p>
        </p:txBody>
      </p:sp>
      <p:sp>
        <p:nvSpPr>
          <p:cNvPr id="4" name="Footer Placeholder 3">
            <a:extLst>
              <a:ext uri="{FF2B5EF4-FFF2-40B4-BE49-F238E27FC236}">
                <a16:creationId xmlns:a16="http://schemas.microsoft.com/office/drawing/2014/main" id="{8DBA0F8D-46EC-4F27-86C4-65B85F76343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786B387-2F8F-4FF8-B9B0-1918D24CA67C}"/>
              </a:ext>
            </a:extLst>
          </p:cNvPr>
          <p:cNvSpPr>
            <a:spLocks noGrp="1"/>
          </p:cNvSpPr>
          <p:nvPr>
            <p:ph type="sldNum" sz="quarter" idx="12"/>
          </p:nvPr>
        </p:nvSpPr>
        <p:spPr/>
        <p:txBody>
          <a:bodyPr/>
          <a:lstStyle/>
          <a:p>
            <a:fld id="{34B8BCCA-08A2-44DC-9E91-C603426DD07D}" type="slidenum">
              <a:rPr lang="en-IN" smtClean="0"/>
              <a:pPr/>
              <a:t>‹#›</a:t>
            </a:fld>
            <a:endParaRPr lang="en-IN"/>
          </a:p>
        </p:txBody>
      </p:sp>
    </p:spTree>
    <p:extLst>
      <p:ext uri="{BB962C8B-B14F-4D97-AF65-F5344CB8AC3E}">
        <p14:creationId xmlns:p14="http://schemas.microsoft.com/office/powerpoint/2010/main" val="2434941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0BD8B4-3F67-4997-9A6E-E5109FC9A1EE}"/>
              </a:ext>
            </a:extLst>
          </p:cNvPr>
          <p:cNvSpPr>
            <a:spLocks noGrp="1"/>
          </p:cNvSpPr>
          <p:nvPr>
            <p:ph type="dt" sz="half" idx="10"/>
          </p:nvPr>
        </p:nvSpPr>
        <p:spPr/>
        <p:txBody>
          <a:bodyPr/>
          <a:lstStyle/>
          <a:p>
            <a:fld id="{9B1151E9-40E7-4F59-AEDE-3128D6BE96D6}" type="datetimeFigureOut">
              <a:rPr lang="en-IN" smtClean="0"/>
              <a:pPr/>
              <a:t>02-04-2024</a:t>
            </a:fld>
            <a:endParaRPr lang="en-IN"/>
          </a:p>
        </p:txBody>
      </p:sp>
      <p:sp>
        <p:nvSpPr>
          <p:cNvPr id="3" name="Footer Placeholder 2">
            <a:extLst>
              <a:ext uri="{FF2B5EF4-FFF2-40B4-BE49-F238E27FC236}">
                <a16:creationId xmlns:a16="http://schemas.microsoft.com/office/drawing/2014/main" id="{4D66C880-952E-4D48-A5E8-105CB255248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CE2C36-B852-4433-B87B-5B3FDFB61F36}"/>
              </a:ext>
            </a:extLst>
          </p:cNvPr>
          <p:cNvSpPr>
            <a:spLocks noGrp="1"/>
          </p:cNvSpPr>
          <p:nvPr>
            <p:ph type="sldNum" sz="quarter" idx="12"/>
          </p:nvPr>
        </p:nvSpPr>
        <p:spPr/>
        <p:txBody>
          <a:bodyPr/>
          <a:lstStyle/>
          <a:p>
            <a:fld id="{34B8BCCA-08A2-44DC-9E91-C603426DD07D}" type="slidenum">
              <a:rPr lang="en-IN" smtClean="0"/>
              <a:pPr/>
              <a:t>‹#›</a:t>
            </a:fld>
            <a:endParaRPr lang="en-IN"/>
          </a:p>
        </p:txBody>
      </p:sp>
    </p:spTree>
    <p:extLst>
      <p:ext uri="{BB962C8B-B14F-4D97-AF65-F5344CB8AC3E}">
        <p14:creationId xmlns:p14="http://schemas.microsoft.com/office/powerpoint/2010/main" val="2122861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BE739-E387-4278-A150-5E838AD59F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31423D5-7C75-4380-9952-A55FB746DF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6784BAA-4233-46FE-AF35-3FBBFD97DF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28B24B-036A-4DF8-8D72-BAD42CDEF8D6}"/>
              </a:ext>
            </a:extLst>
          </p:cNvPr>
          <p:cNvSpPr>
            <a:spLocks noGrp="1"/>
          </p:cNvSpPr>
          <p:nvPr>
            <p:ph type="dt" sz="half" idx="10"/>
          </p:nvPr>
        </p:nvSpPr>
        <p:spPr/>
        <p:txBody>
          <a:bodyPr/>
          <a:lstStyle/>
          <a:p>
            <a:fld id="{9B1151E9-40E7-4F59-AEDE-3128D6BE96D6}" type="datetimeFigureOut">
              <a:rPr lang="en-IN" smtClean="0"/>
              <a:pPr/>
              <a:t>02-04-2024</a:t>
            </a:fld>
            <a:endParaRPr lang="en-IN"/>
          </a:p>
        </p:txBody>
      </p:sp>
      <p:sp>
        <p:nvSpPr>
          <p:cNvPr id="6" name="Footer Placeholder 5">
            <a:extLst>
              <a:ext uri="{FF2B5EF4-FFF2-40B4-BE49-F238E27FC236}">
                <a16:creationId xmlns:a16="http://schemas.microsoft.com/office/drawing/2014/main" id="{B1473D89-19F4-4F46-A317-2E702044DE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D1E3D-0B45-4F26-AE7E-BE5FB6CC3E8C}"/>
              </a:ext>
            </a:extLst>
          </p:cNvPr>
          <p:cNvSpPr>
            <a:spLocks noGrp="1"/>
          </p:cNvSpPr>
          <p:nvPr>
            <p:ph type="sldNum" sz="quarter" idx="12"/>
          </p:nvPr>
        </p:nvSpPr>
        <p:spPr/>
        <p:txBody>
          <a:bodyPr/>
          <a:lstStyle/>
          <a:p>
            <a:fld id="{34B8BCCA-08A2-44DC-9E91-C603426DD07D}" type="slidenum">
              <a:rPr lang="en-IN" smtClean="0"/>
              <a:pPr/>
              <a:t>‹#›</a:t>
            </a:fld>
            <a:endParaRPr lang="en-IN"/>
          </a:p>
        </p:txBody>
      </p:sp>
    </p:spTree>
    <p:extLst>
      <p:ext uri="{BB962C8B-B14F-4D97-AF65-F5344CB8AC3E}">
        <p14:creationId xmlns:p14="http://schemas.microsoft.com/office/powerpoint/2010/main" val="1173832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66697-1DAD-47E6-845C-E048DA4C49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4B2C1BE-2C22-466F-B94E-D9A5C84E09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C3F0327-F1C5-4A14-A8D7-5A8CA4057B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37BCBA-B034-4D46-A86C-F602332506F4}"/>
              </a:ext>
            </a:extLst>
          </p:cNvPr>
          <p:cNvSpPr>
            <a:spLocks noGrp="1"/>
          </p:cNvSpPr>
          <p:nvPr>
            <p:ph type="dt" sz="half" idx="10"/>
          </p:nvPr>
        </p:nvSpPr>
        <p:spPr/>
        <p:txBody>
          <a:bodyPr/>
          <a:lstStyle/>
          <a:p>
            <a:fld id="{9B1151E9-40E7-4F59-AEDE-3128D6BE96D6}" type="datetimeFigureOut">
              <a:rPr lang="en-IN" smtClean="0"/>
              <a:pPr/>
              <a:t>02-04-2024</a:t>
            </a:fld>
            <a:endParaRPr lang="en-IN"/>
          </a:p>
        </p:txBody>
      </p:sp>
      <p:sp>
        <p:nvSpPr>
          <p:cNvPr id="6" name="Footer Placeholder 5">
            <a:extLst>
              <a:ext uri="{FF2B5EF4-FFF2-40B4-BE49-F238E27FC236}">
                <a16:creationId xmlns:a16="http://schemas.microsoft.com/office/drawing/2014/main" id="{9950FCA5-6057-48BF-9BC5-D37620EF05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99A95E-1A19-41F1-BD18-1A1244028DF5}"/>
              </a:ext>
            </a:extLst>
          </p:cNvPr>
          <p:cNvSpPr>
            <a:spLocks noGrp="1"/>
          </p:cNvSpPr>
          <p:nvPr>
            <p:ph type="sldNum" sz="quarter" idx="12"/>
          </p:nvPr>
        </p:nvSpPr>
        <p:spPr/>
        <p:txBody>
          <a:bodyPr/>
          <a:lstStyle/>
          <a:p>
            <a:fld id="{34B8BCCA-08A2-44DC-9E91-C603426DD07D}" type="slidenum">
              <a:rPr lang="en-IN" smtClean="0"/>
              <a:pPr/>
              <a:t>‹#›</a:t>
            </a:fld>
            <a:endParaRPr lang="en-IN"/>
          </a:p>
        </p:txBody>
      </p:sp>
    </p:spTree>
    <p:extLst>
      <p:ext uri="{BB962C8B-B14F-4D97-AF65-F5344CB8AC3E}">
        <p14:creationId xmlns:p14="http://schemas.microsoft.com/office/powerpoint/2010/main" val="1620243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CC541-567D-44B6-A7BD-7A3B38C8CF3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DF8039-E09E-4592-90AD-F96CC95F34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4D4FF7-8355-4F18-B9D6-4BAF28D2D840}"/>
              </a:ext>
            </a:extLst>
          </p:cNvPr>
          <p:cNvSpPr>
            <a:spLocks noGrp="1"/>
          </p:cNvSpPr>
          <p:nvPr>
            <p:ph type="dt" sz="half" idx="10"/>
          </p:nvPr>
        </p:nvSpPr>
        <p:spPr/>
        <p:txBody>
          <a:bodyPr/>
          <a:lstStyle/>
          <a:p>
            <a:fld id="{9B1151E9-40E7-4F59-AEDE-3128D6BE96D6}" type="datetimeFigureOut">
              <a:rPr lang="en-IN" smtClean="0"/>
              <a:pPr/>
              <a:t>02-04-2024</a:t>
            </a:fld>
            <a:endParaRPr lang="en-IN"/>
          </a:p>
        </p:txBody>
      </p:sp>
      <p:sp>
        <p:nvSpPr>
          <p:cNvPr id="5" name="Footer Placeholder 4">
            <a:extLst>
              <a:ext uri="{FF2B5EF4-FFF2-40B4-BE49-F238E27FC236}">
                <a16:creationId xmlns:a16="http://schemas.microsoft.com/office/drawing/2014/main" id="{269A9494-3E13-4487-BDA8-A479002F2B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DB77F4-7347-45F5-A1F5-FF59DE763539}"/>
              </a:ext>
            </a:extLst>
          </p:cNvPr>
          <p:cNvSpPr>
            <a:spLocks noGrp="1"/>
          </p:cNvSpPr>
          <p:nvPr>
            <p:ph type="sldNum" sz="quarter" idx="12"/>
          </p:nvPr>
        </p:nvSpPr>
        <p:spPr/>
        <p:txBody>
          <a:bodyPr/>
          <a:lstStyle/>
          <a:p>
            <a:fld id="{34B8BCCA-08A2-44DC-9E91-C603426DD07D}" type="slidenum">
              <a:rPr lang="en-IN" smtClean="0"/>
              <a:pPr/>
              <a:t>‹#›</a:t>
            </a:fld>
            <a:endParaRPr lang="en-IN"/>
          </a:p>
        </p:txBody>
      </p:sp>
    </p:spTree>
    <p:extLst>
      <p:ext uri="{BB962C8B-B14F-4D97-AF65-F5344CB8AC3E}">
        <p14:creationId xmlns:p14="http://schemas.microsoft.com/office/powerpoint/2010/main" val="2472882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F240E4-5008-4242-B973-8C6D182D7E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998114-7547-4C84-821E-A055067CB8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6A2AE4-1E3A-4540-AE6D-B4F9B4305C96}"/>
              </a:ext>
            </a:extLst>
          </p:cNvPr>
          <p:cNvSpPr>
            <a:spLocks noGrp="1"/>
          </p:cNvSpPr>
          <p:nvPr>
            <p:ph type="dt" sz="half" idx="10"/>
          </p:nvPr>
        </p:nvSpPr>
        <p:spPr/>
        <p:txBody>
          <a:bodyPr/>
          <a:lstStyle/>
          <a:p>
            <a:fld id="{9B1151E9-40E7-4F59-AEDE-3128D6BE96D6}" type="datetimeFigureOut">
              <a:rPr lang="en-IN" smtClean="0"/>
              <a:pPr/>
              <a:t>02-04-2024</a:t>
            </a:fld>
            <a:endParaRPr lang="en-IN"/>
          </a:p>
        </p:txBody>
      </p:sp>
      <p:sp>
        <p:nvSpPr>
          <p:cNvPr id="5" name="Footer Placeholder 4">
            <a:extLst>
              <a:ext uri="{FF2B5EF4-FFF2-40B4-BE49-F238E27FC236}">
                <a16:creationId xmlns:a16="http://schemas.microsoft.com/office/drawing/2014/main" id="{8DF705BA-F282-4B3C-A8B7-D653652126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FF2E96-F8D0-417D-86DA-1FA4E8B3B370}"/>
              </a:ext>
            </a:extLst>
          </p:cNvPr>
          <p:cNvSpPr>
            <a:spLocks noGrp="1"/>
          </p:cNvSpPr>
          <p:nvPr>
            <p:ph type="sldNum" sz="quarter" idx="12"/>
          </p:nvPr>
        </p:nvSpPr>
        <p:spPr/>
        <p:txBody>
          <a:bodyPr/>
          <a:lstStyle/>
          <a:p>
            <a:fld id="{34B8BCCA-08A2-44DC-9E91-C603426DD07D}" type="slidenum">
              <a:rPr lang="en-IN" smtClean="0"/>
              <a:pPr/>
              <a:t>‹#›</a:t>
            </a:fld>
            <a:endParaRPr lang="en-IN"/>
          </a:p>
        </p:txBody>
      </p:sp>
    </p:spTree>
    <p:extLst>
      <p:ext uri="{BB962C8B-B14F-4D97-AF65-F5344CB8AC3E}">
        <p14:creationId xmlns:p14="http://schemas.microsoft.com/office/powerpoint/2010/main" val="984405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86DD2F-B586-4FAA-82C2-F97C297F0D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DE935F-2EE9-4B71-82FC-B4E5650E23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7D655F-6557-41AB-A12F-7384989BC0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1151E9-40E7-4F59-AEDE-3128D6BE96D6}" type="datetimeFigureOut">
              <a:rPr lang="en-IN" smtClean="0"/>
              <a:pPr/>
              <a:t>02-04-2024</a:t>
            </a:fld>
            <a:endParaRPr lang="en-IN"/>
          </a:p>
        </p:txBody>
      </p:sp>
      <p:sp>
        <p:nvSpPr>
          <p:cNvPr id="5" name="Footer Placeholder 4">
            <a:extLst>
              <a:ext uri="{FF2B5EF4-FFF2-40B4-BE49-F238E27FC236}">
                <a16:creationId xmlns:a16="http://schemas.microsoft.com/office/drawing/2014/main" id="{76D1A026-CC75-4051-A5A7-A369FF3951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8D7A0BB-E0BD-4747-B3F7-AC8AFC9FD9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B8BCCA-08A2-44DC-9E91-C603426DD07D}" type="slidenum">
              <a:rPr lang="en-IN" smtClean="0"/>
              <a:pPr/>
              <a:t>‹#›</a:t>
            </a:fld>
            <a:endParaRPr lang="en-IN"/>
          </a:p>
        </p:txBody>
      </p:sp>
    </p:spTree>
    <p:extLst>
      <p:ext uri="{BB962C8B-B14F-4D97-AF65-F5344CB8AC3E}">
        <p14:creationId xmlns:p14="http://schemas.microsoft.com/office/powerpoint/2010/main" val="11186717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A400C8A-45A9-4885-AADD-0593F9348765}"/>
              </a:ext>
            </a:extLst>
          </p:cNvPr>
          <p:cNvSpPr>
            <a:spLocks noGrp="1"/>
          </p:cNvSpPr>
          <p:nvPr>
            <p:ph type="subTitle" idx="1"/>
          </p:nvPr>
        </p:nvSpPr>
        <p:spPr/>
        <p:txBody>
          <a:bodyPr>
            <a:normAutofit/>
          </a:bodyPr>
          <a:lstStyle/>
          <a:p>
            <a:r>
              <a:rPr lang="en-US" sz="4400" b="1" dirty="0">
                <a:solidFill>
                  <a:srgbClr val="00B0F0"/>
                </a:solidFill>
              </a:rPr>
              <a:t>Mass Storage Structure</a:t>
            </a:r>
            <a:endParaRPr lang="en-IN" sz="4400" b="1" dirty="0">
              <a:solidFill>
                <a:srgbClr val="00B0F0"/>
              </a:solidFill>
            </a:endParaRPr>
          </a:p>
        </p:txBody>
      </p:sp>
      <p:sp>
        <p:nvSpPr>
          <p:cNvPr id="5" name="Title 4">
            <a:extLst>
              <a:ext uri="{FF2B5EF4-FFF2-40B4-BE49-F238E27FC236}">
                <a16:creationId xmlns:a16="http://schemas.microsoft.com/office/drawing/2014/main" id="{4DC4966E-A751-5D37-3789-C0AC822E6285}"/>
              </a:ext>
            </a:extLst>
          </p:cNvPr>
          <p:cNvSpPr>
            <a:spLocks noGrp="1"/>
          </p:cNvSpPr>
          <p:nvPr>
            <p:ph type="ctrTitle"/>
          </p:nvPr>
        </p:nvSpPr>
        <p:spPr/>
        <p:txBody>
          <a:bodyPr/>
          <a:lstStyle/>
          <a:p>
            <a:endParaRPr lang="en-IN"/>
          </a:p>
        </p:txBody>
      </p:sp>
    </p:spTree>
    <p:extLst>
      <p:ext uri="{BB962C8B-B14F-4D97-AF65-F5344CB8AC3E}">
        <p14:creationId xmlns:p14="http://schemas.microsoft.com/office/powerpoint/2010/main" val="285092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73E68-1186-4B97-A067-79DBE79964C1}"/>
              </a:ext>
            </a:extLst>
          </p:cNvPr>
          <p:cNvSpPr>
            <a:spLocks noGrp="1"/>
          </p:cNvSpPr>
          <p:nvPr>
            <p:ph type="title"/>
          </p:nvPr>
        </p:nvSpPr>
        <p:spPr>
          <a:xfrm>
            <a:off x="257452" y="195310"/>
            <a:ext cx="11096348" cy="736845"/>
          </a:xfrm>
        </p:spPr>
        <p:txBody>
          <a:bodyPr>
            <a:normAutofit/>
          </a:bodyPr>
          <a:lstStyle/>
          <a:p>
            <a:r>
              <a:rPr lang="en-US" altLang="en-US" sz="4000" b="1" dirty="0">
                <a:solidFill>
                  <a:srgbClr val="92D050"/>
                </a:solidFill>
                <a:latin typeface="Times New Roman" panose="02020603050405020304" pitchFamily="18" charset="0"/>
                <a:cs typeface="Times New Roman" panose="02020603050405020304" pitchFamily="18" charset="0"/>
              </a:rPr>
              <a:t>Overview of Mass Storage Structure</a:t>
            </a:r>
            <a:endParaRPr lang="en-IN" sz="4000" b="1" dirty="0">
              <a:solidFill>
                <a:srgbClr val="92D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1B12C62-832A-4D55-BBE6-6054C3F15A0D}"/>
              </a:ext>
            </a:extLst>
          </p:cNvPr>
          <p:cNvSpPr>
            <a:spLocks noGrp="1"/>
          </p:cNvSpPr>
          <p:nvPr>
            <p:ph idx="1"/>
          </p:nvPr>
        </p:nvSpPr>
        <p:spPr>
          <a:xfrm>
            <a:off x="257451" y="1571348"/>
            <a:ext cx="11754035" cy="4605615"/>
          </a:xfrm>
        </p:spPr>
        <p:txBody>
          <a:bodyPr>
            <a:normAutofit/>
          </a:bodyPr>
          <a:lstStyle/>
          <a:p>
            <a:pPr>
              <a:lnSpc>
                <a:spcPct val="150000"/>
              </a:lnSpc>
            </a:pPr>
            <a:r>
              <a:rPr lang="en-US" altLang="en-US" sz="2400" b="1" dirty="0">
                <a:solidFill>
                  <a:srgbClr val="3366FF"/>
                </a:solidFill>
                <a:latin typeface="Times New Roman" panose="02020603050405020304" pitchFamily="18" charset="0"/>
                <a:cs typeface="Times New Roman" panose="02020603050405020304" pitchFamily="18" charset="0"/>
              </a:rPr>
              <a:t>Magnetic disks</a:t>
            </a:r>
            <a:r>
              <a:rPr lang="en-US" altLang="en-US" sz="2400" dirty="0">
                <a:solidFill>
                  <a:srgbClr val="3366FF"/>
                </a:solidFill>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provide bulk of secondary storage of modern computers</a:t>
            </a:r>
          </a:p>
          <a:p>
            <a:pPr lvl="1">
              <a:lnSpc>
                <a:spcPct val="150000"/>
              </a:lnSpc>
            </a:pPr>
            <a:r>
              <a:rPr lang="en-US" altLang="en-US" dirty="0">
                <a:latin typeface="Times New Roman" panose="02020603050405020304" pitchFamily="18" charset="0"/>
                <a:cs typeface="Times New Roman" panose="02020603050405020304" pitchFamily="18" charset="0"/>
              </a:rPr>
              <a:t>Drives rotate at 60 to 250 times per second</a:t>
            </a:r>
          </a:p>
          <a:p>
            <a:pPr lvl="1">
              <a:lnSpc>
                <a:spcPct val="150000"/>
              </a:lnSpc>
            </a:pPr>
            <a:r>
              <a:rPr lang="en-US" altLang="en-US" b="1" dirty="0">
                <a:solidFill>
                  <a:srgbClr val="3366FF"/>
                </a:solidFill>
                <a:latin typeface="Times New Roman" panose="02020603050405020304" pitchFamily="18" charset="0"/>
                <a:cs typeface="Times New Roman" panose="02020603050405020304" pitchFamily="18" charset="0"/>
              </a:rPr>
              <a:t>Transfer rate </a:t>
            </a:r>
            <a:r>
              <a:rPr lang="en-US" altLang="en-US" sz="2000" dirty="0">
                <a:latin typeface="Times New Roman" panose="02020603050405020304" pitchFamily="18" charset="0"/>
                <a:cs typeface="Times New Roman" panose="02020603050405020304" pitchFamily="18" charset="0"/>
              </a:rPr>
              <a:t>is rate at which data flow between drive and computer</a:t>
            </a:r>
          </a:p>
          <a:p>
            <a:pPr lvl="1">
              <a:lnSpc>
                <a:spcPct val="150000"/>
              </a:lnSpc>
            </a:pPr>
            <a:r>
              <a:rPr lang="en-US" altLang="en-US" b="1" dirty="0">
                <a:solidFill>
                  <a:srgbClr val="3366FF"/>
                </a:solidFill>
                <a:latin typeface="Times New Roman" panose="02020603050405020304" pitchFamily="18" charset="0"/>
                <a:cs typeface="Times New Roman" panose="02020603050405020304" pitchFamily="18" charset="0"/>
              </a:rPr>
              <a:t>Positioning time</a:t>
            </a:r>
            <a:r>
              <a:rPr lang="en-US" altLang="en-US" dirty="0">
                <a:solidFill>
                  <a:srgbClr val="3366FF"/>
                </a:solidFill>
                <a:latin typeface="Times New Roman" panose="02020603050405020304" pitchFamily="18" charset="0"/>
                <a:cs typeface="Times New Roman" panose="02020603050405020304" pitchFamily="18" charset="0"/>
              </a:rPr>
              <a:t> or </a:t>
            </a:r>
            <a:r>
              <a:rPr lang="en-US" altLang="en-US" b="1" dirty="0">
                <a:solidFill>
                  <a:srgbClr val="3366FF"/>
                </a:solidFill>
                <a:latin typeface="Times New Roman" panose="02020603050405020304" pitchFamily="18" charset="0"/>
                <a:cs typeface="Times New Roman" panose="02020603050405020304" pitchFamily="18" charset="0"/>
              </a:rPr>
              <a:t>random-access time or seek time </a:t>
            </a:r>
            <a:r>
              <a:rPr lang="en-US" altLang="en-US" dirty="0">
                <a:latin typeface="Times New Roman" panose="02020603050405020304" pitchFamily="18" charset="0"/>
                <a:cs typeface="Times New Roman" panose="02020603050405020304" pitchFamily="18" charset="0"/>
              </a:rPr>
              <a:t>is time to move disk arm to desired cylinder</a:t>
            </a:r>
          </a:p>
          <a:p>
            <a:pPr lvl="1">
              <a:lnSpc>
                <a:spcPct val="150000"/>
              </a:lnSpc>
            </a:pPr>
            <a:r>
              <a:rPr lang="en-US" altLang="en-US" b="1" dirty="0">
                <a:solidFill>
                  <a:srgbClr val="3366FF"/>
                </a:solidFill>
                <a:latin typeface="Times New Roman" panose="02020603050405020304" pitchFamily="18" charset="0"/>
                <a:cs typeface="Times New Roman" panose="02020603050405020304" pitchFamily="18" charset="0"/>
              </a:rPr>
              <a:t>rotational latency</a:t>
            </a:r>
            <a:endParaRPr lang="en-US" altLang="en-US" dirty="0">
              <a:latin typeface="Times New Roman" panose="02020603050405020304" pitchFamily="18" charset="0"/>
              <a:cs typeface="Times New Roman" panose="02020603050405020304" pitchFamily="18" charset="0"/>
            </a:endParaRPr>
          </a:p>
          <a:p>
            <a:pPr lvl="1">
              <a:lnSpc>
                <a:spcPct val="150000"/>
              </a:lnSpc>
            </a:pPr>
            <a:r>
              <a:rPr lang="en-US" altLang="en-US" b="1" dirty="0">
                <a:solidFill>
                  <a:srgbClr val="3366FF"/>
                </a:solidFill>
                <a:latin typeface="Times New Roman" panose="02020603050405020304" pitchFamily="18" charset="0"/>
                <a:cs typeface="Times New Roman" panose="02020603050405020304" pitchFamily="18" charset="0"/>
              </a:rPr>
              <a:t>Head crash</a:t>
            </a:r>
            <a:r>
              <a:rPr lang="en-US" altLang="en-US" dirty="0">
                <a:solidFill>
                  <a:srgbClr val="3366FF"/>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results from disk head making contact with the disk surface</a:t>
            </a:r>
          </a:p>
          <a:p>
            <a:endParaRPr lang="en-IN" dirty="0"/>
          </a:p>
        </p:txBody>
      </p:sp>
    </p:spTree>
    <p:extLst>
      <p:ext uri="{BB962C8B-B14F-4D97-AF65-F5344CB8AC3E}">
        <p14:creationId xmlns:p14="http://schemas.microsoft.com/office/powerpoint/2010/main" val="1395899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AA8F9-3FF9-4094-8F2B-19F670D1B02C}"/>
              </a:ext>
            </a:extLst>
          </p:cNvPr>
          <p:cNvSpPr>
            <a:spLocks noGrp="1"/>
          </p:cNvSpPr>
          <p:nvPr>
            <p:ph type="title"/>
          </p:nvPr>
        </p:nvSpPr>
        <p:spPr>
          <a:xfrm>
            <a:off x="186431" y="248576"/>
            <a:ext cx="11167369" cy="648070"/>
          </a:xfrm>
        </p:spPr>
        <p:txBody>
          <a:bodyPr>
            <a:normAutofit fontScale="90000"/>
          </a:bodyPr>
          <a:lstStyle/>
          <a:p>
            <a:r>
              <a:rPr lang="en-US" b="1" dirty="0">
                <a:solidFill>
                  <a:srgbClr val="92D050"/>
                </a:solidFill>
                <a:latin typeface="Times New Roman" panose="02020603050405020304" pitchFamily="18" charset="0"/>
                <a:cs typeface="Times New Roman" panose="02020603050405020304" pitchFamily="18" charset="0"/>
              </a:rPr>
              <a:t>Cont..</a:t>
            </a:r>
            <a:endParaRPr lang="en-IN" b="1" dirty="0">
              <a:solidFill>
                <a:srgbClr val="92D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67FA4D-EF05-4141-A2AB-B8BC290775A7}"/>
              </a:ext>
            </a:extLst>
          </p:cNvPr>
          <p:cNvSpPr>
            <a:spLocks noGrp="1"/>
          </p:cNvSpPr>
          <p:nvPr>
            <p:ph idx="1"/>
          </p:nvPr>
        </p:nvSpPr>
        <p:spPr>
          <a:xfrm>
            <a:off x="275208" y="1473693"/>
            <a:ext cx="11674136" cy="4703270"/>
          </a:xfrm>
        </p:spPr>
        <p:txBody>
          <a:bodyPr/>
          <a:lstStyle/>
          <a:p>
            <a:pPr>
              <a:lnSpc>
                <a:spcPct val="150000"/>
              </a:lnSpc>
            </a:pPr>
            <a:r>
              <a:rPr lang="en-US" altLang="en-US" sz="2400" dirty="0">
                <a:latin typeface="Times New Roman" panose="02020603050405020304" pitchFamily="18" charset="0"/>
                <a:cs typeface="Times New Roman" panose="02020603050405020304" pitchFamily="18" charset="0"/>
              </a:rPr>
              <a:t>Drive attached to computer via </a:t>
            </a:r>
            <a:r>
              <a:rPr lang="en-US" altLang="en-US" sz="2400" b="1" dirty="0">
                <a:solidFill>
                  <a:srgbClr val="3366FF"/>
                </a:solidFill>
                <a:latin typeface="Times New Roman" panose="02020603050405020304" pitchFamily="18" charset="0"/>
                <a:cs typeface="Times New Roman" panose="02020603050405020304" pitchFamily="18" charset="0"/>
              </a:rPr>
              <a:t>I/O bus</a:t>
            </a:r>
          </a:p>
          <a:p>
            <a:pPr lvl="1">
              <a:lnSpc>
                <a:spcPct val="150000"/>
              </a:lnSpc>
            </a:pPr>
            <a:r>
              <a:rPr lang="en-US" altLang="en-US" dirty="0">
                <a:latin typeface="Times New Roman" panose="02020603050405020304" pitchFamily="18" charset="0"/>
                <a:cs typeface="Times New Roman" panose="02020603050405020304" pitchFamily="18" charset="0"/>
              </a:rPr>
              <a:t>Busses vary, including </a:t>
            </a:r>
            <a:r>
              <a:rPr lang="en-US" altLang="en-US" b="1" dirty="0">
                <a:solidFill>
                  <a:srgbClr val="3366FF"/>
                </a:solidFill>
                <a:latin typeface="Times New Roman" panose="02020603050405020304" pitchFamily="18" charset="0"/>
                <a:cs typeface="Times New Roman" panose="02020603050405020304" pitchFamily="18" charset="0"/>
              </a:rPr>
              <a:t>EIDE</a:t>
            </a:r>
            <a:r>
              <a:rPr lang="en-US" altLang="en-US" dirty="0">
                <a:latin typeface="Times New Roman" panose="02020603050405020304" pitchFamily="18" charset="0"/>
                <a:cs typeface="Times New Roman" panose="02020603050405020304" pitchFamily="18" charset="0"/>
              </a:rPr>
              <a:t>,</a:t>
            </a:r>
            <a:r>
              <a:rPr lang="en-US" altLang="en-US" b="1" dirty="0">
                <a:solidFill>
                  <a:srgbClr val="3366FF"/>
                </a:solidFill>
                <a:latin typeface="Times New Roman" panose="02020603050405020304" pitchFamily="18" charset="0"/>
                <a:cs typeface="Times New Roman" panose="02020603050405020304" pitchFamily="18" charset="0"/>
              </a:rPr>
              <a:t> ATA</a:t>
            </a:r>
            <a:r>
              <a:rPr lang="en-US" altLang="en-US" dirty="0">
                <a:latin typeface="Times New Roman" panose="02020603050405020304" pitchFamily="18" charset="0"/>
                <a:cs typeface="Times New Roman" panose="02020603050405020304" pitchFamily="18" charset="0"/>
              </a:rPr>
              <a:t>,</a:t>
            </a:r>
            <a:r>
              <a:rPr lang="en-US" altLang="en-US" b="1" dirty="0">
                <a:solidFill>
                  <a:srgbClr val="3366FF"/>
                </a:solidFill>
                <a:latin typeface="Times New Roman" panose="02020603050405020304" pitchFamily="18" charset="0"/>
                <a:cs typeface="Times New Roman" panose="02020603050405020304" pitchFamily="18" charset="0"/>
              </a:rPr>
              <a:t> SATA</a:t>
            </a:r>
            <a:r>
              <a:rPr lang="en-US" altLang="en-US" dirty="0">
                <a:latin typeface="Times New Roman" panose="02020603050405020304" pitchFamily="18" charset="0"/>
                <a:cs typeface="Times New Roman" panose="02020603050405020304" pitchFamily="18" charset="0"/>
              </a:rPr>
              <a:t>,</a:t>
            </a:r>
            <a:r>
              <a:rPr lang="en-US" altLang="en-US" b="1" dirty="0">
                <a:solidFill>
                  <a:srgbClr val="3366FF"/>
                </a:solidFill>
                <a:latin typeface="Times New Roman" panose="02020603050405020304" pitchFamily="18" charset="0"/>
                <a:cs typeface="Times New Roman" panose="02020603050405020304" pitchFamily="18" charset="0"/>
              </a:rPr>
              <a:t> USB</a:t>
            </a:r>
            <a:r>
              <a:rPr lang="en-US" altLang="en-US" dirty="0">
                <a:latin typeface="Times New Roman" panose="02020603050405020304" pitchFamily="18" charset="0"/>
                <a:cs typeface="Times New Roman" panose="02020603050405020304" pitchFamily="18" charset="0"/>
              </a:rPr>
              <a:t>,</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b="1" dirty="0" err="1">
                <a:solidFill>
                  <a:srgbClr val="3366FF"/>
                </a:solidFill>
                <a:latin typeface="Times New Roman" panose="02020603050405020304" pitchFamily="18" charset="0"/>
                <a:cs typeface="Times New Roman" panose="02020603050405020304" pitchFamily="18" charset="0"/>
              </a:rPr>
              <a:t>Fibre</a:t>
            </a:r>
            <a:r>
              <a:rPr lang="en-US" altLang="en-US" b="1" dirty="0">
                <a:solidFill>
                  <a:srgbClr val="3366FF"/>
                </a:solidFill>
                <a:latin typeface="Times New Roman" panose="02020603050405020304" pitchFamily="18" charset="0"/>
                <a:cs typeface="Times New Roman" panose="02020603050405020304" pitchFamily="18" charset="0"/>
              </a:rPr>
              <a:t> Channel</a:t>
            </a:r>
            <a:r>
              <a:rPr lang="en-US" altLang="en-US" dirty="0">
                <a:latin typeface="Times New Roman" panose="02020603050405020304" pitchFamily="18" charset="0"/>
                <a:cs typeface="Times New Roman" panose="02020603050405020304" pitchFamily="18" charset="0"/>
              </a:rPr>
              <a:t>,</a:t>
            </a:r>
            <a:r>
              <a:rPr lang="en-US" altLang="en-US" b="1" dirty="0">
                <a:solidFill>
                  <a:srgbClr val="3366FF"/>
                </a:solidFill>
                <a:latin typeface="Times New Roman" panose="02020603050405020304" pitchFamily="18" charset="0"/>
                <a:cs typeface="Times New Roman" panose="02020603050405020304" pitchFamily="18" charset="0"/>
              </a:rPr>
              <a:t> SCSI, SAS, Firewire</a:t>
            </a:r>
          </a:p>
          <a:p>
            <a:pPr lvl="1">
              <a:lnSpc>
                <a:spcPct val="150000"/>
              </a:lnSpc>
            </a:pPr>
            <a:r>
              <a:rPr lang="en-US" altLang="en-US" b="1" dirty="0">
                <a:solidFill>
                  <a:srgbClr val="3366FF"/>
                </a:solidFill>
                <a:latin typeface="Times New Roman" panose="02020603050405020304" pitchFamily="18" charset="0"/>
                <a:cs typeface="Times New Roman" panose="02020603050405020304" pitchFamily="18" charset="0"/>
              </a:rPr>
              <a:t>Host controller</a:t>
            </a:r>
            <a:r>
              <a:rPr lang="en-US" altLang="en-US" dirty="0">
                <a:solidFill>
                  <a:srgbClr val="3366FF"/>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in computer uses bus to talk to </a:t>
            </a:r>
            <a:r>
              <a:rPr lang="en-US" altLang="en-US" b="1" dirty="0">
                <a:solidFill>
                  <a:srgbClr val="3366FF"/>
                </a:solidFill>
                <a:latin typeface="Times New Roman" panose="02020603050405020304" pitchFamily="18" charset="0"/>
                <a:cs typeface="Times New Roman" panose="02020603050405020304" pitchFamily="18" charset="0"/>
              </a:rPr>
              <a:t>disk controller</a:t>
            </a:r>
            <a:r>
              <a:rPr lang="en-US" altLang="en-US" dirty="0">
                <a:solidFill>
                  <a:srgbClr val="3366FF"/>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built into drive or storage array</a:t>
            </a:r>
          </a:p>
          <a:p>
            <a:endParaRPr lang="en-IN" dirty="0"/>
          </a:p>
        </p:txBody>
      </p:sp>
    </p:spTree>
    <p:extLst>
      <p:ext uri="{BB962C8B-B14F-4D97-AF65-F5344CB8AC3E}">
        <p14:creationId xmlns:p14="http://schemas.microsoft.com/office/powerpoint/2010/main" val="235628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_01.pdf">
            <a:extLst>
              <a:ext uri="{FF2B5EF4-FFF2-40B4-BE49-F238E27FC236}">
                <a16:creationId xmlns:a16="http://schemas.microsoft.com/office/drawing/2014/main" id="{4BB99197-8155-4A21-96AF-258ED80C6E3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48127" y="1872788"/>
            <a:ext cx="5685155" cy="479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CD79947E-2B75-47BF-BDA0-DD0F49C9CE21}"/>
              </a:ext>
            </a:extLst>
          </p:cNvPr>
          <p:cNvSpPr txBox="1"/>
          <p:nvPr/>
        </p:nvSpPr>
        <p:spPr>
          <a:xfrm flipH="1">
            <a:off x="79899" y="467843"/>
            <a:ext cx="8453172" cy="646331"/>
          </a:xfrm>
          <a:prstGeom prst="rect">
            <a:avLst/>
          </a:prstGeom>
          <a:noFill/>
        </p:spPr>
        <p:txBody>
          <a:bodyPr wrap="square" rtlCol="0">
            <a:spAutoFit/>
          </a:bodyPr>
          <a:lstStyle/>
          <a:p>
            <a:r>
              <a:rPr lang="en-US" altLang="en-US" sz="3600" b="1" dirty="0">
                <a:solidFill>
                  <a:schemeClr val="accent6"/>
                </a:solidFill>
                <a:latin typeface="Times New Roman" panose="02020603050405020304" pitchFamily="18" charset="0"/>
                <a:cs typeface="Times New Roman" panose="02020603050405020304" pitchFamily="18" charset="0"/>
              </a:rPr>
              <a:t>Moving-head Disk Mechanism</a:t>
            </a:r>
            <a:endParaRPr lang="en-IN" sz="3600" b="1"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1857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B9D4F-3D25-425B-833B-F9FD3700323C}"/>
              </a:ext>
            </a:extLst>
          </p:cNvPr>
          <p:cNvSpPr>
            <a:spLocks noGrp="1"/>
          </p:cNvSpPr>
          <p:nvPr>
            <p:ph type="title"/>
          </p:nvPr>
        </p:nvSpPr>
        <p:spPr>
          <a:xfrm>
            <a:off x="0" y="168677"/>
            <a:ext cx="11353800" cy="648070"/>
          </a:xfrm>
        </p:spPr>
        <p:txBody>
          <a:bodyPr>
            <a:normAutofit fontScale="90000"/>
          </a:bodyPr>
          <a:lstStyle/>
          <a:p>
            <a:r>
              <a:rPr lang="en-US" altLang="en-US" b="1" dirty="0">
                <a:solidFill>
                  <a:schemeClr val="accent6"/>
                </a:solidFill>
                <a:latin typeface="Times New Roman" panose="02020603050405020304" pitchFamily="18" charset="0"/>
                <a:cs typeface="Times New Roman" panose="02020603050405020304" pitchFamily="18" charset="0"/>
              </a:rPr>
              <a:t>Disk Structure</a:t>
            </a:r>
            <a:endParaRPr lang="en-IN"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7E257BE-7424-44BC-A69A-94E2FF0A362B}"/>
              </a:ext>
            </a:extLst>
          </p:cNvPr>
          <p:cNvSpPr>
            <a:spLocks noGrp="1"/>
          </p:cNvSpPr>
          <p:nvPr>
            <p:ph idx="1"/>
          </p:nvPr>
        </p:nvSpPr>
        <p:spPr>
          <a:xfrm>
            <a:off x="195309" y="1180730"/>
            <a:ext cx="11798423" cy="5508593"/>
          </a:xfrm>
        </p:spPr>
        <p:txBody>
          <a:bodyPr>
            <a:normAutofit fontScale="92500" lnSpcReduction="20000"/>
          </a:bodyPr>
          <a:lstStyle/>
          <a:p>
            <a:pPr>
              <a:lnSpc>
                <a:spcPct val="160000"/>
              </a:lnSpc>
            </a:pPr>
            <a:r>
              <a:rPr lang="en-US" altLang="en-US" sz="2400" dirty="0">
                <a:latin typeface="Times New Roman" panose="02020603050405020304" pitchFamily="18" charset="0"/>
                <a:cs typeface="Times New Roman" panose="02020603050405020304" pitchFamily="18" charset="0"/>
              </a:rPr>
              <a:t>Disk drives are addressed as large 1-dimensional arrays of </a:t>
            </a:r>
            <a:r>
              <a:rPr lang="en-US" altLang="en-US" sz="2400" b="1" dirty="0">
                <a:solidFill>
                  <a:srgbClr val="3366FF"/>
                </a:solidFill>
                <a:latin typeface="Times New Roman" panose="02020603050405020304" pitchFamily="18" charset="0"/>
                <a:cs typeface="Times New Roman" panose="02020603050405020304" pitchFamily="18" charset="0"/>
              </a:rPr>
              <a:t>logical blocks</a:t>
            </a:r>
          </a:p>
          <a:p>
            <a:pPr>
              <a:lnSpc>
                <a:spcPct val="160000"/>
              </a:lnSpc>
            </a:pPr>
            <a:r>
              <a:rPr lang="en-US" altLang="en-US" sz="2400" dirty="0">
                <a:latin typeface="Times New Roman" panose="02020603050405020304" pitchFamily="18" charset="0"/>
                <a:cs typeface="Times New Roman" panose="02020603050405020304" pitchFamily="18" charset="0"/>
              </a:rPr>
              <a:t>Where the logical block is the smallest unit of transfer</a:t>
            </a:r>
            <a:br>
              <a:rPr lang="en-US" altLang="en-US" sz="2400" dirty="0">
                <a:latin typeface="Times New Roman" panose="02020603050405020304" pitchFamily="18" charset="0"/>
                <a:cs typeface="Times New Roman" panose="02020603050405020304" pitchFamily="18" charset="0"/>
              </a:rPr>
            </a:br>
            <a:endParaRPr lang="en-US" altLang="en-US" sz="2400" dirty="0">
              <a:latin typeface="Times New Roman" panose="02020603050405020304" pitchFamily="18" charset="0"/>
              <a:cs typeface="Times New Roman" panose="02020603050405020304" pitchFamily="18" charset="0"/>
            </a:endParaRPr>
          </a:p>
          <a:p>
            <a:pPr lvl="1">
              <a:lnSpc>
                <a:spcPct val="160000"/>
              </a:lnSpc>
            </a:pPr>
            <a:r>
              <a:rPr lang="en-US" altLang="en-US" dirty="0">
                <a:latin typeface="Times New Roman" panose="02020603050405020304" pitchFamily="18" charset="0"/>
                <a:cs typeface="Times New Roman" panose="02020603050405020304" pitchFamily="18" charset="0"/>
              </a:rPr>
              <a:t>Low-level formatting creates </a:t>
            </a:r>
            <a:r>
              <a:rPr lang="en-US" altLang="en-US" b="1" dirty="0">
                <a:solidFill>
                  <a:srgbClr val="3366FF"/>
                </a:solidFill>
                <a:latin typeface="Times New Roman" panose="02020603050405020304" pitchFamily="18" charset="0"/>
                <a:cs typeface="Times New Roman" panose="02020603050405020304" pitchFamily="18" charset="0"/>
              </a:rPr>
              <a:t>logical blocks </a:t>
            </a:r>
            <a:r>
              <a:rPr lang="en-US" altLang="en-US" dirty="0">
                <a:latin typeface="Times New Roman" panose="02020603050405020304" pitchFamily="18" charset="0"/>
                <a:cs typeface="Times New Roman" panose="02020603050405020304" pitchFamily="18" charset="0"/>
              </a:rPr>
              <a:t>on physical media</a:t>
            </a:r>
          </a:p>
          <a:p>
            <a:pPr marL="457200" lvl="1" indent="0">
              <a:lnSpc>
                <a:spcPct val="160000"/>
              </a:lnSpc>
              <a:buNone/>
            </a:pPr>
            <a:endParaRPr lang="en-US" altLang="en-US" dirty="0">
              <a:latin typeface="Times New Roman" panose="02020603050405020304" pitchFamily="18" charset="0"/>
              <a:cs typeface="Times New Roman" panose="02020603050405020304" pitchFamily="18" charset="0"/>
            </a:endParaRPr>
          </a:p>
          <a:p>
            <a:pPr>
              <a:lnSpc>
                <a:spcPct val="160000"/>
              </a:lnSpc>
            </a:pPr>
            <a:r>
              <a:rPr lang="en-US" altLang="en-US" sz="2400" dirty="0">
                <a:latin typeface="Times New Roman" panose="02020603050405020304" pitchFamily="18" charset="0"/>
                <a:cs typeface="Times New Roman" panose="02020603050405020304" pitchFamily="18" charset="0"/>
              </a:rPr>
              <a:t>The 1-dimensional array of logical blocks is mapped into the sectors of the disk sequentially</a:t>
            </a:r>
          </a:p>
          <a:p>
            <a:pPr lvl="1">
              <a:lnSpc>
                <a:spcPct val="160000"/>
              </a:lnSpc>
            </a:pPr>
            <a:r>
              <a:rPr lang="en-US" altLang="en-US" dirty="0">
                <a:latin typeface="Times New Roman" panose="02020603050405020304" pitchFamily="18" charset="0"/>
                <a:cs typeface="Times New Roman" panose="02020603050405020304" pitchFamily="18" charset="0"/>
              </a:rPr>
              <a:t>Sector 0 is the first sector of the first track on the outermost cylinder</a:t>
            </a:r>
          </a:p>
          <a:p>
            <a:pPr lvl="1">
              <a:lnSpc>
                <a:spcPct val="160000"/>
              </a:lnSpc>
            </a:pPr>
            <a:r>
              <a:rPr lang="en-US" altLang="en-US" dirty="0">
                <a:latin typeface="Times New Roman" panose="02020603050405020304" pitchFamily="18" charset="0"/>
                <a:cs typeface="Times New Roman" panose="02020603050405020304" pitchFamily="18" charset="0"/>
              </a:rPr>
              <a:t>Logical to physical address should be easy</a:t>
            </a:r>
          </a:p>
          <a:p>
            <a:pPr lvl="2">
              <a:lnSpc>
                <a:spcPct val="160000"/>
              </a:lnSpc>
            </a:pPr>
            <a:r>
              <a:rPr lang="en-US" altLang="en-US" sz="2400" dirty="0">
                <a:latin typeface="Times New Roman" panose="02020603050405020304" pitchFamily="18" charset="0"/>
                <a:cs typeface="Times New Roman" panose="02020603050405020304" pitchFamily="18" charset="0"/>
              </a:rPr>
              <a:t>Except for bad sectors</a:t>
            </a:r>
          </a:p>
          <a:p>
            <a:pPr lvl="2">
              <a:lnSpc>
                <a:spcPct val="160000"/>
              </a:lnSpc>
            </a:pPr>
            <a:r>
              <a:rPr lang="en-US" altLang="en-US" sz="2400" dirty="0">
                <a:latin typeface="Times New Roman" panose="02020603050405020304" pitchFamily="18" charset="0"/>
                <a:cs typeface="Times New Roman" panose="02020603050405020304" pitchFamily="18" charset="0"/>
              </a:rPr>
              <a:t>Non-constant of sectors per track via constant angular velocity</a:t>
            </a:r>
          </a:p>
          <a:p>
            <a:endParaRPr lang="en-IN" dirty="0"/>
          </a:p>
        </p:txBody>
      </p:sp>
    </p:spTree>
    <p:extLst>
      <p:ext uri="{BB962C8B-B14F-4D97-AF65-F5344CB8AC3E}">
        <p14:creationId xmlns:p14="http://schemas.microsoft.com/office/powerpoint/2010/main" val="13184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CD13D-F9E3-421E-92B8-E6AA8350E591}"/>
              </a:ext>
            </a:extLst>
          </p:cNvPr>
          <p:cNvSpPr>
            <a:spLocks noGrp="1"/>
          </p:cNvSpPr>
          <p:nvPr>
            <p:ph type="title"/>
          </p:nvPr>
        </p:nvSpPr>
        <p:spPr>
          <a:xfrm>
            <a:off x="71021" y="97655"/>
            <a:ext cx="11282779" cy="798990"/>
          </a:xfrm>
        </p:spPr>
        <p:txBody>
          <a:bodyPr>
            <a:normAutofit/>
          </a:bodyPr>
          <a:lstStyle/>
          <a:p>
            <a:r>
              <a:rPr lang="en-US" b="1" dirty="0">
                <a:solidFill>
                  <a:schemeClr val="accent6"/>
                </a:solidFill>
                <a:latin typeface="Times New Roman" panose="02020603050405020304" pitchFamily="18" charset="0"/>
                <a:cs typeface="Times New Roman" panose="02020603050405020304" pitchFamily="18" charset="0"/>
              </a:rPr>
              <a:t>Disk Management</a:t>
            </a:r>
            <a:endParaRPr lang="en-IN"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6B9B41E-95F9-4BDE-86DD-E3346B124065}"/>
              </a:ext>
            </a:extLst>
          </p:cNvPr>
          <p:cNvSpPr>
            <a:spLocks noGrp="1"/>
          </p:cNvSpPr>
          <p:nvPr>
            <p:ph idx="1"/>
          </p:nvPr>
        </p:nvSpPr>
        <p:spPr>
          <a:xfrm>
            <a:off x="230819" y="1553592"/>
            <a:ext cx="11842812" cy="4856086"/>
          </a:xfrm>
        </p:spPr>
        <p:txBody>
          <a:bodyPr>
            <a:normAutofit lnSpcReduction="10000"/>
          </a:bodyPr>
          <a:lstStyle/>
          <a:p>
            <a:pPr>
              <a:lnSpc>
                <a:spcPct val="150000"/>
              </a:lnSpc>
            </a:pPr>
            <a:r>
              <a:rPr lang="en-US" altLang="en-US" sz="2400" b="1" dirty="0">
                <a:solidFill>
                  <a:srgbClr val="3366FF"/>
                </a:solidFill>
                <a:latin typeface="Times New Roman" panose="02020603050405020304" pitchFamily="18" charset="0"/>
                <a:cs typeface="Times New Roman" panose="02020603050405020304" pitchFamily="18" charset="0"/>
              </a:rPr>
              <a:t>Low-level formatting</a:t>
            </a:r>
            <a:r>
              <a:rPr lang="en-US" altLang="en-US" sz="2400" dirty="0">
                <a:latin typeface="Times New Roman" panose="02020603050405020304" pitchFamily="18" charset="0"/>
                <a:cs typeface="Times New Roman" panose="02020603050405020304" pitchFamily="18" charset="0"/>
              </a:rPr>
              <a:t>, or </a:t>
            </a:r>
            <a:r>
              <a:rPr lang="en-US" altLang="en-US" sz="2400" b="1" dirty="0">
                <a:solidFill>
                  <a:srgbClr val="3366FF"/>
                </a:solidFill>
                <a:latin typeface="Times New Roman" panose="02020603050405020304" pitchFamily="18" charset="0"/>
                <a:cs typeface="Times New Roman" panose="02020603050405020304" pitchFamily="18" charset="0"/>
              </a:rPr>
              <a:t>physical formatting</a:t>
            </a:r>
            <a:endParaRPr lang="en-US" altLang="en-US" sz="2400" dirty="0">
              <a:latin typeface="Times New Roman" panose="02020603050405020304" pitchFamily="18" charset="0"/>
              <a:cs typeface="Times New Roman" panose="02020603050405020304" pitchFamily="18" charset="0"/>
            </a:endParaRPr>
          </a:p>
          <a:p>
            <a:pPr lvl="1">
              <a:lnSpc>
                <a:spcPct val="150000"/>
              </a:lnSpc>
            </a:pPr>
            <a:r>
              <a:rPr lang="en-US" altLang="en-US" dirty="0">
                <a:latin typeface="Times New Roman" panose="02020603050405020304" pitchFamily="18" charset="0"/>
                <a:cs typeface="Times New Roman" panose="02020603050405020304" pitchFamily="18" charset="0"/>
              </a:rPr>
              <a:t>Each sector can hold header information, plus data, plus error correction code (</a:t>
            </a:r>
            <a:r>
              <a:rPr lang="en-US" altLang="en-US" b="1" dirty="0">
                <a:solidFill>
                  <a:srgbClr val="3366FF"/>
                </a:solidFill>
                <a:latin typeface="Times New Roman" panose="02020603050405020304" pitchFamily="18" charset="0"/>
                <a:cs typeface="Times New Roman" panose="02020603050405020304" pitchFamily="18" charset="0"/>
              </a:rPr>
              <a:t>ECC</a:t>
            </a:r>
            <a:r>
              <a:rPr lang="en-US" altLang="en-US" dirty="0">
                <a:latin typeface="Times New Roman" panose="02020603050405020304" pitchFamily="18" charset="0"/>
                <a:cs typeface="Times New Roman" panose="02020603050405020304" pitchFamily="18" charset="0"/>
              </a:rPr>
              <a:t>)</a:t>
            </a:r>
          </a:p>
          <a:p>
            <a:pPr lvl="1">
              <a:lnSpc>
                <a:spcPct val="150000"/>
              </a:lnSpc>
            </a:pPr>
            <a:r>
              <a:rPr lang="en-US" altLang="en-US" dirty="0">
                <a:latin typeface="Times New Roman" panose="02020603050405020304" pitchFamily="18" charset="0"/>
                <a:cs typeface="Times New Roman" panose="02020603050405020304" pitchFamily="18" charset="0"/>
              </a:rPr>
              <a:t>Usually 512 bytes of data but can be selectable</a:t>
            </a:r>
          </a:p>
          <a:p>
            <a:pPr marL="457200" lvl="1" indent="0">
              <a:lnSpc>
                <a:spcPct val="150000"/>
              </a:lnSpc>
              <a:buNone/>
            </a:pP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sz="2400" dirty="0">
                <a:latin typeface="Times New Roman" panose="02020603050405020304" pitchFamily="18" charset="0"/>
                <a:cs typeface="Times New Roman" panose="02020603050405020304" pitchFamily="18" charset="0"/>
              </a:rPr>
              <a:t>To use a disk to hold files, the operating system still needs to record its own data structures on the disk</a:t>
            </a:r>
          </a:p>
          <a:p>
            <a:pPr lvl="1">
              <a:lnSpc>
                <a:spcPct val="150000"/>
              </a:lnSpc>
            </a:pPr>
            <a:r>
              <a:rPr lang="en-US" altLang="en-US" b="1" dirty="0">
                <a:solidFill>
                  <a:srgbClr val="3366FF"/>
                </a:solidFill>
                <a:latin typeface="Times New Roman" panose="02020603050405020304" pitchFamily="18" charset="0"/>
                <a:cs typeface="Times New Roman" panose="02020603050405020304" pitchFamily="18" charset="0"/>
              </a:rPr>
              <a:t>Partition</a:t>
            </a:r>
            <a:endParaRPr lang="en-US" altLang="en-US" dirty="0">
              <a:latin typeface="Times New Roman" panose="02020603050405020304" pitchFamily="18" charset="0"/>
              <a:cs typeface="Times New Roman" panose="02020603050405020304" pitchFamily="18" charset="0"/>
            </a:endParaRPr>
          </a:p>
          <a:p>
            <a:pPr lvl="1">
              <a:lnSpc>
                <a:spcPct val="150000"/>
              </a:lnSpc>
            </a:pPr>
            <a:r>
              <a:rPr lang="en-US" altLang="en-US" b="1" dirty="0">
                <a:solidFill>
                  <a:srgbClr val="3366FF"/>
                </a:solidFill>
                <a:latin typeface="Times New Roman" panose="02020603050405020304" pitchFamily="18" charset="0"/>
                <a:cs typeface="Times New Roman" panose="02020603050405020304" pitchFamily="18" charset="0"/>
              </a:rPr>
              <a:t>Logical formatting</a:t>
            </a:r>
            <a:r>
              <a:rPr lang="en-US" altLang="en-US" dirty="0">
                <a:solidFill>
                  <a:srgbClr val="3366FF"/>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or </a:t>
            </a:r>
            <a:r>
              <a:rPr lang="ja-JP" altLang="en-US" dirty="0">
                <a:latin typeface="Times New Roman" panose="02020603050405020304" pitchFamily="18" charset="0"/>
                <a:cs typeface="Times New Roman" panose="02020603050405020304" pitchFamily="18" charset="0"/>
              </a:rPr>
              <a:t>“</a:t>
            </a:r>
            <a:r>
              <a:rPr lang="en-US" altLang="ja-JP" dirty="0">
                <a:latin typeface="Times New Roman" panose="02020603050405020304" pitchFamily="18" charset="0"/>
                <a:cs typeface="Times New Roman" panose="02020603050405020304" pitchFamily="18" charset="0"/>
              </a:rPr>
              <a:t>making a file system</a:t>
            </a:r>
            <a:r>
              <a:rPr lang="ja-JP" altLang="en-US" dirty="0">
                <a:latin typeface="Times New Roman" panose="02020603050405020304" pitchFamily="18" charset="0"/>
                <a:cs typeface="Times New Roman" panose="02020603050405020304" pitchFamily="18" charset="0"/>
              </a:rPr>
              <a:t>”</a:t>
            </a:r>
            <a:endParaRPr lang="en-US" altLang="ja-JP"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601399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9126D-5312-40DC-80B1-56E7306A1CE1}"/>
              </a:ext>
            </a:extLst>
          </p:cNvPr>
          <p:cNvSpPr>
            <a:spLocks noGrp="1"/>
          </p:cNvSpPr>
          <p:nvPr>
            <p:ph type="title"/>
          </p:nvPr>
        </p:nvSpPr>
        <p:spPr>
          <a:xfrm>
            <a:off x="88777" y="365125"/>
            <a:ext cx="11265023" cy="540397"/>
          </a:xfrm>
        </p:spPr>
        <p:txBody>
          <a:bodyPr>
            <a:normAutofit fontScale="90000"/>
          </a:bodyPr>
          <a:lstStyle/>
          <a:p>
            <a:r>
              <a:rPr lang="en-US" b="1" dirty="0">
                <a:solidFill>
                  <a:schemeClr val="accent6"/>
                </a:solidFill>
                <a:latin typeface="Times New Roman" panose="02020603050405020304" pitchFamily="18" charset="0"/>
                <a:cs typeface="Times New Roman" panose="02020603050405020304" pitchFamily="18" charset="0"/>
              </a:rPr>
              <a:t>Cont..</a:t>
            </a:r>
            <a:endParaRPr lang="en-IN"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ED2EAB-854A-4D2D-A8ED-DCA6230721AD}"/>
              </a:ext>
            </a:extLst>
          </p:cNvPr>
          <p:cNvSpPr>
            <a:spLocks noGrp="1"/>
          </p:cNvSpPr>
          <p:nvPr>
            <p:ph idx="1"/>
          </p:nvPr>
        </p:nvSpPr>
        <p:spPr>
          <a:xfrm>
            <a:off x="88777" y="1482571"/>
            <a:ext cx="11878322" cy="4694392"/>
          </a:xfrm>
        </p:spPr>
        <p:txBody>
          <a:bodyPr/>
          <a:lstStyle/>
          <a:p>
            <a:pPr lvl="1">
              <a:lnSpc>
                <a:spcPct val="150000"/>
              </a:lnSpc>
            </a:pPr>
            <a:r>
              <a:rPr lang="en-US" altLang="en-US" dirty="0">
                <a:latin typeface="Times New Roman" panose="02020603050405020304" pitchFamily="18" charset="0"/>
                <a:cs typeface="Times New Roman" panose="02020603050405020304" pitchFamily="18" charset="0"/>
              </a:rPr>
              <a:t>To increase efficiency most file systems group blocks into </a:t>
            </a:r>
            <a:r>
              <a:rPr lang="en-US" altLang="en-US" b="1" dirty="0">
                <a:solidFill>
                  <a:srgbClr val="3366FF"/>
                </a:solidFill>
                <a:latin typeface="Times New Roman" panose="02020603050405020304" pitchFamily="18" charset="0"/>
                <a:cs typeface="Times New Roman" panose="02020603050405020304" pitchFamily="18" charset="0"/>
              </a:rPr>
              <a:t>clusters</a:t>
            </a:r>
          </a:p>
          <a:p>
            <a:pPr lvl="2">
              <a:lnSpc>
                <a:spcPct val="150000"/>
              </a:lnSpc>
            </a:pPr>
            <a:r>
              <a:rPr lang="en-US" altLang="en-US" sz="2400" dirty="0">
                <a:latin typeface="Times New Roman" panose="02020603050405020304" pitchFamily="18" charset="0"/>
                <a:cs typeface="Times New Roman" panose="02020603050405020304" pitchFamily="18" charset="0"/>
              </a:rPr>
              <a:t>Disk I/O done in blocks</a:t>
            </a:r>
          </a:p>
          <a:p>
            <a:pPr lvl="2">
              <a:lnSpc>
                <a:spcPct val="150000"/>
              </a:lnSpc>
            </a:pPr>
            <a:r>
              <a:rPr lang="en-US" altLang="en-US" sz="2400" dirty="0">
                <a:latin typeface="Times New Roman" panose="02020603050405020304" pitchFamily="18" charset="0"/>
                <a:cs typeface="Times New Roman" panose="02020603050405020304" pitchFamily="18" charset="0"/>
              </a:rPr>
              <a:t>File I/O done in clusters</a:t>
            </a:r>
          </a:p>
          <a:p>
            <a:pPr>
              <a:lnSpc>
                <a:spcPct val="150000"/>
              </a:lnSpc>
            </a:pPr>
            <a:r>
              <a:rPr lang="en-US" altLang="en-US" sz="2400" dirty="0">
                <a:latin typeface="Times New Roman" panose="02020603050405020304" pitchFamily="18" charset="0"/>
                <a:cs typeface="Times New Roman" panose="02020603050405020304" pitchFamily="18" charset="0"/>
              </a:rPr>
              <a:t>Boot block initializes system</a:t>
            </a:r>
          </a:p>
          <a:p>
            <a:pPr lvl="1">
              <a:lnSpc>
                <a:spcPct val="150000"/>
              </a:lnSpc>
            </a:pPr>
            <a:r>
              <a:rPr lang="en-US" altLang="en-US" dirty="0">
                <a:latin typeface="Times New Roman" panose="02020603050405020304" pitchFamily="18" charset="0"/>
                <a:cs typeface="Times New Roman" panose="02020603050405020304" pitchFamily="18" charset="0"/>
              </a:rPr>
              <a:t>The bootstrap is stored in ROM</a:t>
            </a:r>
          </a:p>
          <a:p>
            <a:pPr lvl="1">
              <a:lnSpc>
                <a:spcPct val="150000"/>
              </a:lnSpc>
            </a:pPr>
            <a:r>
              <a:rPr lang="en-US" altLang="en-US" b="1" dirty="0">
                <a:solidFill>
                  <a:srgbClr val="3366FF"/>
                </a:solidFill>
                <a:latin typeface="Times New Roman" panose="02020603050405020304" pitchFamily="18" charset="0"/>
                <a:cs typeface="Times New Roman" panose="02020603050405020304" pitchFamily="18" charset="0"/>
              </a:rPr>
              <a:t>Bootstrap loader</a:t>
            </a:r>
            <a:r>
              <a:rPr lang="en-US" altLang="en-US" dirty="0">
                <a:solidFill>
                  <a:srgbClr val="3366FF"/>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program stored in boot blocks of boot partition</a:t>
            </a:r>
          </a:p>
          <a:p>
            <a:pPr>
              <a:lnSpc>
                <a:spcPct val="150000"/>
              </a:lnSpc>
            </a:pPr>
            <a:r>
              <a:rPr lang="en-US" altLang="en-US" sz="2400" dirty="0">
                <a:latin typeface="Times New Roman" panose="02020603050405020304" pitchFamily="18" charset="0"/>
                <a:cs typeface="Times New Roman" panose="02020603050405020304" pitchFamily="18" charset="0"/>
              </a:rPr>
              <a:t>Methods such as </a:t>
            </a:r>
            <a:r>
              <a:rPr lang="en-US" altLang="en-US" sz="2400" b="1" dirty="0">
                <a:solidFill>
                  <a:srgbClr val="3366FF"/>
                </a:solidFill>
                <a:latin typeface="Times New Roman" panose="02020603050405020304" pitchFamily="18" charset="0"/>
                <a:cs typeface="Times New Roman" panose="02020603050405020304" pitchFamily="18" charset="0"/>
              </a:rPr>
              <a:t>sector sparing</a:t>
            </a:r>
            <a:r>
              <a:rPr lang="en-US" altLang="en-US" sz="2400" dirty="0">
                <a:solidFill>
                  <a:srgbClr val="3366FF"/>
                </a:solidFill>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used to handle bad blocks</a:t>
            </a:r>
          </a:p>
          <a:p>
            <a:endParaRPr lang="en-IN" dirty="0"/>
          </a:p>
        </p:txBody>
      </p:sp>
    </p:spTree>
    <p:extLst>
      <p:ext uri="{BB962C8B-B14F-4D97-AF65-F5344CB8AC3E}">
        <p14:creationId xmlns:p14="http://schemas.microsoft.com/office/powerpoint/2010/main" val="3793255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548ADABC-30FF-47E6-8A55-287B40B137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7853" y="1815668"/>
            <a:ext cx="6596294" cy="4389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69C6FA2F-2BCF-486E-8A81-B88C43DBCDAF}"/>
              </a:ext>
            </a:extLst>
          </p:cNvPr>
          <p:cNvSpPr txBox="1"/>
          <p:nvPr/>
        </p:nvSpPr>
        <p:spPr>
          <a:xfrm flipH="1">
            <a:off x="168675" y="417250"/>
            <a:ext cx="7661427" cy="707886"/>
          </a:xfrm>
          <a:prstGeom prst="rect">
            <a:avLst/>
          </a:prstGeom>
          <a:noFill/>
        </p:spPr>
        <p:txBody>
          <a:bodyPr wrap="square" rtlCol="0">
            <a:spAutoFit/>
          </a:bodyPr>
          <a:lstStyle/>
          <a:p>
            <a:r>
              <a:rPr lang="en-US" altLang="en-US" sz="4000" b="1" dirty="0">
                <a:solidFill>
                  <a:schemeClr val="accent6"/>
                </a:solidFill>
                <a:latin typeface="Times New Roman" panose="02020603050405020304" pitchFamily="18" charset="0"/>
                <a:cs typeface="Times New Roman" panose="02020603050405020304" pitchFamily="18" charset="0"/>
              </a:rPr>
              <a:t>Booting from a Disk in Windows</a:t>
            </a:r>
            <a:endParaRPr lang="en-IN" sz="4000" b="1"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5721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17E15-D261-46B6-A95A-D07353DDBE56}"/>
              </a:ext>
            </a:extLst>
          </p:cNvPr>
          <p:cNvSpPr>
            <a:spLocks noGrp="1"/>
          </p:cNvSpPr>
          <p:nvPr>
            <p:ph type="title"/>
          </p:nvPr>
        </p:nvSpPr>
        <p:spPr>
          <a:xfrm>
            <a:off x="159798" y="365126"/>
            <a:ext cx="11194002" cy="842238"/>
          </a:xfrm>
        </p:spPr>
        <p:txBody>
          <a:bodyPr>
            <a:normAutofit/>
          </a:bodyPr>
          <a:lstStyle/>
          <a:p>
            <a:r>
              <a:rPr lang="en-US" sz="4000" b="1" dirty="0">
                <a:solidFill>
                  <a:schemeClr val="accent6"/>
                </a:solidFill>
                <a:latin typeface="Times New Roman" panose="02020603050405020304" pitchFamily="18" charset="0"/>
                <a:cs typeface="Times New Roman" panose="02020603050405020304" pitchFamily="18" charset="0"/>
              </a:rPr>
              <a:t>Disk Scheduling</a:t>
            </a:r>
            <a:endParaRPr lang="en-IN" sz="4000"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35F3706-ED95-4A5C-8A71-11A8DD2290A7}"/>
              </a:ext>
            </a:extLst>
          </p:cNvPr>
          <p:cNvSpPr>
            <a:spLocks noGrp="1"/>
          </p:cNvSpPr>
          <p:nvPr>
            <p:ph idx="1"/>
          </p:nvPr>
        </p:nvSpPr>
        <p:spPr>
          <a:xfrm>
            <a:off x="159798" y="1825625"/>
            <a:ext cx="11887200" cy="4351338"/>
          </a:xfrm>
        </p:spPr>
        <p:txBody>
          <a:bodyPr>
            <a:normAutofit/>
          </a:bodyPr>
          <a:lstStyle/>
          <a:p>
            <a:pPr>
              <a:lnSpc>
                <a:spcPct val="150000"/>
              </a:lnSpc>
            </a:pPr>
            <a:r>
              <a:rPr lang="en-US" altLang="en-US" sz="2400" dirty="0">
                <a:latin typeface="Times New Roman" panose="02020603050405020304" pitchFamily="18" charset="0"/>
                <a:cs typeface="Times New Roman" panose="02020603050405020304" pitchFamily="18" charset="0"/>
              </a:rPr>
              <a:t>The operating system is responsible for using hardware efficiently</a:t>
            </a: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sz="2400" dirty="0">
                <a:latin typeface="Times New Roman" panose="02020603050405020304" pitchFamily="18" charset="0"/>
                <a:cs typeface="Times New Roman" panose="02020603050405020304" pitchFamily="18" charset="0"/>
              </a:rPr>
              <a:t>Minimize seek time</a:t>
            </a:r>
          </a:p>
          <a:p>
            <a:pPr>
              <a:lnSpc>
                <a:spcPct val="150000"/>
              </a:lnSpc>
            </a:pPr>
            <a:r>
              <a:rPr lang="en-US" altLang="en-US" sz="2400" dirty="0">
                <a:latin typeface="Times New Roman" panose="02020603050405020304" pitchFamily="18" charset="0"/>
                <a:cs typeface="Times New Roman" panose="02020603050405020304" pitchFamily="18" charset="0"/>
              </a:rPr>
              <a:t>Seek time </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 seek distance</a:t>
            </a:r>
          </a:p>
          <a:p>
            <a:pPr>
              <a:lnSpc>
                <a:spcPct val="150000"/>
              </a:lnSpc>
            </a:pP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Disk </a:t>
            </a:r>
            <a:r>
              <a:rPr lang="en-US" altLang="en-US" sz="2400" b="1" dirty="0">
                <a:solidFill>
                  <a:srgbClr val="3366FF"/>
                </a:solidFill>
                <a:latin typeface="Times New Roman" panose="02020603050405020304" pitchFamily="18" charset="0"/>
                <a:cs typeface="Times New Roman" panose="02020603050405020304" pitchFamily="18" charset="0"/>
                <a:sym typeface="Symbol" panose="05050102010706020507" pitchFamily="18" charset="2"/>
              </a:rPr>
              <a:t>bandwidth</a:t>
            </a: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BDA6D7A-D773-6D0E-162C-FC5C6C6A19F1}"/>
              </a:ext>
            </a:extLst>
          </p:cNvPr>
          <p:cNvSpPr txBox="1"/>
          <p:nvPr/>
        </p:nvSpPr>
        <p:spPr>
          <a:xfrm>
            <a:off x="3033227" y="4892360"/>
            <a:ext cx="8042210" cy="1323439"/>
          </a:xfrm>
          <a:prstGeom prst="rect">
            <a:avLst/>
          </a:prstGeom>
          <a:noFill/>
        </p:spPr>
        <p:txBody>
          <a:bodyPr wrap="square">
            <a:spAutoFit/>
          </a:bodyPr>
          <a:lstStyle/>
          <a:p>
            <a:pPr rtl="0" fontAlgn="base"/>
            <a:r>
              <a:rPr lang="en-US" sz="2000" b="1" dirty="0">
                <a:effectLst/>
              </a:rPr>
              <a:t>Disk Access Time = Seek Time + Rotational Latency + Transfer Time</a:t>
            </a:r>
          </a:p>
          <a:p>
            <a:pPr rtl="0" fontAlgn="base"/>
            <a:r>
              <a:rPr lang="en-US" sz="2000" b="1" dirty="0">
                <a:effectLst/>
              </a:rPr>
              <a:t>Total Seek Time = Total head Movement * Seek Time</a:t>
            </a:r>
          </a:p>
          <a:p>
            <a:br>
              <a:rPr lang="en-US" sz="2000" b="1" dirty="0">
                <a:effectLst/>
              </a:rPr>
            </a:br>
            <a:endParaRPr lang="en-IN" sz="2000" b="1" dirty="0"/>
          </a:p>
        </p:txBody>
      </p:sp>
    </p:spTree>
    <p:extLst>
      <p:ext uri="{BB962C8B-B14F-4D97-AF65-F5344CB8AC3E}">
        <p14:creationId xmlns:p14="http://schemas.microsoft.com/office/powerpoint/2010/main" val="4154353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73C18-8463-4571-99D0-C2161DD4964D}"/>
              </a:ext>
            </a:extLst>
          </p:cNvPr>
          <p:cNvSpPr>
            <a:spLocks noGrp="1"/>
          </p:cNvSpPr>
          <p:nvPr>
            <p:ph type="title"/>
          </p:nvPr>
        </p:nvSpPr>
        <p:spPr>
          <a:xfrm>
            <a:off x="177553" y="365125"/>
            <a:ext cx="11176247" cy="602541"/>
          </a:xfrm>
        </p:spPr>
        <p:txBody>
          <a:bodyPr>
            <a:normAutofit fontScale="90000"/>
          </a:bodyPr>
          <a:lstStyle/>
          <a:p>
            <a:r>
              <a:rPr lang="en-US" b="1" dirty="0">
                <a:solidFill>
                  <a:schemeClr val="accent6"/>
                </a:solidFill>
                <a:latin typeface="Times New Roman" panose="02020603050405020304" pitchFamily="18" charset="0"/>
                <a:cs typeface="Times New Roman" panose="02020603050405020304" pitchFamily="18" charset="0"/>
              </a:rPr>
              <a:t>Cont..</a:t>
            </a:r>
            <a:endParaRPr lang="en-IN"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BDAD73-6E9F-4977-B626-7E8A890CAD74}"/>
              </a:ext>
            </a:extLst>
          </p:cNvPr>
          <p:cNvSpPr>
            <a:spLocks noGrp="1"/>
          </p:cNvSpPr>
          <p:nvPr>
            <p:ph idx="1"/>
          </p:nvPr>
        </p:nvSpPr>
        <p:spPr>
          <a:xfrm>
            <a:off x="177553" y="1349406"/>
            <a:ext cx="11833934" cy="4827557"/>
          </a:xfrm>
        </p:spPr>
        <p:txBody>
          <a:bodyPr>
            <a:normAutofit lnSpcReduction="10000"/>
          </a:bodyPr>
          <a:lstStyle/>
          <a:p>
            <a:pPr>
              <a:lnSpc>
                <a:spcPct val="150000"/>
              </a:lnSpc>
              <a:tabLst>
                <a:tab pos="2443163" algn="l"/>
              </a:tabLst>
            </a:pPr>
            <a:r>
              <a:rPr lang="en-US" altLang="en-US" sz="2400" dirty="0">
                <a:latin typeface="Times New Roman" panose="02020603050405020304" pitchFamily="18" charset="0"/>
                <a:cs typeface="Times New Roman" panose="02020603050405020304" pitchFamily="18" charset="0"/>
              </a:rPr>
              <a:t>There are many sources of disk I/O request</a:t>
            </a:r>
          </a:p>
          <a:p>
            <a:pPr lvl="1">
              <a:lnSpc>
                <a:spcPct val="150000"/>
              </a:lnSpc>
              <a:tabLst>
                <a:tab pos="2443163" algn="l"/>
              </a:tabLst>
            </a:pPr>
            <a:r>
              <a:rPr lang="en-US" altLang="en-US" dirty="0">
                <a:latin typeface="Times New Roman" panose="02020603050405020304" pitchFamily="18" charset="0"/>
                <a:cs typeface="Times New Roman" panose="02020603050405020304" pitchFamily="18" charset="0"/>
              </a:rPr>
              <a:t>OS</a:t>
            </a:r>
          </a:p>
          <a:p>
            <a:pPr lvl="1">
              <a:lnSpc>
                <a:spcPct val="150000"/>
              </a:lnSpc>
              <a:tabLst>
                <a:tab pos="2443163" algn="l"/>
              </a:tabLst>
            </a:pPr>
            <a:r>
              <a:rPr lang="en-US" altLang="en-US" dirty="0">
                <a:latin typeface="Times New Roman" panose="02020603050405020304" pitchFamily="18" charset="0"/>
                <a:cs typeface="Times New Roman" panose="02020603050405020304" pitchFamily="18" charset="0"/>
              </a:rPr>
              <a:t>System processes</a:t>
            </a:r>
          </a:p>
          <a:p>
            <a:pPr lvl="1">
              <a:lnSpc>
                <a:spcPct val="150000"/>
              </a:lnSpc>
              <a:tabLst>
                <a:tab pos="2443163" algn="l"/>
              </a:tabLst>
            </a:pPr>
            <a:r>
              <a:rPr lang="en-US" altLang="en-US" dirty="0">
                <a:latin typeface="Times New Roman" panose="02020603050405020304" pitchFamily="18" charset="0"/>
                <a:cs typeface="Times New Roman" panose="02020603050405020304" pitchFamily="18" charset="0"/>
              </a:rPr>
              <a:t>Users processes</a:t>
            </a:r>
          </a:p>
          <a:p>
            <a:pPr>
              <a:lnSpc>
                <a:spcPct val="150000"/>
              </a:lnSpc>
              <a:tabLst>
                <a:tab pos="2443163" algn="l"/>
              </a:tabLst>
            </a:pPr>
            <a:r>
              <a:rPr lang="en-US" altLang="en-US" sz="2400" dirty="0">
                <a:latin typeface="Times New Roman" panose="02020603050405020304" pitchFamily="18" charset="0"/>
                <a:cs typeface="Times New Roman" panose="02020603050405020304" pitchFamily="18" charset="0"/>
              </a:rPr>
              <a:t>Several algorithms exist to schedule the servicing of disk I/O requests</a:t>
            </a:r>
          </a:p>
          <a:p>
            <a:pPr>
              <a:lnSpc>
                <a:spcPct val="150000"/>
              </a:lnSpc>
              <a:tabLst>
                <a:tab pos="2443163" algn="l"/>
              </a:tabLst>
            </a:pPr>
            <a:r>
              <a:rPr lang="en-US" altLang="en-US" sz="2400" dirty="0">
                <a:latin typeface="Times New Roman" panose="02020603050405020304" pitchFamily="18" charset="0"/>
                <a:cs typeface="Times New Roman" panose="02020603050405020304" pitchFamily="18" charset="0"/>
              </a:rPr>
              <a:t>We illustrate scheduling algorithms with a request queue (0-199)</a:t>
            </a:r>
          </a:p>
          <a:p>
            <a:pPr>
              <a:lnSpc>
                <a:spcPct val="150000"/>
              </a:lnSpc>
              <a:buFont typeface="Monotype Sorts" pitchFamily="-84" charset="2"/>
              <a:buNone/>
              <a:tabLst>
                <a:tab pos="2443163" algn="l"/>
              </a:tabLst>
            </a:pPr>
            <a:r>
              <a:rPr lang="en-US" altLang="en-US" sz="2400" dirty="0">
                <a:latin typeface="Times New Roman" panose="02020603050405020304" pitchFamily="18" charset="0"/>
                <a:cs typeface="Times New Roman" panose="02020603050405020304" pitchFamily="18" charset="0"/>
              </a:rPr>
              <a:t>		</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	98, 183, 37, 122, 14, 124, 65, 67</a:t>
            </a:r>
          </a:p>
          <a:p>
            <a:endParaRPr lang="en-IN" dirty="0"/>
          </a:p>
        </p:txBody>
      </p:sp>
    </p:spTree>
    <p:extLst>
      <p:ext uri="{BB962C8B-B14F-4D97-AF65-F5344CB8AC3E}">
        <p14:creationId xmlns:p14="http://schemas.microsoft.com/office/powerpoint/2010/main" val="700587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5211696C-988E-42E3-8236-82DC63290B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1975" y="1518082"/>
            <a:ext cx="8759825" cy="4651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6CCBB49E-16D3-4377-B711-E44FE2AFE0B6}"/>
              </a:ext>
            </a:extLst>
          </p:cNvPr>
          <p:cNvSpPr txBox="1"/>
          <p:nvPr/>
        </p:nvSpPr>
        <p:spPr>
          <a:xfrm>
            <a:off x="150920" y="118939"/>
            <a:ext cx="8327255" cy="707886"/>
          </a:xfrm>
          <a:prstGeom prst="rect">
            <a:avLst/>
          </a:prstGeom>
          <a:noFill/>
        </p:spPr>
        <p:txBody>
          <a:bodyPr wrap="square" rtlCol="0">
            <a:spAutoFit/>
          </a:bodyPr>
          <a:lstStyle/>
          <a:p>
            <a:r>
              <a:rPr lang="en-US" altLang="en-US" sz="4000" b="1" dirty="0">
                <a:solidFill>
                  <a:schemeClr val="accent6"/>
                </a:solidFill>
                <a:latin typeface="Times New Roman" panose="02020603050405020304" pitchFamily="18" charset="0"/>
                <a:cs typeface="Times New Roman" panose="02020603050405020304" pitchFamily="18" charset="0"/>
              </a:rPr>
              <a:t>FCFS</a:t>
            </a:r>
            <a:endParaRPr lang="en-IN" sz="4000" b="1" dirty="0">
              <a:solidFill>
                <a:schemeClr val="accent6"/>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D770214-39DB-41DB-9C2E-BFA66A975AD7}"/>
              </a:ext>
            </a:extLst>
          </p:cNvPr>
          <p:cNvSpPr txBox="1"/>
          <p:nvPr/>
        </p:nvSpPr>
        <p:spPr>
          <a:xfrm>
            <a:off x="3302493" y="688019"/>
            <a:ext cx="5992427" cy="369332"/>
          </a:xfrm>
          <a:prstGeom prst="rect">
            <a:avLst/>
          </a:prstGeom>
          <a:noFill/>
        </p:spPr>
        <p:txBody>
          <a:bodyPr wrap="square" rtlCol="0">
            <a:spAutoFit/>
          </a:bodyPr>
          <a:lstStyle/>
          <a:p>
            <a:pPr algn="ctr">
              <a:spcBef>
                <a:spcPct val="50000"/>
              </a:spcBef>
            </a:pPr>
            <a:r>
              <a:rPr lang="en-US" altLang="en-US" sz="1800" dirty="0">
                <a:latin typeface="Helvetica" panose="020B0604020202020204" pitchFamily="34" charset="0"/>
              </a:rPr>
              <a:t>Illustration shows total head movement of 640 cylinders</a:t>
            </a:r>
          </a:p>
        </p:txBody>
      </p:sp>
    </p:spTree>
    <p:extLst>
      <p:ext uri="{BB962C8B-B14F-4D97-AF65-F5344CB8AC3E}">
        <p14:creationId xmlns:p14="http://schemas.microsoft.com/office/powerpoint/2010/main" val="3092839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B3DFE-94B5-46F0-888E-4786538863CB}"/>
              </a:ext>
            </a:extLst>
          </p:cNvPr>
          <p:cNvSpPr>
            <a:spLocks noGrp="1"/>
          </p:cNvSpPr>
          <p:nvPr>
            <p:ph type="title"/>
          </p:nvPr>
        </p:nvSpPr>
        <p:spPr>
          <a:xfrm>
            <a:off x="97654" y="365125"/>
            <a:ext cx="11256146" cy="717951"/>
          </a:xfrm>
        </p:spPr>
        <p:txBody>
          <a:bodyPr>
            <a:normAutofit/>
          </a:bodyPr>
          <a:lstStyle/>
          <a:p>
            <a:r>
              <a:rPr lang="en-US" altLang="en-US" sz="4000" b="1" dirty="0">
                <a:solidFill>
                  <a:schemeClr val="accent6"/>
                </a:solidFill>
                <a:latin typeface="Times New Roman" panose="02020603050405020304" pitchFamily="18" charset="0"/>
                <a:cs typeface="Times New Roman" panose="02020603050405020304" pitchFamily="18" charset="0"/>
              </a:rPr>
              <a:t>SSTF</a:t>
            </a:r>
            <a:endParaRPr lang="en-IN" sz="4000"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D3DC752-F50F-40BB-8FB0-54CD1753EBC4}"/>
              </a:ext>
            </a:extLst>
          </p:cNvPr>
          <p:cNvSpPr>
            <a:spLocks noGrp="1"/>
          </p:cNvSpPr>
          <p:nvPr>
            <p:ph idx="1"/>
          </p:nvPr>
        </p:nvSpPr>
        <p:spPr>
          <a:xfrm>
            <a:off x="97653" y="1509204"/>
            <a:ext cx="11984855" cy="4667759"/>
          </a:xfrm>
        </p:spPr>
        <p:txBody>
          <a:bodyPr/>
          <a:lstStyle/>
          <a:p>
            <a:pPr>
              <a:lnSpc>
                <a:spcPct val="150000"/>
              </a:lnSpc>
            </a:pPr>
            <a:r>
              <a:rPr lang="en-US" altLang="en-US" sz="2400" dirty="0">
                <a:latin typeface="Times New Roman" panose="02020603050405020304" pitchFamily="18" charset="0"/>
                <a:cs typeface="Times New Roman" panose="02020603050405020304" pitchFamily="18" charset="0"/>
              </a:rPr>
              <a:t>Shortest Seek Time First selects the request with the minimum seek time from the current head position</a:t>
            </a:r>
          </a:p>
          <a:p>
            <a:pPr>
              <a:lnSpc>
                <a:spcPct val="150000"/>
              </a:lnSpc>
            </a:pPr>
            <a:r>
              <a:rPr lang="en-US" altLang="en-US" sz="2400" dirty="0">
                <a:latin typeface="Times New Roman" panose="02020603050405020304" pitchFamily="18" charset="0"/>
                <a:cs typeface="Times New Roman" panose="02020603050405020304" pitchFamily="18" charset="0"/>
              </a:rPr>
              <a:t>SSTF scheduling is a form of SJF scheduling; may cause starvation of some requests</a:t>
            </a:r>
          </a:p>
          <a:p>
            <a:pPr>
              <a:lnSpc>
                <a:spcPct val="150000"/>
              </a:lnSpc>
            </a:pPr>
            <a:r>
              <a:rPr lang="en-US" altLang="en-US" sz="2400" dirty="0">
                <a:latin typeface="Times New Roman" panose="02020603050405020304" pitchFamily="18" charset="0"/>
                <a:cs typeface="Times New Roman" panose="02020603050405020304" pitchFamily="18" charset="0"/>
              </a:rPr>
              <a:t>Illustration shows total head movement of 236 cylinders</a:t>
            </a:r>
          </a:p>
          <a:p>
            <a:endParaRPr lang="en-IN" dirty="0"/>
          </a:p>
        </p:txBody>
      </p:sp>
    </p:spTree>
    <p:extLst>
      <p:ext uri="{BB962C8B-B14F-4D97-AF65-F5344CB8AC3E}">
        <p14:creationId xmlns:p14="http://schemas.microsoft.com/office/powerpoint/2010/main" val="2309946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12">
            <a:extLst>
              <a:ext uri="{FF2B5EF4-FFF2-40B4-BE49-F238E27FC236}">
                <a16:creationId xmlns:a16="http://schemas.microsoft.com/office/drawing/2014/main" id="{03AB49F5-321D-45AC-A969-2B44A3DE0D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9124" y="1616491"/>
            <a:ext cx="8383665" cy="4970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EFECEE98-38F9-4992-87E8-61F80AD66B77}"/>
              </a:ext>
            </a:extLst>
          </p:cNvPr>
          <p:cNvSpPr txBox="1"/>
          <p:nvPr/>
        </p:nvSpPr>
        <p:spPr>
          <a:xfrm>
            <a:off x="97655" y="399495"/>
            <a:ext cx="6797336" cy="646331"/>
          </a:xfrm>
          <a:prstGeom prst="rect">
            <a:avLst/>
          </a:prstGeom>
          <a:noFill/>
        </p:spPr>
        <p:txBody>
          <a:bodyPr wrap="square" rtlCol="0">
            <a:spAutoFit/>
          </a:bodyPr>
          <a:lstStyle/>
          <a:p>
            <a:r>
              <a:rPr lang="en-US" sz="3600" b="1" dirty="0">
                <a:solidFill>
                  <a:schemeClr val="accent6"/>
                </a:solidFill>
                <a:latin typeface="Times New Roman" panose="02020603050405020304" pitchFamily="18" charset="0"/>
                <a:cs typeface="Times New Roman" panose="02020603050405020304" pitchFamily="18" charset="0"/>
              </a:rPr>
              <a:t>SSTF (Cont..)</a:t>
            </a:r>
            <a:endParaRPr lang="en-IN" sz="3600" b="1"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9877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34C94-5DD2-4757-97C4-F0BFEB853549}"/>
              </a:ext>
            </a:extLst>
          </p:cNvPr>
          <p:cNvSpPr>
            <a:spLocks noGrp="1"/>
          </p:cNvSpPr>
          <p:nvPr>
            <p:ph type="title"/>
          </p:nvPr>
        </p:nvSpPr>
        <p:spPr>
          <a:xfrm>
            <a:off x="62144" y="365126"/>
            <a:ext cx="11291656" cy="584786"/>
          </a:xfrm>
        </p:spPr>
        <p:txBody>
          <a:bodyPr>
            <a:noAutofit/>
          </a:bodyPr>
          <a:lstStyle/>
          <a:p>
            <a:r>
              <a:rPr lang="en-US" altLang="en-US" sz="4000" b="1" dirty="0">
                <a:solidFill>
                  <a:schemeClr val="accent6"/>
                </a:solidFill>
                <a:latin typeface="Times New Roman" panose="02020603050405020304" pitchFamily="18" charset="0"/>
                <a:cs typeface="Times New Roman" panose="02020603050405020304" pitchFamily="18" charset="0"/>
              </a:rPr>
              <a:t>SCAN</a:t>
            </a:r>
            <a:endParaRPr lang="en-IN" sz="4000"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467CC2-7812-4E20-A3CC-5DB4CD5AB337}"/>
              </a:ext>
            </a:extLst>
          </p:cNvPr>
          <p:cNvSpPr>
            <a:spLocks noGrp="1"/>
          </p:cNvSpPr>
          <p:nvPr>
            <p:ph idx="1"/>
          </p:nvPr>
        </p:nvSpPr>
        <p:spPr>
          <a:xfrm>
            <a:off x="168676" y="1367161"/>
            <a:ext cx="11940466" cy="5220070"/>
          </a:xfrm>
        </p:spPr>
        <p:txBody>
          <a:bodyPr>
            <a:normAutofit/>
          </a:bodyPr>
          <a:lstStyle/>
          <a:p>
            <a:pPr>
              <a:lnSpc>
                <a:spcPct val="150000"/>
              </a:lnSpc>
            </a:pPr>
            <a:r>
              <a:rPr lang="en-US" altLang="en-US" sz="2400" dirty="0">
                <a:latin typeface="Times New Roman" panose="02020603050405020304" pitchFamily="18" charset="0"/>
                <a:cs typeface="Times New Roman" panose="02020603050405020304" pitchFamily="18" charset="0"/>
              </a:rPr>
              <a:t>The disk arm starts at one end of the disk, and moves toward the other end, servicing requests until it gets to the other end of the disk, where the head movement is reversed and servicing continues</a:t>
            </a:r>
          </a:p>
          <a:p>
            <a:pPr>
              <a:lnSpc>
                <a:spcPct val="150000"/>
              </a:lnSpc>
            </a:pPr>
            <a:r>
              <a:rPr lang="en-US" altLang="en-US" sz="2400" b="1" dirty="0">
                <a:solidFill>
                  <a:srgbClr val="3366FF"/>
                </a:solidFill>
                <a:latin typeface="Times New Roman" panose="02020603050405020304" pitchFamily="18" charset="0"/>
                <a:cs typeface="Times New Roman" panose="02020603050405020304" pitchFamily="18" charset="0"/>
              </a:rPr>
              <a:t>SCAN algorithm</a:t>
            </a:r>
            <a:r>
              <a:rPr lang="en-US" altLang="en-US" sz="2400" dirty="0">
                <a:solidFill>
                  <a:srgbClr val="3366FF"/>
                </a:solidFill>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Sometimes called the </a:t>
            </a:r>
            <a:r>
              <a:rPr lang="en-US" altLang="en-US" sz="2400" b="1" dirty="0">
                <a:solidFill>
                  <a:srgbClr val="3366FF"/>
                </a:solidFill>
                <a:latin typeface="Times New Roman" panose="02020603050405020304" pitchFamily="18" charset="0"/>
                <a:cs typeface="Times New Roman" panose="02020603050405020304" pitchFamily="18" charset="0"/>
              </a:rPr>
              <a:t>elevator algorithm</a:t>
            </a:r>
          </a:p>
          <a:p>
            <a:pPr>
              <a:lnSpc>
                <a:spcPct val="150000"/>
              </a:lnSpc>
            </a:pPr>
            <a:r>
              <a:rPr lang="en-US" altLang="en-US" sz="2400" dirty="0">
                <a:latin typeface="Times New Roman" panose="02020603050405020304" pitchFamily="18" charset="0"/>
                <a:cs typeface="Times New Roman" panose="02020603050405020304" pitchFamily="18" charset="0"/>
              </a:rPr>
              <a:t>But note that if requests are uniformly dense, largest density at other end of disk and those wait the longest</a:t>
            </a:r>
          </a:p>
          <a:p>
            <a:endParaRPr lang="en-IN" dirty="0"/>
          </a:p>
        </p:txBody>
      </p:sp>
    </p:spTree>
    <p:extLst>
      <p:ext uri="{BB962C8B-B14F-4D97-AF65-F5344CB8AC3E}">
        <p14:creationId xmlns:p14="http://schemas.microsoft.com/office/powerpoint/2010/main" val="2041217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BC7C8006-7870-47A0-855D-EF8C087C1F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6763" y="1544638"/>
            <a:ext cx="8296845" cy="5095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3B48FD54-D486-4BB1-AB68-0DE95B2F2AEA}"/>
              </a:ext>
            </a:extLst>
          </p:cNvPr>
          <p:cNvSpPr txBox="1"/>
          <p:nvPr/>
        </p:nvSpPr>
        <p:spPr>
          <a:xfrm>
            <a:off x="142043" y="346229"/>
            <a:ext cx="7572653" cy="707886"/>
          </a:xfrm>
          <a:prstGeom prst="rect">
            <a:avLst/>
          </a:prstGeom>
          <a:noFill/>
        </p:spPr>
        <p:txBody>
          <a:bodyPr wrap="square" rtlCol="0">
            <a:spAutoFit/>
          </a:bodyPr>
          <a:lstStyle/>
          <a:p>
            <a:r>
              <a:rPr lang="en-US" altLang="en-US" sz="4000" b="1" dirty="0">
                <a:solidFill>
                  <a:schemeClr val="accent6"/>
                </a:solidFill>
                <a:latin typeface="Times New Roman" panose="02020603050405020304" pitchFamily="18" charset="0"/>
                <a:cs typeface="Times New Roman" panose="02020603050405020304" pitchFamily="18" charset="0"/>
              </a:rPr>
              <a:t>SCAN (Cont.)</a:t>
            </a:r>
            <a:endParaRPr lang="en-IN" sz="4000" b="1" dirty="0">
              <a:solidFill>
                <a:schemeClr val="accent6"/>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D75C834-5BF1-43D5-3D12-37D3F308D896}"/>
              </a:ext>
            </a:extLst>
          </p:cNvPr>
          <p:cNvSpPr txBox="1"/>
          <p:nvPr/>
        </p:nvSpPr>
        <p:spPr>
          <a:xfrm>
            <a:off x="7087799" y="4336016"/>
            <a:ext cx="2830642" cy="369332"/>
          </a:xfrm>
          <a:prstGeom prst="rect">
            <a:avLst/>
          </a:prstGeom>
          <a:noFill/>
        </p:spPr>
        <p:txBody>
          <a:bodyPr wrap="square">
            <a:spAutoFit/>
          </a:bodyPr>
          <a:lstStyle/>
          <a:p>
            <a:r>
              <a:rPr lang="en-IN" b="1" dirty="0">
                <a:solidFill>
                  <a:srgbClr val="C00000"/>
                </a:solidFill>
              </a:rPr>
              <a:t>= (199-50) + (199-16) = 332</a:t>
            </a:r>
          </a:p>
        </p:txBody>
      </p:sp>
    </p:spTree>
    <p:extLst>
      <p:ext uri="{BB962C8B-B14F-4D97-AF65-F5344CB8AC3E}">
        <p14:creationId xmlns:p14="http://schemas.microsoft.com/office/powerpoint/2010/main" val="3553918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DDE9E-D0E9-4392-A805-24C1E8DAF70B}"/>
              </a:ext>
            </a:extLst>
          </p:cNvPr>
          <p:cNvSpPr>
            <a:spLocks noGrp="1"/>
          </p:cNvSpPr>
          <p:nvPr>
            <p:ph type="title"/>
          </p:nvPr>
        </p:nvSpPr>
        <p:spPr>
          <a:xfrm>
            <a:off x="150920" y="365126"/>
            <a:ext cx="11202880" cy="691318"/>
          </a:xfrm>
        </p:spPr>
        <p:txBody>
          <a:bodyPr>
            <a:normAutofit fontScale="90000"/>
          </a:bodyPr>
          <a:lstStyle/>
          <a:p>
            <a:r>
              <a:rPr lang="en-US" altLang="en-US" b="1" dirty="0">
                <a:solidFill>
                  <a:schemeClr val="accent6"/>
                </a:solidFill>
                <a:latin typeface="Times New Roman" panose="02020603050405020304" pitchFamily="18" charset="0"/>
                <a:cs typeface="Times New Roman" panose="02020603050405020304" pitchFamily="18" charset="0"/>
              </a:rPr>
              <a:t>C-SCAN</a:t>
            </a:r>
            <a:endParaRPr lang="en-IN"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8E98826-7E76-4552-9D42-BBA7C6D7A678}"/>
              </a:ext>
            </a:extLst>
          </p:cNvPr>
          <p:cNvSpPr>
            <a:spLocks noGrp="1"/>
          </p:cNvSpPr>
          <p:nvPr>
            <p:ph idx="1"/>
          </p:nvPr>
        </p:nvSpPr>
        <p:spPr>
          <a:xfrm>
            <a:off x="150919" y="1535837"/>
            <a:ext cx="11922711" cy="4641126"/>
          </a:xfrm>
        </p:spPr>
        <p:txBody>
          <a:bodyPr>
            <a:normAutofit/>
          </a:bodyPr>
          <a:lstStyle/>
          <a:p>
            <a:pPr>
              <a:lnSpc>
                <a:spcPct val="150000"/>
              </a:lnSpc>
            </a:pPr>
            <a:r>
              <a:rPr lang="en-US" altLang="en-US" sz="2400" dirty="0">
                <a:latin typeface="Times New Roman" panose="02020603050405020304" pitchFamily="18" charset="0"/>
                <a:cs typeface="Times New Roman" panose="02020603050405020304" pitchFamily="18" charset="0"/>
              </a:rPr>
              <a:t>Provides a more uniform wait time than SCAN</a:t>
            </a:r>
          </a:p>
          <a:p>
            <a:pPr>
              <a:lnSpc>
                <a:spcPct val="150000"/>
              </a:lnSpc>
            </a:pPr>
            <a:r>
              <a:rPr lang="en-US" altLang="en-US" sz="2400" dirty="0">
                <a:latin typeface="Times New Roman" panose="02020603050405020304" pitchFamily="18" charset="0"/>
                <a:cs typeface="Times New Roman" panose="02020603050405020304" pitchFamily="18" charset="0"/>
              </a:rPr>
              <a:t>The head moves from one end of the disk to the other, servicing requests as it goes</a:t>
            </a:r>
          </a:p>
          <a:p>
            <a:pPr lvl="1">
              <a:lnSpc>
                <a:spcPct val="150000"/>
              </a:lnSpc>
            </a:pPr>
            <a:r>
              <a:rPr lang="en-US" altLang="en-US" dirty="0">
                <a:latin typeface="Times New Roman" panose="02020603050405020304" pitchFamily="18" charset="0"/>
                <a:cs typeface="Times New Roman" panose="02020603050405020304" pitchFamily="18" charset="0"/>
              </a:rPr>
              <a:t>When it reaches the other end, however, it immediately returns to the beginning of the disk, without servicing any requests on the return trip</a:t>
            </a:r>
          </a:p>
          <a:p>
            <a:pPr lvl="1">
              <a:lnSpc>
                <a:spcPct val="150000"/>
              </a:lnSpc>
            </a:pP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sz="2400" dirty="0">
                <a:latin typeface="Times New Roman" panose="02020603050405020304" pitchFamily="18" charset="0"/>
                <a:cs typeface="Times New Roman" panose="02020603050405020304" pitchFamily="18" charset="0"/>
              </a:rPr>
              <a:t>Treats the cylinders as a circular list that wraps around from the last cylinder to the first one</a:t>
            </a:r>
          </a:p>
          <a:p>
            <a:pPr marL="0" indent="0">
              <a:buNone/>
            </a:pPr>
            <a:endParaRPr lang="en-IN" dirty="0"/>
          </a:p>
        </p:txBody>
      </p:sp>
    </p:spTree>
    <p:extLst>
      <p:ext uri="{BB962C8B-B14F-4D97-AF65-F5344CB8AC3E}">
        <p14:creationId xmlns:p14="http://schemas.microsoft.com/office/powerpoint/2010/main" val="2784899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90AAF003-5D1C-4609-9184-34EB878042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06" t="3731" r="925" b="3731"/>
          <a:stretch>
            <a:fillRect/>
          </a:stretch>
        </p:blipFill>
        <p:spPr bwMode="auto">
          <a:xfrm>
            <a:off x="1605254" y="1428655"/>
            <a:ext cx="8388103" cy="4783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
        <p:nvSpPr>
          <p:cNvPr id="3" name="TextBox 2">
            <a:extLst>
              <a:ext uri="{FF2B5EF4-FFF2-40B4-BE49-F238E27FC236}">
                <a16:creationId xmlns:a16="http://schemas.microsoft.com/office/drawing/2014/main" id="{D4E706B4-4435-4C7B-A0D5-88DAC011E154}"/>
              </a:ext>
            </a:extLst>
          </p:cNvPr>
          <p:cNvSpPr txBox="1"/>
          <p:nvPr/>
        </p:nvSpPr>
        <p:spPr>
          <a:xfrm>
            <a:off x="168676" y="150920"/>
            <a:ext cx="7226423" cy="707886"/>
          </a:xfrm>
          <a:prstGeom prst="rect">
            <a:avLst/>
          </a:prstGeom>
          <a:noFill/>
        </p:spPr>
        <p:txBody>
          <a:bodyPr wrap="square" rtlCol="0">
            <a:spAutoFit/>
          </a:bodyPr>
          <a:lstStyle/>
          <a:p>
            <a:r>
              <a:rPr lang="en-US" altLang="en-US" sz="4000" b="1" dirty="0">
                <a:solidFill>
                  <a:schemeClr val="accent6"/>
                </a:solidFill>
                <a:latin typeface="Times New Roman" panose="02020603050405020304" pitchFamily="18" charset="0"/>
                <a:cs typeface="Times New Roman" panose="02020603050405020304" pitchFamily="18" charset="0"/>
              </a:rPr>
              <a:t>C-SCAN (Cont.)</a:t>
            </a:r>
            <a:endParaRPr lang="en-IN" sz="4000" b="1" dirty="0">
              <a:solidFill>
                <a:schemeClr val="accent6"/>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457F84C-0E8C-E707-752E-847CE3545118}"/>
              </a:ext>
            </a:extLst>
          </p:cNvPr>
          <p:cNvSpPr txBox="1"/>
          <p:nvPr/>
        </p:nvSpPr>
        <p:spPr>
          <a:xfrm>
            <a:off x="6285333" y="3141697"/>
            <a:ext cx="4301413" cy="369332"/>
          </a:xfrm>
          <a:prstGeom prst="rect">
            <a:avLst/>
          </a:prstGeom>
          <a:noFill/>
        </p:spPr>
        <p:txBody>
          <a:bodyPr wrap="square">
            <a:spAutoFit/>
          </a:bodyPr>
          <a:lstStyle/>
          <a:p>
            <a:r>
              <a:rPr lang="en-IN" b="1" dirty="0"/>
              <a:t>=(199-50) + (199-0) + (43-0) = 391</a:t>
            </a:r>
          </a:p>
        </p:txBody>
      </p:sp>
    </p:spTree>
    <p:extLst>
      <p:ext uri="{BB962C8B-B14F-4D97-AF65-F5344CB8AC3E}">
        <p14:creationId xmlns:p14="http://schemas.microsoft.com/office/powerpoint/2010/main" val="3298262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82EC-CE58-4031-907E-33A5DC2CABCC}"/>
              </a:ext>
            </a:extLst>
          </p:cNvPr>
          <p:cNvSpPr>
            <a:spLocks noGrp="1"/>
          </p:cNvSpPr>
          <p:nvPr>
            <p:ph type="title"/>
          </p:nvPr>
        </p:nvSpPr>
        <p:spPr>
          <a:xfrm>
            <a:off x="186431" y="365126"/>
            <a:ext cx="11167369" cy="691318"/>
          </a:xfrm>
        </p:spPr>
        <p:txBody>
          <a:bodyPr>
            <a:normAutofit fontScale="90000"/>
          </a:bodyPr>
          <a:lstStyle/>
          <a:p>
            <a:r>
              <a:rPr lang="en-US" altLang="en-US" b="1" dirty="0">
                <a:solidFill>
                  <a:schemeClr val="accent6"/>
                </a:solidFill>
                <a:latin typeface="Times New Roman" panose="02020603050405020304" pitchFamily="18" charset="0"/>
                <a:cs typeface="Times New Roman" panose="02020603050405020304" pitchFamily="18" charset="0"/>
              </a:rPr>
              <a:t>C-LOOK</a:t>
            </a:r>
            <a:endParaRPr lang="en-IN"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0863C4C-B085-4BF8-81B6-FA4497B9FF56}"/>
              </a:ext>
            </a:extLst>
          </p:cNvPr>
          <p:cNvSpPr>
            <a:spLocks noGrp="1"/>
          </p:cNvSpPr>
          <p:nvPr>
            <p:ph idx="1"/>
          </p:nvPr>
        </p:nvSpPr>
        <p:spPr>
          <a:xfrm>
            <a:off x="186431" y="1393794"/>
            <a:ext cx="12005569" cy="4783169"/>
          </a:xfrm>
        </p:spPr>
        <p:txBody>
          <a:bodyPr/>
          <a:lstStyle/>
          <a:p>
            <a:pPr>
              <a:lnSpc>
                <a:spcPct val="150000"/>
              </a:lnSpc>
            </a:pPr>
            <a:r>
              <a:rPr lang="en-US" altLang="en-US" sz="2400" dirty="0">
                <a:latin typeface="Times New Roman" panose="02020603050405020304" pitchFamily="18" charset="0"/>
                <a:cs typeface="Times New Roman" panose="02020603050405020304" pitchFamily="18" charset="0"/>
              </a:rPr>
              <a:t>LOOK a version of SCAN, C-LOOK a version of C-SCAN</a:t>
            </a:r>
          </a:p>
          <a:p>
            <a:pPr>
              <a:lnSpc>
                <a:spcPct val="150000"/>
              </a:lnSpc>
            </a:pPr>
            <a:r>
              <a:rPr lang="en-US" altLang="en-US" sz="2400" dirty="0">
                <a:latin typeface="Times New Roman" panose="02020603050405020304" pitchFamily="18" charset="0"/>
                <a:cs typeface="Times New Roman" panose="02020603050405020304" pitchFamily="18" charset="0"/>
              </a:rPr>
              <a:t>Arm only goes as far as the last request in each direction, then reverses direction immediately, without first going all the way to the end of the disk </a:t>
            </a:r>
          </a:p>
          <a:p>
            <a:pPr marL="0" indent="0">
              <a:buNone/>
            </a:pPr>
            <a:endParaRPr lang="en-IN" dirty="0"/>
          </a:p>
        </p:txBody>
      </p:sp>
    </p:spTree>
    <p:extLst>
      <p:ext uri="{BB962C8B-B14F-4D97-AF65-F5344CB8AC3E}">
        <p14:creationId xmlns:p14="http://schemas.microsoft.com/office/powerpoint/2010/main" val="776073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12">
            <a:extLst>
              <a:ext uri="{FF2B5EF4-FFF2-40B4-BE49-F238E27FC236}">
                <a16:creationId xmlns:a16="http://schemas.microsoft.com/office/drawing/2014/main" id="{74FBF64A-3324-4E92-ABAD-6ACED3F38B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2311" y="1782793"/>
            <a:ext cx="8720893" cy="4644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DA549276-52E5-48AF-80E6-185E09D383BA}"/>
              </a:ext>
            </a:extLst>
          </p:cNvPr>
          <p:cNvSpPr txBox="1"/>
          <p:nvPr/>
        </p:nvSpPr>
        <p:spPr>
          <a:xfrm>
            <a:off x="3047260" y="3246553"/>
            <a:ext cx="6094520" cy="369332"/>
          </a:xfrm>
          <a:prstGeom prst="rect">
            <a:avLst/>
          </a:prstGeom>
          <a:noFill/>
        </p:spPr>
        <p:txBody>
          <a:bodyPr wrap="square">
            <a:spAutoFit/>
          </a:bodyPr>
          <a:lstStyle/>
          <a:p>
            <a:r>
              <a:rPr lang="en-US" altLang="en-US" dirty="0"/>
              <a:t>C-LOOK (Cont.)</a:t>
            </a:r>
            <a:endParaRPr lang="en-IN" dirty="0"/>
          </a:p>
        </p:txBody>
      </p:sp>
      <p:sp>
        <p:nvSpPr>
          <p:cNvPr id="5" name="TextBox 4">
            <a:extLst>
              <a:ext uri="{FF2B5EF4-FFF2-40B4-BE49-F238E27FC236}">
                <a16:creationId xmlns:a16="http://schemas.microsoft.com/office/drawing/2014/main" id="{B16681C7-D397-4385-8F8C-444CA8D95ED7}"/>
              </a:ext>
            </a:extLst>
          </p:cNvPr>
          <p:cNvSpPr txBox="1"/>
          <p:nvPr/>
        </p:nvSpPr>
        <p:spPr>
          <a:xfrm flipH="1">
            <a:off x="0" y="195309"/>
            <a:ext cx="7913026" cy="707886"/>
          </a:xfrm>
          <a:prstGeom prst="rect">
            <a:avLst/>
          </a:prstGeom>
          <a:noFill/>
        </p:spPr>
        <p:txBody>
          <a:bodyPr wrap="square" rtlCol="0">
            <a:spAutoFit/>
          </a:bodyPr>
          <a:lstStyle/>
          <a:p>
            <a:r>
              <a:rPr lang="en-US" altLang="en-US" sz="4000" b="1" dirty="0">
                <a:solidFill>
                  <a:schemeClr val="accent6"/>
                </a:solidFill>
                <a:latin typeface="Times New Roman" panose="02020603050405020304" pitchFamily="18" charset="0"/>
                <a:cs typeface="Times New Roman" panose="02020603050405020304" pitchFamily="18" charset="0"/>
              </a:rPr>
              <a:t>C-LOOK (Cont.)</a:t>
            </a:r>
            <a:endParaRPr lang="en-IN" sz="4000" b="1"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22297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4DD43-8F55-4E96-8775-8777C5C4AFE7}"/>
              </a:ext>
            </a:extLst>
          </p:cNvPr>
          <p:cNvSpPr>
            <a:spLocks noGrp="1"/>
          </p:cNvSpPr>
          <p:nvPr>
            <p:ph type="title"/>
          </p:nvPr>
        </p:nvSpPr>
        <p:spPr>
          <a:xfrm>
            <a:off x="168676" y="365126"/>
            <a:ext cx="11185124" cy="638052"/>
          </a:xfrm>
        </p:spPr>
        <p:txBody>
          <a:bodyPr>
            <a:normAutofit fontScale="90000"/>
          </a:bodyPr>
          <a:lstStyle/>
          <a:p>
            <a:r>
              <a:rPr lang="en-US" b="1" dirty="0">
                <a:solidFill>
                  <a:schemeClr val="accent6"/>
                </a:solidFill>
                <a:latin typeface="Times New Roman" panose="02020603050405020304" pitchFamily="18" charset="0"/>
                <a:cs typeface="Times New Roman" panose="02020603050405020304" pitchFamily="18" charset="0"/>
              </a:rPr>
              <a:t>Swap-Space Management</a:t>
            </a:r>
            <a:endParaRPr lang="en-IN"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2068EFA-2038-4E12-B07D-8992DE76B0F3}"/>
              </a:ext>
            </a:extLst>
          </p:cNvPr>
          <p:cNvSpPr>
            <a:spLocks noGrp="1"/>
          </p:cNvSpPr>
          <p:nvPr>
            <p:ph idx="1"/>
          </p:nvPr>
        </p:nvSpPr>
        <p:spPr>
          <a:xfrm>
            <a:off x="168676" y="1287262"/>
            <a:ext cx="12023324" cy="5379868"/>
          </a:xfrm>
        </p:spPr>
        <p:txBody>
          <a:bodyPr>
            <a:normAutofit lnSpcReduction="10000"/>
          </a:bodyPr>
          <a:lstStyle/>
          <a:p>
            <a:pPr>
              <a:lnSpc>
                <a:spcPct val="150000"/>
              </a:lnSpc>
            </a:pPr>
            <a:r>
              <a:rPr lang="en-US" altLang="en-US" sz="2400" dirty="0">
                <a:latin typeface="Times New Roman" panose="02020603050405020304" pitchFamily="18" charset="0"/>
                <a:cs typeface="Times New Roman" panose="02020603050405020304" pitchFamily="18" charset="0"/>
              </a:rPr>
              <a:t>Swap-space — Virtual memory uses disk space as an extension of main memory</a:t>
            </a:r>
          </a:p>
          <a:p>
            <a:pPr>
              <a:lnSpc>
                <a:spcPct val="150000"/>
              </a:lnSpc>
            </a:pPr>
            <a:r>
              <a:rPr lang="en-US" altLang="en-US" sz="2400" dirty="0">
                <a:latin typeface="Times New Roman" panose="02020603050405020304" pitchFamily="18" charset="0"/>
                <a:cs typeface="Times New Roman" panose="02020603050405020304" pitchFamily="18" charset="0"/>
              </a:rPr>
              <a:t>Swap-space can be carved out of the normal file system, or, more commonly, it can be in a separate disk partition (raw)</a:t>
            </a:r>
          </a:p>
          <a:p>
            <a:pPr>
              <a:lnSpc>
                <a:spcPct val="150000"/>
              </a:lnSpc>
            </a:pPr>
            <a:r>
              <a:rPr lang="en-US" altLang="en-US" sz="2400" dirty="0">
                <a:latin typeface="Times New Roman" panose="02020603050405020304" pitchFamily="18" charset="0"/>
                <a:cs typeface="Times New Roman" panose="02020603050405020304" pitchFamily="18" charset="0"/>
              </a:rPr>
              <a:t>Swap-space management</a:t>
            </a:r>
          </a:p>
          <a:p>
            <a:pPr lvl="1">
              <a:lnSpc>
                <a:spcPct val="150000"/>
              </a:lnSpc>
            </a:pPr>
            <a:r>
              <a:rPr lang="en-US" altLang="en-US" dirty="0">
                <a:latin typeface="Times New Roman" panose="02020603050405020304" pitchFamily="18" charset="0"/>
                <a:cs typeface="Times New Roman" panose="02020603050405020304" pitchFamily="18" charset="0"/>
              </a:rPr>
              <a:t>4.3BSD allocates swap space when process starts; holds text segment (the program) and data segment</a:t>
            </a:r>
          </a:p>
          <a:p>
            <a:pPr lvl="1">
              <a:lnSpc>
                <a:spcPct val="150000"/>
              </a:lnSpc>
            </a:pPr>
            <a:r>
              <a:rPr lang="en-US" altLang="en-US" dirty="0">
                <a:latin typeface="Times New Roman" panose="02020603050405020304" pitchFamily="18" charset="0"/>
                <a:cs typeface="Times New Roman" panose="02020603050405020304" pitchFamily="18" charset="0"/>
              </a:rPr>
              <a:t>Kernel uses </a:t>
            </a:r>
            <a:r>
              <a:rPr lang="en-US" altLang="en-US" b="1" dirty="0">
                <a:solidFill>
                  <a:srgbClr val="3366FF"/>
                </a:solidFill>
                <a:latin typeface="Times New Roman" panose="02020603050405020304" pitchFamily="18" charset="0"/>
                <a:cs typeface="Times New Roman" panose="02020603050405020304" pitchFamily="18" charset="0"/>
              </a:rPr>
              <a:t>swap maps</a:t>
            </a:r>
            <a:r>
              <a:rPr lang="en-US" altLang="en-US" dirty="0">
                <a:solidFill>
                  <a:srgbClr val="3366FF"/>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to track swap-space use</a:t>
            </a:r>
          </a:p>
          <a:p>
            <a:pPr lvl="1">
              <a:lnSpc>
                <a:spcPct val="150000"/>
              </a:lnSpc>
            </a:pPr>
            <a:r>
              <a:rPr lang="en-US" altLang="en-US" dirty="0">
                <a:latin typeface="Times New Roman" panose="02020603050405020304" pitchFamily="18" charset="0"/>
                <a:cs typeface="Times New Roman" panose="02020603050405020304" pitchFamily="18" charset="0"/>
              </a:rPr>
              <a:t>Solaris 2 allocates swap space only when a dirty page is forced out of physical memory, not when the virtual memory page is first created</a:t>
            </a:r>
          </a:p>
          <a:p>
            <a:pPr marL="0" indent="0">
              <a:buNone/>
            </a:pPr>
            <a:endParaRPr lang="en-IN" dirty="0"/>
          </a:p>
        </p:txBody>
      </p:sp>
    </p:spTree>
    <p:extLst>
      <p:ext uri="{BB962C8B-B14F-4D97-AF65-F5344CB8AC3E}">
        <p14:creationId xmlns:p14="http://schemas.microsoft.com/office/powerpoint/2010/main" val="2065536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A8A8F-270C-4295-AE21-B83C299942CE}"/>
              </a:ext>
            </a:extLst>
          </p:cNvPr>
          <p:cNvSpPr>
            <a:spLocks noGrp="1"/>
          </p:cNvSpPr>
          <p:nvPr>
            <p:ph type="title"/>
          </p:nvPr>
        </p:nvSpPr>
        <p:spPr>
          <a:xfrm>
            <a:off x="150920" y="365125"/>
            <a:ext cx="11958222" cy="1325563"/>
          </a:xfrm>
        </p:spPr>
        <p:txBody>
          <a:bodyPr>
            <a:normAutofit/>
          </a:bodyPr>
          <a:lstStyle/>
          <a:p>
            <a:r>
              <a:rPr lang="en-US" altLang="en-US" sz="4000" b="1" dirty="0">
                <a:solidFill>
                  <a:schemeClr val="accent6"/>
                </a:solidFill>
                <a:latin typeface="Times New Roman" panose="02020603050405020304" pitchFamily="18" charset="0"/>
                <a:cs typeface="Times New Roman" panose="02020603050405020304" pitchFamily="18" charset="0"/>
              </a:rPr>
              <a:t>Data Structures for Swapping on </a:t>
            </a:r>
            <a:br>
              <a:rPr lang="en-US" altLang="en-US" sz="4000" b="1" dirty="0">
                <a:solidFill>
                  <a:schemeClr val="accent6"/>
                </a:solidFill>
                <a:latin typeface="Times New Roman" panose="02020603050405020304" pitchFamily="18" charset="0"/>
                <a:cs typeface="Times New Roman" panose="02020603050405020304" pitchFamily="18" charset="0"/>
              </a:rPr>
            </a:br>
            <a:r>
              <a:rPr lang="en-US" altLang="en-US" sz="4000" b="1" dirty="0">
                <a:solidFill>
                  <a:schemeClr val="accent6"/>
                </a:solidFill>
                <a:latin typeface="Times New Roman" panose="02020603050405020304" pitchFamily="18" charset="0"/>
                <a:cs typeface="Times New Roman" panose="02020603050405020304" pitchFamily="18" charset="0"/>
              </a:rPr>
              <a:t>Linux Systems</a:t>
            </a:r>
            <a:endParaRPr lang="en-IN" sz="4000" b="1" dirty="0">
              <a:solidFill>
                <a:schemeClr val="accent6"/>
              </a:solidFill>
              <a:latin typeface="Times New Roman" panose="02020603050405020304" pitchFamily="18" charset="0"/>
              <a:cs typeface="Times New Roman" panose="02020603050405020304" pitchFamily="18" charset="0"/>
            </a:endParaRPr>
          </a:p>
        </p:txBody>
      </p:sp>
      <p:pic>
        <p:nvPicPr>
          <p:cNvPr id="4" name="Picture 1" descr="10_10.pdf">
            <a:extLst>
              <a:ext uri="{FF2B5EF4-FFF2-40B4-BE49-F238E27FC236}">
                <a16:creationId xmlns:a16="http://schemas.microsoft.com/office/drawing/2014/main" id="{F504D7F8-390D-4B27-A881-F643642E3AB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25445" y="2565647"/>
            <a:ext cx="6178858" cy="3018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01152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TotalTime>
  <Words>814</Words>
  <Application>Microsoft Office PowerPoint</Application>
  <PresentationFormat>Widescreen</PresentationFormat>
  <Paragraphs>90</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Helvetica</vt:lpstr>
      <vt:lpstr>Monotype Sorts</vt:lpstr>
      <vt:lpstr>Times New Roman</vt:lpstr>
      <vt:lpstr>Office Theme</vt:lpstr>
      <vt:lpstr>PowerPoint Presentation</vt:lpstr>
      <vt:lpstr>Overview of Mass Storage Structure</vt:lpstr>
      <vt:lpstr>Cont..</vt:lpstr>
      <vt:lpstr>PowerPoint Presentation</vt:lpstr>
      <vt:lpstr>Disk Structure</vt:lpstr>
      <vt:lpstr>Disk Management</vt:lpstr>
      <vt:lpstr>Cont..</vt:lpstr>
      <vt:lpstr>PowerPoint Presentation</vt:lpstr>
      <vt:lpstr>Disk Scheduling</vt:lpstr>
      <vt:lpstr>Cont..</vt:lpstr>
      <vt:lpstr>PowerPoint Presentation</vt:lpstr>
      <vt:lpstr>SSTF</vt:lpstr>
      <vt:lpstr>PowerPoint Presentation</vt:lpstr>
      <vt:lpstr>SCAN</vt:lpstr>
      <vt:lpstr>PowerPoint Presentation</vt:lpstr>
      <vt:lpstr>C-SCAN</vt:lpstr>
      <vt:lpstr>PowerPoint Presentation</vt:lpstr>
      <vt:lpstr>C-LOOK</vt:lpstr>
      <vt:lpstr>PowerPoint Presentation</vt:lpstr>
      <vt:lpstr>Swap-Space Management</vt:lpstr>
      <vt:lpstr>Data Structures for Swapping on  Linux Systems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Module-5  Chapter-2</dc:title>
  <dc:creator>pramodh777@gmail.com</dc:creator>
  <cp:lastModifiedBy>Dr.J</cp:lastModifiedBy>
  <cp:revision>12</cp:revision>
  <dcterms:created xsi:type="dcterms:W3CDTF">2021-04-26T05:57:35Z</dcterms:created>
  <dcterms:modified xsi:type="dcterms:W3CDTF">2024-04-02T12:09:42Z</dcterms:modified>
</cp:coreProperties>
</file>